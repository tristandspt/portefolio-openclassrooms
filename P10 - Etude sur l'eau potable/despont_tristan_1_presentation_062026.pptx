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585629-0278-413B-9F9D-3AA12703A014}" v="4" dt="2026-06-01T14:29:36.9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14" y="1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istan Despont" userId="d1a7c66da9d715b7" providerId="LiveId" clId="{8D77CC59-83D2-4C48-82B8-96050E88F101}"/>
    <pc:docChg chg="custSel modSld">
      <pc:chgData name="Tristan Despont" userId="d1a7c66da9d715b7" providerId="LiveId" clId="{8D77CC59-83D2-4C48-82B8-96050E88F101}" dt="2026-06-01T14:30:47.950" v="41" actId="478"/>
      <pc:docMkLst>
        <pc:docMk/>
      </pc:docMkLst>
      <pc:sldChg chg="delSp modSp mod">
        <pc:chgData name="Tristan Despont" userId="d1a7c66da9d715b7" providerId="LiveId" clId="{8D77CC59-83D2-4C48-82B8-96050E88F101}" dt="2026-06-01T14:30:47.950" v="41" actId="478"/>
        <pc:sldMkLst>
          <pc:docMk/>
          <pc:sldMk cId="0" sldId="266"/>
        </pc:sldMkLst>
        <pc:spChg chg="mod">
          <ac:chgData name="Tristan Despont" userId="d1a7c66da9d715b7" providerId="LiveId" clId="{8D77CC59-83D2-4C48-82B8-96050E88F101}" dt="2026-06-01T14:27:50.381" v="1"/>
          <ac:spMkLst>
            <pc:docMk/>
            <pc:sldMk cId="0" sldId="266"/>
            <ac:spMk id="9" creationId="{00000000-0000-0000-0000-000000000000}"/>
          </ac:spMkLst>
        </pc:spChg>
        <pc:spChg chg="mod">
          <ac:chgData name="Tristan Despont" userId="d1a7c66da9d715b7" providerId="LiveId" clId="{8D77CC59-83D2-4C48-82B8-96050E88F101}" dt="2026-06-01T14:29:59.051" v="39" actId="790"/>
          <ac:spMkLst>
            <pc:docMk/>
            <pc:sldMk cId="0" sldId="266"/>
            <ac:spMk id="10" creationId="{00000000-0000-0000-0000-000000000000}"/>
          </ac:spMkLst>
        </pc:spChg>
        <pc:spChg chg="mod">
          <ac:chgData name="Tristan Despont" userId="d1a7c66da9d715b7" providerId="LiveId" clId="{8D77CC59-83D2-4C48-82B8-96050E88F101}" dt="2026-06-01T14:29:51.449" v="38" actId="20577"/>
          <ac:spMkLst>
            <pc:docMk/>
            <pc:sldMk cId="0" sldId="266"/>
            <ac:spMk id="11" creationId="{00000000-0000-0000-0000-000000000000}"/>
          </ac:spMkLst>
        </pc:spChg>
        <pc:spChg chg="del mod">
          <ac:chgData name="Tristan Despont" userId="d1a7c66da9d715b7" providerId="LiveId" clId="{8D77CC59-83D2-4C48-82B8-96050E88F101}" dt="2026-06-01T14:30:47.950" v="41" actId="478"/>
          <ac:spMkLst>
            <pc:docMk/>
            <pc:sldMk cId="0" sldId="266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9243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DWFA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94360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B3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d'accès à l'eau potable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2606040"/>
            <a:ext cx="7315200" cy="0"/>
          </a:xfrm>
          <a:prstGeom prst="line">
            <a:avLst/>
          </a:prstGeom>
          <a:noFill/>
          <a:ln w="1905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94360" y="283464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3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: ONG Drinking Water For All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3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: Microsoft Power BI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3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: OMS / Banque Mondiale  •  Période 2000–2018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du projet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651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109728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Domaine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719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services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084832"/>
            <a:ext cx="2377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pays avec un faible accès à l'eau et une forte population urbaine — où l'infrastructure est la plus rentable.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51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651760" cy="109728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337560" y="1325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Domaine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37560" y="1719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7560" y="2084832"/>
            <a:ext cx="2377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337560" y="219456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Repérer les pays ayant un accès basique mais pas de services de qualité (« safely managed »).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651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035040" y="1097280"/>
            <a:ext cx="2651760" cy="109728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172200" y="1325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Domaine 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72200" y="1719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2084832"/>
            <a:ext cx="2377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172200" y="219456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Cibler les pays politiquement stables mais avec une politique gouvernementale de l'eau perfectible.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B3DFF0"/>
          </a:solidFill>
          <a:ln w="12700">
            <a:solidFill>
              <a:srgbClr val="B3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0292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identifier les pays prioritaires pour orienter les futurs financements de DWFA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de données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285292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Fichier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Lignes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Période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Contenu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3B5E"/>
                          </a:solidFill>
                        </a:rPr>
                        <a:t>BasicAndSafelyManaged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3B5E"/>
                          </a:solidFill>
                        </a:rPr>
                        <a:t>10 476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3B5E"/>
                          </a:solidFill>
                        </a:rPr>
                        <a:t>2000–2017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3B5E"/>
                          </a:solidFill>
                        </a:rPr>
                        <a:t>% accès eau basique &amp; safely managed (Urban/Rural/Total)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3B5E"/>
                          </a:solidFill>
                        </a:rPr>
                        <a:t>MortalityRate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3B5E"/>
                          </a:solidFill>
                        </a:rPr>
                        <a:t>549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4400"/>
                          </a:solidFill>
                        </a:rPr>
                        <a:t>2016 ⚠️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3B5E"/>
                          </a:solidFill>
                        </a:rPr>
                        <a:t>Taux mortalité WASH &amp; nb décès (pour 100 000 hab.)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3B5E"/>
                          </a:solidFill>
                        </a:rPr>
                        <a:t>PoliticalStability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3B5E"/>
                          </a:solidFill>
                        </a:rPr>
                        <a:t>3 526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3B5E"/>
                          </a:solidFill>
                        </a:rPr>
                        <a:t>2000–2018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3B5E"/>
                          </a:solidFill>
                        </a:rPr>
                        <a:t>Indice de stabilité politique (–3,3 à +1,97)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3B5E"/>
                          </a:solidFill>
                        </a:rPr>
                        <a:t>Population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3B5E"/>
                          </a:solidFill>
                        </a:rPr>
                        <a:t>20 914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3B5E"/>
                          </a:solidFill>
                        </a:rPr>
                        <a:t>2000–2018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3B5E"/>
                          </a:solidFill>
                        </a:rPr>
                        <a:t>Population par pays (Total/Urban/Rural/Male/Female)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3B5E"/>
                          </a:solidFill>
                        </a:rPr>
                        <a:t>RegionCountry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3B5E"/>
                          </a:solidFill>
                        </a:rPr>
                        <a:t>194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3B5E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3B5E"/>
                          </a:solidFill>
                        </a:rPr>
                        <a:t>Mapping pays → continent OMS (6 régions)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C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La mortalité WASH n'est disponible que pour 2016 — aucune évolution temporelle possible sur cet indicateur.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 des données (Python / Pandas)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548640" cy="594360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1051560"/>
            <a:ext cx="7772400" cy="594360"/>
          </a:xfrm>
          <a:prstGeom prst="rect">
            <a:avLst/>
          </a:prstGeom>
          <a:solidFill>
            <a:srgbClr val="DDEE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143000" y="112471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&amp; renommage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Colonnes en snake_case, renommage des indicateurs (ex. wash_mortality_rate), suppression des colonnes inutiles (Granularity Total-only).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819656"/>
            <a:ext cx="548640" cy="594360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819656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1819656"/>
            <a:ext cx="7772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143000" y="18928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des tables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Transformation de la colonne Granularity (Urban/Rural/Total) en colonnes distinctes via df.pivot() pour simplifier les jointures.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87752"/>
            <a:ext cx="548640" cy="594360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258775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05840" y="2587752"/>
            <a:ext cx="7772400" cy="594360"/>
          </a:xfrm>
          <a:prstGeom prst="rect">
            <a:avLst/>
          </a:prstGeom>
          <a:solidFill>
            <a:srgbClr val="DDEE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143000" y="26609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pays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239 pays dans Population vs 194 dans RegionCountry. Suppression de 45 territoires (Hong Kong, DOM-TOM…) via inner merge pour éviter les doublons de population.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355848"/>
            <a:ext cx="548640" cy="594360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65760" y="3355848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05840" y="3355848"/>
            <a:ext cx="7772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1143000" y="34290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3 indicateurs calculés : % population urbaine, % sans accès à l'eau, score d'efficacité gouvernementale (moyenne normalisée mortalité + accès eau).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123944"/>
            <a:ext cx="548640" cy="594360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65760" y="4123944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05840" y="4123944"/>
            <a:ext cx="7772400" cy="594360"/>
          </a:xfrm>
          <a:prstGeom prst="rect">
            <a:avLst/>
          </a:prstGeom>
          <a:solidFill>
            <a:srgbClr val="DDEE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1143000" y="419709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6 fichiers exportés avec sep=';', decimal=',', encoding='utf-8-sig' pour compatibilité Power BI (FR).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3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— Vue Monde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777240"/>
            <a:ext cx="832104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4663440"/>
            <a:ext cx="8321040" cy="320040"/>
          </a:xfrm>
          <a:prstGeom prst="rect">
            <a:avLst/>
          </a:prstGeom>
          <a:solidFill>
            <a:srgbClr val="1A3A5C"/>
          </a:solidFill>
          <a:ln w="6350">
            <a:solidFill>
              <a:srgbClr val="2A5F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640080" y="46908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3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choroplèthe accès eau • Stacked bar niveaux de service • Line plot évolution • 3 KPIs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3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— Vue Continent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777240"/>
            <a:ext cx="832104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4663440"/>
            <a:ext cx="8321040" cy="320040"/>
          </a:xfrm>
          <a:prstGeom prst="rect">
            <a:avLst/>
          </a:prstGeom>
          <a:solidFill>
            <a:srgbClr val="1A3A5C"/>
          </a:solidFill>
          <a:ln w="6350">
            <a:solidFill>
              <a:srgbClr val="2A5F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640080" y="46908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3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continent • Scatter Domaine 1 (accès eau vs urbain) • Scatter Domaine 3 (efficacité vs stabilité) • 3 KPIs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3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— Vue Pays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777240"/>
            <a:ext cx="832104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4663440"/>
            <a:ext cx="8321040" cy="320040"/>
          </a:xfrm>
          <a:prstGeom prst="rect">
            <a:avLst/>
          </a:prstGeom>
          <a:solidFill>
            <a:srgbClr val="1A3A5C"/>
          </a:solidFill>
          <a:ln w="6350">
            <a:solidFill>
              <a:srgbClr val="2A5F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640080" y="46908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3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Line plots (accès eau / population) • 3 Donuts niveaux de service (Global/Urbain/Rural) • 3 KPIs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3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 — Vue Monde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777240"/>
            <a:ext cx="832104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4663440"/>
            <a:ext cx="8321040" cy="320040"/>
          </a:xfrm>
          <a:prstGeom prst="rect">
            <a:avLst/>
          </a:prstGeom>
          <a:solidFill>
            <a:srgbClr val="1A3A5C"/>
          </a:solidFill>
          <a:ln w="6350">
            <a:solidFill>
              <a:srgbClr val="2A5F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640080" y="46908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3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globale : carte choroplèthe, niveaux de service par continent, évolution 2000–2017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3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 — Vue Continent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777240"/>
            <a:ext cx="832104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4663440"/>
            <a:ext cx="8321040" cy="320040"/>
          </a:xfrm>
          <a:prstGeom prst="rect">
            <a:avLst/>
          </a:prstGeom>
          <a:solidFill>
            <a:srgbClr val="1A3A5C"/>
          </a:solidFill>
          <a:ln w="6350">
            <a:solidFill>
              <a:srgbClr val="2A5F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640080" y="46908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3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Afrique : carte continent, scatter opportunités création d'infrastructures &amp; consulting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3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 — Vue Pays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777240"/>
            <a:ext cx="832104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4663440"/>
            <a:ext cx="8321040" cy="320040"/>
          </a:xfrm>
          <a:prstGeom prst="rect">
            <a:avLst/>
          </a:prstGeom>
          <a:solidFill>
            <a:srgbClr val="1A3A5C"/>
          </a:solidFill>
          <a:ln w="6350">
            <a:solidFill>
              <a:srgbClr val="2A5F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640080" y="46908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3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Albania : évolution population &amp; accès eau, niveaux de service Global/Urbain/Rural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3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&amp; points de vigilance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8229600" cy="685800"/>
          </a:xfrm>
          <a:prstGeom prst="rect">
            <a:avLst/>
          </a:prstGeom>
          <a:solidFill>
            <a:srgbClr val="1A3A5C"/>
          </a:solidFill>
          <a:ln w="6350">
            <a:solidFill>
              <a:srgbClr val="2A5F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Mortalité WASH : données 2016 uniquement — pas d'évolution temporelle possible sur cet indicateur.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8229600" cy="685800"/>
          </a:xfrm>
          <a:prstGeom prst="rect">
            <a:avLst/>
          </a:prstGeom>
          <a:solidFill>
            <a:srgbClr val="1A3A5C"/>
          </a:solidFill>
          <a:ln w="6350">
            <a:solidFill>
              <a:srgbClr val="2A5F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Safely managed : 50 à 82 % de valeurs manquantes selon la granularité — à interpréter avec précaution.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834640"/>
            <a:ext cx="8229600" cy="685800"/>
          </a:xfrm>
          <a:prstGeom prst="rect">
            <a:avLst/>
          </a:prstGeom>
          <a:solidFill>
            <a:srgbClr val="1A3A5C"/>
          </a:solidFill>
          <a:ln w="6350">
            <a:solidFill>
              <a:srgbClr val="2A5F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45 pays exclus (territoires, pays disparus) car non présents dans RegionCountry — </a:t>
            </a:r>
            <a:r>
              <a:rPr lang="fr-FR" sz="1200" dirty="0">
                <a:solidFill>
                  <a:srgbClr val="B3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impact sur la population mondiale.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703320"/>
            <a:ext cx="8229600" cy="685800"/>
          </a:xfrm>
          <a:prstGeom prst="rect">
            <a:avLst/>
          </a:prstGeom>
          <a:solidFill>
            <a:srgbClr val="1A3A5C"/>
          </a:solidFill>
          <a:ln w="6350">
            <a:solidFill>
              <a:srgbClr val="2A5F8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Score d'efficacité gouvernementale : indicateur composite (mortalité + accès eau), non </a:t>
            </a:r>
            <a:r>
              <a:rPr lang="en-US" sz="1200" dirty="0" err="1">
                <a:solidFill>
                  <a:srgbClr val="B3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officiel</a:t>
            </a:r>
            <a:r>
              <a:rPr lang="en-US" sz="1200" dirty="0">
                <a:solidFill>
                  <a:srgbClr val="B3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4663440"/>
            <a:ext cx="8229600" cy="0"/>
          </a:xfrm>
          <a:prstGeom prst="line">
            <a:avLst/>
          </a:prstGeom>
          <a:noFill/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593</Words>
  <Application>Microsoft Office PowerPoint</Application>
  <PresentationFormat>Affichage à l'écran (16:9)</PresentationFormat>
  <Paragraphs>81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DWFA – Tableau de bord d'accès à l'eau potable</dc:title>
  <dc:subject>PptxGenJS Presentation</dc:subject>
  <dc:creator>PptxGenJS</dc:creator>
  <cp:lastModifiedBy>Tristan Despont</cp:lastModifiedBy>
  <cp:revision>1</cp:revision>
  <dcterms:created xsi:type="dcterms:W3CDTF">2026-05-23T10:26:30Z</dcterms:created>
  <dcterms:modified xsi:type="dcterms:W3CDTF">2026-06-01T14:30:56Z</dcterms:modified>
</cp:coreProperties>
</file>