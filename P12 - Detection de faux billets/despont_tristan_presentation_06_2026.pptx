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stan Despont" userId="d1a7c66da9d715b7" providerId="LiveId" clId="{8D77CC59-83D2-4C48-82B8-96050E88F101}"/>
    <pc:docChg chg="undo custSel modSld">
      <pc:chgData name="Tristan Despont" userId="d1a7c66da9d715b7" providerId="LiveId" clId="{8D77CC59-83D2-4C48-82B8-96050E88F101}" dt="2026-07-02T10:54:52.966" v="56" actId="22"/>
      <pc:docMkLst>
        <pc:docMk/>
      </pc:docMkLst>
      <pc:sldChg chg="modSp mod">
        <pc:chgData name="Tristan Despont" userId="d1a7c66da9d715b7" providerId="LiveId" clId="{8D77CC59-83D2-4C48-82B8-96050E88F101}" dt="2026-06-25T16:00:33.921" v="18" actId="20577"/>
        <pc:sldMkLst>
          <pc:docMk/>
          <pc:sldMk cId="0" sldId="256"/>
        </pc:sldMkLst>
        <pc:spChg chg="mod">
          <ac:chgData name="Tristan Despont" userId="d1a7c66da9d715b7" providerId="LiveId" clId="{8D77CC59-83D2-4C48-82B8-96050E88F101}" dt="2026-06-25T16:00:33.921" v="18" actId="20577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Tristan Despont" userId="d1a7c66da9d715b7" providerId="LiveId" clId="{8D77CC59-83D2-4C48-82B8-96050E88F101}" dt="2026-07-02T10:54:01.718" v="54" actId="22"/>
        <pc:sldMkLst>
          <pc:docMk/>
          <pc:sldMk cId="0" sldId="257"/>
        </pc:sldMkLst>
        <pc:spChg chg="mod">
          <ac:chgData name="Tristan Despont" userId="d1a7c66da9d715b7" providerId="LiveId" clId="{8D77CC59-83D2-4C48-82B8-96050E88F101}" dt="2026-06-25T16:00:54.208" v="19" actId="20577"/>
          <ac:spMkLst>
            <pc:docMk/>
            <pc:sldMk cId="0" sldId="257"/>
            <ac:spMk id="6" creationId="{00000000-0000-0000-0000-000000000000}"/>
          </ac:spMkLst>
        </pc:spChg>
        <pc:spChg chg="add del">
          <ac:chgData name="Tristan Despont" userId="d1a7c66da9d715b7" providerId="LiveId" clId="{8D77CC59-83D2-4C48-82B8-96050E88F101}" dt="2026-07-02T10:54:01.718" v="54" actId="22"/>
          <ac:spMkLst>
            <pc:docMk/>
            <pc:sldMk cId="0" sldId="257"/>
            <ac:spMk id="16" creationId="{E327B0AF-9769-1BD2-89E5-8D0B646DB096}"/>
          </ac:spMkLst>
        </pc:spChg>
      </pc:sldChg>
      <pc:sldChg chg="modSp mod">
        <pc:chgData name="Tristan Despont" userId="d1a7c66da9d715b7" providerId="LiveId" clId="{8D77CC59-83D2-4C48-82B8-96050E88F101}" dt="2026-06-25T16:01:12.830" v="23" actId="14100"/>
        <pc:sldMkLst>
          <pc:docMk/>
          <pc:sldMk cId="0" sldId="259"/>
        </pc:sldMkLst>
        <pc:spChg chg="mod">
          <ac:chgData name="Tristan Despont" userId="d1a7c66da9d715b7" providerId="LiveId" clId="{8D77CC59-83D2-4C48-82B8-96050E88F101}" dt="2026-06-25T16:01:03.701" v="21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Tristan Despont" userId="d1a7c66da9d715b7" providerId="LiveId" clId="{8D77CC59-83D2-4C48-82B8-96050E88F101}" dt="2026-06-25T16:01:12.830" v="23" actId="14100"/>
          <ac:spMkLst>
            <pc:docMk/>
            <pc:sldMk cId="0" sldId="259"/>
            <ac:spMk id="8" creationId="{00000000-0000-0000-0000-000000000000}"/>
          </ac:spMkLst>
        </pc:spChg>
      </pc:sldChg>
      <pc:sldChg chg="modSp mod">
        <pc:chgData name="Tristan Despont" userId="d1a7c66da9d715b7" providerId="LiveId" clId="{8D77CC59-83D2-4C48-82B8-96050E88F101}" dt="2026-06-25T16:01:57.100" v="32" actId="20577"/>
        <pc:sldMkLst>
          <pc:docMk/>
          <pc:sldMk cId="0" sldId="260"/>
        </pc:sldMkLst>
        <pc:spChg chg="mod">
          <ac:chgData name="Tristan Despont" userId="d1a7c66da9d715b7" providerId="LiveId" clId="{8D77CC59-83D2-4C48-82B8-96050E88F101}" dt="2026-06-25T16:01:47.833" v="29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Tristan Despont" userId="d1a7c66da9d715b7" providerId="LiveId" clId="{8D77CC59-83D2-4C48-82B8-96050E88F101}" dt="2026-06-25T16:01:57.100" v="32" actId="20577"/>
          <ac:spMkLst>
            <pc:docMk/>
            <pc:sldMk cId="0" sldId="260"/>
            <ac:spMk id="8" creationId="{00000000-0000-0000-0000-000000000000}"/>
          </ac:spMkLst>
        </pc:spChg>
      </pc:sldChg>
      <pc:sldChg chg="addSp delSp mod">
        <pc:chgData name="Tristan Despont" userId="d1a7c66da9d715b7" providerId="LiveId" clId="{8D77CC59-83D2-4C48-82B8-96050E88F101}" dt="2026-07-02T10:54:52.966" v="56" actId="22"/>
        <pc:sldMkLst>
          <pc:docMk/>
          <pc:sldMk cId="0" sldId="265"/>
        </pc:sldMkLst>
        <pc:spChg chg="add del">
          <ac:chgData name="Tristan Despont" userId="d1a7c66da9d715b7" providerId="LiveId" clId="{8D77CC59-83D2-4C48-82B8-96050E88F101}" dt="2026-07-02T10:54:52.966" v="56" actId="22"/>
          <ac:spMkLst>
            <pc:docMk/>
            <pc:sldMk cId="0" sldId="265"/>
            <ac:spMk id="16" creationId="{A63F53B4-BE43-C1DE-F8DB-7C024DA6F2F9}"/>
          </ac:spMkLst>
        </pc:spChg>
      </pc:sldChg>
      <pc:sldChg chg="modSp mod">
        <pc:chgData name="Tristan Despont" userId="d1a7c66da9d715b7" providerId="LiveId" clId="{8D77CC59-83D2-4C48-82B8-96050E88F101}" dt="2026-06-25T16:07:05.621" v="33" actId="20577"/>
        <pc:sldMkLst>
          <pc:docMk/>
          <pc:sldMk cId="0" sldId="272"/>
        </pc:sldMkLst>
        <pc:spChg chg="mod">
          <ac:chgData name="Tristan Despont" userId="d1a7c66da9d715b7" providerId="LiveId" clId="{8D77CC59-83D2-4C48-82B8-96050E88F101}" dt="2026-06-25T16:07:05.621" v="33" actId="20577"/>
          <ac:spMkLst>
            <pc:docMk/>
            <pc:sldMk cId="0" sldId="272"/>
            <ac:spMk id="12" creationId="{00000000-0000-0000-0000-000000000000}"/>
          </ac:spMkLst>
        </pc:spChg>
      </pc:sldChg>
      <pc:sldChg chg="modSp mod">
        <pc:chgData name="Tristan Despont" userId="d1a7c66da9d715b7" providerId="LiveId" clId="{8D77CC59-83D2-4C48-82B8-96050E88F101}" dt="2026-06-25T16:07:47.593" v="52" actId="20577"/>
        <pc:sldMkLst>
          <pc:docMk/>
          <pc:sldMk cId="0" sldId="273"/>
        </pc:sldMkLst>
        <pc:spChg chg="mod">
          <ac:chgData name="Tristan Despont" userId="d1a7c66da9d715b7" providerId="LiveId" clId="{8D77CC59-83D2-4C48-82B8-96050E88F101}" dt="2026-06-25T16:07:41.342" v="44" actId="20577"/>
          <ac:spMkLst>
            <pc:docMk/>
            <pc:sldMk cId="0" sldId="273"/>
            <ac:spMk id="5" creationId="{00000000-0000-0000-0000-000000000000}"/>
          </ac:spMkLst>
        </pc:spChg>
        <pc:spChg chg="mod">
          <ac:chgData name="Tristan Despont" userId="d1a7c66da9d715b7" providerId="LiveId" clId="{8D77CC59-83D2-4C48-82B8-96050E88F101}" dt="2026-06-25T16:07:47.593" v="52" actId="20577"/>
          <ac:spMkLst>
            <pc:docMk/>
            <pc:sldMk cId="0" sldId="273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950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1 — Titre</a:t>
            </a:r>
            <a:br>
              <a:rPr lang="fr-FR"/>
            </a:br>
            <a:r>
              <a:rPr lang="fr-FR"/>
              <a:t>Présentation du projet P12 : détection automatique de faux billets pour l'ONCFM. Je vais vous montrer la démarche complète, de l'exploration jusqu'au script de production, en comparant 4 algorithmes.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2 — Contexte &amp; Mission</a:t>
            </a:r>
            <a:endParaRPr lang="fr-FR"/>
          </a:p>
          <a:p>
            <a:r>
              <a:rPr lang="fr-FR"/>
              <a:t>ONCFM : organisation publique, lutte contre les contrefaçons en euros</a:t>
            </a:r>
          </a:p>
          <a:p>
            <a:r>
              <a:rPr lang="fr-FR"/>
              <a:t>Différences vrai/faux billets imperceptibles à l'œil nu, mais mesurables géométriquement</a:t>
            </a:r>
          </a:p>
          <a:p>
            <a:r>
              <a:rPr lang="fr-FR"/>
              <a:t>Mission : classer automatiquement un billet à partir de 6 mesures → livrer un script utilisable par les équipes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3 — Dataset</a:t>
            </a:r>
            <a:endParaRPr lang="fr-FR"/>
          </a:p>
          <a:p>
            <a:r>
              <a:rPr lang="fr-FR"/>
              <a:t>1500 billets labellisés : 1000 vrais, 500 faux</a:t>
            </a:r>
          </a:p>
          <a:p>
            <a:r>
              <a:rPr lang="fr-FR"/>
              <a:t>6 variables géométriques : diagonal, </a:t>
            </a:r>
            <a:r>
              <a:rPr lang="fr-FR" err="1"/>
              <a:t>height_left</a:t>
            </a:r>
            <a:r>
              <a:rPr lang="fr-FR"/>
              <a:t>, </a:t>
            </a:r>
            <a:r>
              <a:rPr lang="fr-FR" err="1"/>
              <a:t>height_right</a:t>
            </a:r>
            <a:r>
              <a:rPr lang="fr-FR"/>
              <a:t>, </a:t>
            </a:r>
            <a:r>
              <a:rPr lang="fr-FR" err="1"/>
              <a:t>margin_low</a:t>
            </a:r>
            <a:r>
              <a:rPr lang="fr-FR"/>
              <a:t>, </a:t>
            </a:r>
            <a:r>
              <a:rPr lang="fr-FR" err="1"/>
              <a:t>margin_up</a:t>
            </a:r>
            <a:r>
              <a:rPr lang="fr-FR"/>
              <a:t>, </a:t>
            </a:r>
            <a:r>
              <a:rPr lang="fr-FR" err="1"/>
              <a:t>length</a:t>
            </a:r>
            <a:endParaRPr lang="fr-FR"/>
          </a:p>
          <a:p>
            <a:r>
              <a:rPr lang="fr-FR"/>
              <a:t>Ce sont les seules infos disponibles — et les seules utilisées en production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4 — EDA</a:t>
            </a:r>
            <a:endParaRPr lang="fr-FR"/>
          </a:p>
          <a:p>
            <a:r>
              <a:rPr lang="fr-FR"/>
              <a:t>Outils custom : </a:t>
            </a:r>
            <a:r>
              <a:rPr lang="fr-FR" err="1"/>
              <a:t>sherlock</a:t>
            </a:r>
            <a:r>
              <a:rPr lang="fr-FR"/>
              <a:t> (audit </a:t>
            </a:r>
            <a:r>
              <a:rPr lang="fr-FR" err="1"/>
              <a:t>df</a:t>
            </a:r>
            <a:r>
              <a:rPr lang="fr-FR"/>
              <a:t>), </a:t>
            </a:r>
            <a:r>
              <a:rPr lang="fr-FR" err="1"/>
              <a:t>heatmap_corr</a:t>
            </a:r>
            <a:r>
              <a:rPr lang="fr-FR"/>
              <a:t>, box (</a:t>
            </a:r>
            <a:r>
              <a:rPr lang="fr-FR" err="1"/>
              <a:t>boxplots</a:t>
            </a:r>
            <a:r>
              <a:rPr lang="fr-FR"/>
              <a:t> interactifs)</a:t>
            </a:r>
          </a:p>
          <a:p>
            <a:r>
              <a:rPr lang="fr-FR"/>
              <a:t>Résultat audit : 1500 lignes, 0 doublon, 1 seul point d'attention → 37 NaN sur </a:t>
            </a:r>
            <a:r>
              <a:rPr lang="fr-FR" err="1"/>
              <a:t>margin_low</a:t>
            </a:r>
            <a:r>
              <a:rPr lang="fr-FR"/>
              <a:t> (2,47%)</a:t>
            </a:r>
          </a:p>
          <a:p>
            <a:r>
              <a:rPr lang="fr-FR"/>
              <a:t>Corrélations : </a:t>
            </a:r>
            <a:r>
              <a:rPr lang="fr-FR" err="1"/>
              <a:t>length</a:t>
            </a:r>
            <a:r>
              <a:rPr lang="fr-FR"/>
              <a:t> très corrélé à </a:t>
            </a:r>
            <a:r>
              <a:rPr lang="fr-FR" err="1"/>
              <a:t>margin_low</a:t>
            </a:r>
            <a:r>
              <a:rPr lang="fr-FR"/>
              <a:t> (-0,67), diagonal quasi nul → déjà un signal sur les variables utiles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5 — Valeurs manquantes</a:t>
            </a:r>
            <a:endParaRPr lang="fr-FR"/>
          </a:p>
          <a:p>
            <a:r>
              <a:rPr lang="fr-FR" err="1"/>
              <a:t>Crosstab</a:t>
            </a:r>
            <a:r>
              <a:rPr lang="fr-FR"/>
              <a:t> NaN × statut : 1,6% chez les faux, 2,9% chez les vrais → pas de lien, distribués au hasard</a:t>
            </a:r>
          </a:p>
          <a:p>
            <a:r>
              <a:rPr lang="fr-FR"/>
              <a:t>Choix : imputation par </a:t>
            </a:r>
            <a:r>
              <a:rPr lang="fr-FR" err="1"/>
              <a:t>KNNImputer</a:t>
            </a:r>
            <a:r>
              <a:rPr lang="fr-FR"/>
              <a:t> (5 voisins) plutôt que suppression</a:t>
            </a:r>
          </a:p>
          <a:p>
            <a:r>
              <a:rPr lang="fr-FR" err="1"/>
              <a:t>StandardScaler</a:t>
            </a:r>
            <a:r>
              <a:rPr lang="fr-FR"/>
              <a:t> avant imputation : le KNN calcule des distances, sans </a:t>
            </a:r>
            <a:r>
              <a:rPr lang="fr-FR" err="1"/>
              <a:t>scaling</a:t>
            </a:r>
            <a:r>
              <a:rPr lang="fr-FR"/>
              <a:t> les grandes variables écrasent les petites</a:t>
            </a:r>
          </a:p>
          <a:p>
            <a:r>
              <a:rPr lang="fr-FR"/>
              <a:t>Fit uniquement sur le train, </a:t>
            </a:r>
            <a:r>
              <a:rPr lang="fr-FR" err="1"/>
              <a:t>transform</a:t>
            </a:r>
            <a:r>
              <a:rPr lang="fr-FR"/>
              <a:t> sur le test → pas de fuite de données</a:t>
            </a:r>
          </a:p>
          <a:p>
            <a:r>
              <a:rPr lang="fr-FR"/>
              <a:t>Sauvegardés en .</a:t>
            </a:r>
            <a:r>
              <a:rPr lang="fr-FR" err="1"/>
              <a:t>pkl</a:t>
            </a:r>
            <a:r>
              <a:rPr lang="fr-FR"/>
              <a:t> pour réutilisation en production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Slides 6 &amp; 7 — Distributions</a:t>
            </a:r>
            <a:endParaRPr lang="fr-FR"/>
          </a:p>
          <a:p>
            <a:r>
              <a:rPr lang="fr-FR" err="1"/>
              <a:t>length</a:t>
            </a:r>
            <a:r>
              <a:rPr lang="fr-FR"/>
              <a:t> et </a:t>
            </a:r>
            <a:r>
              <a:rPr lang="fr-FR" err="1"/>
              <a:t>margin_low</a:t>
            </a:r>
            <a:r>
              <a:rPr lang="fr-FR"/>
              <a:t> : quasi aucun chevauchement vrai/faux → variables les plus discriminantes</a:t>
            </a:r>
          </a:p>
          <a:p>
            <a:r>
              <a:rPr lang="fr-FR" err="1"/>
              <a:t>margin_up</a:t>
            </a:r>
            <a:r>
              <a:rPr lang="fr-FR"/>
              <a:t> et </a:t>
            </a:r>
            <a:r>
              <a:rPr lang="fr-FR" err="1"/>
              <a:t>height_right</a:t>
            </a:r>
            <a:r>
              <a:rPr lang="fr-FR"/>
              <a:t> : bonne séparation, léger chevauchement</a:t>
            </a:r>
          </a:p>
          <a:p>
            <a:r>
              <a:rPr lang="fr-FR"/>
              <a:t>diagonal : distributions superposées → apportera peu au modèle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Slides 6 &amp; 7 — Distributions</a:t>
            </a:r>
            <a:endParaRPr lang="fr-FR"/>
          </a:p>
          <a:p>
            <a:r>
              <a:rPr lang="fr-FR" err="1"/>
              <a:t>length</a:t>
            </a:r>
            <a:r>
              <a:rPr lang="fr-FR"/>
              <a:t> et </a:t>
            </a:r>
            <a:r>
              <a:rPr lang="fr-FR" err="1"/>
              <a:t>margin_low</a:t>
            </a:r>
            <a:r>
              <a:rPr lang="fr-FR"/>
              <a:t> : quasi aucun chevauchement vrai/faux → variables les plus discriminantes</a:t>
            </a:r>
          </a:p>
          <a:p>
            <a:r>
              <a:rPr lang="fr-FR" err="1"/>
              <a:t>margin_up</a:t>
            </a:r>
            <a:r>
              <a:rPr lang="fr-FR"/>
              <a:t> et </a:t>
            </a:r>
            <a:r>
              <a:rPr lang="fr-FR" err="1"/>
              <a:t>height_right</a:t>
            </a:r>
            <a:r>
              <a:rPr lang="fr-FR"/>
              <a:t> : bonne séparation, léger chevauchement</a:t>
            </a:r>
          </a:p>
          <a:p>
            <a:r>
              <a:rPr lang="fr-FR"/>
              <a:t>diagonal : distributions superposées → apportera peu au modèle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8 — Variables discriminantes</a:t>
            </a:r>
            <a:endParaRPr lang="fr-FR"/>
          </a:p>
          <a:p>
            <a:r>
              <a:rPr lang="fr-FR" err="1"/>
              <a:t>length</a:t>
            </a:r>
            <a:r>
              <a:rPr lang="fr-FR"/>
              <a:t> et </a:t>
            </a:r>
            <a:r>
              <a:rPr lang="fr-FR" err="1"/>
              <a:t>margin_low</a:t>
            </a:r>
            <a:r>
              <a:rPr lang="fr-FR"/>
              <a:t> portent l'essentiel du pouvoir prédictif</a:t>
            </a:r>
          </a:p>
          <a:p>
            <a:r>
              <a:rPr lang="fr-FR"/>
              <a:t>diagonal conservée dans le modèle : la supprimer ne simplifierait rien et compliquerait le pipeline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9 — Stratégie de modélisation</a:t>
            </a:r>
            <a:endParaRPr lang="fr-FR"/>
          </a:p>
          <a:p>
            <a:r>
              <a:rPr lang="fr-FR"/>
              <a:t>Split 80/20 stratifié, </a:t>
            </a:r>
            <a:r>
              <a:rPr lang="fr-FR" err="1"/>
              <a:t>random_state</a:t>
            </a:r>
            <a:r>
              <a:rPr lang="fr-FR"/>
              <a:t>=42</a:t>
            </a:r>
          </a:p>
          <a:p>
            <a:r>
              <a:rPr lang="fr-FR"/>
              <a:t>Métrique : </a:t>
            </a:r>
            <a:r>
              <a:rPr lang="fr-FR" err="1"/>
              <a:t>recall</a:t>
            </a:r>
            <a:r>
              <a:rPr lang="fr-FR"/>
              <a:t> — choix métier : un faux billet non détecté (FN) est bien plus grave qu'un vrai billet bloqué (FP)</a:t>
            </a:r>
          </a:p>
          <a:p>
            <a:r>
              <a:rPr lang="fr-FR" err="1"/>
              <a:t>GridSearchCV</a:t>
            </a:r>
            <a:r>
              <a:rPr lang="fr-FR"/>
              <a:t>, cv=5, toujours sur le train uniquement</a:t>
            </a:r>
          </a:p>
          <a:p>
            <a:r>
              <a:rPr lang="fr-FR"/>
              <a:t>Fonction custom </a:t>
            </a:r>
            <a:r>
              <a:rPr lang="fr-FR" err="1"/>
              <a:t>evaluate_model</a:t>
            </a:r>
            <a:r>
              <a:rPr lang="fr-FR"/>
              <a:t> : matrice de confusion + courbe ROC automatiques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10 — Régression Logistique</a:t>
            </a:r>
            <a:endParaRPr lang="fr-FR"/>
          </a:p>
          <a:p>
            <a:r>
              <a:rPr lang="fr-FR" err="1"/>
              <a:t>param_grid</a:t>
            </a:r>
            <a:r>
              <a:rPr lang="fr-FR"/>
              <a:t> : C sur plage logarithmique → best C = 0,0215</a:t>
            </a:r>
          </a:p>
          <a:p>
            <a:r>
              <a:rPr lang="fr-FR" err="1"/>
              <a:t>Recall</a:t>
            </a:r>
            <a:r>
              <a:rPr lang="fr-FR"/>
              <a:t> : 96% → 4 faux non détectés / 100, 0 vrai bloqué à tort</a:t>
            </a:r>
          </a:p>
          <a:p>
            <a:r>
              <a:rPr lang="fr-FR"/>
              <a:t>AUC : 0,9990 → meilleure capacité de séparation globale parmi les 4 modèles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11 — KNN</a:t>
            </a:r>
            <a:endParaRPr lang="fr-FR"/>
          </a:p>
          <a:p>
            <a:r>
              <a:rPr lang="fr-FR" err="1"/>
              <a:t>param_grid</a:t>
            </a:r>
            <a:r>
              <a:rPr lang="fr-FR"/>
              <a:t> : </a:t>
            </a:r>
            <a:r>
              <a:rPr lang="fr-FR" err="1"/>
              <a:t>n_neighbors</a:t>
            </a:r>
            <a:r>
              <a:rPr lang="fr-FR"/>
              <a:t>, </a:t>
            </a:r>
            <a:r>
              <a:rPr lang="fr-FR" err="1"/>
              <a:t>weights</a:t>
            </a:r>
            <a:r>
              <a:rPr lang="fr-FR"/>
              <a:t>, p → best : 1 voisin, distance Manhattan, poids uniforme</a:t>
            </a:r>
          </a:p>
          <a:p>
            <a:r>
              <a:rPr lang="fr-FR"/>
              <a:t>1 voisin : classe un billet en regardant uniquement le plus proche dans le train</a:t>
            </a:r>
          </a:p>
          <a:p>
            <a:r>
              <a:rPr lang="fr-FR"/>
              <a:t>Manhattan : suit les axes plutôt qu'une distance à vol d'oiseau — plus adapté à nos variables</a:t>
            </a:r>
          </a:p>
          <a:p>
            <a:r>
              <a:rPr lang="fr-FR" err="1"/>
              <a:t>Recall</a:t>
            </a:r>
            <a:r>
              <a:rPr lang="fr-FR"/>
              <a:t> : 97% → 3 faux non détectés / 100</a:t>
            </a:r>
          </a:p>
          <a:p>
            <a:r>
              <a:rPr lang="fr-FR"/>
              <a:t>AUC : 0,9825 → inférieure aux deux autres supervisés, contribuera à l'écarter au choix final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12 — Random Forest</a:t>
            </a:r>
            <a:endParaRPr lang="fr-FR"/>
          </a:p>
          <a:p>
            <a:r>
              <a:rPr lang="fr-FR" err="1"/>
              <a:t>param_grid</a:t>
            </a:r>
            <a:r>
              <a:rPr lang="fr-FR"/>
              <a:t> : </a:t>
            </a:r>
            <a:r>
              <a:rPr lang="fr-FR" err="1"/>
              <a:t>n_estimators</a:t>
            </a:r>
            <a:r>
              <a:rPr lang="fr-FR"/>
              <a:t>, </a:t>
            </a:r>
            <a:r>
              <a:rPr lang="fr-FR" err="1"/>
              <a:t>max_depth</a:t>
            </a:r>
            <a:r>
              <a:rPr lang="fr-FR"/>
              <a:t>, </a:t>
            </a:r>
            <a:r>
              <a:rPr lang="fr-FR" err="1"/>
              <a:t>min_samples_split</a:t>
            </a:r>
            <a:r>
              <a:rPr lang="fr-FR"/>
              <a:t>, </a:t>
            </a:r>
            <a:r>
              <a:rPr lang="fr-FR" err="1"/>
              <a:t>class_weight</a:t>
            </a:r>
            <a:r>
              <a:rPr lang="fr-FR"/>
              <a:t> → best : 400 arbres, </a:t>
            </a:r>
            <a:r>
              <a:rPr lang="fr-FR" err="1"/>
              <a:t>max_depth</a:t>
            </a:r>
            <a:r>
              <a:rPr lang="fr-FR"/>
              <a:t>=2, </a:t>
            </a:r>
            <a:r>
              <a:rPr lang="fr-FR" err="1"/>
              <a:t>class_weight</a:t>
            </a:r>
            <a:r>
              <a:rPr lang="fr-FR"/>
              <a:t>=</a:t>
            </a:r>
            <a:r>
              <a:rPr lang="fr-FR" err="1"/>
              <a:t>balanced</a:t>
            </a:r>
            <a:endParaRPr lang="fr-FR"/>
          </a:p>
          <a:p>
            <a:r>
              <a:rPr lang="fr-FR" err="1"/>
              <a:t>max_depth</a:t>
            </a:r>
            <a:r>
              <a:rPr lang="fr-FR"/>
              <a:t>=2 cohérent avec l'EDA : séparation quasi linéaire sur </a:t>
            </a:r>
            <a:r>
              <a:rPr lang="fr-FR" err="1"/>
              <a:t>length</a:t>
            </a:r>
            <a:r>
              <a:rPr lang="fr-FR"/>
              <a:t> et </a:t>
            </a:r>
            <a:r>
              <a:rPr lang="fr-FR" err="1"/>
              <a:t>margin_low</a:t>
            </a:r>
            <a:endParaRPr lang="fr-FR"/>
          </a:p>
          <a:p>
            <a:r>
              <a:rPr lang="fr-FR" err="1"/>
              <a:t>class_weight</a:t>
            </a:r>
            <a:r>
              <a:rPr lang="fr-FR"/>
              <a:t>=</a:t>
            </a:r>
            <a:r>
              <a:rPr lang="fr-FR" err="1"/>
              <a:t>balanced</a:t>
            </a:r>
            <a:r>
              <a:rPr lang="fr-FR"/>
              <a:t> : compense le déséquilibre 1000/500 en donnant plus de poids aux faux pendant l'entraînement</a:t>
            </a:r>
          </a:p>
          <a:p>
            <a:r>
              <a:rPr lang="fr-FR" err="1"/>
              <a:t>Recall</a:t>
            </a:r>
            <a:r>
              <a:rPr lang="fr-FR"/>
              <a:t> : 98% → 2 faux non détectés / 100 ✅</a:t>
            </a:r>
          </a:p>
          <a:p>
            <a:r>
              <a:rPr lang="fr-FR"/>
              <a:t>AUC : 0,9997 → meilleure de tous les modèles</a:t>
            </a:r>
          </a:p>
          <a:p>
            <a:r>
              <a:rPr lang="fr-FR"/>
              <a:t>2 FP (vrais bloqués à tort) : compromis acceptable, FN &gt; FP dans ce contexte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13 — K-</a:t>
            </a:r>
            <a:r>
              <a:rPr lang="fr-FR" b="1" err="1"/>
              <a:t>means</a:t>
            </a:r>
            <a:endParaRPr lang="fr-FR"/>
          </a:p>
          <a:p>
            <a:r>
              <a:rPr lang="fr-FR"/>
              <a:t>Seul algo non supervisé : ne reçoit pas les labels, cherche 2 groupes naturels</a:t>
            </a:r>
          </a:p>
          <a:p>
            <a:r>
              <a:rPr lang="fr-FR"/>
              <a:t>Mapping cluster → label fait manuellement via </a:t>
            </a:r>
            <a:r>
              <a:rPr lang="fr-FR" err="1"/>
              <a:t>groupby</a:t>
            </a:r>
            <a:r>
              <a:rPr lang="fr-FR"/>
              <a:t> sur </a:t>
            </a:r>
            <a:r>
              <a:rPr lang="fr-FR" err="1"/>
              <a:t>y_train</a:t>
            </a:r>
            <a:endParaRPr lang="fr-FR"/>
          </a:p>
          <a:p>
            <a:r>
              <a:rPr lang="fr-FR" err="1"/>
              <a:t>Recall</a:t>
            </a:r>
            <a:r>
              <a:rPr lang="fr-FR"/>
              <a:t> 97% avec </a:t>
            </a:r>
            <a:r>
              <a:rPr lang="fr-FR" err="1"/>
              <a:t>seed</a:t>
            </a:r>
            <a:r>
              <a:rPr lang="fr-FR"/>
              <a:t>=42, mais tombe à 3% avec </a:t>
            </a:r>
            <a:r>
              <a:rPr lang="fr-FR" err="1"/>
              <a:t>seed</a:t>
            </a:r>
            <a:r>
              <a:rPr lang="fr-FR"/>
              <a:t>=10 → inversion des clusters</a:t>
            </a:r>
          </a:p>
          <a:p>
            <a:r>
              <a:rPr lang="fr-FR"/>
              <a:t>Instabilité fondamentale : inutilisable en production sans surveillance manuelle → écarté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14 — Comparaison</a:t>
            </a:r>
            <a:endParaRPr lang="fr-FR"/>
          </a:p>
          <a:p>
            <a:r>
              <a:rPr lang="fr-FR"/>
              <a:t>LR : 4 FN, 0 FP | KNN : 3 FN, 1 FP | RF : 2 FN, 2 FP | K-</a:t>
            </a:r>
            <a:r>
              <a:rPr lang="fr-FR" err="1"/>
              <a:t>means</a:t>
            </a:r>
            <a:r>
              <a:rPr lang="fr-FR"/>
              <a:t> : instable</a:t>
            </a:r>
          </a:p>
          <a:p>
            <a:r>
              <a:rPr lang="fr-FR"/>
              <a:t>Critère de choix : FN &gt; FP → le RF est le seul à descendre à 2 faux non détectés, meilleur AUC → retenu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15 — Robustesse</a:t>
            </a:r>
            <a:endParaRPr lang="fr-FR"/>
          </a:p>
          <a:p>
            <a:r>
              <a:rPr lang="fr-FR" err="1"/>
              <a:t>Retest</a:t>
            </a:r>
            <a:r>
              <a:rPr lang="fr-FR"/>
              <a:t> complet avec </a:t>
            </a:r>
            <a:r>
              <a:rPr lang="fr-FR" err="1"/>
              <a:t>random_state</a:t>
            </a:r>
            <a:r>
              <a:rPr lang="fr-FR"/>
              <a:t>=10</a:t>
            </a:r>
          </a:p>
          <a:p>
            <a:r>
              <a:rPr lang="fr-FR"/>
              <a:t>LR : 96→97%, KNN : 97→96%, RF : 98→98% → variations de ±1% = bruit statistique normal</a:t>
            </a:r>
          </a:p>
          <a:p>
            <a:r>
              <a:rPr lang="fr-FR"/>
              <a:t>K-</a:t>
            </a:r>
            <a:r>
              <a:rPr lang="fr-FR" err="1"/>
              <a:t>means</a:t>
            </a:r>
            <a:r>
              <a:rPr lang="fr-FR"/>
              <a:t> : 97→3% → confirme l'instabilité → écarté définitivement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16 — Modèle retenu</a:t>
            </a:r>
            <a:endParaRPr lang="fr-FR"/>
          </a:p>
          <a:p>
            <a:r>
              <a:rPr lang="fr-FR"/>
              <a:t>Random Forest : meilleur </a:t>
            </a:r>
            <a:r>
              <a:rPr lang="fr-FR" err="1"/>
              <a:t>recall</a:t>
            </a:r>
            <a:r>
              <a:rPr lang="fr-FR"/>
              <a:t> (98%), meilleur AUC (0,9997), stable sur deux </a:t>
            </a:r>
            <a:r>
              <a:rPr lang="fr-FR" err="1"/>
              <a:t>seeds</a:t>
            </a:r>
            <a:endParaRPr lang="fr-FR"/>
          </a:p>
          <a:p>
            <a:r>
              <a:rPr lang="fr-FR"/>
              <a:t>Répond à la priorité métier : minimise les FN</a:t>
            </a:r>
          </a:p>
          <a:p>
            <a:r>
              <a:rPr lang="fr-FR"/>
              <a:t>2 FP acceptables → vérification manuelle dans la pratique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17 — Application finale</a:t>
            </a:r>
            <a:endParaRPr lang="fr-FR"/>
          </a:p>
          <a:p>
            <a:r>
              <a:rPr lang="fr-FR"/>
              <a:t>2 modes : --values (6 mesures en ligne de commande) ou CSV déposé dans data/</a:t>
            </a:r>
            <a:r>
              <a:rPr lang="fr-FR" err="1"/>
              <a:t>fresh</a:t>
            </a:r>
            <a:r>
              <a:rPr lang="fr-FR"/>
              <a:t>/</a:t>
            </a:r>
          </a:p>
          <a:p>
            <a:r>
              <a:rPr lang="fr-FR"/>
              <a:t>Détection automatique du fichier, erreur explicite si 0 ou plusieurs fichiers</a:t>
            </a:r>
          </a:p>
          <a:p>
            <a:r>
              <a:rPr lang="fr-FR"/>
              <a:t>Chaîne : </a:t>
            </a:r>
            <a:r>
              <a:rPr lang="fr-FR" err="1"/>
              <a:t>scaler.transform</a:t>
            </a:r>
            <a:r>
              <a:rPr lang="fr-FR"/>
              <a:t>() → </a:t>
            </a:r>
            <a:r>
              <a:rPr lang="fr-FR" err="1"/>
              <a:t>imputer.transform</a:t>
            </a:r>
            <a:r>
              <a:rPr lang="fr-FR"/>
              <a:t>() → </a:t>
            </a:r>
            <a:r>
              <a:rPr lang="fr-FR" err="1"/>
              <a:t>RF.predict</a:t>
            </a:r>
            <a:r>
              <a:rPr lang="fr-FR"/>
              <a:t>()</a:t>
            </a:r>
          </a:p>
          <a:p>
            <a:r>
              <a:rPr lang="fr-FR"/>
              <a:t>Objets chargés depuis les .</a:t>
            </a:r>
            <a:r>
              <a:rPr lang="fr-FR" err="1"/>
              <a:t>pkl</a:t>
            </a:r>
            <a:r>
              <a:rPr lang="fr-FR"/>
              <a:t> → même transformation qu'à l'entraînement garantie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18 — Bilan &amp; Limites</a:t>
            </a:r>
            <a:endParaRPr lang="fr-FR"/>
          </a:p>
          <a:p>
            <a:r>
              <a:rPr lang="fr-FR"/>
              <a:t>Pipeline complet : EDA, 4 modèles, choix justifié sur critères métier, script opérationnel</a:t>
            </a:r>
          </a:p>
          <a:p>
            <a:r>
              <a:rPr lang="fr-FR"/>
              <a:t>Limites : dataset de 1500 billets (petit pour la prod), 2% de faux encore non détectés, pas de test sur vrais billets de production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Slide 19 — Conclusion</a:t>
            </a:r>
            <a:br>
              <a:rPr lang="fr-FR"/>
            </a:br>
            <a:r>
              <a:rPr lang="fr-FR"/>
              <a:t>Random Forest retenu : 98% </a:t>
            </a:r>
            <a:r>
              <a:rPr lang="fr-FR" err="1"/>
              <a:t>recall</a:t>
            </a:r>
            <a:r>
              <a:rPr lang="fr-FR"/>
              <a:t>, AUC 0,9997. Script app.py opérationnel, 2 modes d'input. Merci, je suis disponible pour vos questions.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926080"/>
            <a:ext cx="3474720" cy="2468880"/>
          </a:xfrm>
          <a:prstGeom prst="rect">
            <a:avLst/>
          </a:prstGeom>
          <a:solidFill>
            <a:srgbClr val="141B3A">
              <a:alpha val="7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ONCFM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automatique</a:t>
            </a:r>
            <a:endParaRPr lang="en-US" sz="4400"/>
          </a:p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faux billets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de Machine Learning — Projet P12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7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Tristan Despont  |  2026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Mission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🏛️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L'ONCFM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nationale de lutte contre le faux-monnayage. </a:t>
            </a:r>
          </a:p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identifier les contrefaçons de billets en euros.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🔍</a:t>
            </a:r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320040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3337560" y="25146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différences entre vrais et faux billets sont infimes à l'œil nu, mais mesurables géométriquement par machine.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03504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🤖</a:t>
            </a:r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603504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mission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172200" y="25146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algorithme qui classe automatiquement un billet (vrai/faux) à partir de ses 6 mesures géométriques.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1 500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au total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46888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3000"/>
          </a:p>
        </p:txBody>
      </p:sp>
      <p:sp>
        <p:nvSpPr>
          <p:cNvPr id="8" name="Text 6"/>
          <p:cNvSpPr/>
          <p:nvPr/>
        </p:nvSpPr>
        <p:spPr>
          <a:xfrm>
            <a:off x="246888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billets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000"/>
          </a:p>
        </p:txBody>
      </p:sp>
      <p:sp>
        <p:nvSpPr>
          <p:cNvPr id="11" name="Text 9"/>
          <p:cNvSpPr/>
          <p:nvPr/>
        </p:nvSpPr>
        <p:spPr>
          <a:xfrm>
            <a:off x="457200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billets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667512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67512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/>
          </a:p>
        </p:txBody>
      </p:sp>
      <p:sp>
        <p:nvSpPr>
          <p:cNvPr id="14" name="Text 12"/>
          <p:cNvSpPr/>
          <p:nvPr/>
        </p:nvSpPr>
        <p:spPr>
          <a:xfrm>
            <a:off x="667512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géométriques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géométriques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— diagonale du billet (mm)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754880" y="318211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height_left — hauteur côté gauche (mm)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365760" y="368503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height_right — hauteur côté droit (mm)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4754880" y="368503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margin_low — marge bord inférieur (mm)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margin_up — marge bord supérieur (mm)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4754880" y="418795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02920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— longueur du billet (mm)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des données (EDA)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🛠️  Outils custom développés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sherlock(df)</a:t>
            </a: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audit complet du DataFrame
(types, NaN, doublons, cardinalité)
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heatmap_corr(df)</a:t>
            </a: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matrice de corrélation
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box(df, x, y)</a:t>
            </a: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boxplot Plotly interactif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groupe (vrais vs faux)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0" y="96012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0916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Résultats sherlock(df)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lignes × 7 colonnes
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doublon
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NaN sur margin_low (2.47%)
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is_genuine : bool → inverti en </a:t>
            </a:r>
            <a:r>
              <a:rPr lang="en-US" sz="110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is_fake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is_fake = True = classe d'intérêt (faux billet)</a:t>
            </a:r>
            <a:endParaRPr lang="en-US" sz="1100"/>
          </a:p>
        </p:txBody>
      </p:sp>
      <p:pic>
        <p:nvPicPr>
          <p:cNvPr id="9" name="Image 0" descr="/home/claude/matric_cor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3063240"/>
            <a:ext cx="3931920" cy="1783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0" y="306324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70916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Corrélations clés avec margin_low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4754880" y="3566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: -0.67  •  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margin_up : +0.43
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height_right : +0.39
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6B7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: -0.11  →  peu informatif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valeurs manquantes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548640" y="1457608"/>
            <a:ext cx="3474720" cy="128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pd.crosstab(df['is_genuine'], df['margin_low'].isna())
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billets : 8/500 NaN (1.6%)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billets : 29/1000 NaN (2.9%)</a:t>
            </a:r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 de lien avec le statut du billet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preprocessing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StandardScaler().fit(</a:t>
            </a:r>
            <a:r>
              <a:rPr lang="en-US" sz="1200" b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</a:t>
            </a:r>
            <a:r>
              <a:rPr lang="en-US" sz="12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avant imputation pour fiabiliser les distances KNN
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KNNImputer(n_neighbors=5)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.fit_transform(X_train)  →  .transform(X_test)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304495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Fit uniquement sur le train → appliqué sans refit sur le test  |  Sauvegardés : scaler.pkl  imputer.pkl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65760" y="384048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3913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Vérification post-imputation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548640" y="431596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X_train_clean.isna().sum()  →  0 NaN  |  X_test_clean.isna().sum()  →  0 NaN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Distributions par variable (1/2)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standardisées  —  Bleu : vrais billets  |  Rouge : faux billets</a:t>
            </a:r>
            <a:endParaRPr lang="en-US" sz="1100"/>
          </a:p>
        </p:txBody>
      </p:sp>
      <p:pic>
        <p:nvPicPr>
          <p:cNvPr id="4" name="Image 0" descr="/home/claude/diago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2743200" cy="3749040"/>
          </a:xfrm>
          <a:prstGeom prst="rect">
            <a:avLst/>
          </a:prstGeom>
        </p:spPr>
      </p:pic>
      <p:pic>
        <p:nvPicPr>
          <p:cNvPr id="5" name="Image 1" descr="/home/claude/height_lef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0" y="1051560"/>
            <a:ext cx="2743200" cy="3749040"/>
          </a:xfrm>
          <a:prstGeom prst="rect">
            <a:avLst/>
          </a:prstGeom>
        </p:spPr>
      </p:pic>
      <p:pic>
        <p:nvPicPr>
          <p:cNvPr id="6" name="Image 2" descr="/home/claude/height_righ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26480" y="1051560"/>
            <a:ext cx="27432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Distributions par variable (2/2)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standardisées  —  Bleu : vrais billets  |  Rouge : faux billets</a:t>
            </a:r>
            <a:endParaRPr lang="en-US" sz="1100"/>
          </a:p>
        </p:txBody>
      </p:sp>
      <p:pic>
        <p:nvPicPr>
          <p:cNvPr id="4" name="Image 0" descr="/home/claude/margin_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2743200" cy="3749040"/>
          </a:xfrm>
          <a:prstGeom prst="rect">
            <a:avLst/>
          </a:prstGeom>
        </p:spPr>
      </p:pic>
      <p:pic>
        <p:nvPicPr>
          <p:cNvPr id="5" name="Image 1" descr="/home/claude/margin_u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0" y="1051560"/>
            <a:ext cx="2743200" cy="3749040"/>
          </a:xfrm>
          <a:prstGeom prst="rect">
            <a:avLst/>
          </a:prstGeom>
        </p:spPr>
      </p:pic>
      <p:pic>
        <p:nvPicPr>
          <p:cNvPr id="6" name="Image 2" descr="/home/claude/length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26480" y="1051560"/>
            <a:ext cx="27432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discriminantes</a:t>
            </a:r>
            <a:endParaRPr lang="en-US" sz="32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65759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Pouvoir discriminant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 Très élevé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 aucun chevauchement vrai/faux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margin_low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 Très élevé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billets nettement plus élevés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margin_up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 Élevé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 séparation, léger chevauchement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height_right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 Élevé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 séparation, léger chevauchement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height_left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Modéré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Chevauchement notable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6B7C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diagonal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6B7C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Faible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6B7C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Distributions quasi superposées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de modélisation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</a:rPr>
              <a:t>✂️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stratifié 80/20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280160" y="171907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train_test_split(X, y, test_size=0.2,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random_state=42, stratify=y)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: 1200  |  Test : 300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66344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</a:rPr>
              <a:t>🎯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5577840" y="1280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: Recall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577840" y="171907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maximiser la détection des faux billets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(faux billet classé vrai) &gt; FP (vrai classé faux)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Minimiser les faux négatifs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</a:rPr>
              <a:t>🔧</a:t>
            </a:r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128016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 (cv=5)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280160" y="363931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des hyperparamètres optimaux via cross-validation sur le train uniquement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63440" y="3200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</a:rPr>
              <a:t>📊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557784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evaluate_model()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577840" y="363931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custom : matrice de confusion + courbe ROC + score choisi (recall, accuracy, precision, f1)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(faux)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194560" cy="28346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param_grid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logspace(-4, 3, 8)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best_params_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0.0215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= 0.9990</a:t>
            </a:r>
            <a:endParaRPr lang="en-US" sz="1000"/>
          </a:p>
        </p:txBody>
      </p:sp>
      <p:pic>
        <p:nvPicPr>
          <p:cNvPr id="11" name="Image 0" descr="/home/claude/mat_conf_l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0" y="822960"/>
            <a:ext cx="3200400" cy="2514600"/>
          </a:xfrm>
          <a:prstGeom prst="rect">
            <a:avLst/>
          </a:prstGeom>
        </p:spPr>
      </p:pic>
      <p:pic>
        <p:nvPicPr>
          <p:cNvPr id="12" name="Image 1" descr="/home/claude/roc_l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822960"/>
            <a:ext cx="2834640" cy="2514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0" y="34290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2880360" y="3493008"/>
            <a:ext cx="5852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4 faux billets non détectés (classés comme vrais) — faux négatifs à minimiser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0 vrai billet classé à tort comme faux — aucun faux positif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scoring='recall', cv=5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(KNN)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(faux)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194560" cy="28346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param_grid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n_neighbors: [1,3,5,7,9]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weights: [uniform,distance]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[1, 2]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best_params_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n_neighbors: 1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1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weights: uniform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= 0.9825</a:t>
            </a:r>
            <a:endParaRPr lang="en-US" sz="1000"/>
          </a:p>
        </p:txBody>
      </p:sp>
      <p:pic>
        <p:nvPicPr>
          <p:cNvPr id="11" name="Image 0" descr="/home/claude/mat_conf_kn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0" y="822960"/>
            <a:ext cx="3200400" cy="2514600"/>
          </a:xfrm>
          <a:prstGeom prst="rect">
            <a:avLst/>
          </a:prstGeom>
        </p:spPr>
      </p:pic>
      <p:pic>
        <p:nvPicPr>
          <p:cNvPr id="12" name="Image 1" descr="/home/claude/roc_kn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822960"/>
            <a:ext cx="2834640" cy="2514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0" y="34290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2880360" y="3493008"/>
            <a:ext cx="5852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3 faux billets non détectés (classés comme vrais)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 vrai billet classé à tort comme faux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scoring='recall', cv=5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✅ Modèle final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(faux)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194560" cy="28346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param_grid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n_estimators: [300,400,500,600]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max_depth: [1, 2, 3]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min_samples_split: [2,3,4]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class_weight: [None,balanced]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best_params_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class_weight: balanced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max_depth: 2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min_samples_split: 2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n_estimators: 400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= 0.9997</a:t>
            </a:r>
            <a:endParaRPr lang="en-US" sz="1000"/>
          </a:p>
        </p:txBody>
      </p:sp>
      <p:pic>
        <p:nvPicPr>
          <p:cNvPr id="11" name="Image 0" descr="/home/claude/mat_conf_r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0" y="822960"/>
            <a:ext cx="3200400" cy="2514600"/>
          </a:xfrm>
          <a:prstGeom prst="rect">
            <a:avLst/>
          </a:prstGeom>
        </p:spPr>
      </p:pic>
      <p:pic>
        <p:nvPicPr>
          <p:cNvPr id="12" name="Image 1" descr="/home/claude/roc_r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822960"/>
            <a:ext cx="2834640" cy="2514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0" y="34290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2880360" y="3493008"/>
            <a:ext cx="5852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2 faux billets non détectés (classés comme vrais) — meilleur recall 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2 vrais billets classés à tort comme faux — acceptable : FN &gt; FP dans ce contexte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scoring='recall', cv=5 → retenu comme modèle de production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(faux)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97%*</a:t>
            </a:r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194560" cy="28346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Approche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KMeans(n_clusters=2,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n_init=20,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random_state=42)</a:t>
            </a:r>
            <a:endParaRPr lang="en-US" sz="1000"/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 cluster→label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groupby().mean()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y_train</a:t>
            </a:r>
            <a:endParaRPr lang="en-US" sz="1000"/>
          </a:p>
        </p:txBody>
      </p:sp>
      <p:pic>
        <p:nvPicPr>
          <p:cNvPr id="9" name="Image 0" descr="/home/claude/mat_conf_k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0" y="822960"/>
            <a:ext cx="3200400" cy="2514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35040" y="822960"/>
            <a:ext cx="2834640" cy="2514600"/>
          </a:xfrm>
          <a:prstGeom prst="roundRect">
            <a:avLst>
              <a:gd name="adj" fmla="val 3636"/>
            </a:avLst>
          </a:prstGeom>
          <a:solidFill>
            <a:srgbClr val="FFF3F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48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Limite majeure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6126480" y="14173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non supervisé
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cluster→label fragile : avec seed=10, recall = 3% (clusters inversés).
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Écarté de la production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2743200" y="34290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2880360" y="3493008"/>
            <a:ext cx="5852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3 faux billets non détectés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 vrai billet classé à tort comme faux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Instable : résultat dépend du seed — inutilisable en production sans vérification manuelle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modèles</a:t>
            </a:r>
            <a:endParaRPr lang="en-US" sz="320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(faux ratés)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(vrais accusés)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Logistique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100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0.9825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200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✅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 ⭐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100 ✅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200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97%*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100*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200*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38404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48640" y="3913632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de choix : FN &gt; FP — un faux billet qui passe pour vrai est plus grave qu'un vrai billet bloqué.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retenu : meilleur recall (98%) + meilleur AUC (0.9997) malgré 2 FP acceptables.</a:t>
            </a:r>
            <a:endParaRPr lang="en-US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Robustesse du modèle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7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sensibilité : même pipeline, seed différent (random_state=10 vs 42)</a:t>
            </a:r>
            <a:endParaRPr lang="en-US" sz="120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25603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seed=42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seed=10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Logistique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+1%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-1%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✅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 ⚠️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-94% ❌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93192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Les 3 modèles supervisés sont stables. ❌  K-means : inversion des clusters avec seed différent → écarté de la production.</a:t>
            </a:r>
            <a:endParaRPr lang="en-US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</a:t>
            </a:r>
            <a:endParaRPr lang="en-US" sz="180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440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141B3A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31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📈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280160" y="2148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Meilleur recall + AUC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280160" y="2514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recall, AUC 0.9997 — seul modèle à descendre à 2 faux négatifs sur 100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141B3A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731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🎯</a:t>
            </a:r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5577840" y="2148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Priorité métier respectée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577840" y="2514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&gt; FP : 2 faux billets ratés vs 2 vrais bloqués — compromis acceptable pour l'ONCFM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141B3A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731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🌲</a:t>
            </a:r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1280160" y="3566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 par nature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280160" y="3931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 300-600 arbres — moins sensible aux outliers qu'un modèle linéaire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754880" y="342900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141B3A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46320" y="3429000"/>
            <a:ext cx="731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🔒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5577840" y="3566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5577840" y="3931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cohérents quel que soit le seed (contrairement au K-means)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finale — app.py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⌨️  Mode valeurs directes (argparse)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41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4356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--values 171.81 104.86 104.95 4.52 2.89 112.83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mesures passées via --values (nargs=6, type=float)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24963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📂  Mode fichier CSV (glob)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41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28986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err="1">
                <a:solidFill>
                  <a:srgbClr val="6B7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</a:t>
            </a:r>
            <a:r>
              <a:rPr lang="en-US" sz="1100">
                <a:solidFill>
                  <a:srgbClr val="6B7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CSV dans data/fresh/  →  glob.glob détecte auto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B7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si ≠ 1 fichier présent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365760" y="39776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40416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scaler.transform()  →  imputer.transform()  →  RF.predict()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572000" y="914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de sortie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0" y="1325880"/>
            <a:ext cx="4297680" cy="3429000"/>
          </a:xfrm>
          <a:prstGeom prst="roundRect">
            <a:avLst>
              <a:gd name="adj" fmla="val 2667"/>
            </a:avLst>
          </a:prstGeom>
          <a:solidFill>
            <a:srgbClr val="141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09160" y="1417320"/>
            <a:ext cx="40233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
</a:t>
            </a:r>
            <a:r>
              <a:rPr lang="en-US" sz="10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ONCFM - Résultats de l'analyse
</a:t>
            </a:r>
            <a:r>
              <a:rPr lang="en-US" sz="100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
</a:t>
            </a:r>
            <a:r>
              <a:rPr lang="en-US" sz="1000">
                <a:solidFill>
                  <a:srgbClr val="22A8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Billet   1 | Vrai billet ✅
  Billet   2 | Vrai billet ✅
</a:t>
            </a:r>
            <a:r>
              <a:rPr lang="en-US" sz="100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Billet   3 | FAUX BILLET ⚠️
</a:t>
            </a:r>
            <a:r>
              <a:rPr lang="en-US" sz="100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
</a:t>
            </a:r>
            <a:r>
              <a:rPr lang="en-US" sz="10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analysés :  3
</a:t>
            </a:r>
            <a:r>
              <a:rPr lang="en-US" sz="100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Faux détectés  :  1
</a:t>
            </a:r>
            <a:r>
              <a:rPr lang="en-US" sz="1000">
                <a:solidFill>
                  <a:srgbClr val="22A8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Vrais          :  2
</a:t>
            </a:r>
            <a:r>
              <a:rPr lang="en-US" sz="100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&amp; Limites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Bilan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algorithmes testés et compares</a:t>
            </a:r>
          </a:p>
          <a:p>
            <a:pPr marL="342900" indent="-342900">
              <a:buSzPct val="100000"/>
              <a:buChar char="•"/>
            </a:pP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retenu : 98% recall, AUC 0.9997</a:t>
            </a:r>
          </a:p>
          <a:p>
            <a:pPr marL="342900" indent="-342900">
              <a:buSzPct val="100000"/>
              <a:buChar char="•"/>
            </a:pP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justifié par la priorité métier (FN &gt; FP)</a:t>
            </a:r>
          </a:p>
          <a:p>
            <a:pPr marL="342900" indent="-342900">
              <a:buSzPct val="100000"/>
              <a:buChar char="•"/>
            </a:pP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app.py fonctionnel (2 modes </a:t>
            </a:r>
            <a:r>
              <a:rPr lang="en-US" sz="1200" err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d'input</a:t>
            </a:r>
            <a:r>
              <a:rPr lang="en-US" sz="120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reproductible (.pkl </a:t>
            </a:r>
            <a:r>
              <a:rPr lang="en-US" sz="1200" err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sauvegardés</a:t>
            </a:r>
            <a:r>
              <a:rPr lang="en-US" sz="120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custom réutilisables : evaluate_model(), box(), sherlock()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4206240" cy="3657600"/>
          </a:xfrm>
          <a:prstGeom prst="roundRect">
            <a:avLst>
              <a:gd name="adj" fmla="val 3000"/>
            </a:avLst>
          </a:prstGeom>
          <a:solidFill>
            <a:srgbClr val="FFF3E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0916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Limites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4709160" y="164592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1500 billets — </a:t>
            </a:r>
            <a:r>
              <a:rPr lang="en-US" sz="1200" err="1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relativement</a:t>
            </a:r>
            <a:r>
              <a:rPr lang="en-US" sz="120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petit</a:t>
            </a:r>
          </a:p>
          <a:p>
            <a:pPr marL="342900" indent="-342900">
              <a:buSzPct val="100000"/>
              <a:buChar char="•"/>
            </a:pP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inutilisable seul </a:t>
            </a:r>
            <a:r>
              <a:rPr lang="en-US" sz="1200" err="1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production</a:t>
            </a:r>
          </a:p>
          <a:p>
            <a:pPr marL="342900" indent="-342900">
              <a:buSzPct val="100000"/>
              <a:buChar char="•"/>
            </a:pP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de faux billets encore non détectés (2/100)</a:t>
            </a:r>
          </a:p>
          <a:p>
            <a:pPr marL="342900" indent="-342900">
              <a:buSzPct val="100000"/>
              <a:buChar char="•"/>
            </a:pP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vrais billets bloqués à tort (FP </a:t>
            </a:r>
            <a:r>
              <a:rPr lang="en-US" sz="1200" err="1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acceptables</a:t>
            </a:r>
            <a:r>
              <a:rPr lang="en-US" sz="120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données production réelles pour valider le script</a:t>
            </a:r>
            <a:endParaRPr lang="en-US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286000"/>
            <a:ext cx="3931920" cy="3200400"/>
          </a:xfrm>
          <a:prstGeom prst="rect">
            <a:avLst/>
          </a:prstGeom>
          <a:solidFill>
            <a:srgbClr val="141B3A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600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final : </a:t>
            </a: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
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: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— 2 faux billets non détectés / 100
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: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0.9997
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: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(--values ou CSV dans data/fresh/)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2699</Words>
  <Application>Microsoft Office PowerPoint</Application>
  <PresentationFormat>Affichage à l'écran (16:9)</PresentationFormat>
  <Paragraphs>368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ONCFM - Détection de faux billets</dc:title>
  <dc:subject>PptxGenJS Presentation</dc:subject>
  <dc:creator>Tristan</dc:creator>
  <cp:lastModifiedBy>Tristan Despont</cp:lastModifiedBy>
  <cp:revision>1</cp:revision>
  <dcterms:created xsi:type="dcterms:W3CDTF">2026-06-25T15:56:06Z</dcterms:created>
  <dcterms:modified xsi:type="dcterms:W3CDTF">2026-07-07T07:46:13Z</dcterms:modified>
</cp:coreProperties>
</file>