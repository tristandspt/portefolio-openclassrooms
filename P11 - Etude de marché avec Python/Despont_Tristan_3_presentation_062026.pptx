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80" r:id="rId21"/>
    <p:sldId id="276" r:id="rId22"/>
    <p:sldId id="277" r:id="rId23"/>
    <p:sldId id="278" r:id="rId24"/>
    <p:sldId id="279" r:id="rId2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6E3A693-B4B4-4C1E-9E8C-4CB1176612F7}" v="49" dt="2026-06-11T17:26:06.9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7668" autoAdjust="0"/>
  </p:normalViewPr>
  <p:slideViewPr>
    <p:cSldViewPr snapToGrid="0" snapToObjects="1">
      <p:cViewPr varScale="1">
        <p:scale>
          <a:sx n="145" d="100"/>
          <a:sy n="145" d="100"/>
        </p:scale>
        <p:origin x="114" y="7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istan Despont" userId="d1a7c66da9d715b7" providerId="LiveId" clId="{8D77CC59-83D2-4C48-82B8-96050E88F101}"/>
    <pc:docChg chg="undo custSel modSld">
      <pc:chgData name="Tristan Despont" userId="d1a7c66da9d715b7" providerId="LiveId" clId="{8D77CC59-83D2-4C48-82B8-96050E88F101}" dt="2026-06-11T17:26:06.930" v="143" actId="14826"/>
      <pc:docMkLst>
        <pc:docMk/>
      </pc:docMkLst>
      <pc:sldChg chg="addSp delSp modSp mod modNotesTx">
        <pc:chgData name="Tristan Despont" userId="d1a7c66da9d715b7" providerId="LiveId" clId="{8D77CC59-83D2-4C48-82B8-96050E88F101}" dt="2026-06-11T16:10:34.212" v="90" actId="790"/>
        <pc:sldMkLst>
          <pc:docMk/>
          <pc:sldMk cId="0" sldId="256"/>
        </pc:sldMkLst>
        <pc:spChg chg="mod">
          <ac:chgData name="Tristan Despont" userId="d1a7c66da9d715b7" providerId="LiveId" clId="{8D77CC59-83D2-4C48-82B8-96050E88F101}" dt="2026-06-11T16:10:34.212" v="90" actId="790"/>
          <ac:spMkLst>
            <pc:docMk/>
            <pc:sldMk cId="0" sldId="256"/>
            <ac:spMk id="2" creationId="{00000000-0000-0000-0000-000000000000}"/>
          </ac:spMkLst>
        </pc:spChg>
        <pc:spChg chg="mod">
          <ac:chgData name="Tristan Despont" userId="d1a7c66da9d715b7" providerId="LiveId" clId="{8D77CC59-83D2-4C48-82B8-96050E88F101}" dt="2026-06-11T16:10:34.212" v="90" actId="790"/>
          <ac:spMkLst>
            <pc:docMk/>
            <pc:sldMk cId="0" sldId="256"/>
            <ac:spMk id="3" creationId="{00000000-0000-0000-0000-000000000000}"/>
          </ac:spMkLst>
        </pc:spChg>
        <pc:spChg chg="mod">
          <ac:chgData name="Tristan Despont" userId="d1a7c66da9d715b7" providerId="LiveId" clId="{8D77CC59-83D2-4C48-82B8-96050E88F101}" dt="2026-06-11T16:10:34.212" v="90" actId="790"/>
          <ac:spMkLst>
            <pc:docMk/>
            <pc:sldMk cId="0" sldId="256"/>
            <ac:spMk id="4" creationId="{00000000-0000-0000-0000-000000000000}"/>
          </ac:spMkLst>
        </pc:spChg>
        <pc:spChg chg="mod">
          <ac:chgData name="Tristan Despont" userId="d1a7c66da9d715b7" providerId="LiveId" clId="{8D77CC59-83D2-4C48-82B8-96050E88F101}" dt="2026-06-11T16:10:34.212" v="90" actId="790"/>
          <ac:spMkLst>
            <pc:docMk/>
            <pc:sldMk cId="0" sldId="256"/>
            <ac:spMk id="5" creationId="{00000000-0000-0000-0000-000000000000}"/>
          </ac:spMkLst>
        </pc:spChg>
        <pc:spChg chg="mod">
          <ac:chgData name="Tristan Despont" userId="d1a7c66da9d715b7" providerId="LiveId" clId="{8D77CC59-83D2-4C48-82B8-96050E88F101}" dt="2026-06-11T16:10:34.212" v="90" actId="790"/>
          <ac:spMkLst>
            <pc:docMk/>
            <pc:sldMk cId="0" sldId="256"/>
            <ac:spMk id="6" creationId="{00000000-0000-0000-0000-000000000000}"/>
          </ac:spMkLst>
        </pc:spChg>
        <pc:spChg chg="mod">
          <ac:chgData name="Tristan Despont" userId="d1a7c66da9d715b7" providerId="LiveId" clId="{8D77CC59-83D2-4C48-82B8-96050E88F101}" dt="2026-06-11T16:10:34.212" v="90" actId="790"/>
          <ac:spMkLst>
            <pc:docMk/>
            <pc:sldMk cId="0" sldId="256"/>
            <ac:spMk id="7" creationId="{00000000-0000-0000-0000-000000000000}"/>
          </ac:spMkLst>
        </pc:spChg>
        <pc:spChg chg="add del">
          <ac:chgData name="Tristan Despont" userId="d1a7c66da9d715b7" providerId="LiveId" clId="{8D77CC59-83D2-4C48-82B8-96050E88F101}" dt="2026-06-11T15:50:45.266" v="9" actId="22"/>
          <ac:spMkLst>
            <pc:docMk/>
            <pc:sldMk cId="0" sldId="256"/>
            <ac:spMk id="9" creationId="{EDDEC4E4-27D7-865D-CDB2-0D61930A0966}"/>
          </ac:spMkLst>
        </pc:spChg>
      </pc:sldChg>
      <pc:sldChg chg="modSp mod modNotesTx">
        <pc:chgData name="Tristan Despont" userId="d1a7c66da9d715b7" providerId="LiveId" clId="{8D77CC59-83D2-4C48-82B8-96050E88F101}" dt="2026-06-11T16:10:34.212" v="90" actId="790"/>
        <pc:sldMkLst>
          <pc:docMk/>
          <pc:sldMk cId="0" sldId="257"/>
        </pc:sldMkLst>
        <pc:spChg chg="mod">
          <ac:chgData name="Tristan Despont" userId="d1a7c66da9d715b7" providerId="LiveId" clId="{8D77CC59-83D2-4C48-82B8-96050E88F101}" dt="2026-06-11T16:10:34.212" v="90" actId="790"/>
          <ac:spMkLst>
            <pc:docMk/>
            <pc:sldMk cId="0" sldId="257"/>
            <ac:spMk id="2" creationId="{00000000-0000-0000-0000-000000000000}"/>
          </ac:spMkLst>
        </pc:spChg>
        <pc:spChg chg="mod">
          <ac:chgData name="Tristan Despont" userId="d1a7c66da9d715b7" providerId="LiveId" clId="{8D77CC59-83D2-4C48-82B8-96050E88F101}" dt="2026-06-11T16:10:34.212" v="90" actId="790"/>
          <ac:spMkLst>
            <pc:docMk/>
            <pc:sldMk cId="0" sldId="257"/>
            <ac:spMk id="3" creationId="{00000000-0000-0000-0000-000000000000}"/>
          </ac:spMkLst>
        </pc:spChg>
        <pc:spChg chg="mod">
          <ac:chgData name="Tristan Despont" userId="d1a7c66da9d715b7" providerId="LiveId" clId="{8D77CC59-83D2-4C48-82B8-96050E88F101}" dt="2026-06-11T16:10:34.212" v="90" actId="790"/>
          <ac:spMkLst>
            <pc:docMk/>
            <pc:sldMk cId="0" sldId="257"/>
            <ac:spMk id="4" creationId="{00000000-0000-0000-0000-000000000000}"/>
          </ac:spMkLst>
        </pc:spChg>
        <pc:spChg chg="mod">
          <ac:chgData name="Tristan Despont" userId="d1a7c66da9d715b7" providerId="LiveId" clId="{8D77CC59-83D2-4C48-82B8-96050E88F101}" dt="2026-06-11T16:10:34.212" v="90" actId="790"/>
          <ac:spMkLst>
            <pc:docMk/>
            <pc:sldMk cId="0" sldId="257"/>
            <ac:spMk id="5" creationId="{00000000-0000-0000-0000-000000000000}"/>
          </ac:spMkLst>
        </pc:spChg>
      </pc:sldChg>
      <pc:sldChg chg="addSp delSp modSp mod modNotesTx">
        <pc:chgData name="Tristan Despont" userId="d1a7c66da9d715b7" providerId="LiveId" clId="{8D77CC59-83D2-4C48-82B8-96050E88F101}" dt="2026-06-11T16:10:34.212" v="90" actId="790"/>
        <pc:sldMkLst>
          <pc:docMk/>
          <pc:sldMk cId="0" sldId="258"/>
        </pc:sldMkLst>
        <pc:spChg chg="mod">
          <ac:chgData name="Tristan Despont" userId="d1a7c66da9d715b7" providerId="LiveId" clId="{8D77CC59-83D2-4C48-82B8-96050E88F101}" dt="2026-06-11T16:10:34.212" v="90" actId="790"/>
          <ac:spMkLst>
            <pc:docMk/>
            <pc:sldMk cId="0" sldId="258"/>
            <ac:spMk id="2" creationId="{00000000-0000-0000-0000-000000000000}"/>
          </ac:spMkLst>
        </pc:spChg>
        <pc:spChg chg="mod">
          <ac:chgData name="Tristan Despont" userId="d1a7c66da9d715b7" providerId="LiveId" clId="{8D77CC59-83D2-4C48-82B8-96050E88F101}" dt="2026-06-11T16:10:34.212" v="90" actId="790"/>
          <ac:spMkLst>
            <pc:docMk/>
            <pc:sldMk cId="0" sldId="258"/>
            <ac:spMk id="3" creationId="{00000000-0000-0000-0000-000000000000}"/>
          </ac:spMkLst>
        </pc:spChg>
        <pc:spChg chg="mod">
          <ac:chgData name="Tristan Despont" userId="d1a7c66da9d715b7" providerId="LiveId" clId="{8D77CC59-83D2-4C48-82B8-96050E88F101}" dt="2026-06-11T16:10:34.212" v="90" actId="790"/>
          <ac:spMkLst>
            <pc:docMk/>
            <pc:sldMk cId="0" sldId="258"/>
            <ac:spMk id="4" creationId="{00000000-0000-0000-0000-000000000000}"/>
          </ac:spMkLst>
        </pc:spChg>
        <pc:spChg chg="mod">
          <ac:chgData name="Tristan Despont" userId="d1a7c66da9d715b7" providerId="LiveId" clId="{8D77CC59-83D2-4C48-82B8-96050E88F101}" dt="2026-06-11T16:10:34.212" v="90" actId="790"/>
          <ac:spMkLst>
            <pc:docMk/>
            <pc:sldMk cId="0" sldId="258"/>
            <ac:spMk id="6" creationId="{00000000-0000-0000-0000-000000000000}"/>
          </ac:spMkLst>
        </pc:spChg>
        <pc:spChg chg="mod">
          <ac:chgData name="Tristan Despont" userId="d1a7c66da9d715b7" providerId="LiveId" clId="{8D77CC59-83D2-4C48-82B8-96050E88F101}" dt="2026-06-11T16:10:34.212" v="90" actId="790"/>
          <ac:spMkLst>
            <pc:docMk/>
            <pc:sldMk cId="0" sldId="258"/>
            <ac:spMk id="7" creationId="{00000000-0000-0000-0000-000000000000}"/>
          </ac:spMkLst>
        </pc:spChg>
        <pc:spChg chg="mod">
          <ac:chgData name="Tristan Despont" userId="d1a7c66da9d715b7" providerId="LiveId" clId="{8D77CC59-83D2-4C48-82B8-96050E88F101}" dt="2026-06-11T16:10:34.212" v="90" actId="790"/>
          <ac:spMkLst>
            <pc:docMk/>
            <pc:sldMk cId="0" sldId="258"/>
            <ac:spMk id="8" creationId="{00000000-0000-0000-0000-000000000000}"/>
          </ac:spMkLst>
        </pc:spChg>
        <pc:spChg chg="mod">
          <ac:chgData name="Tristan Despont" userId="d1a7c66da9d715b7" providerId="LiveId" clId="{8D77CC59-83D2-4C48-82B8-96050E88F101}" dt="2026-06-11T16:10:34.212" v="90" actId="790"/>
          <ac:spMkLst>
            <pc:docMk/>
            <pc:sldMk cId="0" sldId="258"/>
            <ac:spMk id="10" creationId="{00000000-0000-0000-0000-000000000000}"/>
          </ac:spMkLst>
        </pc:spChg>
        <pc:spChg chg="mod">
          <ac:chgData name="Tristan Despont" userId="d1a7c66da9d715b7" providerId="LiveId" clId="{8D77CC59-83D2-4C48-82B8-96050E88F101}" dt="2026-06-11T16:10:34.212" v="90" actId="790"/>
          <ac:spMkLst>
            <pc:docMk/>
            <pc:sldMk cId="0" sldId="258"/>
            <ac:spMk id="11" creationId="{00000000-0000-0000-0000-000000000000}"/>
          </ac:spMkLst>
        </pc:spChg>
        <pc:spChg chg="add del">
          <ac:chgData name="Tristan Despont" userId="d1a7c66da9d715b7" providerId="LiveId" clId="{8D77CC59-83D2-4C48-82B8-96050E88F101}" dt="2026-06-11T15:51:20.688" v="11" actId="22"/>
          <ac:spMkLst>
            <pc:docMk/>
            <pc:sldMk cId="0" sldId="258"/>
            <ac:spMk id="13" creationId="{D3B44B78-5FA6-41C8-47F4-026FD85E5C35}"/>
          </ac:spMkLst>
        </pc:spChg>
      </pc:sldChg>
      <pc:sldChg chg="modSp mod modNotesTx">
        <pc:chgData name="Tristan Despont" userId="d1a7c66da9d715b7" providerId="LiveId" clId="{8D77CC59-83D2-4C48-82B8-96050E88F101}" dt="2026-06-11T16:10:34.212" v="90" actId="790"/>
        <pc:sldMkLst>
          <pc:docMk/>
          <pc:sldMk cId="0" sldId="259"/>
        </pc:sldMkLst>
        <pc:spChg chg="mod">
          <ac:chgData name="Tristan Despont" userId="d1a7c66da9d715b7" providerId="LiveId" clId="{8D77CC59-83D2-4C48-82B8-96050E88F101}" dt="2026-06-11T16:10:34.212" v="90" actId="790"/>
          <ac:spMkLst>
            <pc:docMk/>
            <pc:sldMk cId="0" sldId="259"/>
            <ac:spMk id="2" creationId="{00000000-0000-0000-0000-000000000000}"/>
          </ac:spMkLst>
        </pc:spChg>
        <pc:spChg chg="mod">
          <ac:chgData name="Tristan Despont" userId="d1a7c66da9d715b7" providerId="LiveId" clId="{8D77CC59-83D2-4C48-82B8-96050E88F101}" dt="2026-06-11T16:10:34.212" v="90" actId="790"/>
          <ac:spMkLst>
            <pc:docMk/>
            <pc:sldMk cId="0" sldId="259"/>
            <ac:spMk id="3" creationId="{00000000-0000-0000-0000-000000000000}"/>
          </ac:spMkLst>
        </pc:spChg>
        <pc:graphicFrameChg chg="modGraphic">
          <ac:chgData name="Tristan Despont" userId="d1a7c66da9d715b7" providerId="LiveId" clId="{8D77CC59-83D2-4C48-82B8-96050E88F101}" dt="2026-06-11T16:10:34.212" v="90" actId="790"/>
          <ac:graphicFrameMkLst>
            <pc:docMk/>
            <pc:sldMk cId="0" sldId="259"/>
            <ac:graphicFrameMk id="5" creationId="{00000000-0000-0000-0000-000000000000}"/>
          </ac:graphicFrameMkLst>
        </pc:graphicFrameChg>
      </pc:sldChg>
      <pc:sldChg chg="modSp mod modNotesTx">
        <pc:chgData name="Tristan Despont" userId="d1a7c66da9d715b7" providerId="LiveId" clId="{8D77CC59-83D2-4C48-82B8-96050E88F101}" dt="2026-06-11T16:17:44.736" v="142" actId="1035"/>
        <pc:sldMkLst>
          <pc:docMk/>
          <pc:sldMk cId="0" sldId="260"/>
        </pc:sldMkLst>
        <pc:spChg chg="mod">
          <ac:chgData name="Tristan Despont" userId="d1a7c66da9d715b7" providerId="LiveId" clId="{8D77CC59-83D2-4C48-82B8-96050E88F101}" dt="2026-06-11T16:10:34.212" v="90" actId="790"/>
          <ac:spMkLst>
            <pc:docMk/>
            <pc:sldMk cId="0" sldId="260"/>
            <ac:spMk id="2" creationId="{00000000-0000-0000-0000-000000000000}"/>
          </ac:spMkLst>
        </pc:spChg>
        <pc:spChg chg="mod">
          <ac:chgData name="Tristan Despont" userId="d1a7c66da9d715b7" providerId="LiveId" clId="{8D77CC59-83D2-4C48-82B8-96050E88F101}" dt="2026-06-11T16:10:34.212" v="90" actId="790"/>
          <ac:spMkLst>
            <pc:docMk/>
            <pc:sldMk cId="0" sldId="260"/>
            <ac:spMk id="5" creationId="{00000000-0000-0000-0000-000000000000}"/>
          </ac:spMkLst>
        </pc:spChg>
        <pc:spChg chg="mod">
          <ac:chgData name="Tristan Despont" userId="d1a7c66da9d715b7" providerId="LiveId" clId="{8D77CC59-83D2-4C48-82B8-96050E88F101}" dt="2026-06-11T16:10:34.212" v="90" actId="790"/>
          <ac:spMkLst>
            <pc:docMk/>
            <pc:sldMk cId="0" sldId="260"/>
            <ac:spMk id="7" creationId="{00000000-0000-0000-0000-000000000000}"/>
          </ac:spMkLst>
        </pc:spChg>
        <pc:spChg chg="mod">
          <ac:chgData name="Tristan Despont" userId="d1a7c66da9d715b7" providerId="LiveId" clId="{8D77CC59-83D2-4C48-82B8-96050E88F101}" dt="2026-06-11T16:10:34.212" v="90" actId="790"/>
          <ac:spMkLst>
            <pc:docMk/>
            <pc:sldMk cId="0" sldId="260"/>
            <ac:spMk id="8" creationId="{00000000-0000-0000-0000-000000000000}"/>
          </ac:spMkLst>
        </pc:spChg>
        <pc:spChg chg="mod">
          <ac:chgData name="Tristan Despont" userId="d1a7c66da9d715b7" providerId="LiveId" clId="{8D77CC59-83D2-4C48-82B8-96050E88F101}" dt="2026-06-11T16:10:34.212" v="90" actId="790"/>
          <ac:spMkLst>
            <pc:docMk/>
            <pc:sldMk cId="0" sldId="260"/>
            <ac:spMk id="9" creationId="{00000000-0000-0000-0000-000000000000}"/>
          </ac:spMkLst>
        </pc:spChg>
        <pc:spChg chg="mod">
          <ac:chgData name="Tristan Despont" userId="d1a7c66da9d715b7" providerId="LiveId" clId="{8D77CC59-83D2-4C48-82B8-96050E88F101}" dt="2026-06-11T16:10:34.212" v="90" actId="790"/>
          <ac:spMkLst>
            <pc:docMk/>
            <pc:sldMk cId="0" sldId="260"/>
            <ac:spMk id="13" creationId="{00000000-0000-0000-0000-000000000000}"/>
          </ac:spMkLst>
        </pc:spChg>
        <pc:spChg chg="mod">
          <ac:chgData name="Tristan Despont" userId="d1a7c66da9d715b7" providerId="LiveId" clId="{8D77CC59-83D2-4C48-82B8-96050E88F101}" dt="2026-06-11T16:17:40.712" v="139" actId="14100"/>
          <ac:spMkLst>
            <pc:docMk/>
            <pc:sldMk cId="0" sldId="260"/>
            <ac:spMk id="18" creationId="{00000000-0000-0000-0000-000000000000}"/>
          </ac:spMkLst>
        </pc:spChg>
        <pc:spChg chg="mod">
          <ac:chgData name="Tristan Despont" userId="d1a7c66da9d715b7" providerId="LiveId" clId="{8D77CC59-83D2-4C48-82B8-96050E88F101}" dt="2026-06-11T16:17:44.736" v="142" actId="1035"/>
          <ac:spMkLst>
            <pc:docMk/>
            <pc:sldMk cId="0" sldId="260"/>
            <ac:spMk id="19" creationId="{00000000-0000-0000-0000-000000000000}"/>
          </ac:spMkLst>
        </pc:spChg>
        <pc:spChg chg="mod">
          <ac:chgData name="Tristan Despont" userId="d1a7c66da9d715b7" providerId="LiveId" clId="{8D77CC59-83D2-4C48-82B8-96050E88F101}" dt="2026-06-11T16:10:34.212" v="90" actId="790"/>
          <ac:spMkLst>
            <pc:docMk/>
            <pc:sldMk cId="0" sldId="260"/>
            <ac:spMk id="20" creationId="{00000000-0000-0000-0000-000000000000}"/>
          </ac:spMkLst>
        </pc:spChg>
        <pc:spChg chg="mod">
          <ac:chgData name="Tristan Despont" userId="d1a7c66da9d715b7" providerId="LiveId" clId="{8D77CC59-83D2-4C48-82B8-96050E88F101}" dt="2026-06-11T16:10:34.212" v="90" actId="790"/>
          <ac:spMkLst>
            <pc:docMk/>
            <pc:sldMk cId="0" sldId="260"/>
            <ac:spMk id="22" creationId="{00000000-0000-0000-0000-000000000000}"/>
          </ac:spMkLst>
        </pc:spChg>
        <pc:spChg chg="mod">
          <ac:chgData name="Tristan Despont" userId="d1a7c66da9d715b7" providerId="LiveId" clId="{8D77CC59-83D2-4C48-82B8-96050E88F101}" dt="2026-06-11T16:16:50.886" v="138" actId="1076"/>
          <ac:spMkLst>
            <pc:docMk/>
            <pc:sldMk cId="0" sldId="260"/>
            <ac:spMk id="23" creationId="{00000000-0000-0000-0000-000000000000}"/>
          </ac:spMkLst>
        </pc:spChg>
      </pc:sldChg>
      <pc:sldChg chg="modSp mod modNotesTx">
        <pc:chgData name="Tristan Despont" userId="d1a7c66da9d715b7" providerId="LiveId" clId="{8D77CC59-83D2-4C48-82B8-96050E88F101}" dt="2026-06-11T16:10:34.212" v="90" actId="790"/>
        <pc:sldMkLst>
          <pc:docMk/>
          <pc:sldMk cId="0" sldId="261"/>
        </pc:sldMkLst>
        <pc:spChg chg="mod">
          <ac:chgData name="Tristan Despont" userId="d1a7c66da9d715b7" providerId="LiveId" clId="{8D77CC59-83D2-4C48-82B8-96050E88F101}" dt="2026-06-11T16:10:34.212" v="90" actId="790"/>
          <ac:spMkLst>
            <pc:docMk/>
            <pc:sldMk cId="0" sldId="261"/>
            <ac:spMk id="2" creationId="{00000000-0000-0000-0000-000000000000}"/>
          </ac:spMkLst>
        </pc:spChg>
        <pc:spChg chg="mod">
          <ac:chgData name="Tristan Despont" userId="d1a7c66da9d715b7" providerId="LiveId" clId="{8D77CC59-83D2-4C48-82B8-96050E88F101}" dt="2026-06-11T16:10:34.212" v="90" actId="790"/>
          <ac:spMkLst>
            <pc:docMk/>
            <pc:sldMk cId="0" sldId="261"/>
            <ac:spMk id="3" creationId="{00000000-0000-0000-0000-000000000000}"/>
          </ac:spMkLst>
        </pc:spChg>
        <pc:spChg chg="mod">
          <ac:chgData name="Tristan Despont" userId="d1a7c66da9d715b7" providerId="LiveId" clId="{8D77CC59-83D2-4C48-82B8-96050E88F101}" dt="2026-06-11T16:10:34.212" v="90" actId="790"/>
          <ac:spMkLst>
            <pc:docMk/>
            <pc:sldMk cId="0" sldId="261"/>
            <ac:spMk id="4" creationId="{00000000-0000-0000-0000-000000000000}"/>
          </ac:spMkLst>
        </pc:spChg>
        <pc:spChg chg="mod">
          <ac:chgData name="Tristan Despont" userId="d1a7c66da9d715b7" providerId="LiveId" clId="{8D77CC59-83D2-4C48-82B8-96050E88F101}" dt="2026-06-11T16:10:34.212" v="90" actId="790"/>
          <ac:spMkLst>
            <pc:docMk/>
            <pc:sldMk cId="0" sldId="261"/>
            <ac:spMk id="5" creationId="{00000000-0000-0000-0000-000000000000}"/>
          </ac:spMkLst>
        </pc:spChg>
      </pc:sldChg>
      <pc:sldChg chg="modSp mod modNotesTx">
        <pc:chgData name="Tristan Despont" userId="d1a7c66da9d715b7" providerId="LiveId" clId="{8D77CC59-83D2-4C48-82B8-96050E88F101}" dt="2026-06-11T16:10:34.212" v="90" actId="790"/>
        <pc:sldMkLst>
          <pc:docMk/>
          <pc:sldMk cId="0" sldId="262"/>
        </pc:sldMkLst>
        <pc:spChg chg="mod">
          <ac:chgData name="Tristan Despont" userId="d1a7c66da9d715b7" providerId="LiveId" clId="{8D77CC59-83D2-4C48-82B8-96050E88F101}" dt="2026-06-11T16:10:34.212" v="90" actId="790"/>
          <ac:spMkLst>
            <pc:docMk/>
            <pc:sldMk cId="0" sldId="262"/>
            <ac:spMk id="2" creationId="{00000000-0000-0000-0000-000000000000}"/>
          </ac:spMkLst>
        </pc:spChg>
        <pc:spChg chg="mod">
          <ac:chgData name="Tristan Despont" userId="d1a7c66da9d715b7" providerId="LiveId" clId="{8D77CC59-83D2-4C48-82B8-96050E88F101}" dt="2026-06-11T16:10:34.212" v="90" actId="790"/>
          <ac:spMkLst>
            <pc:docMk/>
            <pc:sldMk cId="0" sldId="262"/>
            <ac:spMk id="3" creationId="{00000000-0000-0000-0000-000000000000}"/>
          </ac:spMkLst>
        </pc:spChg>
        <pc:spChg chg="mod">
          <ac:chgData name="Tristan Despont" userId="d1a7c66da9d715b7" providerId="LiveId" clId="{8D77CC59-83D2-4C48-82B8-96050E88F101}" dt="2026-06-11T16:10:34.212" v="90" actId="790"/>
          <ac:spMkLst>
            <pc:docMk/>
            <pc:sldMk cId="0" sldId="262"/>
            <ac:spMk id="5" creationId="{00000000-0000-0000-0000-000000000000}"/>
          </ac:spMkLst>
        </pc:spChg>
        <pc:spChg chg="mod">
          <ac:chgData name="Tristan Despont" userId="d1a7c66da9d715b7" providerId="LiveId" clId="{8D77CC59-83D2-4C48-82B8-96050E88F101}" dt="2026-06-11T16:10:34.212" v="90" actId="790"/>
          <ac:spMkLst>
            <pc:docMk/>
            <pc:sldMk cId="0" sldId="262"/>
            <ac:spMk id="7" creationId="{00000000-0000-0000-0000-000000000000}"/>
          </ac:spMkLst>
        </pc:spChg>
        <pc:spChg chg="mod">
          <ac:chgData name="Tristan Despont" userId="d1a7c66da9d715b7" providerId="LiveId" clId="{8D77CC59-83D2-4C48-82B8-96050E88F101}" dt="2026-06-11T16:10:34.212" v="90" actId="790"/>
          <ac:spMkLst>
            <pc:docMk/>
            <pc:sldMk cId="0" sldId="262"/>
            <ac:spMk id="8" creationId="{00000000-0000-0000-0000-000000000000}"/>
          </ac:spMkLst>
        </pc:spChg>
      </pc:sldChg>
      <pc:sldChg chg="modSp mod modNotesTx">
        <pc:chgData name="Tristan Despont" userId="d1a7c66da9d715b7" providerId="LiveId" clId="{8D77CC59-83D2-4C48-82B8-96050E88F101}" dt="2026-06-11T16:10:34.212" v="90" actId="790"/>
        <pc:sldMkLst>
          <pc:docMk/>
          <pc:sldMk cId="0" sldId="263"/>
        </pc:sldMkLst>
        <pc:spChg chg="mod">
          <ac:chgData name="Tristan Despont" userId="d1a7c66da9d715b7" providerId="LiveId" clId="{8D77CC59-83D2-4C48-82B8-96050E88F101}" dt="2026-06-11T16:10:34.212" v="90" actId="790"/>
          <ac:spMkLst>
            <pc:docMk/>
            <pc:sldMk cId="0" sldId="263"/>
            <ac:spMk id="2" creationId="{00000000-0000-0000-0000-000000000000}"/>
          </ac:spMkLst>
        </pc:spChg>
        <pc:spChg chg="mod">
          <ac:chgData name="Tristan Despont" userId="d1a7c66da9d715b7" providerId="LiveId" clId="{8D77CC59-83D2-4C48-82B8-96050E88F101}" dt="2026-06-11T16:10:34.212" v="90" actId="790"/>
          <ac:spMkLst>
            <pc:docMk/>
            <pc:sldMk cId="0" sldId="263"/>
            <ac:spMk id="3" creationId="{00000000-0000-0000-0000-000000000000}"/>
          </ac:spMkLst>
        </pc:spChg>
        <pc:spChg chg="mod">
          <ac:chgData name="Tristan Despont" userId="d1a7c66da9d715b7" providerId="LiveId" clId="{8D77CC59-83D2-4C48-82B8-96050E88F101}" dt="2026-06-11T16:10:34.212" v="90" actId="790"/>
          <ac:spMkLst>
            <pc:docMk/>
            <pc:sldMk cId="0" sldId="263"/>
            <ac:spMk id="5" creationId="{00000000-0000-0000-0000-000000000000}"/>
          </ac:spMkLst>
        </pc:spChg>
        <pc:spChg chg="mod">
          <ac:chgData name="Tristan Despont" userId="d1a7c66da9d715b7" providerId="LiveId" clId="{8D77CC59-83D2-4C48-82B8-96050E88F101}" dt="2026-06-11T16:10:34.212" v="90" actId="790"/>
          <ac:spMkLst>
            <pc:docMk/>
            <pc:sldMk cId="0" sldId="263"/>
            <ac:spMk id="6" creationId="{00000000-0000-0000-0000-000000000000}"/>
          </ac:spMkLst>
        </pc:spChg>
        <pc:spChg chg="mod">
          <ac:chgData name="Tristan Despont" userId="d1a7c66da9d715b7" providerId="LiveId" clId="{8D77CC59-83D2-4C48-82B8-96050E88F101}" dt="2026-06-11T16:10:34.212" v="90" actId="790"/>
          <ac:spMkLst>
            <pc:docMk/>
            <pc:sldMk cId="0" sldId="263"/>
            <ac:spMk id="7" creationId="{00000000-0000-0000-0000-000000000000}"/>
          </ac:spMkLst>
        </pc:spChg>
        <pc:spChg chg="mod">
          <ac:chgData name="Tristan Despont" userId="d1a7c66da9d715b7" providerId="LiveId" clId="{8D77CC59-83D2-4C48-82B8-96050E88F101}" dt="2026-06-11T16:10:34.212" v="90" actId="790"/>
          <ac:spMkLst>
            <pc:docMk/>
            <pc:sldMk cId="0" sldId="263"/>
            <ac:spMk id="8" creationId="{00000000-0000-0000-0000-000000000000}"/>
          </ac:spMkLst>
        </pc:spChg>
        <pc:spChg chg="mod">
          <ac:chgData name="Tristan Despont" userId="d1a7c66da9d715b7" providerId="LiveId" clId="{8D77CC59-83D2-4C48-82B8-96050E88F101}" dt="2026-06-11T16:10:34.212" v="90" actId="790"/>
          <ac:spMkLst>
            <pc:docMk/>
            <pc:sldMk cId="0" sldId="263"/>
            <ac:spMk id="9" creationId="{00000000-0000-0000-0000-000000000000}"/>
          </ac:spMkLst>
        </pc:spChg>
        <pc:spChg chg="mod">
          <ac:chgData name="Tristan Despont" userId="d1a7c66da9d715b7" providerId="LiveId" clId="{8D77CC59-83D2-4C48-82B8-96050E88F101}" dt="2026-06-11T16:10:34.212" v="90" actId="790"/>
          <ac:spMkLst>
            <pc:docMk/>
            <pc:sldMk cId="0" sldId="263"/>
            <ac:spMk id="10" creationId="{00000000-0000-0000-0000-000000000000}"/>
          </ac:spMkLst>
        </pc:spChg>
      </pc:sldChg>
      <pc:sldChg chg="modSp mod modNotesTx">
        <pc:chgData name="Tristan Despont" userId="d1a7c66da9d715b7" providerId="LiveId" clId="{8D77CC59-83D2-4C48-82B8-96050E88F101}" dt="2026-06-11T16:10:34.212" v="90" actId="790"/>
        <pc:sldMkLst>
          <pc:docMk/>
          <pc:sldMk cId="0" sldId="264"/>
        </pc:sldMkLst>
        <pc:spChg chg="mod">
          <ac:chgData name="Tristan Despont" userId="d1a7c66da9d715b7" providerId="LiveId" clId="{8D77CC59-83D2-4C48-82B8-96050E88F101}" dt="2026-06-11T16:10:34.212" v="90" actId="790"/>
          <ac:spMkLst>
            <pc:docMk/>
            <pc:sldMk cId="0" sldId="264"/>
            <ac:spMk id="2" creationId="{00000000-0000-0000-0000-000000000000}"/>
          </ac:spMkLst>
        </pc:spChg>
        <pc:spChg chg="mod">
          <ac:chgData name="Tristan Despont" userId="d1a7c66da9d715b7" providerId="LiveId" clId="{8D77CC59-83D2-4C48-82B8-96050E88F101}" dt="2026-06-11T16:10:34.212" v="90" actId="790"/>
          <ac:spMkLst>
            <pc:docMk/>
            <pc:sldMk cId="0" sldId="264"/>
            <ac:spMk id="3" creationId="{00000000-0000-0000-0000-000000000000}"/>
          </ac:spMkLst>
        </pc:spChg>
        <pc:spChg chg="mod">
          <ac:chgData name="Tristan Despont" userId="d1a7c66da9d715b7" providerId="LiveId" clId="{8D77CC59-83D2-4C48-82B8-96050E88F101}" dt="2026-06-11T16:10:34.212" v="90" actId="790"/>
          <ac:spMkLst>
            <pc:docMk/>
            <pc:sldMk cId="0" sldId="264"/>
            <ac:spMk id="5" creationId="{00000000-0000-0000-0000-000000000000}"/>
          </ac:spMkLst>
        </pc:spChg>
        <pc:spChg chg="mod">
          <ac:chgData name="Tristan Despont" userId="d1a7c66da9d715b7" providerId="LiveId" clId="{8D77CC59-83D2-4C48-82B8-96050E88F101}" dt="2026-06-11T16:10:34.212" v="90" actId="790"/>
          <ac:spMkLst>
            <pc:docMk/>
            <pc:sldMk cId="0" sldId="264"/>
            <ac:spMk id="6" creationId="{00000000-0000-0000-0000-000000000000}"/>
          </ac:spMkLst>
        </pc:spChg>
      </pc:sldChg>
      <pc:sldChg chg="modSp mod modNotesTx">
        <pc:chgData name="Tristan Despont" userId="d1a7c66da9d715b7" providerId="LiveId" clId="{8D77CC59-83D2-4C48-82B8-96050E88F101}" dt="2026-06-11T16:10:34.212" v="90" actId="790"/>
        <pc:sldMkLst>
          <pc:docMk/>
          <pc:sldMk cId="0" sldId="265"/>
        </pc:sldMkLst>
        <pc:spChg chg="mod">
          <ac:chgData name="Tristan Despont" userId="d1a7c66da9d715b7" providerId="LiveId" clId="{8D77CC59-83D2-4C48-82B8-96050E88F101}" dt="2026-06-11T16:10:34.212" v="90" actId="790"/>
          <ac:spMkLst>
            <pc:docMk/>
            <pc:sldMk cId="0" sldId="265"/>
            <ac:spMk id="2" creationId="{00000000-0000-0000-0000-000000000000}"/>
          </ac:spMkLst>
        </pc:spChg>
        <pc:spChg chg="mod">
          <ac:chgData name="Tristan Despont" userId="d1a7c66da9d715b7" providerId="LiveId" clId="{8D77CC59-83D2-4C48-82B8-96050E88F101}" dt="2026-06-11T16:10:34.212" v="90" actId="790"/>
          <ac:spMkLst>
            <pc:docMk/>
            <pc:sldMk cId="0" sldId="265"/>
            <ac:spMk id="3" creationId="{00000000-0000-0000-0000-000000000000}"/>
          </ac:spMkLst>
        </pc:spChg>
        <pc:spChg chg="mod">
          <ac:chgData name="Tristan Despont" userId="d1a7c66da9d715b7" providerId="LiveId" clId="{8D77CC59-83D2-4C48-82B8-96050E88F101}" dt="2026-06-11T16:10:34.212" v="90" actId="790"/>
          <ac:spMkLst>
            <pc:docMk/>
            <pc:sldMk cId="0" sldId="265"/>
            <ac:spMk id="4" creationId="{00000000-0000-0000-0000-000000000000}"/>
          </ac:spMkLst>
        </pc:spChg>
        <pc:spChg chg="mod">
          <ac:chgData name="Tristan Despont" userId="d1a7c66da9d715b7" providerId="LiveId" clId="{8D77CC59-83D2-4C48-82B8-96050E88F101}" dt="2026-06-11T16:10:34.212" v="90" actId="790"/>
          <ac:spMkLst>
            <pc:docMk/>
            <pc:sldMk cId="0" sldId="265"/>
            <ac:spMk id="6" creationId="{00000000-0000-0000-0000-000000000000}"/>
          </ac:spMkLst>
        </pc:spChg>
        <pc:spChg chg="mod">
          <ac:chgData name="Tristan Despont" userId="d1a7c66da9d715b7" providerId="LiveId" clId="{8D77CC59-83D2-4C48-82B8-96050E88F101}" dt="2026-06-11T16:10:34.212" v="90" actId="790"/>
          <ac:spMkLst>
            <pc:docMk/>
            <pc:sldMk cId="0" sldId="265"/>
            <ac:spMk id="9" creationId="{00000000-0000-0000-0000-000000000000}"/>
          </ac:spMkLst>
        </pc:spChg>
        <pc:spChg chg="mod">
          <ac:chgData name="Tristan Despont" userId="d1a7c66da9d715b7" providerId="LiveId" clId="{8D77CC59-83D2-4C48-82B8-96050E88F101}" dt="2026-06-11T16:10:34.212" v="90" actId="790"/>
          <ac:spMkLst>
            <pc:docMk/>
            <pc:sldMk cId="0" sldId="265"/>
            <ac:spMk id="11" creationId="{00000000-0000-0000-0000-000000000000}"/>
          </ac:spMkLst>
        </pc:spChg>
      </pc:sldChg>
      <pc:sldChg chg="modSp mod modNotesTx">
        <pc:chgData name="Tristan Despont" userId="d1a7c66da9d715b7" providerId="LiveId" clId="{8D77CC59-83D2-4C48-82B8-96050E88F101}" dt="2026-06-11T16:10:34.212" v="90" actId="790"/>
        <pc:sldMkLst>
          <pc:docMk/>
          <pc:sldMk cId="0" sldId="266"/>
        </pc:sldMkLst>
        <pc:spChg chg="mod">
          <ac:chgData name="Tristan Despont" userId="d1a7c66da9d715b7" providerId="LiveId" clId="{8D77CC59-83D2-4C48-82B8-96050E88F101}" dt="2026-06-11T16:10:34.212" v="90" actId="790"/>
          <ac:spMkLst>
            <pc:docMk/>
            <pc:sldMk cId="0" sldId="266"/>
            <ac:spMk id="2" creationId="{00000000-0000-0000-0000-000000000000}"/>
          </ac:spMkLst>
        </pc:spChg>
        <pc:spChg chg="mod">
          <ac:chgData name="Tristan Despont" userId="d1a7c66da9d715b7" providerId="LiveId" clId="{8D77CC59-83D2-4C48-82B8-96050E88F101}" dt="2026-06-11T16:10:34.212" v="90" actId="790"/>
          <ac:spMkLst>
            <pc:docMk/>
            <pc:sldMk cId="0" sldId="266"/>
            <ac:spMk id="3" creationId="{00000000-0000-0000-0000-000000000000}"/>
          </ac:spMkLst>
        </pc:spChg>
        <pc:spChg chg="mod">
          <ac:chgData name="Tristan Despont" userId="d1a7c66da9d715b7" providerId="LiveId" clId="{8D77CC59-83D2-4C48-82B8-96050E88F101}" dt="2026-06-11T16:10:34.212" v="90" actId="790"/>
          <ac:spMkLst>
            <pc:docMk/>
            <pc:sldMk cId="0" sldId="266"/>
            <ac:spMk id="4" creationId="{00000000-0000-0000-0000-000000000000}"/>
          </ac:spMkLst>
        </pc:spChg>
        <pc:spChg chg="mod">
          <ac:chgData name="Tristan Despont" userId="d1a7c66da9d715b7" providerId="LiveId" clId="{8D77CC59-83D2-4C48-82B8-96050E88F101}" dt="2026-06-11T16:10:34.212" v="90" actId="790"/>
          <ac:spMkLst>
            <pc:docMk/>
            <pc:sldMk cId="0" sldId="266"/>
            <ac:spMk id="5" creationId="{00000000-0000-0000-0000-000000000000}"/>
          </ac:spMkLst>
        </pc:spChg>
      </pc:sldChg>
      <pc:sldChg chg="modSp mod modNotesTx">
        <pc:chgData name="Tristan Despont" userId="d1a7c66da9d715b7" providerId="LiveId" clId="{8D77CC59-83D2-4C48-82B8-96050E88F101}" dt="2026-06-11T16:11:26.806" v="123" actId="1035"/>
        <pc:sldMkLst>
          <pc:docMk/>
          <pc:sldMk cId="0" sldId="267"/>
        </pc:sldMkLst>
        <pc:spChg chg="mod">
          <ac:chgData name="Tristan Despont" userId="d1a7c66da9d715b7" providerId="LiveId" clId="{8D77CC59-83D2-4C48-82B8-96050E88F101}" dt="2026-06-11T16:10:34.212" v="90" actId="790"/>
          <ac:spMkLst>
            <pc:docMk/>
            <pc:sldMk cId="0" sldId="267"/>
            <ac:spMk id="2" creationId="{00000000-0000-0000-0000-000000000000}"/>
          </ac:spMkLst>
        </pc:spChg>
        <pc:spChg chg="mod">
          <ac:chgData name="Tristan Despont" userId="d1a7c66da9d715b7" providerId="LiveId" clId="{8D77CC59-83D2-4C48-82B8-96050E88F101}" dt="2026-06-11T16:10:34.212" v="90" actId="790"/>
          <ac:spMkLst>
            <pc:docMk/>
            <pc:sldMk cId="0" sldId="267"/>
            <ac:spMk id="3" creationId="{00000000-0000-0000-0000-000000000000}"/>
          </ac:spMkLst>
        </pc:spChg>
        <pc:spChg chg="mod">
          <ac:chgData name="Tristan Despont" userId="d1a7c66da9d715b7" providerId="LiveId" clId="{8D77CC59-83D2-4C48-82B8-96050E88F101}" dt="2026-06-11T16:10:34.212" v="90" actId="790"/>
          <ac:spMkLst>
            <pc:docMk/>
            <pc:sldMk cId="0" sldId="267"/>
            <ac:spMk id="4" creationId="{00000000-0000-0000-0000-000000000000}"/>
          </ac:spMkLst>
        </pc:spChg>
        <pc:spChg chg="mod">
          <ac:chgData name="Tristan Despont" userId="d1a7c66da9d715b7" providerId="LiveId" clId="{8D77CC59-83D2-4C48-82B8-96050E88F101}" dt="2026-06-11T16:10:34.212" v="90" actId="790"/>
          <ac:spMkLst>
            <pc:docMk/>
            <pc:sldMk cId="0" sldId="267"/>
            <ac:spMk id="6" creationId="{00000000-0000-0000-0000-000000000000}"/>
          </ac:spMkLst>
        </pc:spChg>
        <pc:spChg chg="mod">
          <ac:chgData name="Tristan Despont" userId="d1a7c66da9d715b7" providerId="LiveId" clId="{8D77CC59-83D2-4C48-82B8-96050E88F101}" dt="2026-06-11T16:10:34.212" v="90" actId="790"/>
          <ac:spMkLst>
            <pc:docMk/>
            <pc:sldMk cId="0" sldId="267"/>
            <ac:spMk id="8" creationId="{00000000-0000-0000-0000-000000000000}"/>
          </ac:spMkLst>
        </pc:spChg>
        <pc:spChg chg="mod">
          <ac:chgData name="Tristan Despont" userId="d1a7c66da9d715b7" providerId="LiveId" clId="{8D77CC59-83D2-4C48-82B8-96050E88F101}" dt="2026-06-11T16:11:26.806" v="123" actId="1035"/>
          <ac:spMkLst>
            <pc:docMk/>
            <pc:sldMk cId="0" sldId="267"/>
            <ac:spMk id="10" creationId="{00000000-0000-0000-0000-000000000000}"/>
          </ac:spMkLst>
        </pc:spChg>
        <pc:picChg chg="mod">
          <ac:chgData name="Tristan Despont" userId="d1a7c66da9d715b7" providerId="LiveId" clId="{8D77CC59-83D2-4C48-82B8-96050E88F101}" dt="2026-06-11T16:11:26.806" v="123" actId="1035"/>
          <ac:picMkLst>
            <pc:docMk/>
            <pc:sldMk cId="0" sldId="267"/>
            <ac:picMk id="9" creationId="{00000000-0000-0000-0000-000000000000}"/>
          </ac:picMkLst>
        </pc:picChg>
      </pc:sldChg>
      <pc:sldChg chg="modSp mod modNotesTx">
        <pc:chgData name="Tristan Despont" userId="d1a7c66da9d715b7" providerId="LiveId" clId="{8D77CC59-83D2-4C48-82B8-96050E88F101}" dt="2026-06-11T16:10:34.212" v="90" actId="790"/>
        <pc:sldMkLst>
          <pc:docMk/>
          <pc:sldMk cId="0" sldId="268"/>
        </pc:sldMkLst>
        <pc:spChg chg="mod">
          <ac:chgData name="Tristan Despont" userId="d1a7c66da9d715b7" providerId="LiveId" clId="{8D77CC59-83D2-4C48-82B8-96050E88F101}" dt="2026-06-11T16:10:34.212" v="90" actId="790"/>
          <ac:spMkLst>
            <pc:docMk/>
            <pc:sldMk cId="0" sldId="268"/>
            <ac:spMk id="2" creationId="{00000000-0000-0000-0000-000000000000}"/>
          </ac:spMkLst>
        </pc:spChg>
        <pc:spChg chg="mod">
          <ac:chgData name="Tristan Despont" userId="d1a7c66da9d715b7" providerId="LiveId" clId="{8D77CC59-83D2-4C48-82B8-96050E88F101}" dt="2026-06-11T16:10:34.212" v="90" actId="790"/>
          <ac:spMkLst>
            <pc:docMk/>
            <pc:sldMk cId="0" sldId="268"/>
            <ac:spMk id="3" creationId="{00000000-0000-0000-0000-000000000000}"/>
          </ac:spMkLst>
        </pc:spChg>
        <pc:spChg chg="mod">
          <ac:chgData name="Tristan Despont" userId="d1a7c66da9d715b7" providerId="LiveId" clId="{8D77CC59-83D2-4C48-82B8-96050E88F101}" dt="2026-06-11T16:10:34.212" v="90" actId="790"/>
          <ac:spMkLst>
            <pc:docMk/>
            <pc:sldMk cId="0" sldId="268"/>
            <ac:spMk id="5" creationId="{00000000-0000-0000-0000-000000000000}"/>
          </ac:spMkLst>
        </pc:spChg>
        <pc:spChg chg="mod">
          <ac:chgData name="Tristan Despont" userId="d1a7c66da9d715b7" providerId="LiveId" clId="{8D77CC59-83D2-4C48-82B8-96050E88F101}" dt="2026-06-11T16:10:34.212" v="90" actId="790"/>
          <ac:spMkLst>
            <pc:docMk/>
            <pc:sldMk cId="0" sldId="268"/>
            <ac:spMk id="6" creationId="{00000000-0000-0000-0000-000000000000}"/>
          </ac:spMkLst>
        </pc:spChg>
      </pc:sldChg>
      <pc:sldChg chg="modSp mod modNotesTx">
        <pc:chgData name="Tristan Despont" userId="d1a7c66da9d715b7" providerId="LiveId" clId="{8D77CC59-83D2-4C48-82B8-96050E88F101}" dt="2026-06-11T16:11:18.575" v="121" actId="1036"/>
        <pc:sldMkLst>
          <pc:docMk/>
          <pc:sldMk cId="0" sldId="269"/>
        </pc:sldMkLst>
        <pc:spChg chg="mod">
          <ac:chgData name="Tristan Despont" userId="d1a7c66da9d715b7" providerId="LiveId" clId="{8D77CC59-83D2-4C48-82B8-96050E88F101}" dt="2026-06-11T16:10:34.212" v="90" actId="790"/>
          <ac:spMkLst>
            <pc:docMk/>
            <pc:sldMk cId="0" sldId="269"/>
            <ac:spMk id="2" creationId="{00000000-0000-0000-0000-000000000000}"/>
          </ac:spMkLst>
        </pc:spChg>
        <pc:spChg chg="mod">
          <ac:chgData name="Tristan Despont" userId="d1a7c66da9d715b7" providerId="LiveId" clId="{8D77CC59-83D2-4C48-82B8-96050E88F101}" dt="2026-06-11T16:10:34.212" v="90" actId="790"/>
          <ac:spMkLst>
            <pc:docMk/>
            <pc:sldMk cId="0" sldId="269"/>
            <ac:spMk id="3" creationId="{00000000-0000-0000-0000-000000000000}"/>
          </ac:spMkLst>
        </pc:spChg>
        <pc:spChg chg="mod">
          <ac:chgData name="Tristan Despont" userId="d1a7c66da9d715b7" providerId="LiveId" clId="{8D77CC59-83D2-4C48-82B8-96050E88F101}" dt="2026-06-11T16:10:34.212" v="90" actId="790"/>
          <ac:spMkLst>
            <pc:docMk/>
            <pc:sldMk cId="0" sldId="269"/>
            <ac:spMk id="4" creationId="{00000000-0000-0000-0000-000000000000}"/>
          </ac:spMkLst>
        </pc:spChg>
        <pc:spChg chg="mod">
          <ac:chgData name="Tristan Despont" userId="d1a7c66da9d715b7" providerId="LiveId" clId="{8D77CC59-83D2-4C48-82B8-96050E88F101}" dt="2026-06-11T16:10:34.212" v="90" actId="790"/>
          <ac:spMkLst>
            <pc:docMk/>
            <pc:sldMk cId="0" sldId="269"/>
            <ac:spMk id="7" creationId="{00000000-0000-0000-0000-000000000000}"/>
          </ac:spMkLst>
        </pc:spChg>
        <pc:spChg chg="mod">
          <ac:chgData name="Tristan Despont" userId="d1a7c66da9d715b7" providerId="LiveId" clId="{8D77CC59-83D2-4C48-82B8-96050E88F101}" dt="2026-06-11T16:10:34.212" v="90" actId="790"/>
          <ac:spMkLst>
            <pc:docMk/>
            <pc:sldMk cId="0" sldId="269"/>
            <ac:spMk id="8" creationId="{00000000-0000-0000-0000-000000000000}"/>
          </ac:spMkLst>
        </pc:spChg>
        <pc:spChg chg="mod">
          <ac:chgData name="Tristan Despont" userId="d1a7c66da9d715b7" providerId="LiveId" clId="{8D77CC59-83D2-4C48-82B8-96050E88F101}" dt="2026-06-11T16:10:34.212" v="90" actId="790"/>
          <ac:spMkLst>
            <pc:docMk/>
            <pc:sldMk cId="0" sldId="269"/>
            <ac:spMk id="9" creationId="{00000000-0000-0000-0000-000000000000}"/>
          </ac:spMkLst>
        </pc:spChg>
        <pc:spChg chg="mod">
          <ac:chgData name="Tristan Despont" userId="d1a7c66da9d715b7" providerId="LiveId" clId="{8D77CC59-83D2-4C48-82B8-96050E88F101}" dt="2026-06-11T16:10:34.212" v="90" actId="790"/>
          <ac:spMkLst>
            <pc:docMk/>
            <pc:sldMk cId="0" sldId="269"/>
            <ac:spMk id="14" creationId="{00000000-0000-0000-0000-000000000000}"/>
          </ac:spMkLst>
        </pc:spChg>
        <pc:spChg chg="mod">
          <ac:chgData name="Tristan Despont" userId="d1a7c66da9d715b7" providerId="LiveId" clId="{8D77CC59-83D2-4C48-82B8-96050E88F101}" dt="2026-06-11T16:10:34.212" v="90" actId="790"/>
          <ac:spMkLst>
            <pc:docMk/>
            <pc:sldMk cId="0" sldId="269"/>
            <ac:spMk id="15" creationId="{00000000-0000-0000-0000-000000000000}"/>
          </ac:spMkLst>
        </pc:spChg>
        <pc:spChg chg="mod">
          <ac:chgData name="Tristan Despont" userId="d1a7c66da9d715b7" providerId="LiveId" clId="{8D77CC59-83D2-4C48-82B8-96050E88F101}" dt="2026-06-11T16:10:34.212" v="90" actId="790"/>
          <ac:spMkLst>
            <pc:docMk/>
            <pc:sldMk cId="0" sldId="269"/>
            <ac:spMk id="16" creationId="{00000000-0000-0000-0000-000000000000}"/>
          </ac:spMkLst>
        </pc:spChg>
        <pc:spChg chg="mod">
          <ac:chgData name="Tristan Despont" userId="d1a7c66da9d715b7" providerId="LiveId" clId="{8D77CC59-83D2-4C48-82B8-96050E88F101}" dt="2026-06-11T16:11:18.575" v="121" actId="1036"/>
          <ac:spMkLst>
            <pc:docMk/>
            <pc:sldMk cId="0" sldId="269"/>
            <ac:spMk id="20" creationId="{00000000-0000-0000-0000-000000000000}"/>
          </ac:spMkLst>
        </pc:spChg>
        <pc:picChg chg="mod">
          <ac:chgData name="Tristan Despont" userId="d1a7c66da9d715b7" providerId="LiveId" clId="{8D77CC59-83D2-4C48-82B8-96050E88F101}" dt="2026-06-11T16:11:18.575" v="121" actId="1036"/>
          <ac:picMkLst>
            <pc:docMk/>
            <pc:sldMk cId="0" sldId="269"/>
            <ac:picMk id="19" creationId="{00000000-0000-0000-0000-000000000000}"/>
          </ac:picMkLst>
        </pc:picChg>
      </pc:sldChg>
      <pc:sldChg chg="modSp mod modNotesTx">
        <pc:chgData name="Tristan Despont" userId="d1a7c66da9d715b7" providerId="LiveId" clId="{8D77CC59-83D2-4C48-82B8-96050E88F101}" dt="2026-06-11T16:11:09.698" v="111" actId="1036"/>
        <pc:sldMkLst>
          <pc:docMk/>
          <pc:sldMk cId="0" sldId="270"/>
        </pc:sldMkLst>
        <pc:spChg chg="mod">
          <ac:chgData name="Tristan Despont" userId="d1a7c66da9d715b7" providerId="LiveId" clId="{8D77CC59-83D2-4C48-82B8-96050E88F101}" dt="2026-06-11T16:10:34.212" v="90" actId="790"/>
          <ac:spMkLst>
            <pc:docMk/>
            <pc:sldMk cId="0" sldId="270"/>
            <ac:spMk id="2" creationId="{00000000-0000-0000-0000-000000000000}"/>
          </ac:spMkLst>
        </pc:spChg>
        <pc:spChg chg="mod">
          <ac:chgData name="Tristan Despont" userId="d1a7c66da9d715b7" providerId="LiveId" clId="{8D77CC59-83D2-4C48-82B8-96050E88F101}" dt="2026-06-11T16:10:34.212" v="90" actId="790"/>
          <ac:spMkLst>
            <pc:docMk/>
            <pc:sldMk cId="0" sldId="270"/>
            <ac:spMk id="4" creationId="{00000000-0000-0000-0000-000000000000}"/>
          </ac:spMkLst>
        </pc:spChg>
        <pc:spChg chg="mod">
          <ac:chgData name="Tristan Despont" userId="d1a7c66da9d715b7" providerId="LiveId" clId="{8D77CC59-83D2-4C48-82B8-96050E88F101}" dt="2026-06-11T16:10:34.212" v="90" actId="790"/>
          <ac:spMkLst>
            <pc:docMk/>
            <pc:sldMk cId="0" sldId="270"/>
            <ac:spMk id="7" creationId="{00000000-0000-0000-0000-000000000000}"/>
          </ac:spMkLst>
        </pc:spChg>
        <pc:spChg chg="mod">
          <ac:chgData name="Tristan Despont" userId="d1a7c66da9d715b7" providerId="LiveId" clId="{8D77CC59-83D2-4C48-82B8-96050E88F101}" dt="2026-06-11T16:10:34.212" v="90" actId="790"/>
          <ac:spMkLst>
            <pc:docMk/>
            <pc:sldMk cId="0" sldId="270"/>
            <ac:spMk id="9" creationId="{00000000-0000-0000-0000-000000000000}"/>
          </ac:spMkLst>
        </pc:spChg>
        <pc:spChg chg="mod">
          <ac:chgData name="Tristan Despont" userId="d1a7c66da9d715b7" providerId="LiveId" clId="{8D77CC59-83D2-4C48-82B8-96050E88F101}" dt="2026-06-11T16:10:34.212" v="90" actId="790"/>
          <ac:spMkLst>
            <pc:docMk/>
            <pc:sldMk cId="0" sldId="270"/>
            <ac:spMk id="10" creationId="{00000000-0000-0000-0000-000000000000}"/>
          </ac:spMkLst>
        </pc:spChg>
        <pc:spChg chg="mod">
          <ac:chgData name="Tristan Despont" userId="d1a7c66da9d715b7" providerId="LiveId" clId="{8D77CC59-83D2-4C48-82B8-96050E88F101}" dt="2026-06-11T16:10:34.212" v="90" actId="790"/>
          <ac:spMkLst>
            <pc:docMk/>
            <pc:sldMk cId="0" sldId="270"/>
            <ac:spMk id="11" creationId="{00000000-0000-0000-0000-000000000000}"/>
          </ac:spMkLst>
        </pc:spChg>
        <pc:spChg chg="mod">
          <ac:chgData name="Tristan Despont" userId="d1a7c66da9d715b7" providerId="LiveId" clId="{8D77CC59-83D2-4C48-82B8-96050E88F101}" dt="2026-06-11T16:10:34.212" v="90" actId="790"/>
          <ac:spMkLst>
            <pc:docMk/>
            <pc:sldMk cId="0" sldId="270"/>
            <ac:spMk id="13" creationId="{00000000-0000-0000-0000-000000000000}"/>
          </ac:spMkLst>
        </pc:spChg>
        <pc:spChg chg="mod">
          <ac:chgData name="Tristan Despont" userId="d1a7c66da9d715b7" providerId="LiveId" clId="{8D77CC59-83D2-4C48-82B8-96050E88F101}" dt="2026-06-11T16:10:34.212" v="90" actId="790"/>
          <ac:spMkLst>
            <pc:docMk/>
            <pc:sldMk cId="0" sldId="270"/>
            <ac:spMk id="16" creationId="{00000000-0000-0000-0000-000000000000}"/>
          </ac:spMkLst>
        </pc:spChg>
        <pc:spChg chg="mod">
          <ac:chgData name="Tristan Despont" userId="d1a7c66da9d715b7" providerId="LiveId" clId="{8D77CC59-83D2-4C48-82B8-96050E88F101}" dt="2026-06-11T16:10:34.212" v="90" actId="790"/>
          <ac:spMkLst>
            <pc:docMk/>
            <pc:sldMk cId="0" sldId="270"/>
            <ac:spMk id="17" creationId="{00000000-0000-0000-0000-000000000000}"/>
          </ac:spMkLst>
        </pc:spChg>
        <pc:spChg chg="mod">
          <ac:chgData name="Tristan Despont" userId="d1a7c66da9d715b7" providerId="LiveId" clId="{8D77CC59-83D2-4C48-82B8-96050E88F101}" dt="2026-06-11T16:10:34.212" v="90" actId="790"/>
          <ac:spMkLst>
            <pc:docMk/>
            <pc:sldMk cId="0" sldId="270"/>
            <ac:spMk id="18" creationId="{00000000-0000-0000-0000-000000000000}"/>
          </ac:spMkLst>
        </pc:spChg>
        <pc:spChg chg="mod">
          <ac:chgData name="Tristan Despont" userId="d1a7c66da9d715b7" providerId="LiveId" clId="{8D77CC59-83D2-4C48-82B8-96050E88F101}" dt="2026-06-11T16:11:09.698" v="111" actId="1036"/>
          <ac:spMkLst>
            <pc:docMk/>
            <pc:sldMk cId="0" sldId="270"/>
            <ac:spMk id="20" creationId="{00000000-0000-0000-0000-000000000000}"/>
          </ac:spMkLst>
        </pc:spChg>
        <pc:picChg chg="mod">
          <ac:chgData name="Tristan Despont" userId="d1a7c66da9d715b7" providerId="LiveId" clId="{8D77CC59-83D2-4C48-82B8-96050E88F101}" dt="2026-06-11T16:11:09.698" v="111" actId="1036"/>
          <ac:picMkLst>
            <pc:docMk/>
            <pc:sldMk cId="0" sldId="270"/>
            <ac:picMk id="19" creationId="{00000000-0000-0000-0000-000000000000}"/>
          </ac:picMkLst>
        </pc:picChg>
      </pc:sldChg>
      <pc:sldChg chg="modSp mod modNotesTx">
        <pc:chgData name="Tristan Despont" userId="d1a7c66da9d715b7" providerId="LiveId" clId="{8D77CC59-83D2-4C48-82B8-96050E88F101}" dt="2026-06-11T16:10:34.212" v="90" actId="790"/>
        <pc:sldMkLst>
          <pc:docMk/>
          <pc:sldMk cId="0" sldId="271"/>
        </pc:sldMkLst>
        <pc:spChg chg="mod">
          <ac:chgData name="Tristan Despont" userId="d1a7c66da9d715b7" providerId="LiveId" clId="{8D77CC59-83D2-4C48-82B8-96050E88F101}" dt="2026-06-11T16:10:34.212" v="90" actId="790"/>
          <ac:spMkLst>
            <pc:docMk/>
            <pc:sldMk cId="0" sldId="271"/>
            <ac:spMk id="3" creationId="{00000000-0000-0000-0000-000000000000}"/>
          </ac:spMkLst>
        </pc:spChg>
        <pc:spChg chg="mod">
          <ac:chgData name="Tristan Despont" userId="d1a7c66da9d715b7" providerId="LiveId" clId="{8D77CC59-83D2-4C48-82B8-96050E88F101}" dt="2026-06-11T16:10:34.212" v="90" actId="790"/>
          <ac:spMkLst>
            <pc:docMk/>
            <pc:sldMk cId="0" sldId="271"/>
            <ac:spMk id="5" creationId="{00000000-0000-0000-0000-000000000000}"/>
          </ac:spMkLst>
        </pc:spChg>
        <pc:spChg chg="mod">
          <ac:chgData name="Tristan Despont" userId="d1a7c66da9d715b7" providerId="LiveId" clId="{8D77CC59-83D2-4C48-82B8-96050E88F101}" dt="2026-06-11T16:10:34.212" v="90" actId="790"/>
          <ac:spMkLst>
            <pc:docMk/>
            <pc:sldMk cId="0" sldId="271"/>
            <ac:spMk id="6" creationId="{00000000-0000-0000-0000-000000000000}"/>
          </ac:spMkLst>
        </pc:spChg>
        <pc:spChg chg="mod">
          <ac:chgData name="Tristan Despont" userId="d1a7c66da9d715b7" providerId="LiveId" clId="{8D77CC59-83D2-4C48-82B8-96050E88F101}" dt="2026-06-11T16:10:34.212" v="90" actId="790"/>
          <ac:spMkLst>
            <pc:docMk/>
            <pc:sldMk cId="0" sldId="271"/>
            <ac:spMk id="8" creationId="{00000000-0000-0000-0000-000000000000}"/>
          </ac:spMkLst>
        </pc:spChg>
        <pc:spChg chg="mod">
          <ac:chgData name="Tristan Despont" userId="d1a7c66da9d715b7" providerId="LiveId" clId="{8D77CC59-83D2-4C48-82B8-96050E88F101}" dt="2026-06-11T16:10:34.212" v="90" actId="790"/>
          <ac:spMkLst>
            <pc:docMk/>
            <pc:sldMk cId="0" sldId="271"/>
            <ac:spMk id="9" creationId="{00000000-0000-0000-0000-000000000000}"/>
          </ac:spMkLst>
        </pc:spChg>
        <pc:spChg chg="mod">
          <ac:chgData name="Tristan Despont" userId="d1a7c66da9d715b7" providerId="LiveId" clId="{8D77CC59-83D2-4C48-82B8-96050E88F101}" dt="2026-06-11T16:10:34.212" v="90" actId="790"/>
          <ac:spMkLst>
            <pc:docMk/>
            <pc:sldMk cId="0" sldId="271"/>
            <ac:spMk id="10" creationId="{00000000-0000-0000-0000-000000000000}"/>
          </ac:spMkLst>
        </pc:spChg>
        <pc:spChg chg="mod">
          <ac:chgData name="Tristan Despont" userId="d1a7c66da9d715b7" providerId="LiveId" clId="{8D77CC59-83D2-4C48-82B8-96050E88F101}" dt="2026-06-11T16:10:34.212" v="90" actId="790"/>
          <ac:spMkLst>
            <pc:docMk/>
            <pc:sldMk cId="0" sldId="271"/>
            <ac:spMk id="11" creationId="{00000000-0000-0000-0000-000000000000}"/>
          </ac:spMkLst>
        </pc:spChg>
        <pc:spChg chg="mod">
          <ac:chgData name="Tristan Despont" userId="d1a7c66da9d715b7" providerId="LiveId" clId="{8D77CC59-83D2-4C48-82B8-96050E88F101}" dt="2026-06-11T16:10:34.212" v="90" actId="790"/>
          <ac:spMkLst>
            <pc:docMk/>
            <pc:sldMk cId="0" sldId="271"/>
            <ac:spMk id="12" creationId="{00000000-0000-0000-0000-000000000000}"/>
          </ac:spMkLst>
        </pc:spChg>
        <pc:spChg chg="mod">
          <ac:chgData name="Tristan Despont" userId="d1a7c66da9d715b7" providerId="LiveId" clId="{8D77CC59-83D2-4C48-82B8-96050E88F101}" dt="2026-06-11T16:10:34.212" v="90" actId="790"/>
          <ac:spMkLst>
            <pc:docMk/>
            <pc:sldMk cId="0" sldId="271"/>
            <ac:spMk id="13" creationId="{00000000-0000-0000-0000-000000000000}"/>
          </ac:spMkLst>
        </pc:spChg>
        <pc:spChg chg="mod">
          <ac:chgData name="Tristan Despont" userId="d1a7c66da9d715b7" providerId="LiveId" clId="{8D77CC59-83D2-4C48-82B8-96050E88F101}" dt="2026-06-11T16:10:34.212" v="90" actId="790"/>
          <ac:spMkLst>
            <pc:docMk/>
            <pc:sldMk cId="0" sldId="271"/>
            <ac:spMk id="16" creationId="{00000000-0000-0000-0000-000000000000}"/>
          </ac:spMkLst>
        </pc:spChg>
      </pc:sldChg>
      <pc:sldChg chg="modSp mod modNotesTx">
        <pc:chgData name="Tristan Despont" userId="d1a7c66da9d715b7" providerId="LiveId" clId="{8D77CC59-83D2-4C48-82B8-96050E88F101}" dt="2026-06-11T16:10:55.518" v="101" actId="1036"/>
        <pc:sldMkLst>
          <pc:docMk/>
          <pc:sldMk cId="0" sldId="272"/>
        </pc:sldMkLst>
        <pc:spChg chg="mod">
          <ac:chgData name="Tristan Despont" userId="d1a7c66da9d715b7" providerId="LiveId" clId="{8D77CC59-83D2-4C48-82B8-96050E88F101}" dt="2026-06-11T16:10:34.212" v="90" actId="790"/>
          <ac:spMkLst>
            <pc:docMk/>
            <pc:sldMk cId="0" sldId="272"/>
            <ac:spMk id="2" creationId="{00000000-0000-0000-0000-000000000000}"/>
          </ac:spMkLst>
        </pc:spChg>
        <pc:spChg chg="mod">
          <ac:chgData name="Tristan Despont" userId="d1a7c66da9d715b7" providerId="LiveId" clId="{8D77CC59-83D2-4C48-82B8-96050E88F101}" dt="2026-06-11T16:10:34.212" v="90" actId="790"/>
          <ac:spMkLst>
            <pc:docMk/>
            <pc:sldMk cId="0" sldId="272"/>
            <ac:spMk id="3" creationId="{00000000-0000-0000-0000-000000000000}"/>
          </ac:spMkLst>
        </pc:spChg>
        <pc:spChg chg="mod">
          <ac:chgData name="Tristan Despont" userId="d1a7c66da9d715b7" providerId="LiveId" clId="{8D77CC59-83D2-4C48-82B8-96050E88F101}" dt="2026-06-11T15:43:46.982" v="7" actId="20577"/>
          <ac:spMkLst>
            <pc:docMk/>
            <pc:sldMk cId="0" sldId="272"/>
            <ac:spMk id="4" creationId="{00000000-0000-0000-0000-000000000000}"/>
          </ac:spMkLst>
        </pc:spChg>
        <pc:spChg chg="mod">
          <ac:chgData name="Tristan Despont" userId="d1a7c66da9d715b7" providerId="LiveId" clId="{8D77CC59-83D2-4C48-82B8-96050E88F101}" dt="2026-06-11T16:10:34.212" v="90" actId="790"/>
          <ac:spMkLst>
            <pc:docMk/>
            <pc:sldMk cId="0" sldId="272"/>
            <ac:spMk id="6" creationId="{00000000-0000-0000-0000-000000000000}"/>
          </ac:spMkLst>
        </pc:spChg>
        <pc:spChg chg="mod">
          <ac:chgData name="Tristan Despont" userId="d1a7c66da9d715b7" providerId="LiveId" clId="{8D77CC59-83D2-4C48-82B8-96050E88F101}" dt="2026-06-11T16:10:34.212" v="90" actId="790"/>
          <ac:spMkLst>
            <pc:docMk/>
            <pc:sldMk cId="0" sldId="272"/>
            <ac:spMk id="8" creationId="{00000000-0000-0000-0000-000000000000}"/>
          </ac:spMkLst>
        </pc:spChg>
        <pc:spChg chg="mod">
          <ac:chgData name="Tristan Despont" userId="d1a7c66da9d715b7" providerId="LiveId" clId="{8D77CC59-83D2-4C48-82B8-96050E88F101}" dt="2026-06-11T16:10:34.212" v="90" actId="790"/>
          <ac:spMkLst>
            <pc:docMk/>
            <pc:sldMk cId="0" sldId="272"/>
            <ac:spMk id="10" creationId="{00000000-0000-0000-0000-000000000000}"/>
          </ac:spMkLst>
        </pc:spChg>
        <pc:spChg chg="mod">
          <ac:chgData name="Tristan Despont" userId="d1a7c66da9d715b7" providerId="LiveId" clId="{8D77CC59-83D2-4C48-82B8-96050E88F101}" dt="2026-06-11T16:10:34.212" v="90" actId="790"/>
          <ac:spMkLst>
            <pc:docMk/>
            <pc:sldMk cId="0" sldId="272"/>
            <ac:spMk id="11" creationId="{00000000-0000-0000-0000-000000000000}"/>
          </ac:spMkLst>
        </pc:spChg>
        <pc:spChg chg="mod">
          <ac:chgData name="Tristan Despont" userId="d1a7c66da9d715b7" providerId="LiveId" clId="{8D77CC59-83D2-4C48-82B8-96050E88F101}" dt="2026-06-11T16:10:34.212" v="90" actId="790"/>
          <ac:spMkLst>
            <pc:docMk/>
            <pc:sldMk cId="0" sldId="272"/>
            <ac:spMk id="13" creationId="{00000000-0000-0000-0000-000000000000}"/>
          </ac:spMkLst>
        </pc:spChg>
        <pc:spChg chg="mod">
          <ac:chgData name="Tristan Despont" userId="d1a7c66da9d715b7" providerId="LiveId" clId="{8D77CC59-83D2-4C48-82B8-96050E88F101}" dt="2026-06-11T16:10:34.212" v="90" actId="790"/>
          <ac:spMkLst>
            <pc:docMk/>
            <pc:sldMk cId="0" sldId="272"/>
            <ac:spMk id="15" creationId="{00000000-0000-0000-0000-000000000000}"/>
          </ac:spMkLst>
        </pc:spChg>
        <pc:spChg chg="mod">
          <ac:chgData name="Tristan Despont" userId="d1a7c66da9d715b7" providerId="LiveId" clId="{8D77CC59-83D2-4C48-82B8-96050E88F101}" dt="2026-06-11T16:10:34.212" v="90" actId="790"/>
          <ac:spMkLst>
            <pc:docMk/>
            <pc:sldMk cId="0" sldId="272"/>
            <ac:spMk id="16" creationId="{00000000-0000-0000-0000-000000000000}"/>
          </ac:spMkLst>
        </pc:spChg>
        <pc:spChg chg="mod">
          <ac:chgData name="Tristan Despont" userId="d1a7c66da9d715b7" providerId="LiveId" clId="{8D77CC59-83D2-4C48-82B8-96050E88F101}" dt="2026-06-11T16:10:34.212" v="90" actId="790"/>
          <ac:spMkLst>
            <pc:docMk/>
            <pc:sldMk cId="0" sldId="272"/>
            <ac:spMk id="18" creationId="{00000000-0000-0000-0000-000000000000}"/>
          </ac:spMkLst>
        </pc:spChg>
        <pc:spChg chg="mod">
          <ac:chgData name="Tristan Despont" userId="d1a7c66da9d715b7" providerId="LiveId" clId="{8D77CC59-83D2-4C48-82B8-96050E88F101}" dt="2026-06-11T16:10:55.518" v="101" actId="1036"/>
          <ac:spMkLst>
            <pc:docMk/>
            <pc:sldMk cId="0" sldId="272"/>
            <ac:spMk id="20" creationId="{00000000-0000-0000-0000-000000000000}"/>
          </ac:spMkLst>
        </pc:spChg>
        <pc:picChg chg="mod">
          <ac:chgData name="Tristan Despont" userId="d1a7c66da9d715b7" providerId="LiveId" clId="{8D77CC59-83D2-4C48-82B8-96050E88F101}" dt="2026-06-11T16:10:55.518" v="101" actId="1036"/>
          <ac:picMkLst>
            <pc:docMk/>
            <pc:sldMk cId="0" sldId="272"/>
            <ac:picMk id="19" creationId="{00000000-0000-0000-0000-000000000000}"/>
          </ac:picMkLst>
        </pc:picChg>
      </pc:sldChg>
      <pc:sldChg chg="modSp mod modNotesTx">
        <pc:chgData name="Tristan Despont" userId="d1a7c66da9d715b7" providerId="LiveId" clId="{8D77CC59-83D2-4C48-82B8-96050E88F101}" dt="2026-06-11T16:10:34.212" v="90" actId="790"/>
        <pc:sldMkLst>
          <pc:docMk/>
          <pc:sldMk cId="0" sldId="273"/>
        </pc:sldMkLst>
        <pc:spChg chg="mod">
          <ac:chgData name="Tristan Despont" userId="d1a7c66da9d715b7" providerId="LiveId" clId="{8D77CC59-83D2-4C48-82B8-96050E88F101}" dt="2026-06-11T16:10:34.212" v="90" actId="790"/>
          <ac:spMkLst>
            <pc:docMk/>
            <pc:sldMk cId="0" sldId="273"/>
            <ac:spMk id="2" creationId="{00000000-0000-0000-0000-000000000000}"/>
          </ac:spMkLst>
        </pc:spChg>
        <pc:spChg chg="mod">
          <ac:chgData name="Tristan Despont" userId="d1a7c66da9d715b7" providerId="LiveId" clId="{8D77CC59-83D2-4C48-82B8-96050E88F101}" dt="2026-06-11T16:10:34.212" v="90" actId="790"/>
          <ac:spMkLst>
            <pc:docMk/>
            <pc:sldMk cId="0" sldId="273"/>
            <ac:spMk id="3" creationId="{00000000-0000-0000-0000-000000000000}"/>
          </ac:spMkLst>
        </pc:spChg>
        <pc:spChg chg="mod">
          <ac:chgData name="Tristan Despont" userId="d1a7c66da9d715b7" providerId="LiveId" clId="{8D77CC59-83D2-4C48-82B8-96050E88F101}" dt="2026-06-11T16:10:34.212" v="90" actId="790"/>
          <ac:spMkLst>
            <pc:docMk/>
            <pc:sldMk cId="0" sldId="273"/>
            <ac:spMk id="4" creationId="{00000000-0000-0000-0000-000000000000}"/>
          </ac:spMkLst>
        </pc:spChg>
        <pc:spChg chg="mod">
          <ac:chgData name="Tristan Despont" userId="d1a7c66da9d715b7" providerId="LiveId" clId="{8D77CC59-83D2-4C48-82B8-96050E88F101}" dt="2026-06-11T16:10:34.212" v="90" actId="790"/>
          <ac:spMkLst>
            <pc:docMk/>
            <pc:sldMk cId="0" sldId="273"/>
            <ac:spMk id="5" creationId="{00000000-0000-0000-0000-000000000000}"/>
          </ac:spMkLst>
        </pc:spChg>
      </pc:sldChg>
      <pc:sldChg chg="modSp mod modNotesTx">
        <pc:chgData name="Tristan Despont" userId="d1a7c66da9d715b7" providerId="LiveId" clId="{8D77CC59-83D2-4C48-82B8-96050E88F101}" dt="2026-06-11T16:10:34.212" v="90" actId="790"/>
        <pc:sldMkLst>
          <pc:docMk/>
          <pc:sldMk cId="0" sldId="274"/>
        </pc:sldMkLst>
        <pc:spChg chg="mod">
          <ac:chgData name="Tristan Despont" userId="d1a7c66da9d715b7" providerId="LiveId" clId="{8D77CC59-83D2-4C48-82B8-96050E88F101}" dt="2026-06-11T16:10:34.212" v="90" actId="790"/>
          <ac:spMkLst>
            <pc:docMk/>
            <pc:sldMk cId="0" sldId="274"/>
            <ac:spMk id="3" creationId="{00000000-0000-0000-0000-000000000000}"/>
          </ac:spMkLst>
        </pc:spChg>
        <pc:spChg chg="mod">
          <ac:chgData name="Tristan Despont" userId="d1a7c66da9d715b7" providerId="LiveId" clId="{8D77CC59-83D2-4C48-82B8-96050E88F101}" dt="2026-06-11T16:10:34.212" v="90" actId="790"/>
          <ac:spMkLst>
            <pc:docMk/>
            <pc:sldMk cId="0" sldId="274"/>
            <ac:spMk id="5" creationId="{00000000-0000-0000-0000-000000000000}"/>
          </ac:spMkLst>
        </pc:spChg>
        <pc:spChg chg="mod">
          <ac:chgData name="Tristan Despont" userId="d1a7c66da9d715b7" providerId="LiveId" clId="{8D77CC59-83D2-4C48-82B8-96050E88F101}" dt="2026-06-11T16:10:34.212" v="90" actId="790"/>
          <ac:spMkLst>
            <pc:docMk/>
            <pc:sldMk cId="0" sldId="274"/>
            <ac:spMk id="9" creationId="{00000000-0000-0000-0000-000000000000}"/>
          </ac:spMkLst>
        </pc:spChg>
        <pc:spChg chg="mod">
          <ac:chgData name="Tristan Despont" userId="d1a7c66da9d715b7" providerId="LiveId" clId="{8D77CC59-83D2-4C48-82B8-96050E88F101}" dt="2026-06-11T16:10:34.212" v="90" actId="790"/>
          <ac:spMkLst>
            <pc:docMk/>
            <pc:sldMk cId="0" sldId="274"/>
            <ac:spMk id="11" creationId="{00000000-0000-0000-0000-000000000000}"/>
          </ac:spMkLst>
        </pc:spChg>
        <pc:spChg chg="mod">
          <ac:chgData name="Tristan Despont" userId="d1a7c66da9d715b7" providerId="LiveId" clId="{8D77CC59-83D2-4C48-82B8-96050E88F101}" dt="2026-06-11T16:10:34.212" v="90" actId="790"/>
          <ac:spMkLst>
            <pc:docMk/>
            <pc:sldMk cId="0" sldId="274"/>
            <ac:spMk id="13" creationId="{00000000-0000-0000-0000-000000000000}"/>
          </ac:spMkLst>
        </pc:spChg>
        <pc:spChg chg="mod">
          <ac:chgData name="Tristan Despont" userId="d1a7c66da9d715b7" providerId="LiveId" clId="{8D77CC59-83D2-4C48-82B8-96050E88F101}" dt="2026-06-11T16:10:34.212" v="90" actId="790"/>
          <ac:spMkLst>
            <pc:docMk/>
            <pc:sldMk cId="0" sldId="274"/>
            <ac:spMk id="14" creationId="{00000000-0000-0000-0000-000000000000}"/>
          </ac:spMkLst>
        </pc:spChg>
        <pc:spChg chg="mod">
          <ac:chgData name="Tristan Despont" userId="d1a7c66da9d715b7" providerId="LiveId" clId="{8D77CC59-83D2-4C48-82B8-96050E88F101}" dt="2026-06-11T16:10:34.212" v="90" actId="790"/>
          <ac:spMkLst>
            <pc:docMk/>
            <pc:sldMk cId="0" sldId="274"/>
            <ac:spMk id="19" creationId="{00000000-0000-0000-0000-000000000000}"/>
          </ac:spMkLst>
        </pc:spChg>
        <pc:spChg chg="mod">
          <ac:chgData name="Tristan Despont" userId="d1a7c66da9d715b7" providerId="LiveId" clId="{8D77CC59-83D2-4C48-82B8-96050E88F101}" dt="2026-06-11T16:10:34.212" v="90" actId="790"/>
          <ac:spMkLst>
            <pc:docMk/>
            <pc:sldMk cId="0" sldId="274"/>
            <ac:spMk id="20" creationId="{00000000-0000-0000-0000-000000000000}"/>
          </ac:spMkLst>
        </pc:spChg>
        <pc:spChg chg="mod">
          <ac:chgData name="Tristan Despont" userId="d1a7c66da9d715b7" providerId="LiveId" clId="{8D77CC59-83D2-4C48-82B8-96050E88F101}" dt="2026-06-11T16:10:34.212" v="90" actId="790"/>
          <ac:spMkLst>
            <pc:docMk/>
            <pc:sldMk cId="0" sldId="274"/>
            <ac:spMk id="21" creationId="{00000000-0000-0000-0000-000000000000}"/>
          </ac:spMkLst>
        </pc:spChg>
        <pc:spChg chg="mod">
          <ac:chgData name="Tristan Despont" userId="d1a7c66da9d715b7" providerId="LiveId" clId="{8D77CC59-83D2-4C48-82B8-96050E88F101}" dt="2026-06-11T16:10:34.212" v="90" actId="790"/>
          <ac:spMkLst>
            <pc:docMk/>
            <pc:sldMk cId="0" sldId="274"/>
            <ac:spMk id="25" creationId="{00000000-0000-0000-0000-000000000000}"/>
          </ac:spMkLst>
        </pc:spChg>
      </pc:sldChg>
      <pc:sldChg chg="modSp mod modNotesTx">
        <pc:chgData name="Tristan Despont" userId="d1a7c66da9d715b7" providerId="LiveId" clId="{8D77CC59-83D2-4C48-82B8-96050E88F101}" dt="2026-06-11T16:10:34.212" v="90" actId="790"/>
        <pc:sldMkLst>
          <pc:docMk/>
          <pc:sldMk cId="0" sldId="276"/>
        </pc:sldMkLst>
        <pc:spChg chg="mod">
          <ac:chgData name="Tristan Despont" userId="d1a7c66da9d715b7" providerId="LiveId" clId="{8D77CC59-83D2-4C48-82B8-96050E88F101}" dt="2026-06-11T16:10:34.212" v="90" actId="790"/>
          <ac:spMkLst>
            <pc:docMk/>
            <pc:sldMk cId="0" sldId="276"/>
            <ac:spMk id="2" creationId="{00000000-0000-0000-0000-000000000000}"/>
          </ac:spMkLst>
        </pc:spChg>
        <pc:spChg chg="mod">
          <ac:chgData name="Tristan Despont" userId="d1a7c66da9d715b7" providerId="LiveId" clId="{8D77CC59-83D2-4C48-82B8-96050E88F101}" dt="2026-06-11T16:10:34.212" v="90" actId="790"/>
          <ac:spMkLst>
            <pc:docMk/>
            <pc:sldMk cId="0" sldId="276"/>
            <ac:spMk id="3" creationId="{00000000-0000-0000-0000-000000000000}"/>
          </ac:spMkLst>
        </pc:spChg>
        <pc:spChg chg="mod">
          <ac:chgData name="Tristan Despont" userId="d1a7c66da9d715b7" providerId="LiveId" clId="{8D77CC59-83D2-4C48-82B8-96050E88F101}" dt="2026-06-11T16:10:34.212" v="90" actId="790"/>
          <ac:spMkLst>
            <pc:docMk/>
            <pc:sldMk cId="0" sldId="276"/>
            <ac:spMk id="4" creationId="{00000000-0000-0000-0000-000000000000}"/>
          </ac:spMkLst>
        </pc:spChg>
        <pc:spChg chg="mod">
          <ac:chgData name="Tristan Despont" userId="d1a7c66da9d715b7" providerId="LiveId" clId="{8D77CC59-83D2-4C48-82B8-96050E88F101}" dt="2026-06-11T16:10:34.212" v="90" actId="790"/>
          <ac:spMkLst>
            <pc:docMk/>
            <pc:sldMk cId="0" sldId="276"/>
            <ac:spMk id="5" creationId="{00000000-0000-0000-0000-000000000000}"/>
          </ac:spMkLst>
        </pc:spChg>
        <pc:spChg chg="mod">
          <ac:chgData name="Tristan Despont" userId="d1a7c66da9d715b7" providerId="LiveId" clId="{8D77CC59-83D2-4C48-82B8-96050E88F101}" dt="2026-06-11T16:10:34.212" v="90" actId="790"/>
          <ac:spMkLst>
            <pc:docMk/>
            <pc:sldMk cId="0" sldId="276"/>
            <ac:spMk id="7" creationId="{00000000-0000-0000-0000-000000000000}"/>
          </ac:spMkLst>
        </pc:spChg>
        <pc:spChg chg="mod">
          <ac:chgData name="Tristan Despont" userId="d1a7c66da9d715b7" providerId="LiveId" clId="{8D77CC59-83D2-4C48-82B8-96050E88F101}" dt="2026-06-11T16:10:34.212" v="90" actId="790"/>
          <ac:spMkLst>
            <pc:docMk/>
            <pc:sldMk cId="0" sldId="276"/>
            <ac:spMk id="8" creationId="{00000000-0000-0000-0000-000000000000}"/>
          </ac:spMkLst>
        </pc:spChg>
        <pc:spChg chg="mod">
          <ac:chgData name="Tristan Despont" userId="d1a7c66da9d715b7" providerId="LiveId" clId="{8D77CC59-83D2-4C48-82B8-96050E88F101}" dt="2026-06-11T16:10:34.212" v="90" actId="790"/>
          <ac:spMkLst>
            <pc:docMk/>
            <pc:sldMk cId="0" sldId="276"/>
            <ac:spMk id="9" creationId="{00000000-0000-0000-0000-000000000000}"/>
          </ac:spMkLst>
        </pc:spChg>
        <pc:spChg chg="mod">
          <ac:chgData name="Tristan Despont" userId="d1a7c66da9d715b7" providerId="LiveId" clId="{8D77CC59-83D2-4C48-82B8-96050E88F101}" dt="2026-06-11T16:10:34.212" v="90" actId="790"/>
          <ac:spMkLst>
            <pc:docMk/>
            <pc:sldMk cId="0" sldId="276"/>
            <ac:spMk id="11" creationId="{00000000-0000-0000-0000-000000000000}"/>
          </ac:spMkLst>
        </pc:spChg>
        <pc:spChg chg="mod">
          <ac:chgData name="Tristan Despont" userId="d1a7c66da9d715b7" providerId="LiveId" clId="{8D77CC59-83D2-4C48-82B8-96050E88F101}" dt="2026-06-11T16:10:34.212" v="90" actId="790"/>
          <ac:spMkLst>
            <pc:docMk/>
            <pc:sldMk cId="0" sldId="276"/>
            <ac:spMk id="15" creationId="{00000000-0000-0000-0000-000000000000}"/>
          </ac:spMkLst>
        </pc:spChg>
        <pc:spChg chg="mod">
          <ac:chgData name="Tristan Despont" userId="d1a7c66da9d715b7" providerId="LiveId" clId="{8D77CC59-83D2-4C48-82B8-96050E88F101}" dt="2026-06-11T16:10:34.212" v="90" actId="790"/>
          <ac:spMkLst>
            <pc:docMk/>
            <pc:sldMk cId="0" sldId="276"/>
            <ac:spMk id="16" creationId="{00000000-0000-0000-0000-000000000000}"/>
          </ac:spMkLst>
        </pc:spChg>
      </pc:sldChg>
      <pc:sldChg chg="modSp mod modNotesTx">
        <pc:chgData name="Tristan Despont" userId="d1a7c66da9d715b7" providerId="LiveId" clId="{8D77CC59-83D2-4C48-82B8-96050E88F101}" dt="2026-06-11T16:10:34.212" v="90" actId="790"/>
        <pc:sldMkLst>
          <pc:docMk/>
          <pc:sldMk cId="0" sldId="277"/>
        </pc:sldMkLst>
        <pc:spChg chg="mod">
          <ac:chgData name="Tristan Despont" userId="d1a7c66da9d715b7" providerId="LiveId" clId="{8D77CC59-83D2-4C48-82B8-96050E88F101}" dt="2026-06-11T16:10:34.212" v="90" actId="790"/>
          <ac:spMkLst>
            <pc:docMk/>
            <pc:sldMk cId="0" sldId="277"/>
            <ac:spMk id="2" creationId="{00000000-0000-0000-0000-000000000000}"/>
          </ac:spMkLst>
        </pc:spChg>
        <pc:spChg chg="mod">
          <ac:chgData name="Tristan Despont" userId="d1a7c66da9d715b7" providerId="LiveId" clId="{8D77CC59-83D2-4C48-82B8-96050E88F101}" dt="2026-06-11T16:10:34.212" v="90" actId="790"/>
          <ac:spMkLst>
            <pc:docMk/>
            <pc:sldMk cId="0" sldId="277"/>
            <ac:spMk id="3" creationId="{00000000-0000-0000-0000-000000000000}"/>
          </ac:spMkLst>
        </pc:spChg>
        <pc:spChg chg="mod">
          <ac:chgData name="Tristan Despont" userId="d1a7c66da9d715b7" providerId="LiveId" clId="{8D77CC59-83D2-4C48-82B8-96050E88F101}" dt="2026-06-11T16:10:34.212" v="90" actId="790"/>
          <ac:spMkLst>
            <pc:docMk/>
            <pc:sldMk cId="0" sldId="277"/>
            <ac:spMk id="4" creationId="{00000000-0000-0000-0000-000000000000}"/>
          </ac:spMkLst>
        </pc:spChg>
        <pc:spChg chg="mod">
          <ac:chgData name="Tristan Despont" userId="d1a7c66da9d715b7" providerId="LiveId" clId="{8D77CC59-83D2-4C48-82B8-96050E88F101}" dt="2026-06-11T16:10:34.212" v="90" actId="790"/>
          <ac:spMkLst>
            <pc:docMk/>
            <pc:sldMk cId="0" sldId="277"/>
            <ac:spMk id="5" creationId="{00000000-0000-0000-0000-000000000000}"/>
          </ac:spMkLst>
        </pc:spChg>
        <pc:spChg chg="mod">
          <ac:chgData name="Tristan Despont" userId="d1a7c66da9d715b7" providerId="LiveId" clId="{8D77CC59-83D2-4C48-82B8-96050E88F101}" dt="2026-06-11T16:10:34.212" v="90" actId="790"/>
          <ac:spMkLst>
            <pc:docMk/>
            <pc:sldMk cId="0" sldId="277"/>
            <ac:spMk id="7" creationId="{00000000-0000-0000-0000-000000000000}"/>
          </ac:spMkLst>
        </pc:spChg>
        <pc:spChg chg="mod">
          <ac:chgData name="Tristan Despont" userId="d1a7c66da9d715b7" providerId="LiveId" clId="{8D77CC59-83D2-4C48-82B8-96050E88F101}" dt="2026-06-11T16:10:34.212" v="90" actId="790"/>
          <ac:spMkLst>
            <pc:docMk/>
            <pc:sldMk cId="0" sldId="277"/>
            <ac:spMk id="8" creationId="{00000000-0000-0000-0000-000000000000}"/>
          </ac:spMkLst>
        </pc:spChg>
        <pc:spChg chg="mod">
          <ac:chgData name="Tristan Despont" userId="d1a7c66da9d715b7" providerId="LiveId" clId="{8D77CC59-83D2-4C48-82B8-96050E88F101}" dt="2026-06-11T16:10:34.212" v="90" actId="790"/>
          <ac:spMkLst>
            <pc:docMk/>
            <pc:sldMk cId="0" sldId="277"/>
            <ac:spMk id="9" creationId="{00000000-0000-0000-0000-000000000000}"/>
          </ac:spMkLst>
        </pc:spChg>
        <pc:spChg chg="mod">
          <ac:chgData name="Tristan Despont" userId="d1a7c66da9d715b7" providerId="LiveId" clId="{8D77CC59-83D2-4C48-82B8-96050E88F101}" dt="2026-06-11T16:10:34.212" v="90" actId="790"/>
          <ac:spMkLst>
            <pc:docMk/>
            <pc:sldMk cId="0" sldId="277"/>
            <ac:spMk id="10" creationId="{00000000-0000-0000-0000-000000000000}"/>
          </ac:spMkLst>
        </pc:spChg>
        <pc:spChg chg="mod">
          <ac:chgData name="Tristan Despont" userId="d1a7c66da9d715b7" providerId="LiveId" clId="{8D77CC59-83D2-4C48-82B8-96050E88F101}" dt="2026-06-11T16:10:34.212" v="90" actId="790"/>
          <ac:spMkLst>
            <pc:docMk/>
            <pc:sldMk cId="0" sldId="277"/>
            <ac:spMk id="15" creationId="{00000000-0000-0000-0000-000000000000}"/>
          </ac:spMkLst>
        </pc:spChg>
        <pc:spChg chg="mod">
          <ac:chgData name="Tristan Despont" userId="d1a7c66da9d715b7" providerId="LiveId" clId="{8D77CC59-83D2-4C48-82B8-96050E88F101}" dt="2026-06-11T16:10:34.212" v="90" actId="790"/>
          <ac:spMkLst>
            <pc:docMk/>
            <pc:sldMk cId="0" sldId="277"/>
            <ac:spMk id="16" creationId="{00000000-0000-0000-0000-000000000000}"/>
          </ac:spMkLst>
        </pc:spChg>
      </pc:sldChg>
      <pc:sldChg chg="modSp mod modNotesTx">
        <pc:chgData name="Tristan Despont" userId="d1a7c66da9d715b7" providerId="LiveId" clId="{8D77CC59-83D2-4C48-82B8-96050E88F101}" dt="2026-06-11T16:10:34.212" v="90" actId="790"/>
        <pc:sldMkLst>
          <pc:docMk/>
          <pc:sldMk cId="0" sldId="278"/>
        </pc:sldMkLst>
        <pc:spChg chg="mod">
          <ac:chgData name="Tristan Despont" userId="d1a7c66da9d715b7" providerId="LiveId" clId="{8D77CC59-83D2-4C48-82B8-96050E88F101}" dt="2026-06-11T16:10:34.212" v="90" actId="790"/>
          <ac:spMkLst>
            <pc:docMk/>
            <pc:sldMk cId="0" sldId="278"/>
            <ac:spMk id="2" creationId="{00000000-0000-0000-0000-000000000000}"/>
          </ac:spMkLst>
        </pc:spChg>
        <pc:spChg chg="mod">
          <ac:chgData name="Tristan Despont" userId="d1a7c66da9d715b7" providerId="LiveId" clId="{8D77CC59-83D2-4C48-82B8-96050E88F101}" dt="2026-06-11T16:10:34.212" v="90" actId="790"/>
          <ac:spMkLst>
            <pc:docMk/>
            <pc:sldMk cId="0" sldId="278"/>
            <ac:spMk id="3" creationId="{00000000-0000-0000-0000-000000000000}"/>
          </ac:spMkLst>
        </pc:spChg>
        <pc:spChg chg="mod">
          <ac:chgData name="Tristan Despont" userId="d1a7c66da9d715b7" providerId="LiveId" clId="{8D77CC59-83D2-4C48-82B8-96050E88F101}" dt="2026-06-11T16:10:34.212" v="90" actId="790"/>
          <ac:spMkLst>
            <pc:docMk/>
            <pc:sldMk cId="0" sldId="278"/>
            <ac:spMk id="4" creationId="{00000000-0000-0000-0000-000000000000}"/>
          </ac:spMkLst>
        </pc:spChg>
        <pc:spChg chg="mod">
          <ac:chgData name="Tristan Despont" userId="d1a7c66da9d715b7" providerId="LiveId" clId="{8D77CC59-83D2-4C48-82B8-96050E88F101}" dt="2026-06-11T16:10:34.212" v="90" actId="790"/>
          <ac:spMkLst>
            <pc:docMk/>
            <pc:sldMk cId="0" sldId="278"/>
            <ac:spMk id="5" creationId="{00000000-0000-0000-0000-000000000000}"/>
          </ac:spMkLst>
        </pc:spChg>
        <pc:spChg chg="mod">
          <ac:chgData name="Tristan Despont" userId="d1a7c66da9d715b7" providerId="LiveId" clId="{8D77CC59-83D2-4C48-82B8-96050E88F101}" dt="2026-06-11T16:10:34.212" v="90" actId="790"/>
          <ac:spMkLst>
            <pc:docMk/>
            <pc:sldMk cId="0" sldId="278"/>
            <ac:spMk id="6" creationId="{00000000-0000-0000-0000-000000000000}"/>
          </ac:spMkLst>
        </pc:spChg>
      </pc:sldChg>
      <pc:sldChg chg="modSp mod">
        <pc:chgData name="Tristan Despont" userId="d1a7c66da9d715b7" providerId="LiveId" clId="{8D77CC59-83D2-4C48-82B8-96050E88F101}" dt="2026-06-11T16:10:34.212" v="90" actId="790"/>
        <pc:sldMkLst>
          <pc:docMk/>
          <pc:sldMk cId="0" sldId="279"/>
        </pc:sldMkLst>
        <pc:spChg chg="mod">
          <ac:chgData name="Tristan Despont" userId="d1a7c66da9d715b7" providerId="LiveId" clId="{8D77CC59-83D2-4C48-82B8-96050E88F101}" dt="2026-06-11T16:10:34.212" v="90" actId="790"/>
          <ac:spMkLst>
            <pc:docMk/>
            <pc:sldMk cId="0" sldId="279"/>
            <ac:spMk id="2" creationId="{00000000-0000-0000-0000-000000000000}"/>
          </ac:spMkLst>
        </pc:spChg>
        <pc:spChg chg="mod">
          <ac:chgData name="Tristan Despont" userId="d1a7c66da9d715b7" providerId="LiveId" clId="{8D77CC59-83D2-4C48-82B8-96050E88F101}" dt="2026-06-11T16:10:34.212" v="90" actId="790"/>
          <ac:spMkLst>
            <pc:docMk/>
            <pc:sldMk cId="0" sldId="279"/>
            <ac:spMk id="3" creationId="{00000000-0000-0000-0000-000000000000}"/>
          </ac:spMkLst>
        </pc:spChg>
        <pc:graphicFrameChg chg="mod modGraphic">
          <ac:chgData name="Tristan Despont" userId="d1a7c66da9d715b7" providerId="LiveId" clId="{8D77CC59-83D2-4C48-82B8-96050E88F101}" dt="2026-06-11T16:10:34.212" v="90" actId="790"/>
          <ac:graphicFrameMkLst>
            <pc:docMk/>
            <pc:sldMk cId="0" sldId="279"/>
            <ac:graphicFrameMk id="25" creationId="{00000000-0000-0000-0000-000000000000}"/>
          </ac:graphicFrameMkLst>
        </pc:graphicFrameChg>
      </pc:sldChg>
      <pc:sldChg chg="modSp mod modNotesTx">
        <pc:chgData name="Tristan Despont" userId="d1a7c66da9d715b7" providerId="LiveId" clId="{8D77CC59-83D2-4C48-82B8-96050E88F101}" dt="2026-06-11T17:26:06.930" v="143" actId="14826"/>
        <pc:sldMkLst>
          <pc:docMk/>
          <pc:sldMk cId="0" sldId="280"/>
        </pc:sldMkLst>
        <pc:spChg chg="mod">
          <ac:chgData name="Tristan Despont" userId="d1a7c66da9d715b7" providerId="LiveId" clId="{8D77CC59-83D2-4C48-82B8-96050E88F101}" dt="2026-06-11T16:10:34.212" v="90" actId="790"/>
          <ac:spMkLst>
            <pc:docMk/>
            <pc:sldMk cId="0" sldId="280"/>
            <ac:spMk id="5" creationId="{00000000-0000-0000-0000-000000000000}"/>
          </ac:spMkLst>
        </pc:spChg>
        <pc:spChg chg="mod">
          <ac:chgData name="Tristan Despont" userId="d1a7c66da9d715b7" providerId="LiveId" clId="{8D77CC59-83D2-4C48-82B8-96050E88F101}" dt="2026-06-11T16:10:34.212" v="90" actId="790"/>
          <ac:spMkLst>
            <pc:docMk/>
            <pc:sldMk cId="0" sldId="280"/>
            <ac:spMk id="10" creationId="{00000000-0000-0000-0000-000000000000}"/>
          </ac:spMkLst>
        </pc:spChg>
        <pc:spChg chg="mod">
          <ac:chgData name="Tristan Despont" userId="d1a7c66da9d715b7" providerId="LiveId" clId="{8D77CC59-83D2-4C48-82B8-96050E88F101}" dt="2026-06-11T16:10:34.212" v="90" actId="790"/>
          <ac:spMkLst>
            <pc:docMk/>
            <pc:sldMk cId="0" sldId="280"/>
            <ac:spMk id="11" creationId="{00000000-0000-0000-0000-000000000000}"/>
          </ac:spMkLst>
        </pc:spChg>
        <pc:spChg chg="mod">
          <ac:chgData name="Tristan Despont" userId="d1a7c66da9d715b7" providerId="LiveId" clId="{8D77CC59-83D2-4C48-82B8-96050E88F101}" dt="2026-06-11T16:10:34.212" v="90" actId="790"/>
          <ac:spMkLst>
            <pc:docMk/>
            <pc:sldMk cId="0" sldId="280"/>
            <ac:spMk id="13" creationId="{00000000-0000-0000-0000-000000000000}"/>
          </ac:spMkLst>
        </pc:spChg>
        <pc:spChg chg="mod">
          <ac:chgData name="Tristan Despont" userId="d1a7c66da9d715b7" providerId="LiveId" clId="{8D77CC59-83D2-4C48-82B8-96050E88F101}" dt="2026-06-11T15:43:04.336" v="3" actId="20577"/>
          <ac:spMkLst>
            <pc:docMk/>
            <pc:sldMk cId="0" sldId="280"/>
            <ac:spMk id="15" creationId="{00000000-0000-0000-0000-000000000000}"/>
          </ac:spMkLst>
        </pc:spChg>
        <pc:spChg chg="mod">
          <ac:chgData name="Tristan Despont" userId="d1a7c66da9d715b7" providerId="LiveId" clId="{8D77CC59-83D2-4C48-82B8-96050E88F101}" dt="2026-06-11T16:10:34.212" v="90" actId="790"/>
          <ac:spMkLst>
            <pc:docMk/>
            <pc:sldMk cId="0" sldId="280"/>
            <ac:spMk id="17" creationId="{00000000-0000-0000-0000-000000000000}"/>
          </ac:spMkLst>
        </pc:spChg>
        <pc:spChg chg="mod">
          <ac:chgData name="Tristan Despont" userId="d1a7c66da9d715b7" providerId="LiveId" clId="{8D77CC59-83D2-4C48-82B8-96050E88F101}" dt="2026-06-11T16:10:34.212" v="90" actId="790"/>
          <ac:spMkLst>
            <pc:docMk/>
            <pc:sldMk cId="0" sldId="280"/>
            <ac:spMk id="19" creationId="{00000000-0000-0000-0000-000000000000}"/>
          </ac:spMkLst>
        </pc:spChg>
        <pc:spChg chg="mod">
          <ac:chgData name="Tristan Despont" userId="d1a7c66da9d715b7" providerId="LiveId" clId="{8D77CC59-83D2-4C48-82B8-96050E88F101}" dt="2026-06-11T16:10:34.212" v="90" actId="790"/>
          <ac:spMkLst>
            <pc:docMk/>
            <pc:sldMk cId="0" sldId="280"/>
            <ac:spMk id="20" creationId="{00000000-0000-0000-0000-000000000000}"/>
          </ac:spMkLst>
        </pc:spChg>
        <pc:spChg chg="mod">
          <ac:chgData name="Tristan Despont" userId="d1a7c66da9d715b7" providerId="LiveId" clId="{8D77CC59-83D2-4C48-82B8-96050E88F101}" dt="2026-06-11T16:10:34.212" v="90" actId="790"/>
          <ac:spMkLst>
            <pc:docMk/>
            <pc:sldMk cId="0" sldId="280"/>
            <ac:spMk id="23" creationId="{00000000-0000-0000-0000-000000000000}"/>
          </ac:spMkLst>
        </pc:spChg>
        <pc:spChg chg="mod">
          <ac:chgData name="Tristan Despont" userId="d1a7c66da9d715b7" providerId="LiveId" clId="{8D77CC59-83D2-4C48-82B8-96050E88F101}" dt="2026-06-11T16:10:34.212" v="90" actId="790"/>
          <ac:spMkLst>
            <pc:docMk/>
            <pc:sldMk cId="0" sldId="280"/>
            <ac:spMk id="24" creationId="{00000000-0000-0000-0000-000000000000}"/>
          </ac:spMkLst>
        </pc:spChg>
        <pc:spChg chg="mod">
          <ac:chgData name="Tristan Despont" userId="d1a7c66da9d715b7" providerId="LiveId" clId="{8D77CC59-83D2-4C48-82B8-96050E88F101}" dt="2026-06-11T16:10:34.212" v="90" actId="790"/>
          <ac:spMkLst>
            <pc:docMk/>
            <pc:sldMk cId="0" sldId="280"/>
            <ac:spMk id="25" creationId="{00000000-0000-0000-0000-000000000000}"/>
          </ac:spMkLst>
        </pc:spChg>
        <pc:picChg chg="mod">
          <ac:chgData name="Tristan Despont" userId="d1a7c66da9d715b7" providerId="LiveId" clId="{8D77CC59-83D2-4C48-82B8-96050E88F101}" dt="2026-06-11T17:26:06.930" v="143" actId="14826"/>
          <ac:picMkLst>
            <pc:docMk/>
            <pc:sldMk cId="0" sldId="280"/>
            <ac:picMk id="4"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41414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effectLst/>
                <a:latin typeface="+mn-lt"/>
                <a:ea typeface="+mn-ea"/>
                <a:cs typeface="+mn-cs"/>
              </a:rPr>
              <a:t>Note slide :</a:t>
            </a:r>
            <a:r>
              <a:rPr lang="fr-FR" sz="1200" kern="1200" dirty="0">
                <a:solidFill>
                  <a:schemeClr val="tx1"/>
                </a:solidFill>
                <a:effectLst/>
                <a:latin typeface="+mn-lt"/>
                <a:ea typeface="+mn-ea"/>
                <a:cs typeface="+mn-cs"/>
              </a:rPr>
              <a:t> → Poser le cadre : qui je suis, quelle mission, quelles données.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effectLst/>
                <a:latin typeface="+mn-lt"/>
                <a:ea typeface="+mn-ea"/>
                <a:cs typeface="+mn-cs"/>
              </a:rPr>
              <a:t>SLIDE 1 — Titre</a:t>
            </a:r>
            <a:r>
              <a:rPr lang="fr-FR" sz="1200" kern="1200" dirty="0">
                <a:solidFill>
                  <a:schemeClr val="tx1"/>
                </a:solidFill>
                <a:effectLst/>
                <a:latin typeface="+mn-lt"/>
                <a:ea typeface="+mn-ea"/>
                <a:cs typeface="+mn-cs"/>
              </a:rPr>
              <a:t> Bonjour à tous. Tristan Despont, data </a:t>
            </a:r>
            <a:r>
              <a:rPr lang="fr-FR" sz="1200" kern="1200" dirty="0" err="1">
                <a:solidFill>
                  <a:schemeClr val="tx1"/>
                </a:solidFill>
                <a:effectLst/>
                <a:latin typeface="+mn-lt"/>
                <a:ea typeface="+mn-ea"/>
                <a:cs typeface="+mn-cs"/>
              </a:rPr>
              <a:t>analyst</a:t>
            </a:r>
            <a:r>
              <a:rPr lang="fr-FR" sz="1200" kern="1200" dirty="0">
                <a:solidFill>
                  <a:schemeClr val="tx1"/>
                </a:solidFill>
                <a:effectLst/>
                <a:latin typeface="+mn-lt"/>
                <a:ea typeface="+mn-ea"/>
                <a:cs typeface="+mn-cs"/>
              </a:rPr>
              <a:t>. Patrick m'a confié pour mission d’identifier nos meilleurs marchés à l'export. Pour ça, j'ai analysé 131 pays sur des données 2017, FAO et Banque Mondiale. Je vais vous présenter ma démarche et mes recommandations. </a:t>
            </a:r>
            <a:r>
              <a:rPr lang="fr-FR" sz="1200" i="1" kern="1200" dirty="0">
                <a:solidFill>
                  <a:schemeClr val="tx1"/>
                </a:solidFill>
                <a:effectLst/>
                <a:latin typeface="+mn-lt"/>
                <a:ea typeface="+mn-ea"/>
                <a:cs typeface="+mn-cs"/>
              </a:rPr>
              <a:t>→ Cadre + mission</a:t>
            </a:r>
            <a:endParaRPr lang="fr-FR"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effectLst/>
                <a:latin typeface="+mn-lt"/>
                <a:ea typeface="+mn-ea"/>
                <a:cs typeface="+mn-cs"/>
              </a:rPr>
              <a:t>Note slide :</a:t>
            </a:r>
            <a:r>
              <a:rPr lang="fr-FR" sz="1200" kern="1200" dirty="0">
                <a:solidFill>
                  <a:schemeClr val="tx1"/>
                </a:solidFill>
                <a:effectLst/>
                <a:latin typeface="+mn-lt"/>
                <a:ea typeface="+mn-ea"/>
                <a:cs typeface="+mn-cs"/>
              </a:rPr>
              <a:t> → Transition simple, laisser la slide respirer.</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effectLst/>
                <a:latin typeface="+mn-lt"/>
                <a:ea typeface="+mn-ea"/>
                <a:cs typeface="+mn-cs"/>
              </a:rPr>
              <a:t>SLIDE 2 — </a:t>
            </a:r>
            <a:r>
              <a:rPr lang="fr-FR" sz="1200" b="1" kern="1200" dirty="0" err="1">
                <a:solidFill>
                  <a:schemeClr val="tx1"/>
                </a:solidFill>
                <a:effectLst/>
                <a:latin typeface="+mn-lt"/>
                <a:ea typeface="+mn-ea"/>
                <a:cs typeface="+mn-cs"/>
              </a:rPr>
              <a:t>Divider</a:t>
            </a:r>
            <a:r>
              <a:rPr lang="fr-FR" sz="1200" b="1" kern="1200" dirty="0">
                <a:solidFill>
                  <a:schemeClr val="tx1"/>
                </a:solidFill>
                <a:effectLst/>
                <a:latin typeface="+mn-lt"/>
                <a:ea typeface="+mn-ea"/>
                <a:cs typeface="+mn-cs"/>
              </a:rPr>
              <a:t> 01</a:t>
            </a:r>
            <a:r>
              <a:rPr lang="fr-FR" sz="1200" kern="1200" dirty="0">
                <a:solidFill>
                  <a:schemeClr val="tx1"/>
                </a:solidFill>
                <a:effectLst/>
                <a:latin typeface="+mn-lt"/>
                <a:ea typeface="+mn-ea"/>
                <a:cs typeface="+mn-cs"/>
              </a:rPr>
              <a:t> Commençons par le contexte et les données. </a:t>
            </a:r>
            <a:r>
              <a:rPr lang="fr-FR" sz="1200" i="1" kern="1200" dirty="0">
                <a:solidFill>
                  <a:schemeClr val="tx1"/>
                </a:solidFill>
                <a:effectLst/>
                <a:latin typeface="+mn-lt"/>
                <a:ea typeface="+mn-ea"/>
                <a:cs typeface="+mn-cs"/>
              </a:rPr>
              <a:t>→ Transition</a:t>
            </a:r>
            <a:endParaRPr lang="fr-FR"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effectLst/>
                <a:latin typeface="+mn-lt"/>
                <a:ea typeface="+mn-ea"/>
                <a:cs typeface="+mn-cs"/>
              </a:rPr>
              <a:t>Note slide :</a:t>
            </a:r>
            <a:r>
              <a:rPr lang="fr-FR" sz="1200" kern="1200" dirty="0">
                <a:solidFill>
                  <a:schemeClr val="tx1"/>
                </a:solidFill>
                <a:effectLst/>
                <a:latin typeface="+mn-lt"/>
                <a:ea typeface="+mn-ea"/>
                <a:cs typeface="+mn-cs"/>
              </a:rPr>
              <a:t> → Le défi + l'objectif. Pas de jargon, rester business.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effectLst/>
                <a:latin typeface="+mn-lt"/>
                <a:ea typeface="+mn-ea"/>
                <a:cs typeface="+mn-cs"/>
              </a:rPr>
              <a:t>SLIDE 3 — Contexte &amp; Objectif</a:t>
            </a:r>
            <a:r>
              <a:rPr lang="fr-FR" sz="1200" kern="1200" dirty="0">
                <a:solidFill>
                  <a:schemeClr val="tx1"/>
                </a:solidFill>
                <a:effectLst/>
                <a:latin typeface="+mn-lt"/>
                <a:ea typeface="+mn-ea"/>
                <a:cs typeface="+mn-cs"/>
              </a:rPr>
              <a:t> On est bien implantés en France. Pour continuer à croître, il faut regarder à l'international. Parmi 131 pays, lesquels sont vraiment accessibles pour nos poulets bio ? L'objectif : regrouper les pays par profils similaires, puis scorer les meilleures opportunités. </a:t>
            </a:r>
            <a:r>
              <a:rPr lang="fr-FR" sz="1200" i="1" kern="1200" dirty="0">
                <a:solidFill>
                  <a:schemeClr val="tx1"/>
                </a:solidFill>
                <a:effectLst/>
                <a:latin typeface="+mn-lt"/>
                <a:ea typeface="+mn-ea"/>
                <a:cs typeface="+mn-cs"/>
              </a:rPr>
              <a:t>→ Défi + objectif</a:t>
            </a:r>
            <a:endParaRPr lang="fr-FR"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effectLst/>
                <a:latin typeface="+mn-lt"/>
                <a:ea typeface="+mn-ea"/>
                <a:cs typeface="+mn-cs"/>
              </a:rPr>
              <a:t>Note slide :</a:t>
            </a:r>
            <a:r>
              <a:rPr lang="fr-FR" sz="1200" kern="1200" dirty="0">
                <a:solidFill>
                  <a:schemeClr val="tx1"/>
                </a:solidFill>
                <a:effectLst/>
                <a:latin typeface="+mn-lt"/>
                <a:ea typeface="+mn-ea"/>
                <a:cs typeface="+mn-cs"/>
              </a:rPr>
              <a:t> → Justifier les choix de variables avec la logique métier.</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effectLst/>
                <a:latin typeface="+mn-lt"/>
                <a:ea typeface="+mn-ea"/>
                <a:cs typeface="+mn-cs"/>
              </a:rPr>
              <a:t>SLIDE 4 — PESTEL</a:t>
            </a:r>
            <a:r>
              <a:rPr lang="fr-FR" sz="1200" kern="1200" dirty="0">
                <a:solidFill>
                  <a:schemeClr val="tx1"/>
                </a:solidFill>
                <a:effectLst/>
                <a:latin typeface="+mn-lt"/>
                <a:ea typeface="+mn-ea"/>
                <a:cs typeface="+mn-cs"/>
              </a:rPr>
              <a:t> Pour choisir mes variables, je me suis appuyé sur le cadre PESTEL. Un bon marché export pour nous c'est un pays stable, solide économiquement, avec des consommateurs qui ont les moyens du bio, et qui importe déjà de la volaille. J'ai retenu 11 variables qui couvrent ces dimensions. </a:t>
            </a:r>
            <a:r>
              <a:rPr lang="fr-FR" sz="1200" i="1" kern="1200" dirty="0">
                <a:solidFill>
                  <a:schemeClr val="tx1"/>
                </a:solidFill>
                <a:effectLst/>
                <a:latin typeface="+mn-lt"/>
                <a:ea typeface="+mn-ea"/>
                <a:cs typeface="+mn-cs"/>
              </a:rPr>
              <a:t>→ Logique métier derrière les variables</a:t>
            </a:r>
            <a:endParaRPr lang="fr-FR"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effectLst/>
                <a:latin typeface="+mn-lt"/>
                <a:ea typeface="+mn-ea"/>
                <a:cs typeface="+mn-cs"/>
              </a:rPr>
              <a:t>Note slide :</a:t>
            </a:r>
            <a:r>
              <a:rPr lang="fr-FR" sz="1200" kern="1200" dirty="0">
                <a:solidFill>
                  <a:schemeClr val="tx1"/>
                </a:solidFill>
                <a:effectLst/>
                <a:latin typeface="+mn-lt"/>
                <a:ea typeface="+mn-ea"/>
                <a:cs typeface="+mn-cs"/>
              </a:rPr>
              <a:t> → 131 pays, 2 sources, 90% pop mondiale, 90% poulet = légitimité des données.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effectLst/>
                <a:latin typeface="+mn-lt"/>
                <a:ea typeface="+mn-ea"/>
                <a:cs typeface="+mn-cs"/>
              </a:rPr>
              <a:t>SLIDE 5 — Données</a:t>
            </a:r>
            <a:r>
              <a:rPr lang="fr-FR" sz="1200" kern="1200" dirty="0">
                <a:solidFill>
                  <a:schemeClr val="tx1"/>
                </a:solidFill>
                <a:effectLst/>
                <a:latin typeface="+mn-lt"/>
                <a:ea typeface="+mn-ea"/>
                <a:cs typeface="+mn-cs"/>
              </a:rPr>
              <a:t> 131 pays, 11 variables, 2 sources. 90% de la population mondiale couverte. Et un chiffre important : le poulet représente 90% du marché mondial de la volaille — les données FAO sont donc pleinement représentatives de notre activité. J'ai aussi construit 4 variables calculées dont les imports par habitant et le Trade </a:t>
            </a:r>
            <a:r>
              <a:rPr lang="fr-FR" sz="1200" kern="1200" dirty="0" err="1">
                <a:solidFill>
                  <a:schemeClr val="tx1"/>
                </a:solidFill>
                <a:effectLst/>
                <a:latin typeface="+mn-lt"/>
                <a:ea typeface="+mn-ea"/>
                <a:cs typeface="+mn-cs"/>
              </a:rPr>
              <a:t>Dependency</a:t>
            </a:r>
            <a:r>
              <a:rPr lang="fr-FR" sz="1200" kern="1200" dirty="0">
                <a:solidFill>
                  <a:schemeClr val="tx1"/>
                </a:solidFill>
                <a:effectLst/>
                <a:latin typeface="+mn-lt"/>
                <a:ea typeface="+mn-ea"/>
                <a:cs typeface="+mn-cs"/>
              </a:rPr>
              <a:t> Index. </a:t>
            </a:r>
            <a:r>
              <a:rPr lang="fr-FR" sz="1200" i="1" kern="1200" dirty="0">
                <a:solidFill>
                  <a:schemeClr val="tx1"/>
                </a:solidFill>
                <a:effectLst/>
                <a:latin typeface="+mn-lt"/>
                <a:ea typeface="+mn-ea"/>
                <a:cs typeface="+mn-cs"/>
              </a:rPr>
              <a:t>→ 90% pop, 90% poulet = légitimité</a:t>
            </a:r>
            <a:endParaRPr lang="fr-FR"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effectLst/>
                <a:latin typeface="+mn-lt"/>
                <a:ea typeface="+mn-ea"/>
                <a:cs typeface="+mn-cs"/>
              </a:rPr>
              <a:t>Note slide :</a:t>
            </a:r>
            <a:r>
              <a:rPr lang="fr-FR" sz="1200" kern="1200" dirty="0">
                <a:solidFill>
                  <a:schemeClr val="tx1"/>
                </a:solidFill>
                <a:effectLst/>
                <a:latin typeface="+mn-lt"/>
                <a:ea typeface="+mn-ea"/>
                <a:cs typeface="+mn-cs"/>
              </a:rPr>
              <a:t> → Transition méthodologie. Rassurer : "je vais rester accessible".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effectLst/>
                <a:latin typeface="+mn-lt"/>
                <a:ea typeface="+mn-ea"/>
                <a:cs typeface="+mn-cs"/>
              </a:rPr>
              <a:t>SLIDE 6 — </a:t>
            </a:r>
            <a:r>
              <a:rPr lang="fr-FR" sz="1200" b="1" kern="1200" dirty="0" err="1">
                <a:solidFill>
                  <a:schemeClr val="tx1"/>
                </a:solidFill>
                <a:effectLst/>
                <a:latin typeface="+mn-lt"/>
                <a:ea typeface="+mn-ea"/>
                <a:cs typeface="+mn-cs"/>
              </a:rPr>
              <a:t>Divider</a:t>
            </a:r>
            <a:r>
              <a:rPr lang="fr-FR" sz="1200" b="1" kern="1200" dirty="0">
                <a:solidFill>
                  <a:schemeClr val="tx1"/>
                </a:solidFill>
                <a:effectLst/>
                <a:latin typeface="+mn-lt"/>
                <a:ea typeface="+mn-ea"/>
                <a:cs typeface="+mn-cs"/>
              </a:rPr>
              <a:t> 02</a:t>
            </a:r>
            <a:r>
              <a:rPr lang="fr-FR" sz="1200" kern="1200" dirty="0">
                <a:solidFill>
                  <a:schemeClr val="tx1"/>
                </a:solidFill>
                <a:effectLst/>
                <a:latin typeface="+mn-lt"/>
                <a:ea typeface="+mn-ea"/>
                <a:cs typeface="+mn-cs"/>
              </a:rPr>
              <a:t> Voyons maintenant comment j'ai traité ces données. </a:t>
            </a:r>
            <a:r>
              <a:rPr lang="fr-FR" sz="1200" i="1" kern="1200" dirty="0">
                <a:solidFill>
                  <a:schemeClr val="tx1"/>
                </a:solidFill>
                <a:effectLst/>
                <a:latin typeface="+mn-lt"/>
                <a:ea typeface="+mn-ea"/>
                <a:cs typeface="+mn-cs"/>
              </a:rPr>
              <a:t>→ Transition méthodo</a:t>
            </a:r>
            <a:endParaRPr lang="fr-FR"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effectLst/>
                <a:latin typeface="+mn-lt"/>
                <a:ea typeface="+mn-ea"/>
                <a:cs typeface="+mn-cs"/>
              </a:rPr>
              <a:t>Note slide :</a:t>
            </a:r>
            <a:r>
              <a:rPr lang="fr-FR" sz="1200" kern="1200" dirty="0">
                <a:solidFill>
                  <a:schemeClr val="tx1"/>
                </a:solidFill>
                <a:effectLst/>
                <a:latin typeface="+mn-lt"/>
                <a:ea typeface="+mn-ea"/>
                <a:cs typeface="+mn-cs"/>
              </a:rPr>
              <a:t> → ACP = simplifier sans perdre. 85% variance, F1 = développement, F2 = dépendance commerciale.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effectLst/>
                <a:latin typeface="+mn-lt"/>
                <a:ea typeface="+mn-ea"/>
                <a:cs typeface="+mn-cs"/>
              </a:rPr>
              <a:t>SLIDE 7 — ACP</a:t>
            </a:r>
            <a:r>
              <a:rPr lang="fr-FR" sz="1200" kern="1200" dirty="0">
                <a:solidFill>
                  <a:schemeClr val="tx1"/>
                </a:solidFill>
                <a:effectLst/>
                <a:latin typeface="+mn-lt"/>
                <a:ea typeface="+mn-ea"/>
                <a:cs typeface="+mn-cs"/>
              </a:rPr>
              <a:t> 11 variables, 131 pays — c'est illisible en l'état. L'ACP permet de réduire cette complexité en quelques axes synthétiques. J'ai retenu 5 composantes qui expliquent 85% de l'information. Les deux axes principaux : F1 représente le niveau de développement, F2 la dépendance commerciale d'un pays. </a:t>
            </a:r>
            <a:r>
              <a:rPr lang="fr-FR" sz="1200" i="1" kern="1200" dirty="0">
                <a:solidFill>
                  <a:schemeClr val="tx1"/>
                </a:solidFill>
                <a:effectLst/>
                <a:latin typeface="+mn-lt"/>
                <a:ea typeface="+mn-ea"/>
                <a:cs typeface="+mn-cs"/>
              </a:rPr>
              <a:t>→ ACP = simplifier. F1 développement, F2 dépendance</a:t>
            </a:r>
            <a:endParaRPr lang="fr-FR"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effectLst/>
                <a:latin typeface="+mn-lt"/>
                <a:ea typeface="+mn-ea"/>
                <a:cs typeface="+mn-cs"/>
              </a:rPr>
              <a:t>Note slide :</a:t>
            </a:r>
            <a:r>
              <a:rPr lang="fr-FR" sz="1200" kern="1200" dirty="0">
                <a:solidFill>
                  <a:schemeClr val="tx1"/>
                </a:solidFill>
                <a:effectLst/>
                <a:latin typeface="+mn-lt"/>
                <a:ea typeface="+mn-ea"/>
                <a:cs typeface="+mn-cs"/>
              </a:rPr>
              <a:t> → Droite = riches, haut = importateurs. Notre cible sera en haut à droite.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effectLst/>
                <a:latin typeface="+mn-lt"/>
                <a:ea typeface="+mn-ea"/>
                <a:cs typeface="+mn-cs"/>
              </a:rPr>
              <a:t>SLIDE 8 — Cercle des corrélations</a:t>
            </a:r>
            <a:r>
              <a:rPr lang="fr-FR" sz="1200" kern="1200" dirty="0">
                <a:solidFill>
                  <a:schemeClr val="tx1"/>
                </a:solidFill>
                <a:effectLst/>
                <a:latin typeface="+mn-lt"/>
                <a:ea typeface="+mn-ea"/>
                <a:cs typeface="+mn-cs"/>
              </a:rPr>
              <a:t> Ce graphique confirme l'interprétation. Droite : pays riches et stables. Gauche : forte croissance démographique. Haut : pays qui importent massivement. Bas : grands producteurs autosuffisants. Notre cible sera logiquement en haut à droite. </a:t>
            </a:r>
            <a:r>
              <a:rPr lang="fr-FR" sz="1200" i="1" kern="1200" dirty="0">
                <a:solidFill>
                  <a:schemeClr val="tx1"/>
                </a:solidFill>
                <a:effectLst/>
                <a:latin typeface="+mn-lt"/>
                <a:ea typeface="+mn-ea"/>
                <a:cs typeface="+mn-cs"/>
              </a:rPr>
              <a:t>→ Droite = riches, haut = importateurs</a:t>
            </a:r>
            <a:endParaRPr lang="fr-FR"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effectLst/>
                <a:latin typeface="+mn-lt"/>
                <a:ea typeface="+mn-ea"/>
                <a:cs typeface="+mn-cs"/>
              </a:rPr>
              <a:t>Note slide :</a:t>
            </a:r>
            <a:r>
              <a:rPr lang="fr-FR" sz="1200" kern="1200" dirty="0">
                <a:solidFill>
                  <a:schemeClr val="tx1"/>
                </a:solidFill>
                <a:effectLst/>
                <a:latin typeface="+mn-lt"/>
                <a:ea typeface="+mn-ea"/>
                <a:cs typeface="+mn-cs"/>
              </a:rPr>
              <a:t> → Structure visible à l'œil. Haut droite = notre zone d'intérêt.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effectLst/>
                <a:latin typeface="+mn-lt"/>
                <a:ea typeface="+mn-ea"/>
                <a:cs typeface="+mn-cs"/>
              </a:rPr>
              <a:t>SLIDE 9 — Plan factoriel</a:t>
            </a:r>
            <a:r>
              <a:rPr lang="fr-FR" sz="1200" kern="1200" dirty="0">
                <a:solidFill>
                  <a:schemeClr val="tx1"/>
                </a:solidFill>
                <a:effectLst/>
                <a:latin typeface="+mn-lt"/>
                <a:ea typeface="+mn-ea"/>
                <a:cs typeface="+mn-cs"/>
              </a:rPr>
              <a:t> En projetant nos 131 pays, la structure apparaît clairement. Des groupes naturels se dessinent. On voit déjà ce groupe en haut à droite qui cumule richesse et dépendance aux imports — c'est là qu'on va aller. </a:t>
            </a:r>
            <a:r>
              <a:rPr lang="fr-FR" sz="1200" i="1" kern="1200" dirty="0">
                <a:solidFill>
                  <a:schemeClr val="tx1"/>
                </a:solidFill>
                <a:effectLst/>
                <a:latin typeface="+mn-lt"/>
                <a:ea typeface="+mn-ea"/>
                <a:cs typeface="+mn-cs"/>
              </a:rPr>
              <a:t>→ Structure visible, zone cible en haut à droite</a:t>
            </a:r>
            <a:endParaRPr lang="fr-FR"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effectLst/>
                <a:latin typeface="+mn-lt"/>
                <a:ea typeface="+mn-ea"/>
                <a:cs typeface="+mn-cs"/>
              </a:rPr>
              <a:t>Note slide :</a:t>
            </a:r>
            <a:r>
              <a:rPr lang="fr-FR" sz="1200" kern="1200" dirty="0">
                <a:solidFill>
                  <a:schemeClr val="tx1"/>
                </a:solidFill>
                <a:effectLst/>
                <a:latin typeface="+mn-lt"/>
                <a:ea typeface="+mn-ea"/>
                <a:cs typeface="+mn-cs"/>
              </a:rPr>
              <a:t> → CAH pour trouver K, K-Means pour le résultat final. K=4 validé doublement.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effectLst/>
                <a:latin typeface="+mn-lt"/>
                <a:ea typeface="+mn-ea"/>
                <a:cs typeface="+mn-cs"/>
              </a:rPr>
              <a:t>SLIDE 10 — Clustering</a:t>
            </a:r>
            <a:r>
              <a:rPr lang="fr-FR" sz="1200" kern="1200" dirty="0">
                <a:solidFill>
                  <a:schemeClr val="tx1"/>
                </a:solidFill>
                <a:effectLst/>
                <a:latin typeface="+mn-lt"/>
                <a:ea typeface="+mn-ea"/>
                <a:cs typeface="+mn-cs"/>
              </a:rPr>
              <a:t> Pour formaliser ces groupes, j'ai utilisé deux algorithmes. La CAH d'abord, pour identifier le bon nombre de clusters — le dendrogramme suggère 4. Ensuite le K-Means, confirmé par la méthode du coude et le score de silhouette. K=4, retenu. Le K-Means produit des clusters plus homogènes que la CAH — c'est la méthode que j'ai gardée. </a:t>
            </a:r>
            <a:r>
              <a:rPr lang="fr-FR" sz="1200" i="1" kern="1200" dirty="0">
                <a:solidFill>
                  <a:schemeClr val="tx1"/>
                </a:solidFill>
                <a:effectLst/>
                <a:latin typeface="+mn-lt"/>
                <a:ea typeface="+mn-ea"/>
                <a:cs typeface="+mn-cs"/>
              </a:rPr>
              <a:t>→ CAH pour K, K-Means pour le résultat. K=4 validé</a:t>
            </a:r>
            <a:endParaRPr lang="fr-FR"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effectLst/>
                <a:latin typeface="+mn-lt"/>
                <a:ea typeface="+mn-ea"/>
                <a:cs typeface="+mn-cs"/>
              </a:rPr>
              <a:t>Note slide :</a:t>
            </a:r>
            <a:r>
              <a:rPr lang="fr-FR" sz="1200" kern="1200" dirty="0">
                <a:solidFill>
                  <a:schemeClr val="tx1"/>
                </a:solidFill>
                <a:effectLst/>
                <a:latin typeface="+mn-lt"/>
                <a:ea typeface="+mn-ea"/>
                <a:cs typeface="+mn-cs"/>
              </a:rPr>
              <a:t> → Transition résultats.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effectLst/>
                <a:latin typeface="+mn-lt"/>
                <a:ea typeface="+mn-ea"/>
                <a:cs typeface="+mn-cs"/>
              </a:rPr>
              <a:t>SLIDE 11 — </a:t>
            </a:r>
            <a:r>
              <a:rPr lang="fr-FR" sz="1200" b="1" kern="1200" dirty="0" err="1">
                <a:solidFill>
                  <a:schemeClr val="tx1"/>
                </a:solidFill>
                <a:effectLst/>
                <a:latin typeface="+mn-lt"/>
                <a:ea typeface="+mn-ea"/>
                <a:cs typeface="+mn-cs"/>
              </a:rPr>
              <a:t>Divider</a:t>
            </a:r>
            <a:r>
              <a:rPr lang="fr-FR" sz="1200" b="1" kern="1200" dirty="0">
                <a:solidFill>
                  <a:schemeClr val="tx1"/>
                </a:solidFill>
                <a:effectLst/>
                <a:latin typeface="+mn-lt"/>
                <a:ea typeface="+mn-ea"/>
                <a:cs typeface="+mn-cs"/>
              </a:rPr>
              <a:t> 03</a:t>
            </a:r>
            <a:r>
              <a:rPr lang="fr-FR" sz="1200" kern="1200" dirty="0">
                <a:solidFill>
                  <a:schemeClr val="tx1"/>
                </a:solidFill>
                <a:effectLst/>
                <a:latin typeface="+mn-lt"/>
                <a:ea typeface="+mn-ea"/>
                <a:cs typeface="+mn-cs"/>
              </a:rPr>
              <a:t> Voici les résultats. </a:t>
            </a:r>
            <a:r>
              <a:rPr lang="fr-FR" sz="1200" i="1" kern="1200" dirty="0">
                <a:solidFill>
                  <a:schemeClr val="tx1"/>
                </a:solidFill>
                <a:effectLst/>
                <a:latin typeface="+mn-lt"/>
                <a:ea typeface="+mn-ea"/>
                <a:cs typeface="+mn-cs"/>
              </a:rPr>
              <a:t>→ Transition</a:t>
            </a:r>
            <a:endParaRPr lang="fr-FR"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effectLst/>
                <a:latin typeface="+mn-lt"/>
                <a:ea typeface="+mn-ea"/>
                <a:cs typeface="+mn-cs"/>
              </a:rPr>
              <a:t>Note slide :</a:t>
            </a:r>
            <a:r>
              <a:rPr lang="fr-FR" sz="1200" kern="1200" dirty="0">
                <a:solidFill>
                  <a:schemeClr val="tx1"/>
                </a:solidFill>
                <a:effectLst/>
                <a:latin typeface="+mn-lt"/>
                <a:ea typeface="+mn-ea"/>
                <a:cs typeface="+mn-cs"/>
              </a:rPr>
              <a:t> → Slide technique, rester bref. K-Means = clusters plus resserrés.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effectLst/>
                <a:latin typeface="+mn-lt"/>
                <a:ea typeface="+mn-ea"/>
                <a:cs typeface="+mn-cs"/>
              </a:rPr>
              <a:t>SLIDE 12 — CAH vs </a:t>
            </a:r>
            <a:r>
              <a:rPr lang="fr-FR" sz="1200" b="1" kern="1200" dirty="0" err="1">
                <a:solidFill>
                  <a:schemeClr val="tx1"/>
                </a:solidFill>
                <a:effectLst/>
                <a:latin typeface="+mn-lt"/>
                <a:ea typeface="+mn-ea"/>
                <a:cs typeface="+mn-cs"/>
              </a:rPr>
              <a:t>KMeans</a:t>
            </a:r>
            <a:r>
              <a:rPr lang="fr-FR" sz="1200" kern="1200" dirty="0">
                <a:solidFill>
                  <a:schemeClr val="tx1"/>
                </a:solidFill>
                <a:effectLst/>
                <a:latin typeface="+mn-lt"/>
                <a:ea typeface="+mn-ea"/>
                <a:cs typeface="+mn-cs"/>
              </a:rPr>
              <a:t> Visuellement, la différence est claire : les clusters K-Means sont plus compacts et plus homogènes. C'est ce qui a motivé mon choix. </a:t>
            </a:r>
            <a:r>
              <a:rPr lang="fr-FR" sz="1200" i="1" kern="1200" dirty="0">
                <a:solidFill>
                  <a:schemeClr val="tx1"/>
                </a:solidFill>
                <a:effectLst/>
                <a:latin typeface="+mn-lt"/>
                <a:ea typeface="+mn-ea"/>
                <a:cs typeface="+mn-cs"/>
              </a:rPr>
              <a:t>→ Bref, rester factuel</a:t>
            </a:r>
            <a:endParaRPr lang="fr-FR"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effectLst/>
                <a:latin typeface="+mn-lt"/>
                <a:ea typeface="+mn-ea"/>
                <a:cs typeface="+mn-cs"/>
              </a:rPr>
              <a:t>Note slide :</a:t>
            </a:r>
            <a:r>
              <a:rPr lang="fr-FR" sz="1200" kern="1200" dirty="0">
                <a:solidFill>
                  <a:schemeClr val="tx1"/>
                </a:solidFill>
                <a:effectLst/>
                <a:latin typeface="+mn-lt"/>
                <a:ea typeface="+mn-ea"/>
                <a:cs typeface="+mn-cs"/>
              </a:rPr>
              <a:t> → Lecture rapide : foncé = élevé. Cluster 2 se distingue sur imports et </a:t>
            </a:r>
            <a:r>
              <a:rPr lang="fr-FR" sz="1200" kern="1200" dirty="0" err="1">
                <a:solidFill>
                  <a:schemeClr val="tx1"/>
                </a:solidFill>
                <a:effectLst/>
                <a:latin typeface="+mn-lt"/>
                <a:ea typeface="+mn-ea"/>
                <a:cs typeface="+mn-cs"/>
              </a:rPr>
              <a:t>affordability</a:t>
            </a:r>
            <a:r>
              <a:rPr lang="fr-FR" sz="1200" kern="1200" dirty="0">
                <a:solidFill>
                  <a:schemeClr val="tx1"/>
                </a:solidFill>
                <a:effectLst/>
                <a:latin typeface="+mn-lt"/>
                <a:ea typeface="+mn-ea"/>
                <a:cs typeface="+mn-cs"/>
              </a:rPr>
              <a: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effectLst/>
                <a:latin typeface="+mn-lt"/>
                <a:ea typeface="+mn-ea"/>
                <a:cs typeface="+mn-cs"/>
              </a:rPr>
              <a:t>SLIDE 13 — </a:t>
            </a:r>
            <a:r>
              <a:rPr lang="fr-FR" sz="1200" b="1" kern="1200" dirty="0" err="1">
                <a:solidFill>
                  <a:schemeClr val="tx1"/>
                </a:solidFill>
                <a:effectLst/>
                <a:latin typeface="+mn-lt"/>
                <a:ea typeface="+mn-ea"/>
                <a:cs typeface="+mn-cs"/>
              </a:rPr>
              <a:t>Heatmap</a:t>
            </a:r>
            <a:r>
              <a:rPr lang="fr-FR" sz="1200" kern="1200" dirty="0">
                <a:solidFill>
                  <a:schemeClr val="tx1"/>
                </a:solidFill>
                <a:effectLst/>
                <a:latin typeface="+mn-lt"/>
                <a:ea typeface="+mn-ea"/>
                <a:cs typeface="+mn-cs"/>
              </a:rPr>
              <a:t> Cette </a:t>
            </a:r>
            <a:r>
              <a:rPr lang="fr-FR" sz="1200" kern="1200" dirty="0" err="1">
                <a:solidFill>
                  <a:schemeClr val="tx1"/>
                </a:solidFill>
                <a:effectLst/>
                <a:latin typeface="+mn-lt"/>
                <a:ea typeface="+mn-ea"/>
                <a:cs typeface="+mn-cs"/>
              </a:rPr>
              <a:t>heatmap</a:t>
            </a:r>
            <a:r>
              <a:rPr lang="fr-FR" sz="1200" kern="1200" dirty="0">
                <a:solidFill>
                  <a:schemeClr val="tx1"/>
                </a:solidFill>
                <a:effectLst/>
                <a:latin typeface="+mn-lt"/>
                <a:ea typeface="+mn-ea"/>
                <a:cs typeface="+mn-cs"/>
              </a:rPr>
              <a:t> donne le profil moyen de chaque cluster. Plus c'est foncé, plus la valeur est élevée. On voit immédiatement que le Cluster 2 se distingue — imports élevés, </a:t>
            </a:r>
            <a:r>
              <a:rPr lang="fr-FR" sz="1200" kern="1200" dirty="0" err="1">
                <a:solidFill>
                  <a:schemeClr val="tx1"/>
                </a:solidFill>
                <a:effectLst/>
                <a:latin typeface="+mn-lt"/>
                <a:ea typeface="+mn-ea"/>
                <a:cs typeface="+mn-cs"/>
              </a:rPr>
              <a:t>affordability</a:t>
            </a:r>
            <a:r>
              <a:rPr lang="fr-FR" sz="1200" kern="1200" dirty="0">
                <a:solidFill>
                  <a:schemeClr val="tx1"/>
                </a:solidFill>
                <a:effectLst/>
                <a:latin typeface="+mn-lt"/>
                <a:ea typeface="+mn-ea"/>
                <a:cs typeface="+mn-cs"/>
              </a:rPr>
              <a:t> forte. C'est notre cible. </a:t>
            </a:r>
            <a:r>
              <a:rPr lang="fr-FR" sz="1200" i="1" kern="1200" dirty="0">
                <a:solidFill>
                  <a:schemeClr val="tx1"/>
                </a:solidFill>
                <a:effectLst/>
                <a:latin typeface="+mn-lt"/>
                <a:ea typeface="+mn-ea"/>
                <a:cs typeface="+mn-cs"/>
              </a:rPr>
              <a:t>→ Foncé = élevé. Cluster 2 se démarque</a:t>
            </a:r>
            <a:endParaRPr lang="fr-FR"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effectLst/>
                <a:latin typeface="+mn-lt"/>
                <a:ea typeface="+mn-ea"/>
                <a:cs typeface="+mn-cs"/>
              </a:rPr>
              <a:t>Note slide :</a:t>
            </a:r>
            <a:r>
              <a:rPr lang="fr-FR" sz="1200" kern="1200" dirty="0">
                <a:solidFill>
                  <a:schemeClr val="tx1"/>
                </a:solidFill>
                <a:effectLst/>
                <a:latin typeface="+mn-lt"/>
                <a:ea typeface="+mn-ea"/>
                <a:cs typeface="+mn-cs"/>
              </a:rPr>
              <a:t> → 53 pays pauvres, instables, prix bas. Pas notre marché.</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effectLst/>
                <a:latin typeface="+mn-lt"/>
                <a:ea typeface="+mn-ea"/>
                <a:cs typeface="+mn-cs"/>
              </a:rPr>
              <a:t>SLIDE 14 — Cluster 0</a:t>
            </a:r>
            <a:r>
              <a:rPr lang="fr-FR" sz="1200" kern="1200" dirty="0">
                <a:solidFill>
                  <a:schemeClr val="tx1"/>
                </a:solidFill>
                <a:effectLst/>
                <a:latin typeface="+mn-lt"/>
                <a:ea typeface="+mn-ea"/>
                <a:cs typeface="+mn-cs"/>
              </a:rPr>
              <a:t> 53 pays en développement. PIB moyen à 2 091 dollars, </a:t>
            </a:r>
            <a:r>
              <a:rPr lang="fr-FR" sz="1200" kern="1200" dirty="0" err="1">
                <a:solidFill>
                  <a:schemeClr val="tx1"/>
                </a:solidFill>
                <a:effectLst/>
                <a:latin typeface="+mn-lt"/>
                <a:ea typeface="+mn-ea"/>
                <a:cs typeface="+mn-cs"/>
              </a:rPr>
              <a:t>affordability</a:t>
            </a:r>
            <a:r>
              <a:rPr lang="fr-FR" sz="1200" kern="1200" dirty="0">
                <a:solidFill>
                  <a:schemeClr val="tx1"/>
                </a:solidFill>
                <a:effectLst/>
                <a:latin typeface="+mn-lt"/>
                <a:ea typeface="+mn-ea"/>
                <a:cs typeface="+mn-cs"/>
              </a:rPr>
              <a:t> à 42. Pouvoir d'achat insuffisant, instabilité politique, marchés orientés prix bas. Ce n'est pas notre cible. </a:t>
            </a:r>
            <a:r>
              <a:rPr lang="fr-FR" sz="1200" i="1" kern="1200" dirty="0">
                <a:solidFill>
                  <a:schemeClr val="tx1"/>
                </a:solidFill>
                <a:effectLst/>
                <a:latin typeface="+mn-lt"/>
                <a:ea typeface="+mn-ea"/>
                <a:cs typeface="+mn-cs"/>
              </a:rPr>
              <a:t>→ Pauvres, instables. Pas notre marché</a:t>
            </a:r>
            <a:endParaRPr lang="fr-FR"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effectLst/>
                <a:latin typeface="+mn-lt"/>
                <a:ea typeface="+mn-ea"/>
                <a:cs typeface="+mn-cs"/>
              </a:rPr>
              <a:t>Note slide :</a:t>
            </a:r>
            <a:r>
              <a:rPr lang="fr-FR" sz="1200" kern="1200" dirty="0">
                <a:solidFill>
                  <a:schemeClr val="tx1"/>
                </a:solidFill>
                <a:effectLst/>
                <a:latin typeface="+mn-lt"/>
                <a:ea typeface="+mn-ea"/>
                <a:cs typeface="+mn-cs"/>
              </a:rPr>
              <a:t> → Riches mais autosuffisants. Produisent eux-mêmes, pas besoin d'importer.</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effectLst/>
                <a:latin typeface="+mn-lt"/>
                <a:ea typeface="+mn-ea"/>
                <a:cs typeface="+mn-cs"/>
              </a:rPr>
              <a:t>SLIDE 15 — Cluster 1</a:t>
            </a:r>
            <a:r>
              <a:rPr lang="fr-FR" sz="1200" kern="1200" dirty="0">
                <a:solidFill>
                  <a:schemeClr val="tx1"/>
                </a:solidFill>
                <a:effectLst/>
                <a:latin typeface="+mn-lt"/>
                <a:ea typeface="+mn-ea"/>
                <a:cs typeface="+mn-cs"/>
              </a:rPr>
              <a:t> 39 pays développés, PIB solide. Mais ils produisent eux-mêmes — 38 kilos par habitant, imports quasi nuls à 3,1 kilos. États-Unis, Canada, Australie... Riches mais autosuffisants. Pas de porte d'entrée pour nous. </a:t>
            </a:r>
            <a:r>
              <a:rPr lang="fr-FR" sz="1200" i="1" kern="1200" dirty="0">
                <a:solidFill>
                  <a:schemeClr val="tx1"/>
                </a:solidFill>
                <a:effectLst/>
                <a:latin typeface="+mn-lt"/>
                <a:ea typeface="+mn-ea"/>
                <a:cs typeface="+mn-cs"/>
              </a:rPr>
              <a:t>→ Riches mais fermés aux imports</a:t>
            </a:r>
            <a:endParaRPr lang="fr-FR"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effectLst/>
                <a:latin typeface="+mn-lt"/>
                <a:ea typeface="+mn-ea"/>
                <a:cs typeface="+mn-cs"/>
              </a:rPr>
              <a:t>Note slide :</a:t>
            </a:r>
            <a:r>
              <a:rPr lang="fr-FR" sz="1200" kern="1200" dirty="0">
                <a:solidFill>
                  <a:schemeClr val="tx1"/>
                </a:solidFill>
                <a:effectLst/>
                <a:latin typeface="+mn-lt"/>
                <a:ea typeface="+mn-ea"/>
                <a:cs typeface="+mn-cs"/>
              </a:rPr>
              <a:t> → Outliers population. Hors périmètre pour l'instant.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effectLst/>
                <a:latin typeface="+mn-lt"/>
                <a:ea typeface="+mn-ea"/>
                <a:cs typeface="+mn-cs"/>
              </a:rPr>
              <a:t>SLIDE 16 — Cluster 3</a:t>
            </a:r>
            <a:r>
              <a:rPr lang="fr-FR" sz="1200" kern="1200" dirty="0">
                <a:solidFill>
                  <a:schemeClr val="tx1"/>
                </a:solidFill>
                <a:effectLst/>
                <a:latin typeface="+mn-lt"/>
                <a:ea typeface="+mn-ea"/>
                <a:cs typeface="+mn-cs"/>
              </a:rPr>
              <a:t> Deux pays seulement : Chine et Inde. 1,4 milliard d'habitants chacun. Leur poids démographique les isole structurellement. Ce sont des marchés hors périmètre pour une stratégie d'export initiale — ils nécessiteraient une étude dédiée. </a:t>
            </a:r>
            <a:r>
              <a:rPr lang="fr-FR" sz="1200" i="1" kern="1200" dirty="0">
                <a:solidFill>
                  <a:schemeClr val="tx1"/>
                </a:solidFill>
                <a:effectLst/>
                <a:latin typeface="+mn-lt"/>
                <a:ea typeface="+mn-ea"/>
                <a:cs typeface="+mn-cs"/>
              </a:rPr>
              <a:t>→ Outliers démographiques. Hors périmètre</a:t>
            </a:r>
            <a:endParaRPr lang="fr-FR"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1" kern="1200" dirty="0">
                <a:solidFill>
                  <a:schemeClr val="tx1"/>
                </a:solidFill>
                <a:effectLst/>
                <a:latin typeface="+mn-lt"/>
                <a:ea typeface="+mn-ea"/>
                <a:cs typeface="+mn-cs"/>
              </a:rPr>
              <a:t>Note slide :</a:t>
            </a:r>
            <a:r>
              <a:rPr lang="fr-FR" sz="1200" kern="1200" dirty="0">
                <a:solidFill>
                  <a:schemeClr val="tx1"/>
                </a:solidFill>
                <a:effectLst/>
                <a:latin typeface="+mn-lt"/>
                <a:ea typeface="+mn-ea"/>
                <a:cs typeface="+mn-cs"/>
              </a:rPr>
              <a:t> → 37 pays riches, gros importateurs, environnement favorable. Notre cible évidente.</a:t>
            </a:r>
          </a:p>
          <a:p>
            <a:endParaRPr lang="fr-FR"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effectLst/>
                <a:latin typeface="+mn-lt"/>
                <a:ea typeface="+mn-ea"/>
                <a:cs typeface="+mn-cs"/>
              </a:rPr>
              <a:t>SLIDE 17 — Cluster 2 ⭐</a:t>
            </a:r>
            <a:r>
              <a:rPr lang="fr-FR" sz="1200" kern="1200" dirty="0">
                <a:solidFill>
                  <a:schemeClr val="tx1"/>
                </a:solidFill>
                <a:effectLst/>
                <a:latin typeface="+mn-lt"/>
                <a:ea typeface="+mn-ea"/>
                <a:cs typeface="+mn-cs"/>
              </a:rPr>
              <a:t> Notre cible : 37 pays développés importateurs. PIB à 31 380 dollars, </a:t>
            </a:r>
            <a:r>
              <a:rPr lang="fr-FR" sz="1200" kern="1200" dirty="0" err="1">
                <a:solidFill>
                  <a:schemeClr val="tx1"/>
                </a:solidFill>
                <a:effectLst/>
                <a:latin typeface="+mn-lt"/>
                <a:ea typeface="+mn-ea"/>
                <a:cs typeface="+mn-cs"/>
              </a:rPr>
              <a:t>affordability</a:t>
            </a:r>
            <a:r>
              <a:rPr lang="fr-FR" sz="1200" kern="1200" dirty="0">
                <a:solidFill>
                  <a:schemeClr val="tx1"/>
                </a:solidFill>
                <a:effectLst/>
                <a:latin typeface="+mn-lt"/>
                <a:ea typeface="+mn-ea"/>
                <a:cs typeface="+mn-cs"/>
              </a:rPr>
              <a:t> à 86,9, imports à 16,8 kilos par habitant. Des pays riches, qui ont le pouvoir d'achat pour du bio premium, qui importent massivement, dans un environnement business favorable. Allemagne, Japon, Émirats, Danemark... C'est là que nous devons aller. </a:t>
            </a:r>
            <a:r>
              <a:rPr lang="fr-FR" sz="1200" i="1" kern="1200" dirty="0">
                <a:solidFill>
                  <a:schemeClr val="tx1"/>
                </a:solidFill>
                <a:effectLst/>
                <a:latin typeface="+mn-lt"/>
                <a:ea typeface="+mn-ea"/>
                <a:cs typeface="+mn-cs"/>
              </a:rPr>
              <a:t>→ 37 pays riches + gros importateurs = notre cible</a:t>
            </a:r>
            <a:endParaRPr lang="fr-FR" sz="1200" kern="1200" dirty="0">
              <a:solidFill>
                <a:schemeClr val="tx1"/>
              </a:solidFill>
              <a:effectLst/>
              <a:latin typeface="+mn-lt"/>
              <a:ea typeface="+mn-ea"/>
              <a:cs typeface="+mn-cs"/>
            </a:endParaRPr>
          </a:p>
          <a:p>
            <a:endParaRPr lang="fr-FR"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effectLst/>
                <a:latin typeface="+mn-lt"/>
                <a:ea typeface="+mn-ea"/>
                <a:cs typeface="+mn-cs"/>
              </a:rPr>
              <a:t>Note slide :</a:t>
            </a:r>
            <a:r>
              <a:rPr lang="fr-FR" sz="1200" kern="1200" dirty="0">
                <a:solidFill>
                  <a:schemeClr val="tx1"/>
                </a:solidFill>
                <a:effectLst/>
                <a:latin typeface="+mn-lt"/>
                <a:ea typeface="+mn-ea"/>
                <a:cs typeface="+mn-cs"/>
              </a:rPr>
              <a:t> → Transition préconisations. On passe du "quoi" au "où exactement".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effectLst/>
                <a:latin typeface="+mn-lt"/>
                <a:ea typeface="+mn-ea"/>
                <a:cs typeface="+mn-cs"/>
              </a:rPr>
              <a:t>SLIDE 18 — </a:t>
            </a:r>
            <a:r>
              <a:rPr lang="fr-FR" sz="1200" b="1" kern="1200" dirty="0" err="1">
                <a:solidFill>
                  <a:schemeClr val="tx1"/>
                </a:solidFill>
                <a:effectLst/>
                <a:latin typeface="+mn-lt"/>
                <a:ea typeface="+mn-ea"/>
                <a:cs typeface="+mn-cs"/>
              </a:rPr>
              <a:t>Divider</a:t>
            </a:r>
            <a:r>
              <a:rPr lang="fr-FR" sz="1200" b="1" kern="1200" dirty="0">
                <a:solidFill>
                  <a:schemeClr val="tx1"/>
                </a:solidFill>
                <a:effectLst/>
                <a:latin typeface="+mn-lt"/>
                <a:ea typeface="+mn-ea"/>
                <a:cs typeface="+mn-cs"/>
              </a:rPr>
              <a:t> 04</a:t>
            </a:r>
            <a:r>
              <a:rPr lang="fr-FR" sz="1200" kern="1200" dirty="0">
                <a:solidFill>
                  <a:schemeClr val="tx1"/>
                </a:solidFill>
                <a:effectLst/>
                <a:latin typeface="+mn-lt"/>
                <a:ea typeface="+mn-ea"/>
                <a:cs typeface="+mn-cs"/>
              </a:rPr>
              <a:t> Maintenant : dans quel ordre y aller ? </a:t>
            </a:r>
            <a:r>
              <a:rPr lang="fr-FR" sz="1200" i="1" kern="1200" dirty="0">
                <a:solidFill>
                  <a:schemeClr val="tx1"/>
                </a:solidFill>
                <a:effectLst/>
                <a:latin typeface="+mn-lt"/>
                <a:ea typeface="+mn-ea"/>
                <a:cs typeface="+mn-cs"/>
              </a:rPr>
              <a:t>→ Transition préconisations</a:t>
            </a:r>
            <a:endParaRPr lang="fr-FR"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effectLst/>
                <a:latin typeface="+mn-lt"/>
                <a:ea typeface="+mn-ea"/>
                <a:cs typeface="+mn-cs"/>
              </a:rPr>
              <a:t>Note slide :</a:t>
            </a:r>
            <a:r>
              <a:rPr lang="fr-FR" sz="1200" kern="1200" dirty="0">
                <a:solidFill>
                  <a:schemeClr val="tx1"/>
                </a:solidFill>
                <a:effectLst/>
                <a:latin typeface="+mn-lt"/>
                <a:ea typeface="+mn-ea"/>
                <a:cs typeface="+mn-cs"/>
              </a:rPr>
              <a:t> → 4 critères, poids justifiés. TDI exclu car redondant avec import/hab.</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effectLst/>
                <a:latin typeface="+mn-lt"/>
                <a:ea typeface="+mn-ea"/>
                <a:cs typeface="+mn-cs"/>
              </a:rPr>
              <a:t>SLIDE 19 — </a:t>
            </a:r>
            <a:r>
              <a:rPr lang="fr-FR" sz="1200" b="1" kern="1200" dirty="0" err="1">
                <a:solidFill>
                  <a:schemeClr val="tx1"/>
                </a:solidFill>
                <a:effectLst/>
                <a:latin typeface="+mn-lt"/>
                <a:ea typeface="+mn-ea"/>
                <a:cs typeface="+mn-cs"/>
              </a:rPr>
              <a:t>Scoring</a:t>
            </a:r>
            <a:r>
              <a:rPr lang="fr-FR" sz="1200" kern="1200" dirty="0">
                <a:solidFill>
                  <a:schemeClr val="tx1"/>
                </a:solidFill>
                <a:effectLst/>
                <a:latin typeface="+mn-lt"/>
                <a:ea typeface="+mn-ea"/>
                <a:cs typeface="+mn-cs"/>
              </a:rPr>
              <a:t> Pour prioriser les 37 pays, j'ai construit un score composite sur 4 critères : </a:t>
            </a:r>
            <a:r>
              <a:rPr lang="fr-FR" sz="1200" kern="1200" dirty="0" err="1">
                <a:solidFill>
                  <a:schemeClr val="tx1"/>
                </a:solidFill>
                <a:effectLst/>
                <a:latin typeface="+mn-lt"/>
                <a:ea typeface="+mn-ea"/>
                <a:cs typeface="+mn-cs"/>
              </a:rPr>
              <a:t>affordability</a:t>
            </a:r>
            <a:r>
              <a:rPr lang="fr-FR" sz="1200" kern="1200" dirty="0">
                <a:solidFill>
                  <a:schemeClr val="tx1"/>
                </a:solidFill>
                <a:effectLst/>
                <a:latin typeface="+mn-lt"/>
                <a:ea typeface="+mn-ea"/>
                <a:cs typeface="+mn-cs"/>
              </a:rPr>
              <a:t> à 30%, imports par habitant à 25%, population à 25%, </a:t>
            </a:r>
            <a:r>
              <a:rPr lang="fr-FR" sz="1200" kern="1200" dirty="0" err="1">
                <a:solidFill>
                  <a:schemeClr val="tx1"/>
                </a:solidFill>
                <a:effectLst/>
                <a:latin typeface="+mn-lt"/>
                <a:ea typeface="+mn-ea"/>
                <a:cs typeface="+mn-cs"/>
              </a:rPr>
              <a:t>ease</a:t>
            </a:r>
            <a:r>
              <a:rPr lang="fr-FR" sz="1200" kern="1200" dirty="0">
                <a:solidFill>
                  <a:schemeClr val="tx1"/>
                </a:solidFill>
                <a:effectLst/>
                <a:latin typeface="+mn-lt"/>
                <a:ea typeface="+mn-ea"/>
                <a:cs typeface="+mn-cs"/>
              </a:rPr>
              <a:t> of business à 20%. Le TDI a été exclu — il est trop corrélé aux imports par habitant, ce serait redondant. </a:t>
            </a:r>
            <a:r>
              <a:rPr lang="fr-FR" sz="1200" i="1" kern="1200" dirty="0">
                <a:solidFill>
                  <a:schemeClr val="tx1"/>
                </a:solidFill>
                <a:effectLst/>
                <a:latin typeface="+mn-lt"/>
                <a:ea typeface="+mn-ea"/>
                <a:cs typeface="+mn-cs"/>
              </a:rPr>
              <a:t>→ 4 critères, TDI exclu car redondant</a:t>
            </a:r>
            <a:endParaRPr lang="fr-FR"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1" kern="1200" dirty="0">
                <a:solidFill>
                  <a:schemeClr val="tx1"/>
                </a:solidFill>
                <a:effectLst/>
                <a:latin typeface="+mn-lt"/>
                <a:ea typeface="+mn-ea"/>
                <a:cs typeface="+mn-cs"/>
              </a:rPr>
              <a:t>Note slide :</a:t>
            </a:r>
            <a:r>
              <a:rPr lang="fr-FR" sz="1200" kern="1200" dirty="0">
                <a:solidFill>
                  <a:schemeClr val="tx1"/>
                </a:solidFill>
                <a:effectLst/>
                <a:latin typeface="+mn-lt"/>
                <a:ea typeface="+mn-ea"/>
                <a:cs typeface="+mn-cs"/>
              </a:rPr>
              <a:t> → Japon, Allemagne, Émirats = podium. Justifier chaque choix en 1 phrase.</a:t>
            </a:r>
          </a:p>
          <a:p>
            <a:endParaRPr lang="fr-FR"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effectLst/>
                <a:latin typeface="+mn-lt"/>
                <a:ea typeface="+mn-ea"/>
                <a:cs typeface="+mn-cs"/>
              </a:rPr>
              <a:t>SLIDE 20 — Top 15</a:t>
            </a:r>
            <a:r>
              <a:rPr lang="fr-FR" sz="1200" kern="1200" dirty="0">
                <a:solidFill>
                  <a:schemeClr val="tx1"/>
                </a:solidFill>
                <a:effectLst/>
                <a:latin typeface="+mn-lt"/>
                <a:ea typeface="+mn-ea"/>
                <a:cs typeface="+mn-cs"/>
              </a:rPr>
              <a:t> Le Japon arrive premier — grand marché, dépendance structurelle aux imports, </a:t>
            </a:r>
            <a:r>
              <a:rPr lang="fr-FR" sz="1200" kern="1200" dirty="0" err="1">
                <a:solidFill>
                  <a:schemeClr val="tx1"/>
                </a:solidFill>
                <a:effectLst/>
                <a:latin typeface="+mn-lt"/>
                <a:ea typeface="+mn-ea"/>
                <a:cs typeface="+mn-cs"/>
              </a:rPr>
              <a:t>affordability</a:t>
            </a:r>
            <a:r>
              <a:rPr lang="fr-FR" sz="1200" kern="1200" dirty="0">
                <a:solidFill>
                  <a:schemeClr val="tx1"/>
                </a:solidFill>
                <a:effectLst/>
                <a:latin typeface="+mn-lt"/>
                <a:ea typeface="+mn-ea"/>
                <a:cs typeface="+mn-cs"/>
              </a:rPr>
              <a:t> solide. L'Allemagne deuxième — leader européen, excellent </a:t>
            </a:r>
            <a:r>
              <a:rPr lang="fr-FR" sz="1200" kern="1200" dirty="0" err="1">
                <a:solidFill>
                  <a:schemeClr val="tx1"/>
                </a:solidFill>
                <a:effectLst/>
                <a:latin typeface="+mn-lt"/>
                <a:ea typeface="+mn-ea"/>
                <a:cs typeface="+mn-cs"/>
              </a:rPr>
              <a:t>ease</a:t>
            </a:r>
            <a:r>
              <a:rPr lang="fr-FR" sz="1200" kern="1200" dirty="0">
                <a:solidFill>
                  <a:schemeClr val="tx1"/>
                </a:solidFill>
                <a:effectLst/>
                <a:latin typeface="+mn-lt"/>
                <a:ea typeface="+mn-ea"/>
                <a:cs typeface="+mn-cs"/>
              </a:rPr>
              <a:t> of business. Les Émirats complètent le podium — petit pays mais imports par habitant exceptionnellement élevés. Royaume-Uni et Danemark dans le top 5. Les 10 suivants — Belgique, Irlande, Corée du Sud, pays nordiques — constituent une deuxième vague à envisager. </a:t>
            </a:r>
            <a:r>
              <a:rPr lang="fr-FR" sz="1200" i="1" kern="1200" dirty="0">
                <a:solidFill>
                  <a:schemeClr val="tx1"/>
                </a:solidFill>
                <a:effectLst/>
                <a:latin typeface="+mn-lt"/>
                <a:ea typeface="+mn-ea"/>
                <a:cs typeface="+mn-cs"/>
              </a:rPr>
              <a:t>→ Podium Japon/Allemagne/Émirats. Justifier en 1 phrase chacun</a:t>
            </a:r>
            <a:endParaRPr lang="fr-FR" sz="1200" kern="1200" dirty="0">
              <a:solidFill>
                <a:schemeClr val="tx1"/>
              </a:solidFill>
              <a:effectLst/>
              <a:latin typeface="+mn-lt"/>
              <a:ea typeface="+mn-ea"/>
              <a:cs typeface="+mn-cs"/>
            </a:endParaRPr>
          </a:p>
          <a:p>
            <a:endParaRPr lang="fr-FR"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effectLst/>
                <a:latin typeface="+mn-lt"/>
                <a:ea typeface="+mn-ea"/>
                <a:cs typeface="+mn-cs"/>
              </a:rPr>
              <a:t>Note slide :</a:t>
            </a:r>
            <a:r>
              <a:rPr lang="fr-FR" sz="1200" kern="1200" dirty="0">
                <a:solidFill>
                  <a:schemeClr val="tx1"/>
                </a:solidFill>
                <a:effectLst/>
                <a:latin typeface="+mn-lt"/>
                <a:ea typeface="+mn-ea"/>
                <a:cs typeface="+mn-cs"/>
              </a:rPr>
              <a:t> → 3 zones : Europe (proximité), Asie-Pacifique (premium), Moyen-Orient (imports élevés).</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effectLst/>
                <a:latin typeface="+mn-lt"/>
                <a:ea typeface="+mn-ea"/>
                <a:cs typeface="+mn-cs"/>
              </a:rPr>
              <a:t>SLIDE 21 — Carte</a:t>
            </a:r>
            <a:r>
              <a:rPr lang="fr-FR" sz="1200" kern="1200" dirty="0">
                <a:solidFill>
                  <a:schemeClr val="tx1"/>
                </a:solidFill>
                <a:effectLst/>
                <a:latin typeface="+mn-lt"/>
                <a:ea typeface="+mn-ea"/>
                <a:cs typeface="+mn-cs"/>
              </a:rPr>
              <a:t> Géographiquement, trois zones ressortent. L'Europe occidentale — notre zone de proximité naturelle. L'Asie-Pacifique — marchés premium, plus complexes logistiquement. Le Moyen-Orient — fort pouvoir d'achat, très forte dépendance aux imports alimentaires. </a:t>
            </a:r>
            <a:r>
              <a:rPr lang="fr-FR" sz="1200" i="1" kern="1200" dirty="0">
                <a:solidFill>
                  <a:schemeClr val="tx1"/>
                </a:solidFill>
                <a:effectLst/>
                <a:latin typeface="+mn-lt"/>
                <a:ea typeface="+mn-ea"/>
                <a:cs typeface="+mn-cs"/>
              </a:rPr>
              <a:t>→ Europe (proximité), Asie (premium), Moyen-Orient (imports)</a:t>
            </a:r>
            <a:endParaRPr lang="fr-FR"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1" kern="1200" dirty="0">
                <a:solidFill>
                  <a:schemeClr val="tx1"/>
                </a:solidFill>
                <a:effectLst/>
                <a:latin typeface="+mn-lt"/>
                <a:ea typeface="+mn-ea"/>
                <a:cs typeface="+mn-cs"/>
              </a:rPr>
              <a:t>Note slide :</a:t>
            </a:r>
            <a:r>
              <a:rPr lang="fr-FR" sz="1200" kern="1200" dirty="0">
                <a:solidFill>
                  <a:schemeClr val="tx1"/>
                </a:solidFill>
                <a:effectLst/>
                <a:latin typeface="+mn-lt"/>
                <a:ea typeface="+mn-ea"/>
                <a:cs typeface="+mn-cs"/>
              </a:rPr>
              <a:t> → 3 messages : clustering validé, cible identifiée, préconisations actionnables.</a:t>
            </a:r>
          </a:p>
          <a:p>
            <a:endParaRPr lang="fr-FR"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effectLst/>
                <a:latin typeface="+mn-lt"/>
                <a:ea typeface="+mn-ea"/>
                <a:cs typeface="+mn-cs"/>
              </a:rPr>
              <a:t>SLIDE 22 — Synthèse</a:t>
            </a:r>
            <a:r>
              <a:rPr lang="fr-FR" sz="1200" kern="1200" dirty="0">
                <a:solidFill>
                  <a:schemeClr val="tx1"/>
                </a:solidFill>
                <a:effectLst/>
                <a:latin typeface="+mn-lt"/>
                <a:ea typeface="+mn-ea"/>
                <a:cs typeface="+mn-cs"/>
              </a:rPr>
              <a:t> Trois messages. Un : le clustering est solide, validé, cohérent avec la réalité économique mondiale. Deux : notre cible est claire — 37 pays développés importateurs, toutes les conditions sont réunies. Trois : des préconisations actionnables — un top 15 priorisé, avec le Japon, l'Allemagne et les Émirats en tête. </a:t>
            </a:r>
            <a:r>
              <a:rPr lang="fr-FR" sz="1200" i="1" kern="1200" dirty="0">
                <a:solidFill>
                  <a:schemeClr val="tx1"/>
                </a:solidFill>
                <a:effectLst/>
                <a:latin typeface="+mn-lt"/>
                <a:ea typeface="+mn-ea"/>
                <a:cs typeface="+mn-cs"/>
              </a:rPr>
              <a:t>→ 3 messages : validé, ciblé, actionnable</a:t>
            </a:r>
            <a:endParaRPr lang="fr-FR" sz="1200" kern="1200" dirty="0">
              <a:solidFill>
                <a:schemeClr val="tx1"/>
              </a:solidFill>
              <a:effectLst/>
              <a:latin typeface="+mn-lt"/>
              <a:ea typeface="+mn-ea"/>
              <a:cs typeface="+mn-cs"/>
            </a:endParaRPr>
          </a:p>
          <a:p>
            <a:endParaRPr lang="fr-FR"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1" kern="1200" dirty="0">
                <a:solidFill>
                  <a:schemeClr val="tx1"/>
                </a:solidFill>
                <a:effectLst/>
                <a:latin typeface="+mn-lt"/>
                <a:ea typeface="+mn-ea"/>
                <a:cs typeface="+mn-cs"/>
              </a:rPr>
              <a:t>Note slide :</a:t>
            </a:r>
            <a:r>
              <a:rPr lang="fr-FR" sz="1200" kern="1200" dirty="0">
                <a:solidFill>
                  <a:schemeClr val="tx1"/>
                </a:solidFill>
                <a:effectLst/>
                <a:latin typeface="+mn-lt"/>
                <a:ea typeface="+mn-ea"/>
                <a:cs typeface="+mn-cs"/>
              </a:rPr>
              <a:t> → Remercier, ouvrir sur la suite, inviter les questions.</a:t>
            </a:r>
          </a:p>
          <a:p>
            <a:endParaRPr lang="fr-FR"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effectLst/>
                <a:latin typeface="+mn-lt"/>
                <a:ea typeface="+mn-ea"/>
                <a:cs typeface="+mn-cs"/>
              </a:rPr>
              <a:t>SLIDE 23 — Questions</a:t>
            </a:r>
            <a:r>
              <a:rPr lang="fr-FR" sz="1200" kern="1200" dirty="0">
                <a:solidFill>
                  <a:schemeClr val="tx1"/>
                </a:solidFill>
                <a:effectLst/>
                <a:latin typeface="+mn-lt"/>
                <a:ea typeface="+mn-ea"/>
                <a:cs typeface="+mn-cs"/>
              </a:rPr>
              <a:t> Merci pour votre attention. Cette analyse pose les bases d'une stratégie export solide. La prochaine étape logique serait une étude de marché approfondie sur nos priorités — réglementation, concurrence, logistique. Je suis disponible pour vos questions. </a:t>
            </a:r>
            <a:r>
              <a:rPr lang="fr-FR" sz="1200" i="1" kern="1200">
                <a:solidFill>
                  <a:schemeClr val="tx1"/>
                </a:solidFill>
                <a:effectLst/>
                <a:latin typeface="+mn-lt"/>
                <a:ea typeface="+mn-ea"/>
                <a:cs typeface="+mn-cs"/>
              </a:rPr>
              <a:t>→ Remercier, ouvrir sur la suite</a:t>
            </a:r>
            <a:endParaRPr lang="fr-FR" sz="1200" kern="1200">
              <a:solidFill>
                <a:schemeClr val="tx1"/>
              </a:solidFill>
              <a:effectLst/>
              <a:latin typeface="+mn-lt"/>
              <a:ea typeface="+mn-ea"/>
              <a:cs typeface="+mn-cs"/>
            </a:endParaRPr>
          </a:p>
          <a:p>
            <a:endParaRPr lang="fr-FR"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2A"/>
        </a:solidFill>
        <a:effectLst/>
      </p:bgPr>
    </p:bg>
    <p:spTree>
      <p:nvGrpSpPr>
        <p:cNvPr id="1" name=""/>
        <p:cNvGrpSpPr/>
        <p:nvPr/>
      </p:nvGrpSpPr>
      <p:grpSpPr>
        <a:xfrm>
          <a:off x="0" y="0"/>
          <a:ext cx="0" cy="0"/>
          <a:chOff x="0" y="0"/>
          <a:chExt cx="0" cy="0"/>
        </a:xfrm>
      </p:grpSpPr>
      <p:sp>
        <p:nvSpPr>
          <p:cNvPr id="2" name="Shape 0"/>
          <p:cNvSpPr/>
          <p:nvPr/>
        </p:nvSpPr>
        <p:spPr>
          <a:xfrm>
            <a:off x="0" y="0"/>
            <a:ext cx="5303520" cy="5143500"/>
          </a:xfrm>
          <a:prstGeom prst="rect">
            <a:avLst/>
          </a:prstGeom>
          <a:solidFill>
            <a:srgbClr val="2C5F2D"/>
          </a:solidFill>
          <a:ln/>
        </p:spPr>
        <p:txBody>
          <a:bodyPr/>
          <a:lstStyle/>
          <a:p>
            <a:endParaRPr lang="fr-FR" noProof="0" dirty="0"/>
          </a:p>
        </p:txBody>
      </p:sp>
      <p:sp>
        <p:nvSpPr>
          <p:cNvPr id="3" name="Text 1"/>
          <p:cNvSpPr/>
          <p:nvPr/>
        </p:nvSpPr>
        <p:spPr>
          <a:xfrm>
            <a:off x="457200" y="1005840"/>
            <a:ext cx="4572000" cy="2560320"/>
          </a:xfrm>
          <a:prstGeom prst="rect">
            <a:avLst/>
          </a:prstGeom>
          <a:noFill/>
          <a:ln/>
        </p:spPr>
        <p:txBody>
          <a:bodyPr wrap="square" rtlCol="0" anchor="ctr"/>
          <a:lstStyle/>
          <a:p>
            <a:pPr marL="0" indent="0" algn="l">
              <a:buNone/>
            </a:pPr>
            <a:r>
              <a:rPr lang="fr-FR" sz="4800" b="1" noProof="0" dirty="0">
                <a:solidFill>
                  <a:srgbClr val="FFFFFF"/>
                </a:solidFill>
                <a:latin typeface="Cambria" pitchFamily="34" charset="0"/>
                <a:ea typeface="Cambria" pitchFamily="34" charset="-122"/>
                <a:cs typeface="Cambria" pitchFamily="34" charset="-120"/>
              </a:rPr>
              <a:t>La Poule</a:t>
            </a:r>
            <a:endParaRPr lang="fr-FR" sz="4800" noProof="0" dirty="0"/>
          </a:p>
          <a:p>
            <a:pPr marL="0" indent="0" algn="l">
              <a:buNone/>
            </a:pPr>
            <a:r>
              <a:rPr lang="fr-FR" sz="4800" b="1" noProof="0" dirty="0">
                <a:solidFill>
                  <a:srgbClr val="FFFFFF"/>
                </a:solidFill>
                <a:latin typeface="Cambria" pitchFamily="34" charset="0"/>
                <a:ea typeface="Cambria" pitchFamily="34" charset="-122"/>
                <a:cs typeface="Cambria" pitchFamily="34" charset="-120"/>
              </a:rPr>
              <a:t>qui Chante</a:t>
            </a:r>
            <a:endParaRPr lang="fr-FR" sz="4800" noProof="0" dirty="0"/>
          </a:p>
        </p:txBody>
      </p:sp>
      <p:sp>
        <p:nvSpPr>
          <p:cNvPr id="4" name="Text 2"/>
          <p:cNvSpPr/>
          <p:nvPr/>
        </p:nvSpPr>
        <p:spPr>
          <a:xfrm>
            <a:off x="457200" y="3520440"/>
            <a:ext cx="4572000" cy="457200"/>
          </a:xfrm>
          <a:prstGeom prst="rect">
            <a:avLst/>
          </a:prstGeom>
          <a:noFill/>
          <a:ln/>
        </p:spPr>
        <p:txBody>
          <a:bodyPr wrap="square" rtlCol="0" anchor="ctr"/>
          <a:lstStyle/>
          <a:p>
            <a:pPr marL="0" indent="0" algn="l">
              <a:buNone/>
            </a:pPr>
            <a:r>
              <a:rPr lang="fr-FR" sz="1600" noProof="0" dirty="0">
                <a:solidFill>
                  <a:srgbClr val="C8E6C9"/>
                </a:solidFill>
                <a:latin typeface="Calibri" pitchFamily="34" charset="0"/>
                <a:ea typeface="Calibri" pitchFamily="34" charset="-122"/>
                <a:cs typeface="Calibri" pitchFamily="34" charset="-120"/>
              </a:rPr>
              <a:t>Mission d'expansion internationale</a:t>
            </a:r>
            <a:endParaRPr lang="fr-FR" sz="1600" noProof="0" dirty="0"/>
          </a:p>
        </p:txBody>
      </p:sp>
      <p:sp>
        <p:nvSpPr>
          <p:cNvPr id="5" name="Text 3"/>
          <p:cNvSpPr/>
          <p:nvPr/>
        </p:nvSpPr>
        <p:spPr>
          <a:xfrm>
            <a:off x="5669280" y="1828800"/>
            <a:ext cx="3200400" cy="548640"/>
          </a:xfrm>
          <a:prstGeom prst="rect">
            <a:avLst/>
          </a:prstGeom>
          <a:noFill/>
          <a:ln/>
        </p:spPr>
        <p:txBody>
          <a:bodyPr wrap="square" rtlCol="0" anchor="ctr"/>
          <a:lstStyle/>
          <a:p>
            <a:pPr marL="0" indent="0">
              <a:buNone/>
            </a:pPr>
            <a:r>
              <a:rPr lang="fr-FR" sz="1800" b="1" noProof="0" dirty="0">
                <a:solidFill>
                  <a:srgbClr val="FFFFFF"/>
                </a:solidFill>
                <a:latin typeface="Cambria" pitchFamily="34" charset="0"/>
                <a:ea typeface="Cambria" pitchFamily="34" charset="-122"/>
                <a:cs typeface="Cambria" pitchFamily="34" charset="-120"/>
              </a:rPr>
              <a:t>Tristan DESPONT</a:t>
            </a:r>
            <a:endParaRPr lang="fr-FR" sz="1800" noProof="0" dirty="0"/>
          </a:p>
        </p:txBody>
      </p:sp>
      <p:sp>
        <p:nvSpPr>
          <p:cNvPr id="6" name="Text 4"/>
          <p:cNvSpPr/>
          <p:nvPr/>
        </p:nvSpPr>
        <p:spPr>
          <a:xfrm>
            <a:off x="5669280" y="2423160"/>
            <a:ext cx="3200400" cy="365760"/>
          </a:xfrm>
          <a:prstGeom prst="rect">
            <a:avLst/>
          </a:prstGeom>
          <a:noFill/>
          <a:ln/>
        </p:spPr>
        <p:txBody>
          <a:bodyPr wrap="square" rtlCol="0" anchor="ctr"/>
          <a:lstStyle/>
          <a:p>
            <a:pPr marL="0" indent="0">
              <a:buNone/>
            </a:pPr>
            <a:r>
              <a:rPr lang="fr-FR" sz="1300" noProof="0" dirty="0">
                <a:solidFill>
                  <a:srgbClr val="C8E6C9"/>
                </a:solidFill>
                <a:latin typeface="Calibri" pitchFamily="34" charset="0"/>
                <a:ea typeface="Calibri" pitchFamily="34" charset="-122"/>
                <a:cs typeface="Calibri" pitchFamily="34" charset="-120"/>
              </a:rPr>
              <a:t>Data Analyst</a:t>
            </a:r>
            <a:endParaRPr lang="fr-FR" sz="1300" noProof="0" dirty="0"/>
          </a:p>
        </p:txBody>
      </p:sp>
      <p:sp>
        <p:nvSpPr>
          <p:cNvPr id="7" name="Text 5"/>
          <p:cNvSpPr/>
          <p:nvPr/>
        </p:nvSpPr>
        <p:spPr>
          <a:xfrm>
            <a:off x="5669280" y="2880360"/>
            <a:ext cx="3200400" cy="365760"/>
          </a:xfrm>
          <a:prstGeom prst="rect">
            <a:avLst/>
          </a:prstGeom>
          <a:noFill/>
          <a:ln/>
        </p:spPr>
        <p:txBody>
          <a:bodyPr wrap="square" rtlCol="0" anchor="ctr"/>
          <a:lstStyle/>
          <a:p>
            <a:pPr marL="0" indent="0">
              <a:buNone/>
            </a:pPr>
            <a:r>
              <a:rPr lang="fr-FR" sz="1200" noProof="0" dirty="0">
                <a:solidFill>
                  <a:srgbClr val="6B7C6B"/>
                </a:solidFill>
                <a:latin typeface="Calibri" pitchFamily="34" charset="0"/>
                <a:ea typeface="Calibri" pitchFamily="34" charset="-122"/>
                <a:cs typeface="Calibri" pitchFamily="34" charset="-120"/>
              </a:rPr>
              <a:t>Données 2017</a:t>
            </a:r>
            <a:endParaRPr lang="fr-FR" sz="1200" noProof="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3A2A"/>
        </a:solidFill>
        <a:effectLst/>
      </p:bgPr>
    </p:bg>
    <p:spTree>
      <p:nvGrpSpPr>
        <p:cNvPr id="1" name=""/>
        <p:cNvGrpSpPr/>
        <p:nvPr/>
      </p:nvGrpSpPr>
      <p:grpSpPr>
        <a:xfrm>
          <a:off x="0" y="0"/>
          <a:ext cx="0" cy="0"/>
          <a:chOff x="0" y="0"/>
          <a:chExt cx="0" cy="0"/>
        </a:xfrm>
      </p:grpSpPr>
      <p:sp>
        <p:nvSpPr>
          <p:cNvPr id="2" name="Shape 0"/>
          <p:cNvSpPr/>
          <p:nvPr/>
        </p:nvSpPr>
        <p:spPr>
          <a:xfrm>
            <a:off x="0" y="0"/>
            <a:ext cx="457200" cy="5143500"/>
          </a:xfrm>
          <a:prstGeom prst="rect">
            <a:avLst/>
          </a:prstGeom>
          <a:solidFill>
            <a:srgbClr val="2C5F2D"/>
          </a:solidFill>
          <a:ln/>
        </p:spPr>
        <p:txBody>
          <a:bodyPr/>
          <a:lstStyle/>
          <a:p>
            <a:endParaRPr lang="fr-FR" noProof="0" dirty="0"/>
          </a:p>
        </p:txBody>
      </p:sp>
      <p:sp>
        <p:nvSpPr>
          <p:cNvPr id="3" name="Text 1"/>
          <p:cNvSpPr/>
          <p:nvPr/>
        </p:nvSpPr>
        <p:spPr>
          <a:xfrm>
            <a:off x="822960" y="1463040"/>
            <a:ext cx="1828800" cy="1280160"/>
          </a:xfrm>
          <a:prstGeom prst="rect">
            <a:avLst/>
          </a:prstGeom>
          <a:noFill/>
          <a:ln/>
        </p:spPr>
        <p:txBody>
          <a:bodyPr wrap="square" rtlCol="0" anchor="ctr"/>
          <a:lstStyle/>
          <a:p>
            <a:pPr marL="0" indent="0" algn="l">
              <a:buNone/>
            </a:pPr>
            <a:r>
              <a:rPr lang="fr-FR" sz="8000" b="1" noProof="0" dirty="0">
                <a:solidFill>
                  <a:srgbClr val="2C5F2D"/>
                </a:solidFill>
                <a:latin typeface="Cambria" pitchFamily="34" charset="0"/>
                <a:ea typeface="Cambria" pitchFamily="34" charset="-122"/>
                <a:cs typeface="Cambria" pitchFamily="34" charset="-120"/>
              </a:rPr>
              <a:t>01</a:t>
            </a:r>
            <a:endParaRPr lang="fr-FR" sz="8000" noProof="0" dirty="0"/>
          </a:p>
        </p:txBody>
      </p:sp>
      <p:sp>
        <p:nvSpPr>
          <p:cNvPr id="4" name="Text 2"/>
          <p:cNvSpPr/>
          <p:nvPr/>
        </p:nvSpPr>
        <p:spPr>
          <a:xfrm>
            <a:off x="2926080" y="1737360"/>
            <a:ext cx="5852160" cy="822960"/>
          </a:xfrm>
          <a:prstGeom prst="rect">
            <a:avLst/>
          </a:prstGeom>
          <a:noFill/>
          <a:ln/>
        </p:spPr>
        <p:txBody>
          <a:bodyPr wrap="square" rtlCol="0" anchor="ctr"/>
          <a:lstStyle/>
          <a:p>
            <a:pPr marL="0" indent="0" algn="l">
              <a:buNone/>
            </a:pPr>
            <a:r>
              <a:rPr lang="fr-FR" sz="3200" b="1" noProof="0" dirty="0">
                <a:solidFill>
                  <a:srgbClr val="FFFFFF"/>
                </a:solidFill>
                <a:latin typeface="Cambria" pitchFamily="34" charset="0"/>
                <a:ea typeface="Cambria" pitchFamily="34" charset="-122"/>
                <a:cs typeface="Cambria" pitchFamily="34" charset="-120"/>
              </a:rPr>
              <a:t>Contexte &amp; Données</a:t>
            </a:r>
            <a:endParaRPr lang="fr-FR" sz="3200" noProof="0" dirty="0"/>
          </a:p>
        </p:txBody>
      </p:sp>
      <p:sp>
        <p:nvSpPr>
          <p:cNvPr id="5" name="Text 3"/>
          <p:cNvSpPr/>
          <p:nvPr/>
        </p:nvSpPr>
        <p:spPr>
          <a:xfrm>
            <a:off x="2926080" y="2606040"/>
            <a:ext cx="5852160" cy="457200"/>
          </a:xfrm>
          <a:prstGeom prst="rect">
            <a:avLst/>
          </a:prstGeom>
          <a:noFill/>
          <a:ln/>
        </p:spPr>
        <p:txBody>
          <a:bodyPr wrap="square" rtlCol="0" anchor="ctr"/>
          <a:lstStyle/>
          <a:p>
            <a:pPr marL="0" indent="0" algn="l">
              <a:buNone/>
            </a:pPr>
            <a:r>
              <a:rPr lang="fr-FR" sz="1400" noProof="0" dirty="0">
                <a:solidFill>
                  <a:srgbClr val="7AAD6E"/>
                </a:solidFill>
                <a:latin typeface="Calibri" pitchFamily="34" charset="0"/>
                <a:ea typeface="Calibri" pitchFamily="34" charset="-122"/>
                <a:cs typeface="Calibri" pitchFamily="34" charset="-120"/>
              </a:rPr>
              <a:t>Objectifs de la mission, variables collectées et sources</a:t>
            </a:r>
            <a:endParaRPr lang="fr-FR" sz="1400" noProof="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2A"/>
          </a:solidFill>
          <a:ln/>
        </p:spPr>
        <p:txBody>
          <a:bodyPr/>
          <a:lstStyle/>
          <a:p>
            <a:endParaRPr lang="fr-FR" noProof="0" dirty="0"/>
          </a:p>
        </p:txBody>
      </p:sp>
      <p:sp>
        <p:nvSpPr>
          <p:cNvPr id="3" name="Text 1"/>
          <p:cNvSpPr/>
          <p:nvPr/>
        </p:nvSpPr>
        <p:spPr>
          <a:xfrm>
            <a:off x="365760" y="137160"/>
            <a:ext cx="8229600" cy="731520"/>
          </a:xfrm>
          <a:prstGeom prst="rect">
            <a:avLst/>
          </a:prstGeom>
          <a:noFill/>
          <a:ln/>
        </p:spPr>
        <p:txBody>
          <a:bodyPr wrap="square" rtlCol="0" anchor="ctr"/>
          <a:lstStyle/>
          <a:p>
            <a:pPr marL="0" indent="0">
              <a:buNone/>
            </a:pPr>
            <a:r>
              <a:rPr lang="fr-FR" sz="2800" b="1" noProof="0" dirty="0">
                <a:solidFill>
                  <a:srgbClr val="FFFFFF"/>
                </a:solidFill>
                <a:latin typeface="Cambria" pitchFamily="34" charset="0"/>
                <a:ea typeface="Cambria" pitchFamily="34" charset="-122"/>
                <a:cs typeface="Cambria" pitchFamily="34" charset="-120"/>
              </a:rPr>
              <a:t>Contexte &amp; Objectif</a:t>
            </a:r>
            <a:endParaRPr lang="fr-FR" sz="2800" noProof="0" dirty="0"/>
          </a:p>
        </p:txBody>
      </p:sp>
      <p:sp>
        <p:nvSpPr>
          <p:cNvPr id="4" name="Shape 2"/>
          <p:cNvSpPr/>
          <p:nvPr/>
        </p:nvSpPr>
        <p:spPr>
          <a:xfrm>
            <a:off x="1005840" y="1280160"/>
            <a:ext cx="3474720" cy="3383280"/>
          </a:xfrm>
          <a:prstGeom prst="roundRect">
            <a:avLst>
              <a:gd name="adj" fmla="val 3243"/>
            </a:avLst>
          </a:prstGeom>
          <a:solidFill>
            <a:srgbClr val="EFF5EE"/>
          </a:solidFill>
          <a:ln/>
          <a:effectLst>
            <a:outerShdw blurRad="76200" dist="25400" dir="2700000" algn="bl" rotWithShape="0">
              <a:srgbClr val="000000">
                <a:alpha val="10000"/>
              </a:srgbClr>
            </a:outerShdw>
          </a:effectLst>
        </p:spPr>
        <p:txBody>
          <a:bodyPr/>
          <a:lstStyle/>
          <a:p>
            <a:endParaRPr lang="fr-FR" noProof="0" dirty="0"/>
          </a:p>
        </p:txBody>
      </p:sp>
      <p:pic>
        <p:nvPicPr>
          <p:cNvPr id="5" name="Image 0" descr="preencoded.png"/>
          <p:cNvPicPr>
            <a:picLocks noChangeAspect="1"/>
          </p:cNvPicPr>
          <p:nvPr/>
        </p:nvPicPr>
        <p:blipFill>
          <a:blip r:embed="rId3"/>
          <a:stretch>
            <a:fillRect/>
          </a:stretch>
        </p:blipFill>
        <p:spPr>
          <a:xfrm>
            <a:off x="2423160" y="1463040"/>
            <a:ext cx="640080" cy="640080"/>
          </a:xfrm>
          <a:prstGeom prst="rect">
            <a:avLst/>
          </a:prstGeom>
        </p:spPr>
      </p:pic>
      <p:sp>
        <p:nvSpPr>
          <p:cNvPr id="6" name="Text 3"/>
          <p:cNvSpPr/>
          <p:nvPr/>
        </p:nvSpPr>
        <p:spPr>
          <a:xfrm>
            <a:off x="1188720" y="2194560"/>
            <a:ext cx="3108960" cy="502920"/>
          </a:xfrm>
          <a:prstGeom prst="rect">
            <a:avLst/>
          </a:prstGeom>
          <a:noFill/>
          <a:ln/>
        </p:spPr>
        <p:txBody>
          <a:bodyPr wrap="square" rtlCol="0" anchor="ctr"/>
          <a:lstStyle/>
          <a:p>
            <a:pPr marL="0" indent="0" algn="ctr">
              <a:buNone/>
            </a:pPr>
            <a:r>
              <a:rPr lang="fr-FR" sz="1600" b="1" noProof="0" dirty="0">
                <a:solidFill>
                  <a:srgbClr val="2C5F2D"/>
                </a:solidFill>
                <a:latin typeface="Cambria" pitchFamily="34" charset="0"/>
                <a:ea typeface="Cambria" pitchFamily="34" charset="-122"/>
                <a:cs typeface="Cambria" pitchFamily="34" charset="-120"/>
              </a:rPr>
              <a:t>Le défi</a:t>
            </a:r>
            <a:endParaRPr lang="fr-FR" sz="1600" noProof="0" dirty="0"/>
          </a:p>
        </p:txBody>
      </p:sp>
      <p:sp>
        <p:nvSpPr>
          <p:cNvPr id="7" name="Text 4"/>
          <p:cNvSpPr/>
          <p:nvPr/>
        </p:nvSpPr>
        <p:spPr>
          <a:xfrm>
            <a:off x="1188720" y="2788920"/>
            <a:ext cx="3108960" cy="1737360"/>
          </a:xfrm>
          <a:prstGeom prst="rect">
            <a:avLst/>
          </a:prstGeom>
          <a:noFill/>
          <a:ln/>
        </p:spPr>
        <p:txBody>
          <a:bodyPr wrap="square" rtlCol="0" anchor="t"/>
          <a:lstStyle/>
          <a:p>
            <a:pPr marL="0" indent="0" algn="l">
              <a:buNone/>
            </a:pPr>
            <a:r>
              <a:rPr lang="fr-FR" sz="1200" noProof="0" dirty="0">
                <a:solidFill>
                  <a:srgbClr val="1A2A1A"/>
                </a:solidFill>
                <a:latin typeface="Calibri" pitchFamily="34" charset="0"/>
                <a:ea typeface="Calibri" pitchFamily="34" charset="-122"/>
                <a:cs typeface="Calibri" pitchFamily="34" charset="-120"/>
              </a:rPr>
              <a:t>Identifier parmi 131 pays les marchés les plus accessibles et rentables pour lancer une stratégie d'exportation ciblée.</a:t>
            </a:r>
            <a:endParaRPr lang="fr-FR" sz="1200" noProof="0" dirty="0"/>
          </a:p>
        </p:txBody>
      </p:sp>
      <p:sp>
        <p:nvSpPr>
          <p:cNvPr id="8" name="Shape 5"/>
          <p:cNvSpPr/>
          <p:nvPr/>
        </p:nvSpPr>
        <p:spPr>
          <a:xfrm>
            <a:off x="4937760" y="1280160"/>
            <a:ext cx="3474720" cy="3383280"/>
          </a:xfrm>
          <a:prstGeom prst="roundRect">
            <a:avLst>
              <a:gd name="adj" fmla="val 3243"/>
            </a:avLst>
          </a:prstGeom>
          <a:solidFill>
            <a:srgbClr val="EFF5EE"/>
          </a:solidFill>
          <a:ln/>
          <a:effectLst>
            <a:outerShdw blurRad="76200" dist="25400" dir="2700000" algn="bl" rotWithShape="0">
              <a:srgbClr val="000000">
                <a:alpha val="10000"/>
              </a:srgbClr>
            </a:outerShdw>
          </a:effectLst>
        </p:spPr>
        <p:txBody>
          <a:bodyPr/>
          <a:lstStyle/>
          <a:p>
            <a:endParaRPr lang="fr-FR" noProof="0" dirty="0"/>
          </a:p>
        </p:txBody>
      </p:sp>
      <p:pic>
        <p:nvPicPr>
          <p:cNvPr id="9" name="Image 1" descr="preencoded.png"/>
          <p:cNvPicPr>
            <a:picLocks noChangeAspect="1"/>
          </p:cNvPicPr>
          <p:nvPr/>
        </p:nvPicPr>
        <p:blipFill>
          <a:blip r:embed="rId4"/>
          <a:stretch>
            <a:fillRect/>
          </a:stretch>
        </p:blipFill>
        <p:spPr>
          <a:xfrm>
            <a:off x="6355080" y="1463040"/>
            <a:ext cx="640080" cy="640080"/>
          </a:xfrm>
          <a:prstGeom prst="rect">
            <a:avLst/>
          </a:prstGeom>
        </p:spPr>
      </p:pic>
      <p:sp>
        <p:nvSpPr>
          <p:cNvPr id="10" name="Text 6"/>
          <p:cNvSpPr/>
          <p:nvPr/>
        </p:nvSpPr>
        <p:spPr>
          <a:xfrm>
            <a:off x="5120640" y="2194560"/>
            <a:ext cx="3108960" cy="502920"/>
          </a:xfrm>
          <a:prstGeom prst="rect">
            <a:avLst/>
          </a:prstGeom>
          <a:noFill/>
          <a:ln/>
        </p:spPr>
        <p:txBody>
          <a:bodyPr wrap="square" rtlCol="0" anchor="ctr"/>
          <a:lstStyle/>
          <a:p>
            <a:pPr marL="0" indent="0" algn="ctr">
              <a:buNone/>
            </a:pPr>
            <a:r>
              <a:rPr lang="fr-FR" sz="1600" b="1" noProof="0" dirty="0">
                <a:solidFill>
                  <a:srgbClr val="2C5F2D"/>
                </a:solidFill>
                <a:latin typeface="Cambria" pitchFamily="34" charset="0"/>
                <a:ea typeface="Cambria" pitchFamily="34" charset="-122"/>
                <a:cs typeface="Cambria" pitchFamily="34" charset="-120"/>
              </a:rPr>
              <a:t>Notre objectif</a:t>
            </a:r>
            <a:endParaRPr lang="fr-FR" sz="1600" noProof="0" dirty="0"/>
          </a:p>
        </p:txBody>
      </p:sp>
      <p:sp>
        <p:nvSpPr>
          <p:cNvPr id="11" name="Text 7"/>
          <p:cNvSpPr/>
          <p:nvPr/>
        </p:nvSpPr>
        <p:spPr>
          <a:xfrm>
            <a:off x="5120640" y="2788920"/>
            <a:ext cx="3108960" cy="1737360"/>
          </a:xfrm>
          <a:prstGeom prst="rect">
            <a:avLst/>
          </a:prstGeom>
          <a:noFill/>
          <a:ln/>
        </p:spPr>
        <p:txBody>
          <a:bodyPr wrap="square" rtlCol="0" anchor="t"/>
          <a:lstStyle/>
          <a:p>
            <a:pPr marL="0" indent="0" algn="l">
              <a:buNone/>
            </a:pPr>
            <a:r>
              <a:rPr lang="fr-FR" sz="1200" noProof="0" dirty="0">
                <a:solidFill>
                  <a:srgbClr val="1A2A1A"/>
                </a:solidFill>
                <a:latin typeface="Calibri" pitchFamily="34" charset="0"/>
                <a:ea typeface="Calibri" pitchFamily="34" charset="-122"/>
                <a:cs typeface="Calibri" pitchFamily="34" charset="-120"/>
              </a:rPr>
              <a:t>Regrouper les pays par profils similaires grâce à l'analyse de données, puis scorer les meilleures opportunités.</a:t>
            </a:r>
            <a:endParaRPr lang="fr-FR" sz="1200" noProof="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2A"/>
          </a:solidFill>
          <a:ln/>
        </p:spPr>
        <p:txBody>
          <a:bodyPr/>
          <a:lstStyle/>
          <a:p>
            <a:endParaRPr lang="fr-FR" noProof="0" dirty="0"/>
          </a:p>
        </p:txBody>
      </p:sp>
      <p:sp>
        <p:nvSpPr>
          <p:cNvPr id="3" name="Text 1"/>
          <p:cNvSpPr/>
          <p:nvPr/>
        </p:nvSpPr>
        <p:spPr>
          <a:xfrm>
            <a:off x="365760" y="137160"/>
            <a:ext cx="8229600" cy="731520"/>
          </a:xfrm>
          <a:prstGeom prst="rect">
            <a:avLst/>
          </a:prstGeom>
          <a:noFill/>
          <a:ln/>
        </p:spPr>
        <p:txBody>
          <a:bodyPr wrap="square" rtlCol="0" anchor="ctr"/>
          <a:lstStyle/>
          <a:p>
            <a:pPr marL="0" indent="0">
              <a:buNone/>
            </a:pPr>
            <a:r>
              <a:rPr lang="fr-FR" sz="2600" b="1" noProof="0" dirty="0">
                <a:solidFill>
                  <a:srgbClr val="FFFFFF"/>
                </a:solidFill>
                <a:latin typeface="Cambria" pitchFamily="34" charset="0"/>
                <a:ea typeface="Cambria" pitchFamily="34" charset="-122"/>
                <a:cs typeface="Cambria" pitchFamily="34" charset="-120"/>
              </a:rPr>
              <a:t>Choix des variables — logique PESTEL</a:t>
            </a:r>
            <a:endParaRPr lang="fr-FR" sz="2600" noProof="0" dirty="0"/>
          </a:p>
        </p:txBody>
      </p:sp>
      <p:graphicFrame>
        <p:nvGraphicFramePr>
          <p:cNvPr id="5" name="Table 0"/>
          <p:cNvGraphicFramePr>
            <a:graphicFrameLocks noGrp="1"/>
          </p:cNvGraphicFramePr>
          <p:nvPr>
            <p:extLst>
              <p:ext uri="{D42A27DB-BD31-4B8C-83A1-F6EECF244321}">
                <p14:modId xmlns:p14="http://schemas.microsoft.com/office/powerpoint/2010/main" val="1790548402"/>
              </p:ext>
            </p:extLst>
          </p:nvPr>
        </p:nvGraphicFramePr>
        <p:xfrm>
          <a:off x="365760" y="1143000"/>
          <a:ext cx="8229599" cy="3685556"/>
        </p:xfrm>
        <a:graphic>
          <a:graphicData uri="http://schemas.openxmlformats.org/drawingml/2006/table">
            <a:tbl>
              <a:tblPr/>
              <a:tblGrid>
                <a:gridCol w="2207941">
                  <a:extLst>
                    <a:ext uri="{9D8B030D-6E8A-4147-A177-3AD203B41FA5}">
                      <a16:colId xmlns:a16="http://schemas.microsoft.com/office/drawing/2014/main" val="20000"/>
                    </a:ext>
                  </a:extLst>
                </a:gridCol>
                <a:gridCol w="3813717">
                  <a:extLst>
                    <a:ext uri="{9D8B030D-6E8A-4147-A177-3AD203B41FA5}">
                      <a16:colId xmlns:a16="http://schemas.microsoft.com/office/drawing/2014/main" val="20001"/>
                    </a:ext>
                  </a:extLst>
                </a:gridCol>
                <a:gridCol w="2207941">
                  <a:extLst>
                    <a:ext uri="{9D8B030D-6E8A-4147-A177-3AD203B41FA5}">
                      <a16:colId xmlns:a16="http://schemas.microsoft.com/office/drawing/2014/main" val="20002"/>
                    </a:ext>
                  </a:extLst>
                </a:gridCol>
              </a:tblGrid>
              <a:tr h="526508">
                <a:tc>
                  <a:txBody>
                    <a:bodyPr/>
                    <a:lstStyle/>
                    <a:p>
                      <a:pPr marL="0" indent="0">
                        <a:buNone/>
                      </a:pPr>
                      <a:r>
                        <a:rPr lang="fr-FR" sz="1100" b="1" noProof="0" dirty="0">
                          <a:solidFill>
                            <a:srgbClr val="FFFFFF"/>
                          </a:solidFill>
                          <a:latin typeface="Calibri" pitchFamily="34" charset="0"/>
                          <a:ea typeface="Calibri" pitchFamily="34" charset="-122"/>
                          <a:cs typeface="Calibri" pitchFamily="34" charset="-120"/>
                        </a:rPr>
                        <a:t>Dimension</a:t>
                      </a:r>
                      <a:endParaRPr lang="fr-FR" sz="1100" noProof="0" dirty="0">
                        <a:latin typeface="Calibri" charset="0"/>
                        <a:ea typeface="Calibri" charset="0"/>
                        <a:cs typeface="Calibri" charset="0"/>
                      </a:endParaRPr>
                    </a:p>
                  </a:txBody>
                  <a:tcPr>
                    <a:lnL w="6350" cap="flat" cmpd="sng" algn="ctr">
                      <a:solidFill>
                        <a:srgbClr val="D0D8D0"/>
                      </a:solidFill>
                      <a:prstDash val="solid"/>
                      <a:round/>
                      <a:headEnd type="none" w="med" len="med"/>
                      <a:tailEnd type="none" w="med" len="med"/>
                    </a:lnL>
                    <a:lnR w="6350" cap="flat" cmpd="sng" algn="ctr">
                      <a:solidFill>
                        <a:srgbClr val="D0D8D0"/>
                      </a:solidFill>
                      <a:prstDash val="solid"/>
                      <a:round/>
                      <a:headEnd type="none" w="med" len="med"/>
                      <a:tailEnd type="none" w="med" len="med"/>
                    </a:lnR>
                    <a:lnT w="6350" cap="flat" cmpd="sng" algn="ctr">
                      <a:solidFill>
                        <a:srgbClr val="D0D8D0"/>
                      </a:solidFill>
                      <a:prstDash val="solid"/>
                      <a:round/>
                      <a:headEnd type="none" w="med" len="med"/>
                      <a:tailEnd type="none" w="med" len="med"/>
                    </a:lnT>
                    <a:lnB w="6350" cap="flat" cmpd="sng" algn="ctr">
                      <a:solidFill>
                        <a:srgbClr val="D0D8D0"/>
                      </a:solidFill>
                      <a:prstDash val="solid"/>
                      <a:round/>
                      <a:headEnd type="none" w="med" len="med"/>
                      <a:tailEnd type="none" w="med" len="med"/>
                    </a:lnB>
                    <a:solidFill>
                      <a:srgbClr val="2C5F2D"/>
                    </a:solidFill>
                  </a:tcPr>
                </a:tc>
                <a:tc>
                  <a:txBody>
                    <a:bodyPr/>
                    <a:lstStyle/>
                    <a:p>
                      <a:pPr marL="0" indent="0">
                        <a:buNone/>
                      </a:pPr>
                      <a:r>
                        <a:rPr lang="fr-FR" sz="1100" b="1" noProof="0" dirty="0">
                          <a:solidFill>
                            <a:srgbClr val="FFFFFF"/>
                          </a:solidFill>
                          <a:latin typeface="Calibri" pitchFamily="34" charset="0"/>
                          <a:ea typeface="Calibri" pitchFamily="34" charset="-122"/>
                          <a:cs typeface="Calibri" pitchFamily="34" charset="-120"/>
                        </a:rPr>
                        <a:t>Variables retenues</a:t>
                      </a:r>
                      <a:endParaRPr lang="fr-FR" sz="1100" noProof="0" dirty="0">
                        <a:latin typeface="Calibri" charset="0"/>
                        <a:ea typeface="Calibri" charset="0"/>
                        <a:cs typeface="Calibri" charset="0"/>
                      </a:endParaRPr>
                    </a:p>
                  </a:txBody>
                  <a:tcPr>
                    <a:lnL w="6350" cap="flat" cmpd="sng" algn="ctr">
                      <a:solidFill>
                        <a:srgbClr val="D0D8D0"/>
                      </a:solidFill>
                      <a:prstDash val="solid"/>
                      <a:round/>
                      <a:headEnd type="none" w="med" len="med"/>
                      <a:tailEnd type="none" w="med" len="med"/>
                    </a:lnL>
                    <a:lnR w="6350" cap="flat" cmpd="sng" algn="ctr">
                      <a:solidFill>
                        <a:srgbClr val="D0D8D0"/>
                      </a:solidFill>
                      <a:prstDash val="solid"/>
                      <a:round/>
                      <a:headEnd type="none" w="med" len="med"/>
                      <a:tailEnd type="none" w="med" len="med"/>
                    </a:lnR>
                    <a:lnT w="6350" cap="flat" cmpd="sng" algn="ctr">
                      <a:solidFill>
                        <a:srgbClr val="D0D8D0"/>
                      </a:solidFill>
                      <a:prstDash val="solid"/>
                      <a:round/>
                      <a:headEnd type="none" w="med" len="med"/>
                      <a:tailEnd type="none" w="med" len="med"/>
                    </a:lnT>
                    <a:lnB w="6350" cap="flat" cmpd="sng" algn="ctr">
                      <a:solidFill>
                        <a:srgbClr val="D0D8D0"/>
                      </a:solidFill>
                      <a:prstDash val="solid"/>
                      <a:round/>
                      <a:headEnd type="none" w="med" len="med"/>
                      <a:tailEnd type="none" w="med" len="med"/>
                    </a:lnB>
                    <a:solidFill>
                      <a:srgbClr val="2C5F2D"/>
                    </a:solidFill>
                  </a:tcPr>
                </a:tc>
                <a:tc>
                  <a:txBody>
                    <a:bodyPr/>
                    <a:lstStyle/>
                    <a:p>
                      <a:pPr marL="0" indent="0">
                        <a:buNone/>
                      </a:pPr>
                      <a:r>
                        <a:rPr lang="fr-FR" sz="1100" b="1" noProof="0" dirty="0">
                          <a:solidFill>
                            <a:srgbClr val="FFFFFF"/>
                          </a:solidFill>
                          <a:latin typeface="Calibri" pitchFamily="34" charset="0"/>
                          <a:ea typeface="Calibri" pitchFamily="34" charset="-122"/>
                          <a:cs typeface="Calibri" pitchFamily="34" charset="-120"/>
                        </a:rPr>
                        <a:t>Source</a:t>
                      </a:r>
                      <a:endParaRPr lang="fr-FR" sz="1100" noProof="0" dirty="0">
                        <a:latin typeface="Calibri" charset="0"/>
                        <a:ea typeface="Calibri" charset="0"/>
                        <a:cs typeface="Calibri" charset="0"/>
                      </a:endParaRPr>
                    </a:p>
                  </a:txBody>
                  <a:tcPr>
                    <a:lnL w="6350" cap="flat" cmpd="sng" algn="ctr">
                      <a:solidFill>
                        <a:srgbClr val="D0D8D0"/>
                      </a:solidFill>
                      <a:prstDash val="solid"/>
                      <a:round/>
                      <a:headEnd type="none" w="med" len="med"/>
                      <a:tailEnd type="none" w="med" len="med"/>
                    </a:lnL>
                    <a:lnR w="6350" cap="flat" cmpd="sng" algn="ctr">
                      <a:solidFill>
                        <a:srgbClr val="D0D8D0"/>
                      </a:solidFill>
                      <a:prstDash val="solid"/>
                      <a:round/>
                      <a:headEnd type="none" w="med" len="med"/>
                      <a:tailEnd type="none" w="med" len="med"/>
                    </a:lnR>
                    <a:lnT w="6350" cap="flat" cmpd="sng" algn="ctr">
                      <a:solidFill>
                        <a:srgbClr val="D0D8D0"/>
                      </a:solidFill>
                      <a:prstDash val="solid"/>
                      <a:round/>
                      <a:headEnd type="none" w="med" len="med"/>
                      <a:tailEnd type="none" w="med" len="med"/>
                    </a:lnT>
                    <a:lnB w="6350" cap="flat" cmpd="sng" algn="ctr">
                      <a:solidFill>
                        <a:srgbClr val="D0D8D0"/>
                      </a:solidFill>
                      <a:prstDash val="solid"/>
                      <a:round/>
                      <a:headEnd type="none" w="med" len="med"/>
                      <a:tailEnd type="none" w="med" len="med"/>
                    </a:lnB>
                    <a:solidFill>
                      <a:srgbClr val="2C5F2D"/>
                    </a:solidFill>
                  </a:tcPr>
                </a:tc>
                <a:extLst>
                  <a:ext uri="{0D108BD9-81ED-4DB2-BD59-A6C34878D82A}">
                    <a16:rowId xmlns:a16="http://schemas.microsoft.com/office/drawing/2014/main" val="10000"/>
                  </a:ext>
                </a:extLst>
              </a:tr>
              <a:tr h="526508">
                <a:tc>
                  <a:txBody>
                    <a:bodyPr/>
                    <a:lstStyle/>
                    <a:p>
                      <a:pPr marL="0" indent="0">
                        <a:buNone/>
                      </a:pPr>
                      <a:r>
                        <a:rPr lang="fr-FR" sz="1100" noProof="0" dirty="0">
                          <a:solidFill>
                            <a:srgbClr val="1A2A1A"/>
                          </a:solidFill>
                          <a:latin typeface="Calibri" pitchFamily="34" charset="0"/>
                          <a:ea typeface="Calibri" pitchFamily="34" charset="-122"/>
                          <a:cs typeface="Calibri" pitchFamily="34" charset="-120"/>
                        </a:rPr>
                        <a:t>Politique</a:t>
                      </a:r>
                      <a:endParaRPr lang="fr-FR" sz="1100" noProof="0" dirty="0">
                        <a:latin typeface="Calibri" charset="0"/>
                        <a:ea typeface="Calibri" charset="0"/>
                        <a:cs typeface="Calibri" charset="0"/>
                      </a:endParaRPr>
                    </a:p>
                  </a:txBody>
                  <a:tcPr>
                    <a:lnL w="6350" cap="flat" cmpd="sng" algn="ctr">
                      <a:solidFill>
                        <a:srgbClr val="D0D8D0"/>
                      </a:solidFill>
                      <a:prstDash val="solid"/>
                      <a:round/>
                      <a:headEnd type="none" w="med" len="med"/>
                      <a:tailEnd type="none" w="med" len="med"/>
                    </a:lnL>
                    <a:lnR w="6350" cap="flat" cmpd="sng" algn="ctr">
                      <a:solidFill>
                        <a:srgbClr val="D0D8D0"/>
                      </a:solidFill>
                      <a:prstDash val="solid"/>
                      <a:round/>
                      <a:headEnd type="none" w="med" len="med"/>
                      <a:tailEnd type="none" w="med" len="med"/>
                    </a:lnR>
                    <a:lnT w="6350" cap="flat" cmpd="sng" algn="ctr">
                      <a:solidFill>
                        <a:srgbClr val="D0D8D0"/>
                      </a:solidFill>
                      <a:prstDash val="solid"/>
                      <a:round/>
                      <a:headEnd type="none" w="med" len="med"/>
                      <a:tailEnd type="none" w="med" len="med"/>
                    </a:lnT>
                    <a:lnB w="6350" cap="flat" cmpd="sng" algn="ctr">
                      <a:solidFill>
                        <a:srgbClr val="D0D8D0"/>
                      </a:solidFill>
                      <a:prstDash val="solid"/>
                      <a:round/>
                      <a:headEnd type="none" w="med" len="med"/>
                      <a:tailEnd type="none" w="med" len="med"/>
                    </a:lnB>
                    <a:solidFill>
                      <a:srgbClr val="FFFFFF"/>
                    </a:solidFill>
                  </a:tcPr>
                </a:tc>
                <a:tc>
                  <a:txBody>
                    <a:bodyPr/>
                    <a:lstStyle/>
                    <a:p>
                      <a:pPr marL="0" indent="0">
                        <a:buNone/>
                      </a:pPr>
                      <a:r>
                        <a:rPr lang="fr-FR" sz="1100" noProof="0" dirty="0">
                          <a:solidFill>
                            <a:srgbClr val="1A2A1A"/>
                          </a:solidFill>
                          <a:latin typeface="Calibri" pitchFamily="34" charset="0"/>
                          <a:ea typeface="Calibri" pitchFamily="34" charset="-122"/>
                          <a:cs typeface="Calibri" pitchFamily="34" charset="-120"/>
                        </a:rPr>
                        <a:t>Stabilité politique (</a:t>
                      </a:r>
                      <a:r>
                        <a:rPr lang="fr-FR" sz="1100" noProof="0" dirty="0" err="1">
                          <a:solidFill>
                            <a:srgbClr val="1A2A1A"/>
                          </a:solidFill>
                          <a:latin typeface="Calibri" pitchFamily="34" charset="0"/>
                          <a:ea typeface="Calibri" pitchFamily="34" charset="-122"/>
                          <a:cs typeface="Calibri" pitchFamily="34" charset="-120"/>
                        </a:rPr>
                        <a:t>stab_politique</a:t>
                      </a:r>
                      <a:r>
                        <a:rPr lang="fr-FR" sz="1100" noProof="0" dirty="0">
                          <a:solidFill>
                            <a:srgbClr val="1A2A1A"/>
                          </a:solidFill>
                          <a:latin typeface="Calibri" pitchFamily="34" charset="0"/>
                          <a:ea typeface="Calibri" pitchFamily="34" charset="-122"/>
                          <a:cs typeface="Calibri" pitchFamily="34" charset="-120"/>
                        </a:rPr>
                        <a:t>)</a:t>
                      </a:r>
                      <a:endParaRPr lang="fr-FR" sz="1100" noProof="0" dirty="0">
                        <a:latin typeface="Calibri" charset="0"/>
                        <a:ea typeface="Calibri" charset="0"/>
                        <a:cs typeface="Calibri" charset="0"/>
                      </a:endParaRPr>
                    </a:p>
                  </a:txBody>
                  <a:tcPr>
                    <a:lnL w="6350" cap="flat" cmpd="sng" algn="ctr">
                      <a:solidFill>
                        <a:srgbClr val="D0D8D0"/>
                      </a:solidFill>
                      <a:prstDash val="solid"/>
                      <a:round/>
                      <a:headEnd type="none" w="med" len="med"/>
                      <a:tailEnd type="none" w="med" len="med"/>
                    </a:lnL>
                    <a:lnR w="6350" cap="flat" cmpd="sng" algn="ctr">
                      <a:solidFill>
                        <a:srgbClr val="D0D8D0"/>
                      </a:solidFill>
                      <a:prstDash val="solid"/>
                      <a:round/>
                      <a:headEnd type="none" w="med" len="med"/>
                      <a:tailEnd type="none" w="med" len="med"/>
                    </a:lnR>
                    <a:lnT w="6350" cap="flat" cmpd="sng" algn="ctr">
                      <a:solidFill>
                        <a:srgbClr val="D0D8D0"/>
                      </a:solidFill>
                      <a:prstDash val="solid"/>
                      <a:round/>
                      <a:headEnd type="none" w="med" len="med"/>
                      <a:tailEnd type="none" w="med" len="med"/>
                    </a:lnT>
                    <a:lnB w="6350" cap="flat" cmpd="sng" algn="ctr">
                      <a:solidFill>
                        <a:srgbClr val="D0D8D0"/>
                      </a:solidFill>
                      <a:prstDash val="solid"/>
                      <a:round/>
                      <a:headEnd type="none" w="med" len="med"/>
                      <a:tailEnd type="none" w="med" len="med"/>
                    </a:lnB>
                    <a:solidFill>
                      <a:srgbClr val="FFFFFF"/>
                    </a:solidFill>
                  </a:tcPr>
                </a:tc>
                <a:tc>
                  <a:txBody>
                    <a:bodyPr/>
                    <a:lstStyle/>
                    <a:p>
                      <a:pPr marL="0" indent="0">
                        <a:buNone/>
                      </a:pPr>
                      <a:r>
                        <a:rPr lang="fr-FR" sz="1100" noProof="0" dirty="0">
                          <a:solidFill>
                            <a:srgbClr val="1A2A1A"/>
                          </a:solidFill>
                          <a:latin typeface="Calibri" pitchFamily="34" charset="0"/>
                          <a:ea typeface="Calibri" pitchFamily="34" charset="-122"/>
                          <a:cs typeface="Calibri" pitchFamily="34" charset="-120"/>
                        </a:rPr>
                        <a:t>Banque Mondiale</a:t>
                      </a:r>
                      <a:endParaRPr lang="fr-FR" sz="1100" noProof="0" dirty="0">
                        <a:latin typeface="Calibri" charset="0"/>
                        <a:ea typeface="Calibri" charset="0"/>
                        <a:cs typeface="Calibri" charset="0"/>
                      </a:endParaRPr>
                    </a:p>
                  </a:txBody>
                  <a:tcPr>
                    <a:lnL w="6350" cap="flat" cmpd="sng" algn="ctr">
                      <a:solidFill>
                        <a:srgbClr val="D0D8D0"/>
                      </a:solidFill>
                      <a:prstDash val="solid"/>
                      <a:round/>
                      <a:headEnd type="none" w="med" len="med"/>
                      <a:tailEnd type="none" w="med" len="med"/>
                    </a:lnL>
                    <a:lnR w="6350" cap="flat" cmpd="sng" algn="ctr">
                      <a:solidFill>
                        <a:srgbClr val="D0D8D0"/>
                      </a:solidFill>
                      <a:prstDash val="solid"/>
                      <a:round/>
                      <a:headEnd type="none" w="med" len="med"/>
                      <a:tailEnd type="none" w="med" len="med"/>
                    </a:lnR>
                    <a:lnT w="6350" cap="flat" cmpd="sng" algn="ctr">
                      <a:solidFill>
                        <a:srgbClr val="D0D8D0"/>
                      </a:solidFill>
                      <a:prstDash val="solid"/>
                      <a:round/>
                      <a:headEnd type="none" w="med" len="med"/>
                      <a:tailEnd type="none" w="med" len="med"/>
                    </a:lnT>
                    <a:lnB w="6350" cap="flat" cmpd="sng" algn="ctr">
                      <a:solidFill>
                        <a:srgbClr val="D0D8D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6508">
                <a:tc>
                  <a:txBody>
                    <a:bodyPr/>
                    <a:lstStyle/>
                    <a:p>
                      <a:pPr marL="0" indent="0">
                        <a:buNone/>
                      </a:pPr>
                      <a:r>
                        <a:rPr lang="fr-FR" sz="1100" noProof="0" dirty="0">
                          <a:solidFill>
                            <a:srgbClr val="1A2A1A"/>
                          </a:solidFill>
                          <a:latin typeface="Calibri" pitchFamily="34" charset="0"/>
                          <a:ea typeface="Calibri" pitchFamily="34" charset="-122"/>
                          <a:cs typeface="Calibri" pitchFamily="34" charset="-120"/>
                        </a:rPr>
                        <a:t>Économique</a:t>
                      </a:r>
                      <a:endParaRPr lang="fr-FR" sz="1100" noProof="0" dirty="0">
                        <a:latin typeface="Calibri" charset="0"/>
                        <a:ea typeface="Calibri" charset="0"/>
                        <a:cs typeface="Calibri" charset="0"/>
                      </a:endParaRPr>
                    </a:p>
                  </a:txBody>
                  <a:tcPr>
                    <a:lnL w="6350" cap="flat" cmpd="sng" algn="ctr">
                      <a:solidFill>
                        <a:srgbClr val="D0D8D0"/>
                      </a:solidFill>
                      <a:prstDash val="solid"/>
                      <a:round/>
                      <a:headEnd type="none" w="med" len="med"/>
                      <a:tailEnd type="none" w="med" len="med"/>
                    </a:lnL>
                    <a:lnR w="6350" cap="flat" cmpd="sng" algn="ctr">
                      <a:solidFill>
                        <a:srgbClr val="D0D8D0"/>
                      </a:solidFill>
                      <a:prstDash val="solid"/>
                      <a:round/>
                      <a:headEnd type="none" w="med" len="med"/>
                      <a:tailEnd type="none" w="med" len="med"/>
                    </a:lnR>
                    <a:lnT w="6350" cap="flat" cmpd="sng" algn="ctr">
                      <a:solidFill>
                        <a:srgbClr val="D0D8D0"/>
                      </a:solidFill>
                      <a:prstDash val="solid"/>
                      <a:round/>
                      <a:headEnd type="none" w="med" len="med"/>
                      <a:tailEnd type="none" w="med" len="med"/>
                    </a:lnT>
                    <a:lnB w="6350" cap="flat" cmpd="sng" algn="ctr">
                      <a:solidFill>
                        <a:srgbClr val="D0D8D0"/>
                      </a:solidFill>
                      <a:prstDash val="solid"/>
                      <a:round/>
                      <a:headEnd type="none" w="med" len="med"/>
                      <a:tailEnd type="none" w="med" len="med"/>
                    </a:lnB>
                    <a:solidFill>
                      <a:srgbClr val="FFFFFF"/>
                    </a:solidFill>
                  </a:tcPr>
                </a:tc>
                <a:tc>
                  <a:txBody>
                    <a:bodyPr/>
                    <a:lstStyle/>
                    <a:p>
                      <a:pPr marL="0" indent="0">
                        <a:buNone/>
                      </a:pPr>
                      <a:r>
                        <a:rPr lang="fr-FR" sz="1100" noProof="0" dirty="0">
                          <a:solidFill>
                            <a:srgbClr val="1A2A1A"/>
                          </a:solidFill>
                          <a:latin typeface="Calibri" pitchFamily="34" charset="0"/>
                          <a:ea typeface="Calibri" pitchFamily="34" charset="-122"/>
                          <a:cs typeface="Calibri" pitchFamily="34" charset="-120"/>
                        </a:rPr>
                        <a:t>PIB/</a:t>
                      </a:r>
                      <a:r>
                        <a:rPr lang="fr-FR" sz="1100" noProof="0" dirty="0" err="1">
                          <a:solidFill>
                            <a:srgbClr val="1A2A1A"/>
                          </a:solidFill>
                          <a:latin typeface="Calibri" pitchFamily="34" charset="0"/>
                          <a:ea typeface="Calibri" pitchFamily="34" charset="-122"/>
                          <a:cs typeface="Calibri" pitchFamily="34" charset="-120"/>
                        </a:rPr>
                        <a:t>hab</a:t>
                      </a:r>
                      <a:r>
                        <a:rPr lang="fr-FR" sz="1100" noProof="0" dirty="0">
                          <a:solidFill>
                            <a:srgbClr val="1A2A1A"/>
                          </a:solidFill>
                          <a:latin typeface="Calibri" pitchFamily="34" charset="0"/>
                          <a:ea typeface="Calibri" pitchFamily="34" charset="-122"/>
                          <a:cs typeface="Calibri" pitchFamily="34" charset="-120"/>
                        </a:rPr>
                        <a:t>, Facilité des affaires (</a:t>
                      </a:r>
                      <a:r>
                        <a:rPr lang="fr-FR" sz="1100" noProof="0" dirty="0" err="1">
                          <a:solidFill>
                            <a:srgbClr val="1A2A1A"/>
                          </a:solidFill>
                          <a:latin typeface="Calibri" pitchFamily="34" charset="0"/>
                          <a:ea typeface="Calibri" pitchFamily="34" charset="-122"/>
                          <a:cs typeface="Calibri" pitchFamily="34" charset="-120"/>
                        </a:rPr>
                        <a:t>ease_business</a:t>
                      </a:r>
                      <a:r>
                        <a:rPr lang="fr-FR" sz="1100" noProof="0" dirty="0">
                          <a:solidFill>
                            <a:srgbClr val="1A2A1A"/>
                          </a:solidFill>
                          <a:latin typeface="Calibri" pitchFamily="34" charset="0"/>
                          <a:ea typeface="Calibri" pitchFamily="34" charset="-122"/>
                          <a:cs typeface="Calibri" pitchFamily="34" charset="-120"/>
                        </a:rPr>
                        <a:t>)</a:t>
                      </a:r>
                      <a:endParaRPr lang="fr-FR" sz="1100" noProof="0" dirty="0">
                        <a:latin typeface="Calibri" charset="0"/>
                        <a:ea typeface="Calibri" charset="0"/>
                        <a:cs typeface="Calibri" charset="0"/>
                      </a:endParaRPr>
                    </a:p>
                  </a:txBody>
                  <a:tcPr>
                    <a:lnL w="6350" cap="flat" cmpd="sng" algn="ctr">
                      <a:solidFill>
                        <a:srgbClr val="D0D8D0"/>
                      </a:solidFill>
                      <a:prstDash val="solid"/>
                      <a:round/>
                      <a:headEnd type="none" w="med" len="med"/>
                      <a:tailEnd type="none" w="med" len="med"/>
                    </a:lnL>
                    <a:lnR w="6350" cap="flat" cmpd="sng" algn="ctr">
                      <a:solidFill>
                        <a:srgbClr val="D0D8D0"/>
                      </a:solidFill>
                      <a:prstDash val="solid"/>
                      <a:round/>
                      <a:headEnd type="none" w="med" len="med"/>
                      <a:tailEnd type="none" w="med" len="med"/>
                    </a:lnR>
                    <a:lnT w="6350" cap="flat" cmpd="sng" algn="ctr">
                      <a:solidFill>
                        <a:srgbClr val="D0D8D0"/>
                      </a:solidFill>
                      <a:prstDash val="solid"/>
                      <a:round/>
                      <a:headEnd type="none" w="med" len="med"/>
                      <a:tailEnd type="none" w="med" len="med"/>
                    </a:lnT>
                    <a:lnB w="6350" cap="flat" cmpd="sng" algn="ctr">
                      <a:solidFill>
                        <a:srgbClr val="D0D8D0"/>
                      </a:solidFill>
                      <a:prstDash val="solid"/>
                      <a:round/>
                      <a:headEnd type="none" w="med" len="med"/>
                      <a:tailEnd type="none" w="med" len="med"/>
                    </a:lnB>
                    <a:solidFill>
                      <a:srgbClr val="FFFFFF"/>
                    </a:solidFill>
                  </a:tcPr>
                </a:tc>
                <a:tc>
                  <a:txBody>
                    <a:bodyPr/>
                    <a:lstStyle/>
                    <a:p>
                      <a:pPr marL="0" indent="0">
                        <a:buNone/>
                      </a:pPr>
                      <a:r>
                        <a:rPr lang="fr-FR" sz="1100" noProof="0" dirty="0">
                          <a:solidFill>
                            <a:srgbClr val="1A2A1A"/>
                          </a:solidFill>
                          <a:latin typeface="Calibri" pitchFamily="34" charset="0"/>
                          <a:ea typeface="Calibri" pitchFamily="34" charset="-122"/>
                          <a:cs typeface="Calibri" pitchFamily="34" charset="-120"/>
                        </a:rPr>
                        <a:t>Banque Mondiale</a:t>
                      </a:r>
                      <a:endParaRPr lang="fr-FR" sz="1100" noProof="0" dirty="0">
                        <a:latin typeface="Calibri" charset="0"/>
                        <a:ea typeface="Calibri" charset="0"/>
                        <a:cs typeface="Calibri" charset="0"/>
                      </a:endParaRPr>
                    </a:p>
                  </a:txBody>
                  <a:tcPr>
                    <a:lnL w="6350" cap="flat" cmpd="sng" algn="ctr">
                      <a:solidFill>
                        <a:srgbClr val="D0D8D0"/>
                      </a:solidFill>
                      <a:prstDash val="solid"/>
                      <a:round/>
                      <a:headEnd type="none" w="med" len="med"/>
                      <a:tailEnd type="none" w="med" len="med"/>
                    </a:lnL>
                    <a:lnR w="6350" cap="flat" cmpd="sng" algn="ctr">
                      <a:solidFill>
                        <a:srgbClr val="D0D8D0"/>
                      </a:solidFill>
                      <a:prstDash val="solid"/>
                      <a:round/>
                      <a:headEnd type="none" w="med" len="med"/>
                      <a:tailEnd type="none" w="med" len="med"/>
                    </a:lnR>
                    <a:lnT w="6350" cap="flat" cmpd="sng" algn="ctr">
                      <a:solidFill>
                        <a:srgbClr val="D0D8D0"/>
                      </a:solidFill>
                      <a:prstDash val="solid"/>
                      <a:round/>
                      <a:headEnd type="none" w="med" len="med"/>
                      <a:tailEnd type="none" w="med" len="med"/>
                    </a:lnT>
                    <a:lnB w="6350" cap="flat" cmpd="sng" algn="ctr">
                      <a:solidFill>
                        <a:srgbClr val="D0D8D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26508">
                <a:tc>
                  <a:txBody>
                    <a:bodyPr/>
                    <a:lstStyle/>
                    <a:p>
                      <a:pPr marL="0" indent="0">
                        <a:buNone/>
                      </a:pPr>
                      <a:r>
                        <a:rPr lang="fr-FR" sz="1100" noProof="0" dirty="0">
                          <a:solidFill>
                            <a:srgbClr val="1A2A1A"/>
                          </a:solidFill>
                          <a:latin typeface="Calibri" pitchFamily="34" charset="0"/>
                          <a:ea typeface="Calibri" pitchFamily="34" charset="-122"/>
                          <a:cs typeface="Calibri" pitchFamily="34" charset="-120"/>
                        </a:rPr>
                        <a:t>Social</a:t>
                      </a:r>
                      <a:endParaRPr lang="fr-FR" sz="1100" noProof="0" dirty="0">
                        <a:latin typeface="Calibri" charset="0"/>
                        <a:ea typeface="Calibri" charset="0"/>
                        <a:cs typeface="Calibri" charset="0"/>
                      </a:endParaRPr>
                    </a:p>
                  </a:txBody>
                  <a:tcPr>
                    <a:lnL w="6350" cap="flat" cmpd="sng" algn="ctr">
                      <a:solidFill>
                        <a:srgbClr val="D0D8D0"/>
                      </a:solidFill>
                      <a:prstDash val="solid"/>
                      <a:round/>
                      <a:headEnd type="none" w="med" len="med"/>
                      <a:tailEnd type="none" w="med" len="med"/>
                    </a:lnL>
                    <a:lnR w="6350" cap="flat" cmpd="sng" algn="ctr">
                      <a:solidFill>
                        <a:srgbClr val="D0D8D0"/>
                      </a:solidFill>
                      <a:prstDash val="solid"/>
                      <a:round/>
                      <a:headEnd type="none" w="med" len="med"/>
                      <a:tailEnd type="none" w="med" len="med"/>
                    </a:lnR>
                    <a:lnT w="6350" cap="flat" cmpd="sng" algn="ctr">
                      <a:solidFill>
                        <a:srgbClr val="D0D8D0"/>
                      </a:solidFill>
                      <a:prstDash val="solid"/>
                      <a:round/>
                      <a:headEnd type="none" w="med" len="med"/>
                      <a:tailEnd type="none" w="med" len="med"/>
                    </a:lnT>
                    <a:lnB w="6350" cap="flat" cmpd="sng" algn="ctr">
                      <a:solidFill>
                        <a:srgbClr val="D0D8D0"/>
                      </a:solidFill>
                      <a:prstDash val="solid"/>
                      <a:round/>
                      <a:headEnd type="none" w="med" len="med"/>
                      <a:tailEnd type="none" w="med" len="med"/>
                    </a:lnB>
                    <a:solidFill>
                      <a:srgbClr val="FFFFFF"/>
                    </a:solidFill>
                  </a:tcPr>
                </a:tc>
                <a:tc>
                  <a:txBody>
                    <a:bodyPr/>
                    <a:lstStyle/>
                    <a:p>
                      <a:pPr marL="0" indent="0">
                        <a:buNone/>
                      </a:pPr>
                      <a:r>
                        <a:rPr lang="fr-FR" sz="1100" noProof="0" dirty="0">
                          <a:solidFill>
                            <a:srgbClr val="1A2A1A"/>
                          </a:solidFill>
                          <a:latin typeface="Calibri" pitchFamily="34" charset="0"/>
                          <a:ea typeface="Calibri" pitchFamily="34" charset="-122"/>
                          <a:cs typeface="Calibri" pitchFamily="34" charset="-120"/>
                        </a:rPr>
                        <a:t>Population, Taux d'urbanisation</a:t>
                      </a:r>
                      <a:endParaRPr lang="fr-FR" sz="1100" noProof="0" dirty="0">
                        <a:latin typeface="Calibri" charset="0"/>
                        <a:ea typeface="Calibri" charset="0"/>
                        <a:cs typeface="Calibri" charset="0"/>
                      </a:endParaRPr>
                    </a:p>
                  </a:txBody>
                  <a:tcPr>
                    <a:lnL w="6350" cap="flat" cmpd="sng" algn="ctr">
                      <a:solidFill>
                        <a:srgbClr val="D0D8D0"/>
                      </a:solidFill>
                      <a:prstDash val="solid"/>
                      <a:round/>
                      <a:headEnd type="none" w="med" len="med"/>
                      <a:tailEnd type="none" w="med" len="med"/>
                    </a:lnL>
                    <a:lnR w="6350" cap="flat" cmpd="sng" algn="ctr">
                      <a:solidFill>
                        <a:srgbClr val="D0D8D0"/>
                      </a:solidFill>
                      <a:prstDash val="solid"/>
                      <a:round/>
                      <a:headEnd type="none" w="med" len="med"/>
                      <a:tailEnd type="none" w="med" len="med"/>
                    </a:lnR>
                    <a:lnT w="6350" cap="flat" cmpd="sng" algn="ctr">
                      <a:solidFill>
                        <a:srgbClr val="D0D8D0"/>
                      </a:solidFill>
                      <a:prstDash val="solid"/>
                      <a:round/>
                      <a:headEnd type="none" w="med" len="med"/>
                      <a:tailEnd type="none" w="med" len="med"/>
                    </a:lnT>
                    <a:lnB w="6350" cap="flat" cmpd="sng" algn="ctr">
                      <a:solidFill>
                        <a:srgbClr val="D0D8D0"/>
                      </a:solidFill>
                      <a:prstDash val="solid"/>
                      <a:round/>
                      <a:headEnd type="none" w="med" len="med"/>
                      <a:tailEnd type="none" w="med" len="med"/>
                    </a:lnB>
                    <a:solidFill>
                      <a:srgbClr val="FFFFFF"/>
                    </a:solidFill>
                  </a:tcPr>
                </a:tc>
                <a:tc>
                  <a:txBody>
                    <a:bodyPr/>
                    <a:lstStyle/>
                    <a:p>
                      <a:pPr marL="0" indent="0">
                        <a:buNone/>
                      </a:pPr>
                      <a:r>
                        <a:rPr lang="fr-FR" sz="1100" noProof="0" dirty="0">
                          <a:solidFill>
                            <a:srgbClr val="1A2A1A"/>
                          </a:solidFill>
                          <a:latin typeface="Calibri" pitchFamily="34" charset="0"/>
                          <a:ea typeface="Calibri" pitchFamily="34" charset="-122"/>
                          <a:cs typeface="Calibri" pitchFamily="34" charset="-120"/>
                        </a:rPr>
                        <a:t>Banque Mondiale</a:t>
                      </a:r>
                      <a:endParaRPr lang="fr-FR" sz="1100" noProof="0" dirty="0">
                        <a:latin typeface="Calibri" charset="0"/>
                        <a:ea typeface="Calibri" charset="0"/>
                        <a:cs typeface="Calibri" charset="0"/>
                      </a:endParaRPr>
                    </a:p>
                  </a:txBody>
                  <a:tcPr>
                    <a:lnL w="6350" cap="flat" cmpd="sng" algn="ctr">
                      <a:solidFill>
                        <a:srgbClr val="D0D8D0"/>
                      </a:solidFill>
                      <a:prstDash val="solid"/>
                      <a:round/>
                      <a:headEnd type="none" w="med" len="med"/>
                      <a:tailEnd type="none" w="med" len="med"/>
                    </a:lnL>
                    <a:lnR w="6350" cap="flat" cmpd="sng" algn="ctr">
                      <a:solidFill>
                        <a:srgbClr val="D0D8D0"/>
                      </a:solidFill>
                      <a:prstDash val="solid"/>
                      <a:round/>
                      <a:headEnd type="none" w="med" len="med"/>
                      <a:tailEnd type="none" w="med" len="med"/>
                    </a:lnR>
                    <a:lnT w="6350" cap="flat" cmpd="sng" algn="ctr">
                      <a:solidFill>
                        <a:srgbClr val="D0D8D0"/>
                      </a:solidFill>
                      <a:prstDash val="solid"/>
                      <a:round/>
                      <a:headEnd type="none" w="med" len="med"/>
                      <a:tailEnd type="none" w="med" len="med"/>
                    </a:lnT>
                    <a:lnB w="6350" cap="flat" cmpd="sng" algn="ctr">
                      <a:solidFill>
                        <a:srgbClr val="D0D8D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6508">
                <a:tc>
                  <a:txBody>
                    <a:bodyPr/>
                    <a:lstStyle/>
                    <a:p>
                      <a:pPr marL="0" indent="0">
                        <a:buNone/>
                      </a:pPr>
                      <a:r>
                        <a:rPr lang="fr-FR" sz="1100" noProof="0" dirty="0">
                          <a:solidFill>
                            <a:srgbClr val="1A2A1A"/>
                          </a:solidFill>
                          <a:latin typeface="Calibri" pitchFamily="34" charset="0"/>
                          <a:ea typeface="Calibri" pitchFamily="34" charset="-122"/>
                          <a:cs typeface="Calibri" pitchFamily="34" charset="-120"/>
                        </a:rPr>
                        <a:t>Économique / Marché</a:t>
                      </a:r>
                      <a:endParaRPr lang="fr-FR" sz="1100" noProof="0" dirty="0">
                        <a:latin typeface="Calibri" charset="0"/>
                        <a:ea typeface="Calibri" charset="0"/>
                        <a:cs typeface="Calibri" charset="0"/>
                      </a:endParaRPr>
                    </a:p>
                  </a:txBody>
                  <a:tcPr>
                    <a:lnL w="6350" cap="flat" cmpd="sng" algn="ctr">
                      <a:solidFill>
                        <a:srgbClr val="D0D8D0"/>
                      </a:solidFill>
                      <a:prstDash val="solid"/>
                      <a:round/>
                      <a:headEnd type="none" w="med" len="med"/>
                      <a:tailEnd type="none" w="med" len="med"/>
                    </a:lnL>
                    <a:lnR w="6350" cap="flat" cmpd="sng" algn="ctr">
                      <a:solidFill>
                        <a:srgbClr val="D0D8D0"/>
                      </a:solidFill>
                      <a:prstDash val="solid"/>
                      <a:round/>
                      <a:headEnd type="none" w="med" len="med"/>
                      <a:tailEnd type="none" w="med" len="med"/>
                    </a:lnR>
                    <a:lnT w="6350" cap="flat" cmpd="sng" algn="ctr">
                      <a:solidFill>
                        <a:srgbClr val="D0D8D0"/>
                      </a:solidFill>
                      <a:prstDash val="solid"/>
                      <a:round/>
                      <a:headEnd type="none" w="med" len="med"/>
                      <a:tailEnd type="none" w="med" len="med"/>
                    </a:lnT>
                    <a:lnB w="6350" cap="flat" cmpd="sng" algn="ctr">
                      <a:solidFill>
                        <a:srgbClr val="D0D8D0"/>
                      </a:solidFill>
                      <a:prstDash val="solid"/>
                      <a:round/>
                      <a:headEnd type="none" w="med" len="med"/>
                      <a:tailEnd type="none" w="med" len="med"/>
                    </a:lnB>
                    <a:solidFill>
                      <a:srgbClr val="FFFFFF"/>
                    </a:solidFill>
                  </a:tcPr>
                </a:tc>
                <a:tc>
                  <a:txBody>
                    <a:bodyPr/>
                    <a:lstStyle/>
                    <a:p>
                      <a:pPr marL="0" indent="0">
                        <a:buNone/>
                      </a:pPr>
                      <a:r>
                        <a:rPr lang="fr-FR" sz="1100" noProof="0" dirty="0" err="1">
                          <a:solidFill>
                            <a:srgbClr val="1A2A1A"/>
                          </a:solidFill>
                          <a:latin typeface="Calibri" pitchFamily="34" charset="0"/>
                          <a:ea typeface="Calibri" pitchFamily="34" charset="-122"/>
                          <a:cs typeface="Calibri" pitchFamily="34" charset="-120"/>
                        </a:rPr>
                        <a:t>Affordability</a:t>
                      </a:r>
                      <a:r>
                        <a:rPr lang="fr-FR" sz="1100" noProof="0" dirty="0">
                          <a:solidFill>
                            <a:srgbClr val="1A2A1A"/>
                          </a:solidFill>
                          <a:latin typeface="Calibri" pitchFamily="34" charset="0"/>
                          <a:ea typeface="Calibri" pitchFamily="34" charset="-122"/>
                          <a:cs typeface="Calibri" pitchFamily="34" charset="-120"/>
                        </a:rPr>
                        <a:t> (pouvoir d'achat alimentaire)</a:t>
                      </a:r>
                      <a:endParaRPr lang="fr-FR" sz="1100" noProof="0" dirty="0">
                        <a:latin typeface="Calibri" charset="0"/>
                        <a:ea typeface="Calibri" charset="0"/>
                        <a:cs typeface="Calibri" charset="0"/>
                      </a:endParaRPr>
                    </a:p>
                  </a:txBody>
                  <a:tcPr>
                    <a:lnL w="6350" cap="flat" cmpd="sng" algn="ctr">
                      <a:solidFill>
                        <a:srgbClr val="D0D8D0"/>
                      </a:solidFill>
                      <a:prstDash val="solid"/>
                      <a:round/>
                      <a:headEnd type="none" w="med" len="med"/>
                      <a:tailEnd type="none" w="med" len="med"/>
                    </a:lnL>
                    <a:lnR w="6350" cap="flat" cmpd="sng" algn="ctr">
                      <a:solidFill>
                        <a:srgbClr val="D0D8D0"/>
                      </a:solidFill>
                      <a:prstDash val="solid"/>
                      <a:round/>
                      <a:headEnd type="none" w="med" len="med"/>
                      <a:tailEnd type="none" w="med" len="med"/>
                    </a:lnR>
                    <a:lnT w="6350" cap="flat" cmpd="sng" algn="ctr">
                      <a:solidFill>
                        <a:srgbClr val="D0D8D0"/>
                      </a:solidFill>
                      <a:prstDash val="solid"/>
                      <a:round/>
                      <a:headEnd type="none" w="med" len="med"/>
                      <a:tailEnd type="none" w="med" len="med"/>
                    </a:lnT>
                    <a:lnB w="6350" cap="flat" cmpd="sng" algn="ctr">
                      <a:solidFill>
                        <a:srgbClr val="D0D8D0"/>
                      </a:solidFill>
                      <a:prstDash val="solid"/>
                      <a:round/>
                      <a:headEnd type="none" w="med" len="med"/>
                      <a:tailEnd type="none" w="med" len="med"/>
                    </a:lnB>
                    <a:solidFill>
                      <a:srgbClr val="FFFFFF"/>
                    </a:solidFill>
                  </a:tcPr>
                </a:tc>
                <a:tc>
                  <a:txBody>
                    <a:bodyPr/>
                    <a:lstStyle/>
                    <a:p>
                      <a:pPr marL="0" indent="0">
                        <a:buNone/>
                      </a:pPr>
                      <a:r>
                        <a:rPr lang="fr-FR" sz="1100" noProof="0" dirty="0">
                          <a:solidFill>
                            <a:srgbClr val="1A2A1A"/>
                          </a:solidFill>
                          <a:latin typeface="Calibri" pitchFamily="34" charset="0"/>
                          <a:ea typeface="Calibri" pitchFamily="34" charset="-122"/>
                          <a:cs typeface="Calibri" pitchFamily="34" charset="-120"/>
                        </a:rPr>
                        <a:t>FAO</a:t>
                      </a:r>
                      <a:endParaRPr lang="fr-FR" sz="1100" noProof="0" dirty="0">
                        <a:latin typeface="Calibri" charset="0"/>
                        <a:ea typeface="Calibri" charset="0"/>
                        <a:cs typeface="Calibri" charset="0"/>
                      </a:endParaRPr>
                    </a:p>
                  </a:txBody>
                  <a:tcPr>
                    <a:lnL w="6350" cap="flat" cmpd="sng" algn="ctr">
                      <a:solidFill>
                        <a:srgbClr val="D0D8D0"/>
                      </a:solidFill>
                      <a:prstDash val="solid"/>
                      <a:round/>
                      <a:headEnd type="none" w="med" len="med"/>
                      <a:tailEnd type="none" w="med" len="med"/>
                    </a:lnL>
                    <a:lnR w="6350" cap="flat" cmpd="sng" algn="ctr">
                      <a:solidFill>
                        <a:srgbClr val="D0D8D0"/>
                      </a:solidFill>
                      <a:prstDash val="solid"/>
                      <a:round/>
                      <a:headEnd type="none" w="med" len="med"/>
                      <a:tailEnd type="none" w="med" len="med"/>
                    </a:lnR>
                    <a:lnT w="6350" cap="flat" cmpd="sng" algn="ctr">
                      <a:solidFill>
                        <a:srgbClr val="D0D8D0"/>
                      </a:solidFill>
                      <a:prstDash val="solid"/>
                      <a:round/>
                      <a:headEnd type="none" w="med" len="med"/>
                      <a:tailEnd type="none" w="med" len="med"/>
                    </a:lnT>
                    <a:lnB w="6350" cap="flat" cmpd="sng" algn="ctr">
                      <a:solidFill>
                        <a:srgbClr val="D0D8D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26508">
                <a:tc>
                  <a:txBody>
                    <a:bodyPr/>
                    <a:lstStyle/>
                    <a:p>
                      <a:pPr marL="0" indent="0">
                        <a:buNone/>
                      </a:pPr>
                      <a:r>
                        <a:rPr lang="fr-FR" sz="1100" noProof="0" dirty="0">
                          <a:solidFill>
                            <a:srgbClr val="1A2A1A"/>
                          </a:solidFill>
                          <a:latin typeface="Calibri" pitchFamily="34" charset="0"/>
                          <a:ea typeface="Calibri" pitchFamily="34" charset="-122"/>
                          <a:cs typeface="Calibri" pitchFamily="34" charset="-120"/>
                        </a:rPr>
                        <a:t>Sectoriel</a:t>
                      </a:r>
                      <a:endParaRPr lang="fr-FR" sz="1100" noProof="0" dirty="0">
                        <a:latin typeface="Calibri" charset="0"/>
                        <a:ea typeface="Calibri" charset="0"/>
                        <a:cs typeface="Calibri" charset="0"/>
                      </a:endParaRPr>
                    </a:p>
                  </a:txBody>
                  <a:tcPr>
                    <a:lnL w="6350" cap="flat" cmpd="sng" algn="ctr">
                      <a:solidFill>
                        <a:srgbClr val="D0D8D0"/>
                      </a:solidFill>
                      <a:prstDash val="solid"/>
                      <a:round/>
                      <a:headEnd type="none" w="med" len="med"/>
                      <a:tailEnd type="none" w="med" len="med"/>
                    </a:lnL>
                    <a:lnR w="6350" cap="flat" cmpd="sng" algn="ctr">
                      <a:solidFill>
                        <a:srgbClr val="D0D8D0"/>
                      </a:solidFill>
                      <a:prstDash val="solid"/>
                      <a:round/>
                      <a:headEnd type="none" w="med" len="med"/>
                      <a:tailEnd type="none" w="med" len="med"/>
                    </a:lnR>
                    <a:lnT w="6350" cap="flat" cmpd="sng" algn="ctr">
                      <a:solidFill>
                        <a:srgbClr val="D0D8D0"/>
                      </a:solidFill>
                      <a:prstDash val="solid"/>
                      <a:round/>
                      <a:headEnd type="none" w="med" len="med"/>
                      <a:tailEnd type="none" w="med" len="med"/>
                    </a:lnT>
                    <a:lnB w="6350" cap="flat" cmpd="sng" algn="ctr">
                      <a:solidFill>
                        <a:srgbClr val="D0D8D0"/>
                      </a:solidFill>
                      <a:prstDash val="solid"/>
                      <a:round/>
                      <a:headEnd type="none" w="med" len="med"/>
                      <a:tailEnd type="none" w="med" len="med"/>
                    </a:lnB>
                    <a:solidFill>
                      <a:srgbClr val="FFFFFF"/>
                    </a:solidFill>
                  </a:tcPr>
                </a:tc>
                <a:tc>
                  <a:txBody>
                    <a:bodyPr/>
                    <a:lstStyle/>
                    <a:p>
                      <a:pPr marL="0" indent="0">
                        <a:buNone/>
                      </a:pPr>
                      <a:r>
                        <a:rPr lang="fr-FR" sz="1100" noProof="0" dirty="0">
                          <a:solidFill>
                            <a:srgbClr val="1A2A1A"/>
                          </a:solidFill>
                          <a:latin typeface="Calibri" pitchFamily="34" charset="0"/>
                          <a:ea typeface="Calibri" pitchFamily="34" charset="-122"/>
                          <a:cs typeface="Calibri" pitchFamily="34" charset="-120"/>
                        </a:rPr>
                        <a:t>Disponibilité alimentaire, Production/</a:t>
                      </a:r>
                      <a:r>
                        <a:rPr lang="fr-FR" sz="1100" noProof="0" dirty="0" err="1">
                          <a:solidFill>
                            <a:srgbClr val="1A2A1A"/>
                          </a:solidFill>
                          <a:latin typeface="Calibri" pitchFamily="34" charset="0"/>
                          <a:ea typeface="Calibri" pitchFamily="34" charset="-122"/>
                          <a:cs typeface="Calibri" pitchFamily="34" charset="-120"/>
                        </a:rPr>
                        <a:t>hab</a:t>
                      </a:r>
                      <a:r>
                        <a:rPr lang="fr-FR" sz="1100" noProof="0" dirty="0">
                          <a:solidFill>
                            <a:srgbClr val="1A2A1A"/>
                          </a:solidFill>
                          <a:latin typeface="Calibri" pitchFamily="34" charset="0"/>
                          <a:ea typeface="Calibri" pitchFamily="34" charset="-122"/>
                          <a:cs typeface="Calibri" pitchFamily="34" charset="-120"/>
                        </a:rPr>
                        <a:t>, Import/</a:t>
                      </a:r>
                      <a:r>
                        <a:rPr lang="fr-FR" sz="1100" noProof="0" dirty="0" err="1">
                          <a:solidFill>
                            <a:srgbClr val="1A2A1A"/>
                          </a:solidFill>
                          <a:latin typeface="Calibri" pitchFamily="34" charset="0"/>
                          <a:ea typeface="Calibri" pitchFamily="34" charset="-122"/>
                          <a:cs typeface="Calibri" pitchFamily="34" charset="-120"/>
                        </a:rPr>
                        <a:t>hab</a:t>
                      </a:r>
                      <a:endParaRPr lang="fr-FR" sz="1100" noProof="0" dirty="0">
                        <a:latin typeface="Calibri" charset="0"/>
                        <a:ea typeface="Calibri" charset="0"/>
                        <a:cs typeface="Calibri" charset="0"/>
                      </a:endParaRPr>
                    </a:p>
                  </a:txBody>
                  <a:tcPr>
                    <a:lnL w="6350" cap="flat" cmpd="sng" algn="ctr">
                      <a:solidFill>
                        <a:srgbClr val="D0D8D0"/>
                      </a:solidFill>
                      <a:prstDash val="solid"/>
                      <a:round/>
                      <a:headEnd type="none" w="med" len="med"/>
                      <a:tailEnd type="none" w="med" len="med"/>
                    </a:lnL>
                    <a:lnR w="6350" cap="flat" cmpd="sng" algn="ctr">
                      <a:solidFill>
                        <a:srgbClr val="D0D8D0"/>
                      </a:solidFill>
                      <a:prstDash val="solid"/>
                      <a:round/>
                      <a:headEnd type="none" w="med" len="med"/>
                      <a:tailEnd type="none" w="med" len="med"/>
                    </a:lnR>
                    <a:lnT w="6350" cap="flat" cmpd="sng" algn="ctr">
                      <a:solidFill>
                        <a:srgbClr val="D0D8D0"/>
                      </a:solidFill>
                      <a:prstDash val="solid"/>
                      <a:round/>
                      <a:headEnd type="none" w="med" len="med"/>
                      <a:tailEnd type="none" w="med" len="med"/>
                    </a:lnT>
                    <a:lnB w="6350" cap="flat" cmpd="sng" algn="ctr">
                      <a:solidFill>
                        <a:srgbClr val="D0D8D0"/>
                      </a:solidFill>
                      <a:prstDash val="solid"/>
                      <a:round/>
                      <a:headEnd type="none" w="med" len="med"/>
                      <a:tailEnd type="none" w="med" len="med"/>
                    </a:lnB>
                    <a:solidFill>
                      <a:srgbClr val="FFFFFF"/>
                    </a:solidFill>
                  </a:tcPr>
                </a:tc>
                <a:tc>
                  <a:txBody>
                    <a:bodyPr/>
                    <a:lstStyle/>
                    <a:p>
                      <a:pPr marL="0" indent="0">
                        <a:buNone/>
                      </a:pPr>
                      <a:r>
                        <a:rPr lang="fr-FR" sz="1100" noProof="0" dirty="0">
                          <a:solidFill>
                            <a:srgbClr val="1A2A1A"/>
                          </a:solidFill>
                          <a:latin typeface="Calibri" pitchFamily="34" charset="0"/>
                          <a:ea typeface="Calibri" pitchFamily="34" charset="-122"/>
                          <a:cs typeface="Calibri" pitchFamily="34" charset="-120"/>
                        </a:rPr>
                        <a:t>FAO</a:t>
                      </a:r>
                      <a:endParaRPr lang="fr-FR" sz="1100" noProof="0" dirty="0">
                        <a:latin typeface="Calibri" charset="0"/>
                        <a:ea typeface="Calibri" charset="0"/>
                        <a:cs typeface="Calibri" charset="0"/>
                      </a:endParaRPr>
                    </a:p>
                  </a:txBody>
                  <a:tcPr>
                    <a:lnL w="6350" cap="flat" cmpd="sng" algn="ctr">
                      <a:solidFill>
                        <a:srgbClr val="D0D8D0"/>
                      </a:solidFill>
                      <a:prstDash val="solid"/>
                      <a:round/>
                      <a:headEnd type="none" w="med" len="med"/>
                      <a:tailEnd type="none" w="med" len="med"/>
                    </a:lnL>
                    <a:lnR w="6350" cap="flat" cmpd="sng" algn="ctr">
                      <a:solidFill>
                        <a:srgbClr val="D0D8D0"/>
                      </a:solidFill>
                      <a:prstDash val="solid"/>
                      <a:round/>
                      <a:headEnd type="none" w="med" len="med"/>
                      <a:tailEnd type="none" w="med" len="med"/>
                    </a:lnR>
                    <a:lnT w="6350" cap="flat" cmpd="sng" algn="ctr">
                      <a:solidFill>
                        <a:srgbClr val="D0D8D0"/>
                      </a:solidFill>
                      <a:prstDash val="solid"/>
                      <a:round/>
                      <a:headEnd type="none" w="med" len="med"/>
                      <a:tailEnd type="none" w="med" len="med"/>
                    </a:lnT>
                    <a:lnB w="6350" cap="flat" cmpd="sng" algn="ctr">
                      <a:solidFill>
                        <a:srgbClr val="D0D8D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26508">
                <a:tc>
                  <a:txBody>
                    <a:bodyPr/>
                    <a:lstStyle/>
                    <a:p>
                      <a:pPr marL="0" indent="0">
                        <a:buNone/>
                      </a:pPr>
                      <a:r>
                        <a:rPr lang="fr-FR" sz="1100" noProof="0" dirty="0">
                          <a:solidFill>
                            <a:srgbClr val="1A2A1A"/>
                          </a:solidFill>
                          <a:latin typeface="Calibri" pitchFamily="34" charset="0"/>
                          <a:ea typeface="Calibri" pitchFamily="34" charset="-122"/>
                          <a:cs typeface="Calibri" pitchFamily="34" charset="-120"/>
                        </a:rPr>
                        <a:t>Commerce</a:t>
                      </a:r>
                      <a:endParaRPr lang="fr-FR" sz="1100" noProof="0" dirty="0">
                        <a:latin typeface="Calibri" charset="0"/>
                        <a:ea typeface="Calibri" charset="0"/>
                        <a:cs typeface="Calibri" charset="0"/>
                      </a:endParaRPr>
                    </a:p>
                  </a:txBody>
                  <a:tcPr>
                    <a:lnL w="6350" cap="flat" cmpd="sng" algn="ctr">
                      <a:solidFill>
                        <a:srgbClr val="D0D8D0"/>
                      </a:solidFill>
                      <a:prstDash val="solid"/>
                      <a:round/>
                      <a:headEnd type="none" w="med" len="med"/>
                      <a:tailEnd type="none" w="med" len="med"/>
                    </a:lnL>
                    <a:lnR w="6350" cap="flat" cmpd="sng" algn="ctr">
                      <a:solidFill>
                        <a:srgbClr val="D0D8D0"/>
                      </a:solidFill>
                      <a:prstDash val="solid"/>
                      <a:round/>
                      <a:headEnd type="none" w="med" len="med"/>
                      <a:tailEnd type="none" w="med" len="med"/>
                    </a:lnR>
                    <a:lnT w="6350" cap="flat" cmpd="sng" algn="ctr">
                      <a:solidFill>
                        <a:srgbClr val="D0D8D0"/>
                      </a:solidFill>
                      <a:prstDash val="solid"/>
                      <a:round/>
                      <a:headEnd type="none" w="med" len="med"/>
                      <a:tailEnd type="none" w="med" len="med"/>
                    </a:lnT>
                    <a:lnB w="6350" cap="flat" cmpd="sng" algn="ctr">
                      <a:solidFill>
                        <a:srgbClr val="D0D8D0"/>
                      </a:solidFill>
                      <a:prstDash val="solid"/>
                      <a:round/>
                      <a:headEnd type="none" w="med" len="med"/>
                      <a:tailEnd type="none" w="med" len="med"/>
                    </a:lnB>
                    <a:solidFill>
                      <a:srgbClr val="FFFFFF"/>
                    </a:solidFill>
                  </a:tcPr>
                </a:tc>
                <a:tc>
                  <a:txBody>
                    <a:bodyPr/>
                    <a:lstStyle/>
                    <a:p>
                      <a:pPr marL="0" indent="0">
                        <a:buNone/>
                      </a:pPr>
                      <a:r>
                        <a:rPr lang="fr-FR" sz="1100" noProof="0" dirty="0">
                          <a:solidFill>
                            <a:srgbClr val="1A2A1A"/>
                          </a:solidFill>
                          <a:latin typeface="Calibri" pitchFamily="34" charset="0"/>
                          <a:ea typeface="Calibri" pitchFamily="34" charset="-122"/>
                          <a:cs typeface="Calibri" pitchFamily="34" charset="-120"/>
                        </a:rPr>
                        <a:t>Taux de dépendance aux importations (TDI = imports/dispo)</a:t>
                      </a:r>
                      <a:endParaRPr lang="fr-FR" sz="1100" noProof="0" dirty="0">
                        <a:latin typeface="Calibri" charset="0"/>
                        <a:ea typeface="Calibri" charset="0"/>
                        <a:cs typeface="Calibri" charset="0"/>
                      </a:endParaRPr>
                    </a:p>
                  </a:txBody>
                  <a:tcPr>
                    <a:lnL w="6350" cap="flat" cmpd="sng" algn="ctr">
                      <a:solidFill>
                        <a:srgbClr val="D0D8D0"/>
                      </a:solidFill>
                      <a:prstDash val="solid"/>
                      <a:round/>
                      <a:headEnd type="none" w="med" len="med"/>
                      <a:tailEnd type="none" w="med" len="med"/>
                    </a:lnL>
                    <a:lnR w="6350" cap="flat" cmpd="sng" algn="ctr">
                      <a:solidFill>
                        <a:srgbClr val="D0D8D0"/>
                      </a:solidFill>
                      <a:prstDash val="solid"/>
                      <a:round/>
                      <a:headEnd type="none" w="med" len="med"/>
                      <a:tailEnd type="none" w="med" len="med"/>
                    </a:lnR>
                    <a:lnT w="6350" cap="flat" cmpd="sng" algn="ctr">
                      <a:solidFill>
                        <a:srgbClr val="D0D8D0"/>
                      </a:solidFill>
                      <a:prstDash val="solid"/>
                      <a:round/>
                      <a:headEnd type="none" w="med" len="med"/>
                      <a:tailEnd type="none" w="med" len="med"/>
                    </a:lnT>
                    <a:lnB w="6350" cap="flat" cmpd="sng" algn="ctr">
                      <a:solidFill>
                        <a:srgbClr val="D0D8D0"/>
                      </a:solidFill>
                      <a:prstDash val="solid"/>
                      <a:round/>
                      <a:headEnd type="none" w="med" len="med"/>
                      <a:tailEnd type="none" w="med" len="med"/>
                    </a:lnB>
                    <a:solidFill>
                      <a:srgbClr val="FFFFFF"/>
                    </a:solidFill>
                  </a:tcPr>
                </a:tc>
                <a:tc>
                  <a:txBody>
                    <a:bodyPr/>
                    <a:lstStyle/>
                    <a:p>
                      <a:pPr marL="0" indent="0">
                        <a:buNone/>
                      </a:pPr>
                      <a:r>
                        <a:rPr lang="fr-FR" sz="1100" noProof="0" dirty="0">
                          <a:solidFill>
                            <a:srgbClr val="1A2A1A"/>
                          </a:solidFill>
                          <a:latin typeface="Calibri" pitchFamily="34" charset="0"/>
                          <a:ea typeface="Calibri" pitchFamily="34" charset="-122"/>
                          <a:cs typeface="Calibri" pitchFamily="34" charset="-120"/>
                        </a:rPr>
                        <a:t>Calculé</a:t>
                      </a:r>
                      <a:endParaRPr lang="fr-FR" sz="1100" noProof="0" dirty="0">
                        <a:latin typeface="Calibri" charset="0"/>
                        <a:ea typeface="Calibri" charset="0"/>
                        <a:cs typeface="Calibri" charset="0"/>
                      </a:endParaRPr>
                    </a:p>
                  </a:txBody>
                  <a:tcPr>
                    <a:lnL w="6350" cap="flat" cmpd="sng" algn="ctr">
                      <a:solidFill>
                        <a:srgbClr val="D0D8D0"/>
                      </a:solidFill>
                      <a:prstDash val="solid"/>
                      <a:round/>
                      <a:headEnd type="none" w="med" len="med"/>
                      <a:tailEnd type="none" w="med" len="med"/>
                    </a:lnL>
                    <a:lnR w="6350" cap="flat" cmpd="sng" algn="ctr">
                      <a:solidFill>
                        <a:srgbClr val="D0D8D0"/>
                      </a:solidFill>
                      <a:prstDash val="solid"/>
                      <a:round/>
                      <a:headEnd type="none" w="med" len="med"/>
                      <a:tailEnd type="none" w="med" len="med"/>
                    </a:lnR>
                    <a:lnT w="6350" cap="flat" cmpd="sng" algn="ctr">
                      <a:solidFill>
                        <a:srgbClr val="D0D8D0"/>
                      </a:solidFill>
                      <a:prstDash val="solid"/>
                      <a:round/>
                      <a:headEnd type="none" w="med" len="med"/>
                      <a:tailEnd type="none" w="med" len="med"/>
                    </a:lnT>
                    <a:lnB w="6350" cap="flat" cmpd="sng" algn="ctr">
                      <a:solidFill>
                        <a:srgbClr val="D0D8D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2A"/>
          </a:solidFill>
          <a:ln/>
        </p:spPr>
        <p:txBody>
          <a:bodyPr/>
          <a:lstStyle/>
          <a:p>
            <a:endParaRPr lang="fr-FR" noProof="0" dirty="0"/>
          </a:p>
        </p:txBody>
      </p:sp>
      <p:sp>
        <p:nvSpPr>
          <p:cNvPr id="3" name="Text 1"/>
          <p:cNvSpPr/>
          <p:nvPr/>
        </p:nvSpPr>
        <p:spPr>
          <a:xfrm>
            <a:off x="365760" y="137160"/>
            <a:ext cx="8229600" cy="731520"/>
          </a:xfrm>
          <a:prstGeom prst="rect">
            <a:avLst/>
          </a:prstGeom>
          <a:noFill/>
          <a:ln/>
        </p:spPr>
        <p:txBody>
          <a:bodyPr wrap="square" rtlCol="0" anchor="ctr"/>
          <a:lstStyle/>
          <a:p>
            <a:pPr marL="0" indent="0">
              <a:buNone/>
            </a:pPr>
            <a:r>
              <a:rPr lang="fr-FR" sz="2800" b="1" noProof="0" dirty="0">
                <a:solidFill>
                  <a:srgbClr val="FFFFFF"/>
                </a:solidFill>
                <a:latin typeface="Cambria" pitchFamily="34" charset="0"/>
                <a:ea typeface="Cambria" pitchFamily="34" charset="-122"/>
                <a:cs typeface="Cambria" pitchFamily="34" charset="-120"/>
              </a:rPr>
              <a:t>Les données collectées</a:t>
            </a:r>
            <a:endParaRPr lang="fr-FR" sz="2800" noProof="0" dirty="0"/>
          </a:p>
        </p:txBody>
      </p:sp>
      <p:sp>
        <p:nvSpPr>
          <p:cNvPr id="4" name="Shape 2"/>
          <p:cNvSpPr/>
          <p:nvPr/>
        </p:nvSpPr>
        <p:spPr>
          <a:xfrm>
            <a:off x="274320" y="1188720"/>
            <a:ext cx="1920240" cy="1371600"/>
          </a:xfrm>
          <a:prstGeom prst="roundRect">
            <a:avLst>
              <a:gd name="adj" fmla="val 6667"/>
            </a:avLst>
          </a:prstGeom>
          <a:solidFill>
            <a:srgbClr val="2C5F2D"/>
          </a:solidFill>
          <a:ln/>
        </p:spPr>
        <p:txBody>
          <a:bodyPr/>
          <a:lstStyle/>
          <a:p>
            <a:endParaRPr lang="fr-FR" noProof="0" dirty="0"/>
          </a:p>
        </p:txBody>
      </p:sp>
      <p:sp>
        <p:nvSpPr>
          <p:cNvPr id="5" name="Text 3"/>
          <p:cNvSpPr/>
          <p:nvPr/>
        </p:nvSpPr>
        <p:spPr>
          <a:xfrm>
            <a:off x="274320" y="1234440"/>
            <a:ext cx="1920240" cy="777240"/>
          </a:xfrm>
          <a:prstGeom prst="rect">
            <a:avLst/>
          </a:prstGeom>
          <a:noFill/>
          <a:ln/>
        </p:spPr>
        <p:txBody>
          <a:bodyPr wrap="square" rtlCol="0" anchor="ctr"/>
          <a:lstStyle/>
          <a:p>
            <a:pPr marL="0" indent="0" algn="ctr">
              <a:buNone/>
            </a:pPr>
            <a:r>
              <a:rPr lang="fr-FR" sz="3600" b="1" noProof="0" dirty="0">
                <a:solidFill>
                  <a:srgbClr val="FFFFFF"/>
                </a:solidFill>
                <a:latin typeface="Cambria" pitchFamily="34" charset="0"/>
                <a:ea typeface="Cambria" pitchFamily="34" charset="-122"/>
                <a:cs typeface="Cambria" pitchFamily="34" charset="-120"/>
              </a:rPr>
              <a:t>131</a:t>
            </a:r>
            <a:endParaRPr lang="fr-FR" sz="3600" noProof="0" dirty="0"/>
          </a:p>
        </p:txBody>
      </p:sp>
      <p:sp>
        <p:nvSpPr>
          <p:cNvPr id="6" name="Text 4"/>
          <p:cNvSpPr/>
          <p:nvPr/>
        </p:nvSpPr>
        <p:spPr>
          <a:xfrm>
            <a:off x="274320" y="2011680"/>
            <a:ext cx="1920240" cy="502920"/>
          </a:xfrm>
          <a:prstGeom prst="rect">
            <a:avLst/>
          </a:prstGeom>
          <a:noFill/>
          <a:ln/>
        </p:spPr>
        <p:txBody>
          <a:bodyPr wrap="square" rtlCol="0" anchor="ctr"/>
          <a:lstStyle/>
          <a:p>
            <a:pPr marL="0" indent="0" algn="ctr">
              <a:buNone/>
            </a:pPr>
            <a:r>
              <a:rPr lang="fr-FR" sz="1100" noProof="0" dirty="0">
                <a:solidFill>
                  <a:srgbClr val="C8E6C9"/>
                </a:solidFill>
                <a:latin typeface="Calibri" pitchFamily="34" charset="0"/>
                <a:ea typeface="Calibri" pitchFamily="34" charset="-122"/>
                <a:cs typeface="Calibri" pitchFamily="34" charset="-120"/>
              </a:rPr>
              <a:t>pays analysés</a:t>
            </a:r>
            <a:endParaRPr lang="fr-FR" sz="1100" noProof="0" dirty="0"/>
          </a:p>
        </p:txBody>
      </p:sp>
      <p:sp>
        <p:nvSpPr>
          <p:cNvPr id="7" name="Shape 5"/>
          <p:cNvSpPr/>
          <p:nvPr/>
        </p:nvSpPr>
        <p:spPr>
          <a:xfrm>
            <a:off x="2468880" y="1188720"/>
            <a:ext cx="1920240" cy="1371600"/>
          </a:xfrm>
          <a:prstGeom prst="roundRect">
            <a:avLst>
              <a:gd name="adj" fmla="val 6667"/>
            </a:avLst>
          </a:prstGeom>
          <a:solidFill>
            <a:srgbClr val="2C5F2D"/>
          </a:solidFill>
          <a:ln/>
        </p:spPr>
        <p:txBody>
          <a:bodyPr/>
          <a:lstStyle/>
          <a:p>
            <a:endParaRPr lang="fr-FR" noProof="0" dirty="0"/>
          </a:p>
        </p:txBody>
      </p:sp>
      <p:sp>
        <p:nvSpPr>
          <p:cNvPr id="8" name="Text 6"/>
          <p:cNvSpPr/>
          <p:nvPr/>
        </p:nvSpPr>
        <p:spPr>
          <a:xfrm>
            <a:off x="2468880" y="1234440"/>
            <a:ext cx="1920240" cy="777240"/>
          </a:xfrm>
          <a:prstGeom prst="rect">
            <a:avLst/>
          </a:prstGeom>
          <a:noFill/>
          <a:ln/>
        </p:spPr>
        <p:txBody>
          <a:bodyPr wrap="square" rtlCol="0" anchor="ctr"/>
          <a:lstStyle/>
          <a:p>
            <a:pPr marL="0" indent="0" algn="ctr">
              <a:buNone/>
            </a:pPr>
            <a:r>
              <a:rPr lang="fr-FR" sz="3600" b="1" noProof="0" dirty="0">
                <a:solidFill>
                  <a:srgbClr val="FFFFFF"/>
                </a:solidFill>
                <a:latin typeface="Cambria" pitchFamily="34" charset="0"/>
                <a:ea typeface="Cambria" pitchFamily="34" charset="-122"/>
                <a:cs typeface="Cambria" pitchFamily="34" charset="-120"/>
              </a:rPr>
              <a:t>11</a:t>
            </a:r>
            <a:endParaRPr lang="fr-FR" sz="3600" noProof="0" dirty="0"/>
          </a:p>
        </p:txBody>
      </p:sp>
      <p:sp>
        <p:nvSpPr>
          <p:cNvPr id="9" name="Text 7"/>
          <p:cNvSpPr/>
          <p:nvPr/>
        </p:nvSpPr>
        <p:spPr>
          <a:xfrm>
            <a:off x="2468880" y="2011680"/>
            <a:ext cx="1920240" cy="502920"/>
          </a:xfrm>
          <a:prstGeom prst="rect">
            <a:avLst/>
          </a:prstGeom>
          <a:noFill/>
          <a:ln/>
        </p:spPr>
        <p:txBody>
          <a:bodyPr wrap="square" rtlCol="0" anchor="ctr"/>
          <a:lstStyle/>
          <a:p>
            <a:pPr marL="0" indent="0" algn="ctr">
              <a:buNone/>
            </a:pPr>
            <a:r>
              <a:rPr lang="fr-FR" sz="1100" noProof="0" dirty="0">
                <a:solidFill>
                  <a:srgbClr val="C8E6C9"/>
                </a:solidFill>
                <a:latin typeface="Calibri" pitchFamily="34" charset="0"/>
                <a:ea typeface="Calibri" pitchFamily="34" charset="-122"/>
                <a:cs typeface="Calibri" pitchFamily="34" charset="-120"/>
              </a:rPr>
              <a:t>variables</a:t>
            </a:r>
            <a:endParaRPr lang="fr-FR" sz="1100" noProof="0" dirty="0"/>
          </a:p>
        </p:txBody>
      </p:sp>
      <p:sp>
        <p:nvSpPr>
          <p:cNvPr id="10" name="Shape 8"/>
          <p:cNvSpPr/>
          <p:nvPr/>
        </p:nvSpPr>
        <p:spPr>
          <a:xfrm>
            <a:off x="4663440" y="1188720"/>
            <a:ext cx="1920240" cy="1371600"/>
          </a:xfrm>
          <a:prstGeom prst="roundRect">
            <a:avLst>
              <a:gd name="adj" fmla="val 6667"/>
            </a:avLst>
          </a:prstGeom>
          <a:solidFill>
            <a:srgbClr val="2C5F2D"/>
          </a:solidFill>
          <a:ln/>
        </p:spPr>
        <p:txBody>
          <a:bodyPr/>
          <a:lstStyle/>
          <a:p>
            <a:endParaRPr lang="fr-FR" noProof="0" dirty="0"/>
          </a:p>
        </p:txBody>
      </p:sp>
      <p:sp>
        <p:nvSpPr>
          <p:cNvPr id="11" name="Text 9"/>
          <p:cNvSpPr/>
          <p:nvPr/>
        </p:nvSpPr>
        <p:spPr>
          <a:xfrm>
            <a:off x="4663440" y="1234440"/>
            <a:ext cx="1920240" cy="777240"/>
          </a:xfrm>
          <a:prstGeom prst="rect">
            <a:avLst/>
          </a:prstGeom>
          <a:noFill/>
          <a:ln/>
        </p:spPr>
        <p:txBody>
          <a:bodyPr wrap="square" rtlCol="0" anchor="ctr"/>
          <a:lstStyle/>
          <a:p>
            <a:pPr marL="0" indent="0" algn="ctr">
              <a:buNone/>
            </a:pPr>
            <a:r>
              <a:rPr lang="fr-FR" sz="3600" b="1" noProof="0" dirty="0">
                <a:solidFill>
                  <a:srgbClr val="FFFFFF"/>
                </a:solidFill>
                <a:latin typeface="Cambria" pitchFamily="34" charset="0"/>
                <a:ea typeface="Cambria" pitchFamily="34" charset="-122"/>
                <a:cs typeface="Cambria" pitchFamily="34" charset="-120"/>
              </a:rPr>
              <a:t>2</a:t>
            </a:r>
            <a:endParaRPr lang="fr-FR" sz="3600" noProof="0" dirty="0"/>
          </a:p>
        </p:txBody>
      </p:sp>
      <p:sp>
        <p:nvSpPr>
          <p:cNvPr id="12" name="Text 10"/>
          <p:cNvSpPr/>
          <p:nvPr/>
        </p:nvSpPr>
        <p:spPr>
          <a:xfrm>
            <a:off x="4663440" y="2011680"/>
            <a:ext cx="1920240" cy="502920"/>
          </a:xfrm>
          <a:prstGeom prst="rect">
            <a:avLst/>
          </a:prstGeom>
          <a:noFill/>
          <a:ln/>
        </p:spPr>
        <p:txBody>
          <a:bodyPr wrap="square" rtlCol="0" anchor="ctr"/>
          <a:lstStyle/>
          <a:p>
            <a:pPr marL="0" indent="0" algn="ctr">
              <a:buNone/>
            </a:pPr>
            <a:r>
              <a:rPr lang="fr-FR" sz="1100" noProof="0" dirty="0">
                <a:solidFill>
                  <a:srgbClr val="C8E6C9"/>
                </a:solidFill>
                <a:latin typeface="Calibri" pitchFamily="34" charset="0"/>
                <a:ea typeface="Calibri" pitchFamily="34" charset="-122"/>
                <a:cs typeface="Calibri" pitchFamily="34" charset="-120"/>
              </a:rPr>
              <a:t>sources</a:t>
            </a:r>
            <a:endParaRPr lang="fr-FR" sz="1100" noProof="0" dirty="0"/>
          </a:p>
        </p:txBody>
      </p:sp>
      <p:sp>
        <p:nvSpPr>
          <p:cNvPr id="13" name="Shape 11"/>
          <p:cNvSpPr/>
          <p:nvPr/>
        </p:nvSpPr>
        <p:spPr>
          <a:xfrm>
            <a:off x="6858000" y="1188720"/>
            <a:ext cx="1920240" cy="1371600"/>
          </a:xfrm>
          <a:prstGeom prst="roundRect">
            <a:avLst>
              <a:gd name="adj" fmla="val 6667"/>
            </a:avLst>
          </a:prstGeom>
          <a:solidFill>
            <a:srgbClr val="2C5F2D"/>
          </a:solidFill>
          <a:ln/>
        </p:spPr>
        <p:txBody>
          <a:bodyPr/>
          <a:lstStyle/>
          <a:p>
            <a:endParaRPr lang="fr-FR" noProof="0" dirty="0"/>
          </a:p>
        </p:txBody>
      </p:sp>
      <p:sp>
        <p:nvSpPr>
          <p:cNvPr id="14" name="Text 12"/>
          <p:cNvSpPr/>
          <p:nvPr/>
        </p:nvSpPr>
        <p:spPr>
          <a:xfrm>
            <a:off x="6858000" y="1234440"/>
            <a:ext cx="1920240" cy="777240"/>
          </a:xfrm>
          <a:prstGeom prst="rect">
            <a:avLst/>
          </a:prstGeom>
          <a:noFill/>
          <a:ln/>
        </p:spPr>
        <p:txBody>
          <a:bodyPr wrap="square" rtlCol="0" anchor="ctr"/>
          <a:lstStyle/>
          <a:p>
            <a:pPr marL="0" indent="0" algn="ctr">
              <a:buNone/>
            </a:pPr>
            <a:r>
              <a:rPr lang="fr-FR" sz="3600" b="1" noProof="0" dirty="0">
                <a:solidFill>
                  <a:srgbClr val="FFFFFF"/>
                </a:solidFill>
                <a:latin typeface="Cambria" pitchFamily="34" charset="0"/>
                <a:ea typeface="Cambria" pitchFamily="34" charset="-122"/>
                <a:cs typeface="Cambria" pitchFamily="34" charset="-120"/>
              </a:rPr>
              <a:t>90%</a:t>
            </a:r>
            <a:endParaRPr lang="fr-FR" sz="3600" noProof="0" dirty="0"/>
          </a:p>
        </p:txBody>
      </p:sp>
      <p:sp>
        <p:nvSpPr>
          <p:cNvPr id="15" name="Text 13"/>
          <p:cNvSpPr/>
          <p:nvPr/>
        </p:nvSpPr>
        <p:spPr>
          <a:xfrm>
            <a:off x="6858000" y="2011680"/>
            <a:ext cx="1920240" cy="502920"/>
          </a:xfrm>
          <a:prstGeom prst="rect">
            <a:avLst/>
          </a:prstGeom>
          <a:noFill/>
          <a:ln/>
        </p:spPr>
        <p:txBody>
          <a:bodyPr wrap="square" rtlCol="0" anchor="ctr"/>
          <a:lstStyle/>
          <a:p>
            <a:pPr marL="0" indent="0" algn="ctr">
              <a:buNone/>
            </a:pPr>
            <a:r>
              <a:rPr lang="fr-FR" sz="1100" noProof="0" dirty="0">
                <a:solidFill>
                  <a:srgbClr val="C8E6C9"/>
                </a:solidFill>
                <a:latin typeface="Calibri" pitchFamily="34" charset="0"/>
                <a:ea typeface="Calibri" pitchFamily="34" charset="-122"/>
                <a:cs typeface="Calibri" pitchFamily="34" charset="-120"/>
              </a:rPr>
              <a:t>pop. mondiale couverte</a:t>
            </a:r>
            <a:endParaRPr lang="fr-FR" sz="1100" noProof="0" dirty="0"/>
          </a:p>
        </p:txBody>
      </p:sp>
      <p:sp>
        <p:nvSpPr>
          <p:cNvPr id="16" name="Text 14"/>
          <p:cNvSpPr/>
          <p:nvPr/>
        </p:nvSpPr>
        <p:spPr>
          <a:xfrm>
            <a:off x="365760" y="2788920"/>
            <a:ext cx="3840480" cy="365760"/>
          </a:xfrm>
          <a:prstGeom prst="rect">
            <a:avLst/>
          </a:prstGeom>
          <a:noFill/>
          <a:ln/>
        </p:spPr>
        <p:txBody>
          <a:bodyPr wrap="square" rtlCol="0" anchor="ctr"/>
          <a:lstStyle/>
          <a:p>
            <a:pPr marL="0" indent="0">
              <a:buNone/>
            </a:pPr>
            <a:r>
              <a:rPr lang="fr-FR" sz="1400" b="1" noProof="0" dirty="0">
                <a:solidFill>
                  <a:srgbClr val="2C5F2D"/>
                </a:solidFill>
                <a:latin typeface="Cambria" pitchFamily="34" charset="0"/>
                <a:ea typeface="Cambria" pitchFamily="34" charset="-122"/>
                <a:cs typeface="Cambria" pitchFamily="34" charset="-120"/>
              </a:rPr>
              <a:t>Sources utilisées</a:t>
            </a:r>
            <a:endParaRPr lang="fr-FR" sz="1400" noProof="0" dirty="0"/>
          </a:p>
        </p:txBody>
      </p:sp>
      <p:sp>
        <p:nvSpPr>
          <p:cNvPr id="17" name="Text 15"/>
          <p:cNvSpPr/>
          <p:nvPr/>
        </p:nvSpPr>
        <p:spPr>
          <a:xfrm>
            <a:off x="365760" y="3081996"/>
            <a:ext cx="4114800" cy="1280160"/>
          </a:xfrm>
          <a:prstGeom prst="rect">
            <a:avLst/>
          </a:prstGeom>
          <a:noFill/>
          <a:ln/>
        </p:spPr>
        <p:txBody>
          <a:bodyPr wrap="square" rtlCol="0" anchor="ctr"/>
          <a:lstStyle/>
          <a:p>
            <a:pPr marL="0" indent="0">
              <a:buNone/>
            </a:pPr>
            <a:r>
              <a:rPr lang="fr-FR" sz="1100" b="1" noProof="0" dirty="0">
                <a:solidFill>
                  <a:srgbClr val="1A2A1A"/>
                </a:solidFill>
                <a:latin typeface="Calibri" pitchFamily="34" charset="0"/>
                <a:ea typeface="Calibri" pitchFamily="34" charset="-122"/>
                <a:cs typeface="Calibri" pitchFamily="34" charset="-120"/>
              </a:rPr>
              <a:t>FAO  </a:t>
            </a:r>
            <a:r>
              <a:rPr lang="fr-FR" sz="1100" noProof="0" dirty="0">
                <a:solidFill>
                  <a:srgbClr val="1A2A1A"/>
                </a:solidFill>
                <a:latin typeface="Calibri" pitchFamily="34" charset="0"/>
                <a:ea typeface="Calibri" pitchFamily="34" charset="-122"/>
                <a:cs typeface="Calibri" pitchFamily="34" charset="-120"/>
              </a:rPr>
              <a:t>— Disponibilité alimentaire, Production, Imports, </a:t>
            </a:r>
            <a:r>
              <a:rPr lang="fr-FR" sz="1100" noProof="0" dirty="0" err="1">
                <a:solidFill>
                  <a:srgbClr val="1A2A1A"/>
                </a:solidFill>
                <a:latin typeface="Calibri" pitchFamily="34" charset="0"/>
                <a:ea typeface="Calibri" pitchFamily="34" charset="-122"/>
                <a:cs typeface="Calibri" pitchFamily="34" charset="-120"/>
              </a:rPr>
              <a:t>Affordability</a:t>
            </a:r>
            <a:r>
              <a:rPr lang="fr-FR" sz="1100" noProof="0" dirty="0">
                <a:solidFill>
                  <a:srgbClr val="1A2A1A"/>
                </a:solidFill>
                <a:latin typeface="Calibri" pitchFamily="34" charset="0"/>
                <a:ea typeface="Calibri" pitchFamily="34" charset="-122"/>
                <a:cs typeface="Calibri" pitchFamily="34" charset="-120"/>
              </a:rPr>
              <a:t> (prog. FIES)
</a:t>
            </a:r>
            <a:r>
              <a:rPr lang="fr-FR" sz="1100" b="1" noProof="0" dirty="0">
                <a:solidFill>
                  <a:srgbClr val="1A2A1A"/>
                </a:solidFill>
                <a:latin typeface="Calibri" pitchFamily="34" charset="0"/>
                <a:ea typeface="Calibri" pitchFamily="34" charset="-122"/>
                <a:cs typeface="Calibri" pitchFamily="34" charset="-120"/>
              </a:rPr>
              <a:t>Banque Mondiale  </a:t>
            </a:r>
            <a:r>
              <a:rPr lang="fr-FR" sz="1100" noProof="0" dirty="0">
                <a:solidFill>
                  <a:srgbClr val="1A2A1A"/>
                </a:solidFill>
                <a:latin typeface="Calibri" pitchFamily="34" charset="0"/>
                <a:ea typeface="Calibri" pitchFamily="34" charset="-122"/>
                <a:cs typeface="Calibri" pitchFamily="34" charset="-120"/>
              </a:rPr>
              <a:t>— PIB/</a:t>
            </a:r>
            <a:r>
              <a:rPr lang="fr-FR" sz="1100" noProof="0" dirty="0" err="1">
                <a:solidFill>
                  <a:srgbClr val="1A2A1A"/>
                </a:solidFill>
                <a:latin typeface="Calibri" pitchFamily="34" charset="0"/>
                <a:ea typeface="Calibri" pitchFamily="34" charset="-122"/>
                <a:cs typeface="Calibri" pitchFamily="34" charset="-120"/>
              </a:rPr>
              <a:t>hab</a:t>
            </a:r>
            <a:r>
              <a:rPr lang="fr-FR" sz="1100" noProof="0" dirty="0">
                <a:solidFill>
                  <a:srgbClr val="1A2A1A"/>
                </a:solidFill>
                <a:latin typeface="Calibri" pitchFamily="34" charset="0"/>
                <a:ea typeface="Calibri" pitchFamily="34" charset="-122"/>
                <a:cs typeface="Calibri" pitchFamily="34" charset="-120"/>
              </a:rPr>
              <a:t>, Stabilité politique, </a:t>
            </a:r>
            <a:r>
              <a:rPr lang="fr-FR" sz="1100" noProof="0" dirty="0" err="1">
                <a:solidFill>
                  <a:srgbClr val="1A2A1A"/>
                </a:solidFill>
                <a:latin typeface="Calibri" pitchFamily="34" charset="0"/>
                <a:ea typeface="Calibri" pitchFamily="34" charset="-122"/>
                <a:cs typeface="Calibri" pitchFamily="34" charset="-120"/>
              </a:rPr>
              <a:t>Ease</a:t>
            </a:r>
            <a:r>
              <a:rPr lang="fr-FR" sz="1100" noProof="0" dirty="0">
                <a:solidFill>
                  <a:srgbClr val="1A2A1A"/>
                </a:solidFill>
                <a:latin typeface="Calibri" pitchFamily="34" charset="0"/>
                <a:ea typeface="Calibri" pitchFamily="34" charset="-122"/>
                <a:cs typeface="Calibri" pitchFamily="34" charset="-120"/>
              </a:rPr>
              <a:t> of business, Urbanisation, Population</a:t>
            </a:r>
            <a:endParaRPr lang="fr-FR" sz="1100" noProof="0" dirty="0"/>
          </a:p>
        </p:txBody>
      </p:sp>
      <p:sp>
        <p:nvSpPr>
          <p:cNvPr id="18" name="Shape 16"/>
          <p:cNvSpPr/>
          <p:nvPr/>
        </p:nvSpPr>
        <p:spPr>
          <a:xfrm>
            <a:off x="365760" y="4362156"/>
            <a:ext cx="4114800" cy="476934"/>
          </a:xfrm>
          <a:prstGeom prst="roundRect">
            <a:avLst>
              <a:gd name="adj" fmla="val 17778"/>
            </a:avLst>
          </a:prstGeom>
          <a:solidFill>
            <a:srgbClr val="F0F7F0"/>
          </a:solidFill>
          <a:ln/>
        </p:spPr>
        <p:txBody>
          <a:bodyPr/>
          <a:lstStyle/>
          <a:p>
            <a:endParaRPr lang="fr-FR" noProof="0" dirty="0"/>
          </a:p>
        </p:txBody>
      </p:sp>
      <p:sp>
        <p:nvSpPr>
          <p:cNvPr id="19" name="Text 17"/>
          <p:cNvSpPr/>
          <p:nvPr/>
        </p:nvSpPr>
        <p:spPr>
          <a:xfrm>
            <a:off x="502920" y="4441886"/>
            <a:ext cx="3840480" cy="347472"/>
          </a:xfrm>
          <a:prstGeom prst="rect">
            <a:avLst/>
          </a:prstGeom>
          <a:noFill/>
          <a:ln/>
        </p:spPr>
        <p:txBody>
          <a:bodyPr wrap="square" rtlCol="0" anchor="ctr"/>
          <a:lstStyle/>
          <a:p>
            <a:pPr marL="0" indent="0">
              <a:buNone/>
            </a:pPr>
            <a:r>
              <a:rPr lang="fr-FR" sz="1000" i="1" noProof="0" dirty="0">
                <a:solidFill>
                  <a:srgbClr val="2C5F2D"/>
                </a:solidFill>
                <a:latin typeface="Calibri" pitchFamily="34" charset="0"/>
                <a:ea typeface="Calibri" pitchFamily="34" charset="-122"/>
                <a:cs typeface="Calibri" pitchFamily="34" charset="-120"/>
              </a:rPr>
              <a:t>Le poulet représente 90% du marché mondial de la volaille — les données FAO volaille sont donc représentatives.</a:t>
            </a:r>
            <a:endParaRPr lang="fr-FR" sz="1000" noProof="0" dirty="0"/>
          </a:p>
        </p:txBody>
      </p:sp>
      <p:sp>
        <p:nvSpPr>
          <p:cNvPr id="20" name="Shape 18"/>
          <p:cNvSpPr/>
          <p:nvPr/>
        </p:nvSpPr>
        <p:spPr>
          <a:xfrm>
            <a:off x="4754880" y="2788920"/>
            <a:ext cx="4114800" cy="2050170"/>
          </a:xfrm>
          <a:prstGeom prst="roundRect">
            <a:avLst>
              <a:gd name="adj" fmla="val 3846"/>
            </a:avLst>
          </a:prstGeom>
          <a:solidFill>
            <a:srgbClr val="F0F7F0"/>
          </a:solidFill>
          <a:ln/>
          <a:effectLst>
            <a:outerShdw blurRad="76200" dist="25400" dir="2700000" algn="bl" rotWithShape="0">
              <a:srgbClr val="000000">
                <a:alpha val="10000"/>
              </a:srgbClr>
            </a:outerShdw>
          </a:effectLst>
        </p:spPr>
        <p:txBody>
          <a:bodyPr/>
          <a:lstStyle/>
          <a:p>
            <a:endParaRPr lang="fr-FR" noProof="0" dirty="0"/>
          </a:p>
        </p:txBody>
      </p:sp>
      <p:pic>
        <p:nvPicPr>
          <p:cNvPr id="21" name="Image 0" descr="preencoded.png"/>
          <p:cNvPicPr>
            <a:picLocks noChangeAspect="1"/>
          </p:cNvPicPr>
          <p:nvPr/>
        </p:nvPicPr>
        <p:blipFill>
          <a:blip r:embed="rId3"/>
          <a:stretch>
            <a:fillRect/>
          </a:stretch>
        </p:blipFill>
        <p:spPr>
          <a:xfrm>
            <a:off x="4892040" y="2880360"/>
            <a:ext cx="320040" cy="320040"/>
          </a:xfrm>
          <a:prstGeom prst="rect">
            <a:avLst/>
          </a:prstGeom>
        </p:spPr>
      </p:pic>
      <p:sp>
        <p:nvSpPr>
          <p:cNvPr id="22" name="Text 19"/>
          <p:cNvSpPr/>
          <p:nvPr/>
        </p:nvSpPr>
        <p:spPr>
          <a:xfrm>
            <a:off x="5257800" y="2880360"/>
            <a:ext cx="3474720" cy="365760"/>
          </a:xfrm>
          <a:prstGeom prst="rect">
            <a:avLst/>
          </a:prstGeom>
          <a:noFill/>
          <a:ln/>
        </p:spPr>
        <p:txBody>
          <a:bodyPr wrap="square" rtlCol="0" anchor="ctr"/>
          <a:lstStyle/>
          <a:p>
            <a:pPr marL="0" indent="0">
              <a:buNone/>
            </a:pPr>
            <a:r>
              <a:rPr lang="fr-FR" sz="1300" b="1" noProof="0" dirty="0">
                <a:solidFill>
                  <a:srgbClr val="2C5F2D"/>
                </a:solidFill>
                <a:latin typeface="Cambria" pitchFamily="34" charset="0"/>
                <a:ea typeface="Cambria" pitchFamily="34" charset="-122"/>
                <a:cs typeface="Cambria" pitchFamily="34" charset="-120"/>
              </a:rPr>
              <a:t>Features </a:t>
            </a:r>
            <a:r>
              <a:rPr lang="fr-FR" sz="1300" b="1" noProof="0" dirty="0" err="1">
                <a:solidFill>
                  <a:srgbClr val="2C5F2D"/>
                </a:solidFill>
                <a:latin typeface="Cambria" pitchFamily="34" charset="0"/>
                <a:ea typeface="Cambria" pitchFamily="34" charset="-122"/>
                <a:cs typeface="Cambria" pitchFamily="34" charset="-120"/>
              </a:rPr>
              <a:t>engineered</a:t>
            </a:r>
            <a:endParaRPr lang="fr-FR" sz="1300" noProof="0" dirty="0"/>
          </a:p>
        </p:txBody>
      </p:sp>
      <p:sp>
        <p:nvSpPr>
          <p:cNvPr id="23" name="Text 20"/>
          <p:cNvSpPr/>
          <p:nvPr/>
        </p:nvSpPr>
        <p:spPr>
          <a:xfrm>
            <a:off x="4892040" y="3241874"/>
            <a:ext cx="3840480" cy="1471532"/>
          </a:xfrm>
          <a:prstGeom prst="rect">
            <a:avLst/>
          </a:prstGeom>
          <a:noFill/>
          <a:ln/>
        </p:spPr>
        <p:txBody>
          <a:bodyPr wrap="square" rtlCol="0" anchor="ctr"/>
          <a:lstStyle/>
          <a:p>
            <a:pPr marL="0" indent="0">
              <a:buNone/>
            </a:pPr>
            <a:r>
              <a:rPr lang="fr-FR" sz="1100" b="1" noProof="0" dirty="0" err="1">
                <a:solidFill>
                  <a:srgbClr val="1A2A1A"/>
                </a:solidFill>
                <a:latin typeface="Calibri" pitchFamily="34" charset="0"/>
                <a:ea typeface="Calibri" pitchFamily="34" charset="-122"/>
                <a:cs typeface="Calibri" pitchFamily="34" charset="-120"/>
              </a:rPr>
              <a:t>prod_par_hab</a:t>
            </a:r>
            <a:r>
              <a:rPr lang="fr-FR" sz="1100" b="1" noProof="0" dirty="0">
                <a:solidFill>
                  <a:srgbClr val="1A2A1A"/>
                </a:solidFill>
                <a:latin typeface="Calibri" pitchFamily="34" charset="0"/>
                <a:ea typeface="Calibri" pitchFamily="34" charset="-122"/>
                <a:cs typeface="Calibri" pitchFamily="34" charset="-120"/>
              </a:rPr>
              <a:t>  </a:t>
            </a:r>
            <a:r>
              <a:rPr lang="fr-FR" sz="1100" noProof="0" dirty="0">
                <a:solidFill>
                  <a:srgbClr val="1A2A1A"/>
                </a:solidFill>
                <a:latin typeface="Calibri" pitchFamily="34" charset="0"/>
                <a:ea typeface="Calibri" pitchFamily="34" charset="-122"/>
                <a:cs typeface="Calibri" pitchFamily="34" charset="-120"/>
              </a:rPr>
              <a:t>Production de poulet par habitant (kg/</a:t>
            </a:r>
            <a:r>
              <a:rPr lang="fr-FR" sz="1100" noProof="0" dirty="0" err="1">
                <a:solidFill>
                  <a:srgbClr val="1A2A1A"/>
                </a:solidFill>
                <a:latin typeface="Calibri" pitchFamily="34" charset="0"/>
                <a:ea typeface="Calibri" pitchFamily="34" charset="-122"/>
                <a:cs typeface="Calibri" pitchFamily="34" charset="-120"/>
              </a:rPr>
              <a:t>hab</a:t>
            </a:r>
            <a:r>
              <a:rPr lang="fr-FR" sz="1100" noProof="0" dirty="0">
                <a:solidFill>
                  <a:srgbClr val="1A2A1A"/>
                </a:solidFill>
                <a:latin typeface="Calibri" pitchFamily="34" charset="0"/>
                <a:ea typeface="Calibri" pitchFamily="34" charset="-122"/>
                <a:cs typeface="Calibri" pitchFamily="34" charset="-120"/>
              </a:rPr>
              <a:t>)
</a:t>
            </a:r>
            <a:r>
              <a:rPr lang="fr-FR" sz="1100" b="1" noProof="0" dirty="0" err="1">
                <a:solidFill>
                  <a:srgbClr val="1A2A1A"/>
                </a:solidFill>
                <a:latin typeface="Calibri" pitchFamily="34" charset="0"/>
                <a:ea typeface="Calibri" pitchFamily="34" charset="-122"/>
                <a:cs typeface="Calibri" pitchFamily="34" charset="-120"/>
              </a:rPr>
              <a:t>import_par_hab</a:t>
            </a:r>
            <a:r>
              <a:rPr lang="fr-FR" sz="1100" b="1" noProof="0" dirty="0">
                <a:solidFill>
                  <a:srgbClr val="1A2A1A"/>
                </a:solidFill>
                <a:latin typeface="Calibri" pitchFamily="34" charset="0"/>
                <a:ea typeface="Calibri" pitchFamily="34" charset="-122"/>
                <a:cs typeface="Calibri" pitchFamily="34" charset="-120"/>
              </a:rPr>
              <a:t>  </a:t>
            </a:r>
            <a:r>
              <a:rPr lang="fr-FR" sz="1100" noProof="0" dirty="0">
                <a:solidFill>
                  <a:srgbClr val="1A2A1A"/>
                </a:solidFill>
                <a:latin typeface="Calibri" pitchFamily="34" charset="0"/>
                <a:ea typeface="Calibri" pitchFamily="34" charset="-122"/>
                <a:cs typeface="Calibri" pitchFamily="34" charset="-120"/>
              </a:rPr>
              <a:t>Imports de poulet par habitant (kg/</a:t>
            </a:r>
            <a:r>
              <a:rPr lang="fr-FR" sz="1100" noProof="0" dirty="0" err="1">
                <a:solidFill>
                  <a:srgbClr val="1A2A1A"/>
                </a:solidFill>
                <a:latin typeface="Calibri" pitchFamily="34" charset="0"/>
                <a:ea typeface="Calibri" pitchFamily="34" charset="-122"/>
                <a:cs typeface="Calibri" pitchFamily="34" charset="-120"/>
              </a:rPr>
              <a:t>hab</a:t>
            </a:r>
            <a:r>
              <a:rPr lang="fr-FR" sz="1100" noProof="0" dirty="0">
                <a:solidFill>
                  <a:srgbClr val="1A2A1A"/>
                </a:solidFill>
                <a:latin typeface="Calibri" pitchFamily="34" charset="0"/>
                <a:ea typeface="Calibri" pitchFamily="34" charset="-122"/>
                <a:cs typeface="Calibri" pitchFamily="34" charset="-120"/>
              </a:rPr>
              <a:t>)
</a:t>
            </a:r>
            <a:r>
              <a:rPr lang="fr-FR" sz="1100" b="1" noProof="0" dirty="0" err="1">
                <a:solidFill>
                  <a:srgbClr val="1A2A1A"/>
                </a:solidFill>
                <a:latin typeface="Calibri" pitchFamily="34" charset="0"/>
                <a:ea typeface="Calibri" pitchFamily="34" charset="-122"/>
                <a:cs typeface="Calibri" pitchFamily="34" charset="-120"/>
              </a:rPr>
              <a:t>tdi</a:t>
            </a:r>
            <a:r>
              <a:rPr lang="fr-FR" sz="1100" b="1" noProof="0" dirty="0">
                <a:solidFill>
                  <a:srgbClr val="1A2A1A"/>
                </a:solidFill>
                <a:latin typeface="Calibri" pitchFamily="34" charset="0"/>
                <a:ea typeface="Calibri" pitchFamily="34" charset="-122"/>
                <a:cs typeface="Calibri" pitchFamily="34" charset="-120"/>
              </a:rPr>
              <a:t>  </a:t>
            </a:r>
            <a:r>
              <a:rPr lang="fr-FR" sz="1100" noProof="0" dirty="0">
                <a:solidFill>
                  <a:srgbClr val="1A2A1A"/>
                </a:solidFill>
                <a:latin typeface="Calibri" pitchFamily="34" charset="0"/>
                <a:ea typeface="Calibri" pitchFamily="34" charset="-122"/>
                <a:cs typeface="Calibri" pitchFamily="34" charset="-120"/>
              </a:rPr>
              <a:t>Trade </a:t>
            </a:r>
            <a:r>
              <a:rPr lang="fr-FR" sz="1100" noProof="0" dirty="0" err="1">
                <a:solidFill>
                  <a:srgbClr val="1A2A1A"/>
                </a:solidFill>
                <a:latin typeface="Calibri" pitchFamily="34" charset="0"/>
                <a:ea typeface="Calibri" pitchFamily="34" charset="-122"/>
                <a:cs typeface="Calibri" pitchFamily="34" charset="-120"/>
              </a:rPr>
              <a:t>Dependency</a:t>
            </a:r>
            <a:r>
              <a:rPr lang="fr-FR" sz="1100" noProof="0" dirty="0">
                <a:solidFill>
                  <a:srgbClr val="1A2A1A"/>
                </a:solidFill>
                <a:latin typeface="Calibri" pitchFamily="34" charset="0"/>
                <a:ea typeface="Calibri" pitchFamily="34" charset="-122"/>
                <a:cs typeface="Calibri" pitchFamily="34" charset="-120"/>
              </a:rPr>
              <a:t> Index = imports / dispo alimentaire
</a:t>
            </a:r>
            <a:r>
              <a:rPr lang="fr-FR" sz="1100" b="1" noProof="0" dirty="0">
                <a:solidFill>
                  <a:srgbClr val="1A2A1A"/>
                </a:solidFill>
                <a:latin typeface="Calibri" pitchFamily="34" charset="0"/>
                <a:ea typeface="Calibri" pitchFamily="34" charset="-122"/>
                <a:cs typeface="Calibri" pitchFamily="34" charset="-120"/>
              </a:rPr>
              <a:t>croissance  </a:t>
            </a:r>
            <a:r>
              <a:rPr lang="fr-FR" sz="1100" noProof="0" dirty="0" err="1">
                <a:solidFill>
                  <a:srgbClr val="1A2A1A"/>
                </a:solidFill>
                <a:latin typeface="Calibri" pitchFamily="34" charset="0"/>
                <a:ea typeface="Calibri" pitchFamily="34" charset="-122"/>
                <a:cs typeface="Calibri" pitchFamily="34" charset="-120"/>
              </a:rPr>
              <a:t>Croissance</a:t>
            </a:r>
            <a:r>
              <a:rPr lang="fr-FR" sz="1100" noProof="0" dirty="0">
                <a:solidFill>
                  <a:srgbClr val="1A2A1A"/>
                </a:solidFill>
                <a:latin typeface="Calibri" pitchFamily="34" charset="0"/>
                <a:ea typeface="Calibri" pitchFamily="34" charset="-122"/>
                <a:cs typeface="Calibri" pitchFamily="34" charset="-120"/>
              </a:rPr>
              <a:t> démographique moyenne sur 5 ans</a:t>
            </a:r>
            <a:endParaRPr lang="fr-FR" sz="1100" noProof="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3A2A"/>
        </a:solidFill>
        <a:effectLst/>
      </p:bgPr>
    </p:bg>
    <p:spTree>
      <p:nvGrpSpPr>
        <p:cNvPr id="1" name=""/>
        <p:cNvGrpSpPr/>
        <p:nvPr/>
      </p:nvGrpSpPr>
      <p:grpSpPr>
        <a:xfrm>
          <a:off x="0" y="0"/>
          <a:ext cx="0" cy="0"/>
          <a:chOff x="0" y="0"/>
          <a:chExt cx="0" cy="0"/>
        </a:xfrm>
      </p:grpSpPr>
      <p:sp>
        <p:nvSpPr>
          <p:cNvPr id="2" name="Shape 0"/>
          <p:cNvSpPr/>
          <p:nvPr/>
        </p:nvSpPr>
        <p:spPr>
          <a:xfrm>
            <a:off x="0" y="0"/>
            <a:ext cx="457200" cy="5143500"/>
          </a:xfrm>
          <a:prstGeom prst="rect">
            <a:avLst/>
          </a:prstGeom>
          <a:solidFill>
            <a:srgbClr val="2C5F2D"/>
          </a:solidFill>
          <a:ln/>
        </p:spPr>
        <p:txBody>
          <a:bodyPr/>
          <a:lstStyle/>
          <a:p>
            <a:endParaRPr lang="fr-FR" noProof="0" dirty="0"/>
          </a:p>
        </p:txBody>
      </p:sp>
      <p:sp>
        <p:nvSpPr>
          <p:cNvPr id="3" name="Text 1"/>
          <p:cNvSpPr/>
          <p:nvPr/>
        </p:nvSpPr>
        <p:spPr>
          <a:xfrm>
            <a:off x="822960" y="1463040"/>
            <a:ext cx="1828800" cy="1280160"/>
          </a:xfrm>
          <a:prstGeom prst="rect">
            <a:avLst/>
          </a:prstGeom>
          <a:noFill/>
          <a:ln/>
        </p:spPr>
        <p:txBody>
          <a:bodyPr wrap="square" rtlCol="0" anchor="ctr"/>
          <a:lstStyle/>
          <a:p>
            <a:pPr marL="0" indent="0" algn="l">
              <a:buNone/>
            </a:pPr>
            <a:r>
              <a:rPr lang="fr-FR" sz="8000" b="1" noProof="0" dirty="0">
                <a:solidFill>
                  <a:srgbClr val="2C5F2D"/>
                </a:solidFill>
                <a:latin typeface="Cambria" pitchFamily="34" charset="0"/>
                <a:ea typeface="Cambria" pitchFamily="34" charset="-122"/>
                <a:cs typeface="Cambria" pitchFamily="34" charset="-120"/>
              </a:rPr>
              <a:t>02</a:t>
            </a:r>
            <a:endParaRPr lang="fr-FR" sz="8000" noProof="0" dirty="0"/>
          </a:p>
        </p:txBody>
      </p:sp>
      <p:sp>
        <p:nvSpPr>
          <p:cNvPr id="4" name="Text 2"/>
          <p:cNvSpPr/>
          <p:nvPr/>
        </p:nvSpPr>
        <p:spPr>
          <a:xfrm>
            <a:off x="2926080" y="1737360"/>
            <a:ext cx="5852160" cy="822960"/>
          </a:xfrm>
          <a:prstGeom prst="rect">
            <a:avLst/>
          </a:prstGeom>
          <a:noFill/>
          <a:ln/>
        </p:spPr>
        <p:txBody>
          <a:bodyPr wrap="square" rtlCol="0" anchor="ctr"/>
          <a:lstStyle/>
          <a:p>
            <a:pPr marL="0" indent="0" algn="l">
              <a:buNone/>
            </a:pPr>
            <a:r>
              <a:rPr lang="fr-FR" sz="3200" b="1" noProof="0" dirty="0">
                <a:solidFill>
                  <a:srgbClr val="FFFFFF"/>
                </a:solidFill>
                <a:latin typeface="Cambria" pitchFamily="34" charset="0"/>
                <a:ea typeface="Cambria" pitchFamily="34" charset="-122"/>
                <a:cs typeface="Cambria" pitchFamily="34" charset="-120"/>
              </a:rPr>
              <a:t>Réduction de dimension (ACP) &amp; Clustering</a:t>
            </a:r>
            <a:endParaRPr lang="fr-FR" sz="3200" noProof="0" dirty="0"/>
          </a:p>
        </p:txBody>
      </p:sp>
      <p:sp>
        <p:nvSpPr>
          <p:cNvPr id="5" name="Text 3"/>
          <p:cNvSpPr/>
          <p:nvPr/>
        </p:nvSpPr>
        <p:spPr>
          <a:xfrm>
            <a:off x="2926080" y="2606040"/>
            <a:ext cx="5852160" cy="457200"/>
          </a:xfrm>
          <a:prstGeom prst="rect">
            <a:avLst/>
          </a:prstGeom>
          <a:noFill/>
          <a:ln/>
        </p:spPr>
        <p:txBody>
          <a:bodyPr wrap="square" rtlCol="0" anchor="ctr"/>
          <a:lstStyle/>
          <a:p>
            <a:pPr marL="0" indent="0" algn="l">
              <a:buNone/>
            </a:pPr>
            <a:r>
              <a:rPr lang="fr-FR" sz="1400" noProof="0" dirty="0">
                <a:solidFill>
                  <a:srgbClr val="7AAD6E"/>
                </a:solidFill>
                <a:latin typeface="Calibri" pitchFamily="34" charset="0"/>
                <a:ea typeface="Calibri" pitchFamily="34" charset="-122"/>
                <a:cs typeface="Calibri" pitchFamily="34" charset="-120"/>
              </a:rPr>
              <a:t>Méthodologie d'analyse et choix techniques</a:t>
            </a:r>
            <a:endParaRPr lang="fr-FR" sz="1400" noProof="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2A"/>
          </a:solidFill>
          <a:ln/>
        </p:spPr>
        <p:txBody>
          <a:bodyPr/>
          <a:lstStyle/>
          <a:p>
            <a:endParaRPr lang="fr-FR" noProof="0" dirty="0"/>
          </a:p>
        </p:txBody>
      </p:sp>
      <p:sp>
        <p:nvSpPr>
          <p:cNvPr id="3" name="Text 1"/>
          <p:cNvSpPr/>
          <p:nvPr/>
        </p:nvSpPr>
        <p:spPr>
          <a:xfrm>
            <a:off x="365760" y="137160"/>
            <a:ext cx="8229600" cy="731520"/>
          </a:xfrm>
          <a:prstGeom prst="rect">
            <a:avLst/>
          </a:prstGeom>
          <a:noFill/>
          <a:ln/>
        </p:spPr>
        <p:txBody>
          <a:bodyPr wrap="square" rtlCol="0" anchor="ctr"/>
          <a:lstStyle/>
          <a:p>
            <a:pPr marL="0" indent="0">
              <a:buNone/>
            </a:pPr>
            <a:r>
              <a:rPr lang="fr-FR" sz="2800" b="1" noProof="0" dirty="0">
                <a:solidFill>
                  <a:srgbClr val="FFFFFF"/>
                </a:solidFill>
                <a:latin typeface="Cambria" pitchFamily="34" charset="0"/>
                <a:ea typeface="Cambria" pitchFamily="34" charset="-122"/>
                <a:cs typeface="Cambria" pitchFamily="34" charset="-120"/>
              </a:rPr>
              <a:t>ACP — Réduction de dimension</a:t>
            </a:r>
            <a:endParaRPr lang="fr-FR" sz="2800" noProof="0" dirty="0"/>
          </a:p>
        </p:txBody>
      </p:sp>
      <p:pic>
        <p:nvPicPr>
          <p:cNvPr id="4" name="Image 0" descr="preencoded.png"/>
          <p:cNvPicPr>
            <a:picLocks noChangeAspect="1"/>
          </p:cNvPicPr>
          <p:nvPr/>
        </p:nvPicPr>
        <p:blipFill>
          <a:blip r:embed="rId3"/>
          <a:stretch>
            <a:fillRect/>
          </a:stretch>
        </p:blipFill>
        <p:spPr>
          <a:xfrm>
            <a:off x="274320" y="1920240"/>
            <a:ext cx="5486400" cy="1975104"/>
          </a:xfrm>
          <a:prstGeom prst="rect">
            <a:avLst/>
          </a:prstGeom>
        </p:spPr>
      </p:pic>
      <p:sp>
        <p:nvSpPr>
          <p:cNvPr id="5" name="Shape 2"/>
          <p:cNvSpPr/>
          <p:nvPr/>
        </p:nvSpPr>
        <p:spPr>
          <a:xfrm>
            <a:off x="6035040" y="1097280"/>
            <a:ext cx="2834640" cy="3749040"/>
          </a:xfrm>
          <a:prstGeom prst="roundRect">
            <a:avLst>
              <a:gd name="adj" fmla="val 3226"/>
            </a:avLst>
          </a:prstGeom>
          <a:solidFill>
            <a:srgbClr val="EFF5EE"/>
          </a:solidFill>
          <a:ln/>
          <a:effectLst>
            <a:outerShdw blurRad="76200" dist="25400" dir="2700000" algn="bl" rotWithShape="0">
              <a:srgbClr val="000000">
                <a:alpha val="10000"/>
              </a:srgbClr>
            </a:outerShdw>
          </a:effectLst>
        </p:spPr>
        <p:txBody>
          <a:bodyPr/>
          <a:lstStyle/>
          <a:p>
            <a:endParaRPr lang="fr-FR" noProof="0" dirty="0"/>
          </a:p>
        </p:txBody>
      </p:sp>
      <p:pic>
        <p:nvPicPr>
          <p:cNvPr id="6" name="Image 1" descr="preencoded.png"/>
          <p:cNvPicPr>
            <a:picLocks noChangeAspect="1"/>
          </p:cNvPicPr>
          <p:nvPr/>
        </p:nvPicPr>
        <p:blipFill>
          <a:blip r:embed="rId4"/>
          <a:stretch>
            <a:fillRect/>
          </a:stretch>
        </p:blipFill>
        <p:spPr>
          <a:xfrm>
            <a:off x="6172200" y="1188720"/>
            <a:ext cx="320040" cy="320040"/>
          </a:xfrm>
          <a:prstGeom prst="rect">
            <a:avLst/>
          </a:prstGeom>
        </p:spPr>
      </p:pic>
      <p:sp>
        <p:nvSpPr>
          <p:cNvPr id="7" name="Text 3"/>
          <p:cNvSpPr/>
          <p:nvPr/>
        </p:nvSpPr>
        <p:spPr>
          <a:xfrm>
            <a:off x="6537960" y="1188720"/>
            <a:ext cx="2194560" cy="365760"/>
          </a:xfrm>
          <a:prstGeom prst="rect">
            <a:avLst/>
          </a:prstGeom>
          <a:noFill/>
          <a:ln/>
        </p:spPr>
        <p:txBody>
          <a:bodyPr wrap="square" rtlCol="0" anchor="ctr"/>
          <a:lstStyle/>
          <a:p>
            <a:pPr marL="0" indent="0">
              <a:buNone/>
            </a:pPr>
            <a:r>
              <a:rPr lang="fr-FR" sz="1300" b="1" noProof="0" dirty="0">
                <a:solidFill>
                  <a:srgbClr val="2C5F2D"/>
                </a:solidFill>
                <a:latin typeface="Cambria" pitchFamily="34" charset="0"/>
                <a:ea typeface="Cambria" pitchFamily="34" charset="-122"/>
                <a:cs typeface="Cambria" pitchFamily="34" charset="-120"/>
              </a:rPr>
              <a:t>En clair</a:t>
            </a:r>
            <a:endParaRPr lang="fr-FR" sz="1300" noProof="0" dirty="0"/>
          </a:p>
        </p:txBody>
      </p:sp>
      <p:sp>
        <p:nvSpPr>
          <p:cNvPr id="8" name="Text 4"/>
          <p:cNvSpPr/>
          <p:nvPr/>
        </p:nvSpPr>
        <p:spPr>
          <a:xfrm>
            <a:off x="6172200" y="1600200"/>
            <a:ext cx="2560320" cy="3017520"/>
          </a:xfrm>
          <a:prstGeom prst="rect">
            <a:avLst/>
          </a:prstGeom>
          <a:noFill/>
          <a:ln/>
        </p:spPr>
        <p:txBody>
          <a:bodyPr wrap="square" rtlCol="0" anchor="ctr"/>
          <a:lstStyle/>
          <a:p>
            <a:pPr marL="0" indent="0">
              <a:buNone/>
            </a:pPr>
            <a:r>
              <a:rPr lang="fr-FR" sz="1100" noProof="0" dirty="0">
                <a:solidFill>
                  <a:srgbClr val="1A2A1A"/>
                </a:solidFill>
                <a:latin typeface="Calibri" pitchFamily="34" charset="0"/>
                <a:ea typeface="Calibri" pitchFamily="34" charset="-122"/>
                <a:cs typeface="Calibri" pitchFamily="34" charset="-120"/>
              </a:rPr>
              <a:t>L'ACP réduit 11 variables en quelques axes synthétiques, sans perdre l'essentiel de l'information.
</a:t>
            </a:r>
            <a:r>
              <a:rPr lang="fr-FR" sz="1100" b="1" noProof="0" dirty="0">
                <a:solidFill>
                  <a:srgbClr val="2C5F2D"/>
                </a:solidFill>
                <a:latin typeface="Calibri" pitchFamily="34" charset="0"/>
                <a:ea typeface="Calibri" pitchFamily="34" charset="-122"/>
                <a:cs typeface="Calibri" pitchFamily="34" charset="-120"/>
              </a:rPr>
              <a:t>5 composantes retenues
</a:t>
            </a:r>
            <a:r>
              <a:rPr lang="fr-FR" sz="1100" noProof="0" dirty="0">
                <a:solidFill>
                  <a:srgbClr val="1A2A1A"/>
                </a:solidFill>
                <a:latin typeface="Calibri" pitchFamily="34" charset="0"/>
                <a:ea typeface="Calibri" pitchFamily="34" charset="-122"/>
                <a:cs typeface="Calibri" pitchFamily="34" charset="-120"/>
              </a:rPr>
              <a:t>→ Seuil 85% de variance expliquée
</a:t>
            </a:r>
            <a:r>
              <a:rPr lang="fr-FR" sz="1100" b="1" noProof="0" dirty="0">
                <a:solidFill>
                  <a:srgbClr val="2C5F2D"/>
                </a:solidFill>
                <a:latin typeface="Calibri" pitchFamily="34" charset="0"/>
                <a:ea typeface="Calibri" pitchFamily="34" charset="-122"/>
                <a:cs typeface="Calibri" pitchFamily="34" charset="-120"/>
              </a:rPr>
              <a:t>F1 (42.8%)  </a:t>
            </a:r>
            <a:r>
              <a:rPr lang="fr-FR" sz="1100" noProof="0" dirty="0">
                <a:solidFill>
                  <a:srgbClr val="1A2A1A"/>
                </a:solidFill>
                <a:latin typeface="Calibri" pitchFamily="34" charset="0"/>
                <a:ea typeface="Calibri" pitchFamily="34" charset="-122"/>
                <a:cs typeface="Calibri" pitchFamily="34" charset="-120"/>
              </a:rPr>
              <a:t>Niveau de développement
</a:t>
            </a:r>
            <a:r>
              <a:rPr lang="fr-FR" sz="1100" b="1" noProof="0" dirty="0">
                <a:solidFill>
                  <a:srgbClr val="2C5F2D"/>
                </a:solidFill>
                <a:latin typeface="Calibri" pitchFamily="34" charset="0"/>
                <a:ea typeface="Calibri" pitchFamily="34" charset="-122"/>
                <a:cs typeface="Calibri" pitchFamily="34" charset="-120"/>
              </a:rPr>
              <a:t>F2 (17.4%)  </a:t>
            </a:r>
            <a:r>
              <a:rPr lang="fr-FR" sz="1100" noProof="0" dirty="0">
                <a:solidFill>
                  <a:srgbClr val="1A2A1A"/>
                </a:solidFill>
                <a:latin typeface="Calibri" pitchFamily="34" charset="0"/>
                <a:ea typeface="Calibri" pitchFamily="34" charset="-122"/>
                <a:cs typeface="Calibri" pitchFamily="34" charset="-120"/>
              </a:rPr>
              <a:t>Dépendance commerciale</a:t>
            </a:r>
            <a:endParaRPr lang="fr-FR" sz="1100" noProof="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2A"/>
          </a:solidFill>
          <a:ln/>
        </p:spPr>
        <p:txBody>
          <a:bodyPr/>
          <a:lstStyle/>
          <a:p>
            <a:endParaRPr lang="fr-FR" noProof="0" dirty="0"/>
          </a:p>
        </p:txBody>
      </p:sp>
      <p:sp>
        <p:nvSpPr>
          <p:cNvPr id="3" name="Text 1"/>
          <p:cNvSpPr/>
          <p:nvPr/>
        </p:nvSpPr>
        <p:spPr>
          <a:xfrm>
            <a:off x="365760" y="137160"/>
            <a:ext cx="8229600" cy="731520"/>
          </a:xfrm>
          <a:prstGeom prst="rect">
            <a:avLst/>
          </a:prstGeom>
          <a:noFill/>
          <a:ln/>
        </p:spPr>
        <p:txBody>
          <a:bodyPr wrap="square" rtlCol="0" anchor="ctr"/>
          <a:lstStyle/>
          <a:p>
            <a:pPr marL="0" indent="0">
              <a:buNone/>
            </a:pPr>
            <a:r>
              <a:rPr lang="fr-FR" sz="2800" b="1" noProof="0" dirty="0">
                <a:solidFill>
                  <a:srgbClr val="FFFFFF"/>
                </a:solidFill>
                <a:latin typeface="Cambria" pitchFamily="34" charset="0"/>
                <a:ea typeface="Cambria" pitchFamily="34" charset="-122"/>
                <a:cs typeface="Cambria" pitchFamily="34" charset="-120"/>
              </a:rPr>
              <a:t>ACP — Cercle des corrélations</a:t>
            </a:r>
            <a:endParaRPr lang="fr-FR" sz="2800" noProof="0" dirty="0"/>
          </a:p>
        </p:txBody>
      </p:sp>
      <p:pic>
        <p:nvPicPr>
          <p:cNvPr id="4" name="Image 0" descr="preencoded.png"/>
          <p:cNvPicPr>
            <a:picLocks noChangeAspect="1"/>
          </p:cNvPicPr>
          <p:nvPr/>
        </p:nvPicPr>
        <p:blipFill>
          <a:blip r:embed="rId3"/>
          <a:stretch>
            <a:fillRect/>
          </a:stretch>
        </p:blipFill>
        <p:spPr>
          <a:xfrm>
            <a:off x="182880" y="1051560"/>
            <a:ext cx="4389120" cy="3840480"/>
          </a:xfrm>
          <a:prstGeom prst="rect">
            <a:avLst/>
          </a:prstGeom>
        </p:spPr>
      </p:pic>
      <p:sp>
        <p:nvSpPr>
          <p:cNvPr id="5" name="Shape 2"/>
          <p:cNvSpPr/>
          <p:nvPr/>
        </p:nvSpPr>
        <p:spPr>
          <a:xfrm>
            <a:off x="4846320" y="1097280"/>
            <a:ext cx="4023360" cy="1691640"/>
          </a:xfrm>
          <a:prstGeom prst="roundRect">
            <a:avLst>
              <a:gd name="adj" fmla="val 5405"/>
            </a:avLst>
          </a:prstGeom>
          <a:solidFill>
            <a:srgbClr val="EFF5EE"/>
          </a:solidFill>
          <a:ln/>
          <a:effectLst>
            <a:outerShdw blurRad="76200" dist="25400" dir="2700000" algn="bl" rotWithShape="0">
              <a:srgbClr val="000000">
                <a:alpha val="10000"/>
              </a:srgbClr>
            </a:outerShdw>
          </a:effectLst>
        </p:spPr>
        <p:txBody>
          <a:bodyPr/>
          <a:lstStyle/>
          <a:p>
            <a:endParaRPr lang="fr-FR" noProof="0" dirty="0"/>
          </a:p>
        </p:txBody>
      </p:sp>
      <p:sp>
        <p:nvSpPr>
          <p:cNvPr id="6" name="Text 3"/>
          <p:cNvSpPr/>
          <p:nvPr/>
        </p:nvSpPr>
        <p:spPr>
          <a:xfrm>
            <a:off x="4983480" y="1188720"/>
            <a:ext cx="3749040" cy="365760"/>
          </a:xfrm>
          <a:prstGeom prst="rect">
            <a:avLst/>
          </a:prstGeom>
          <a:noFill/>
          <a:ln/>
        </p:spPr>
        <p:txBody>
          <a:bodyPr wrap="square" rtlCol="0" anchor="ctr"/>
          <a:lstStyle/>
          <a:p>
            <a:pPr marL="0" indent="0">
              <a:buNone/>
            </a:pPr>
            <a:r>
              <a:rPr lang="fr-FR" sz="1200" b="1" noProof="0" dirty="0">
                <a:solidFill>
                  <a:srgbClr val="2C5F2D"/>
                </a:solidFill>
                <a:latin typeface="Cambria" pitchFamily="34" charset="0"/>
                <a:ea typeface="Cambria" pitchFamily="34" charset="-122"/>
                <a:cs typeface="Cambria" pitchFamily="34" charset="-120"/>
              </a:rPr>
              <a:t>F1 — Niveau de développement  (42.8%)</a:t>
            </a:r>
            <a:endParaRPr lang="fr-FR" sz="1200" noProof="0" dirty="0"/>
          </a:p>
        </p:txBody>
      </p:sp>
      <p:sp>
        <p:nvSpPr>
          <p:cNvPr id="7" name="Text 4"/>
          <p:cNvSpPr/>
          <p:nvPr/>
        </p:nvSpPr>
        <p:spPr>
          <a:xfrm>
            <a:off x="4983480" y="1572768"/>
            <a:ext cx="3749040" cy="1143000"/>
          </a:xfrm>
          <a:prstGeom prst="rect">
            <a:avLst/>
          </a:prstGeom>
          <a:noFill/>
          <a:ln/>
        </p:spPr>
        <p:txBody>
          <a:bodyPr wrap="square" rtlCol="0" anchor="ctr"/>
          <a:lstStyle/>
          <a:p>
            <a:pPr marL="0" indent="0">
              <a:buNone/>
            </a:pPr>
            <a:r>
              <a:rPr lang="fr-FR" sz="1100" noProof="0" dirty="0">
                <a:solidFill>
                  <a:srgbClr val="1A2A1A"/>
                </a:solidFill>
                <a:latin typeface="Calibri" pitchFamily="34" charset="0"/>
                <a:ea typeface="Calibri" pitchFamily="34" charset="-122"/>
                <a:cs typeface="Calibri" pitchFamily="34" charset="-120"/>
              </a:rPr>
              <a:t>→ droite : PIB/</a:t>
            </a:r>
            <a:r>
              <a:rPr lang="fr-FR" sz="1100" noProof="0" dirty="0" err="1">
                <a:solidFill>
                  <a:srgbClr val="1A2A1A"/>
                </a:solidFill>
                <a:latin typeface="Calibri" pitchFamily="34" charset="0"/>
                <a:ea typeface="Calibri" pitchFamily="34" charset="-122"/>
                <a:cs typeface="Calibri" pitchFamily="34" charset="-120"/>
              </a:rPr>
              <a:t>hab</a:t>
            </a:r>
            <a:r>
              <a:rPr lang="fr-FR" sz="1100" noProof="0" dirty="0">
                <a:solidFill>
                  <a:srgbClr val="1A2A1A"/>
                </a:solidFill>
                <a:latin typeface="Calibri" pitchFamily="34" charset="0"/>
                <a:ea typeface="Calibri" pitchFamily="34" charset="-122"/>
                <a:cs typeface="Calibri" pitchFamily="34" charset="-120"/>
              </a:rPr>
              <a:t>, </a:t>
            </a:r>
            <a:r>
              <a:rPr lang="fr-FR" sz="1100" noProof="0" dirty="0" err="1">
                <a:solidFill>
                  <a:srgbClr val="1A2A1A"/>
                </a:solidFill>
                <a:latin typeface="Calibri" pitchFamily="34" charset="0"/>
                <a:ea typeface="Calibri" pitchFamily="34" charset="-122"/>
                <a:cs typeface="Calibri" pitchFamily="34" charset="-120"/>
              </a:rPr>
              <a:t>affordability</a:t>
            </a:r>
            <a:r>
              <a:rPr lang="fr-FR" sz="1100" noProof="0" dirty="0">
                <a:solidFill>
                  <a:srgbClr val="1A2A1A"/>
                </a:solidFill>
                <a:latin typeface="Calibri" pitchFamily="34" charset="0"/>
                <a:ea typeface="Calibri" pitchFamily="34" charset="-122"/>
                <a:cs typeface="Calibri" pitchFamily="34" charset="-120"/>
              </a:rPr>
              <a:t>, </a:t>
            </a:r>
            <a:r>
              <a:rPr lang="fr-FR" sz="1100" noProof="0" dirty="0" err="1">
                <a:solidFill>
                  <a:srgbClr val="1A2A1A"/>
                </a:solidFill>
                <a:latin typeface="Calibri" pitchFamily="34" charset="0"/>
                <a:ea typeface="Calibri" pitchFamily="34" charset="-122"/>
                <a:cs typeface="Calibri" pitchFamily="34" charset="-120"/>
              </a:rPr>
              <a:t>ease_business</a:t>
            </a:r>
            <a:r>
              <a:rPr lang="fr-FR" sz="1100" noProof="0" dirty="0">
                <a:solidFill>
                  <a:srgbClr val="1A2A1A"/>
                </a:solidFill>
                <a:latin typeface="Calibri" pitchFamily="34" charset="0"/>
                <a:ea typeface="Calibri" pitchFamily="34" charset="-122"/>
                <a:cs typeface="Calibri" pitchFamily="34" charset="-120"/>
              </a:rPr>
              <a:t>, urbanisation, dispo alimentaire, </a:t>
            </a:r>
            <a:r>
              <a:rPr lang="fr-FR" sz="1100" noProof="0" dirty="0" err="1">
                <a:solidFill>
                  <a:srgbClr val="1A2A1A"/>
                </a:solidFill>
                <a:latin typeface="Calibri" pitchFamily="34" charset="0"/>
                <a:ea typeface="Calibri" pitchFamily="34" charset="-122"/>
                <a:cs typeface="Calibri" pitchFamily="34" charset="-120"/>
              </a:rPr>
              <a:t>stab</a:t>
            </a:r>
            <a:r>
              <a:rPr lang="fr-FR" sz="1100" noProof="0" dirty="0">
                <a:solidFill>
                  <a:srgbClr val="1A2A1A"/>
                </a:solidFill>
                <a:latin typeface="Calibri" pitchFamily="34" charset="0"/>
                <a:ea typeface="Calibri" pitchFamily="34" charset="-122"/>
                <a:cs typeface="Calibri" pitchFamily="34" charset="-120"/>
              </a:rPr>
              <a:t>. politique</a:t>
            </a:r>
            <a:endParaRPr lang="fr-FR" sz="1100" noProof="0" dirty="0"/>
          </a:p>
          <a:p>
            <a:pPr marL="0" indent="0">
              <a:buNone/>
            </a:pPr>
            <a:r>
              <a:rPr lang="fr-FR" sz="1100" noProof="0" dirty="0">
                <a:solidFill>
                  <a:srgbClr val="1A2A1A"/>
                </a:solidFill>
                <a:latin typeface="Calibri" pitchFamily="34" charset="0"/>
                <a:ea typeface="Calibri" pitchFamily="34" charset="-122"/>
                <a:cs typeface="Calibri" pitchFamily="34" charset="-120"/>
              </a:rPr>
              <a:t>→ gauche : croissance démographique</a:t>
            </a:r>
            <a:endParaRPr lang="fr-FR" sz="1100" noProof="0" dirty="0"/>
          </a:p>
        </p:txBody>
      </p:sp>
      <p:sp>
        <p:nvSpPr>
          <p:cNvPr id="8" name="Shape 5"/>
          <p:cNvSpPr/>
          <p:nvPr/>
        </p:nvSpPr>
        <p:spPr>
          <a:xfrm>
            <a:off x="4846320" y="2926080"/>
            <a:ext cx="4023360" cy="1691640"/>
          </a:xfrm>
          <a:prstGeom prst="roundRect">
            <a:avLst>
              <a:gd name="adj" fmla="val 5405"/>
            </a:avLst>
          </a:prstGeom>
          <a:solidFill>
            <a:srgbClr val="EFF5EE"/>
          </a:solidFill>
          <a:ln/>
          <a:effectLst>
            <a:outerShdw blurRad="76200" dist="25400" dir="2700000" algn="bl" rotWithShape="0">
              <a:srgbClr val="000000">
                <a:alpha val="10000"/>
              </a:srgbClr>
            </a:outerShdw>
          </a:effectLst>
        </p:spPr>
        <p:txBody>
          <a:bodyPr/>
          <a:lstStyle/>
          <a:p>
            <a:endParaRPr lang="fr-FR" noProof="0" dirty="0"/>
          </a:p>
        </p:txBody>
      </p:sp>
      <p:sp>
        <p:nvSpPr>
          <p:cNvPr id="9" name="Text 6"/>
          <p:cNvSpPr/>
          <p:nvPr/>
        </p:nvSpPr>
        <p:spPr>
          <a:xfrm>
            <a:off x="4983480" y="3017520"/>
            <a:ext cx="3749040" cy="365760"/>
          </a:xfrm>
          <a:prstGeom prst="rect">
            <a:avLst/>
          </a:prstGeom>
          <a:noFill/>
          <a:ln/>
        </p:spPr>
        <p:txBody>
          <a:bodyPr wrap="square" rtlCol="0" anchor="ctr"/>
          <a:lstStyle/>
          <a:p>
            <a:pPr marL="0" indent="0">
              <a:buNone/>
            </a:pPr>
            <a:r>
              <a:rPr lang="fr-FR" sz="1200" b="1" noProof="0" dirty="0">
                <a:solidFill>
                  <a:srgbClr val="2C5F2D"/>
                </a:solidFill>
                <a:latin typeface="Cambria" pitchFamily="34" charset="0"/>
                <a:ea typeface="Cambria" pitchFamily="34" charset="-122"/>
                <a:cs typeface="Cambria" pitchFamily="34" charset="-120"/>
              </a:rPr>
              <a:t>F2 — Dépendance commerciale  (17.4%)</a:t>
            </a:r>
            <a:endParaRPr lang="fr-FR" sz="1200" noProof="0" dirty="0"/>
          </a:p>
        </p:txBody>
      </p:sp>
      <p:sp>
        <p:nvSpPr>
          <p:cNvPr id="10" name="Text 7"/>
          <p:cNvSpPr/>
          <p:nvPr/>
        </p:nvSpPr>
        <p:spPr>
          <a:xfrm>
            <a:off x="4983480" y="3401568"/>
            <a:ext cx="3749040" cy="1143000"/>
          </a:xfrm>
          <a:prstGeom prst="rect">
            <a:avLst/>
          </a:prstGeom>
          <a:noFill/>
          <a:ln/>
        </p:spPr>
        <p:txBody>
          <a:bodyPr wrap="square" rtlCol="0" anchor="ctr"/>
          <a:lstStyle/>
          <a:p>
            <a:pPr marL="0" indent="0">
              <a:buNone/>
            </a:pPr>
            <a:r>
              <a:rPr lang="fr-FR" sz="1100" noProof="0" dirty="0">
                <a:solidFill>
                  <a:srgbClr val="1A2A1A"/>
                </a:solidFill>
                <a:latin typeface="Calibri" pitchFamily="34" charset="0"/>
                <a:ea typeface="Calibri" pitchFamily="34" charset="-122"/>
                <a:cs typeface="Calibri" pitchFamily="34" charset="-120"/>
              </a:rPr>
              <a:t>→ haut : TDI, </a:t>
            </a:r>
            <a:r>
              <a:rPr lang="fr-FR" sz="1100" noProof="0" dirty="0" err="1">
                <a:solidFill>
                  <a:srgbClr val="1A2A1A"/>
                </a:solidFill>
                <a:latin typeface="Calibri" pitchFamily="34" charset="0"/>
                <a:ea typeface="Calibri" pitchFamily="34" charset="-122"/>
                <a:cs typeface="Calibri" pitchFamily="34" charset="-120"/>
              </a:rPr>
              <a:t>import_par_hab</a:t>
            </a:r>
            <a:r>
              <a:rPr lang="fr-FR" sz="1100" noProof="0" dirty="0">
                <a:solidFill>
                  <a:srgbClr val="1A2A1A"/>
                </a:solidFill>
                <a:latin typeface="Calibri" pitchFamily="34" charset="0"/>
                <a:ea typeface="Calibri" pitchFamily="34" charset="-122"/>
                <a:cs typeface="Calibri" pitchFamily="34" charset="-120"/>
              </a:rPr>
              <a:t> (forte dépendance imports)</a:t>
            </a:r>
            <a:endParaRPr lang="fr-FR" sz="1100" noProof="0" dirty="0"/>
          </a:p>
          <a:p>
            <a:pPr marL="0" indent="0">
              <a:buNone/>
            </a:pPr>
            <a:r>
              <a:rPr lang="fr-FR" sz="1100" noProof="0" dirty="0">
                <a:solidFill>
                  <a:srgbClr val="1A2A1A"/>
                </a:solidFill>
                <a:latin typeface="Calibri" pitchFamily="34" charset="0"/>
                <a:ea typeface="Calibri" pitchFamily="34" charset="-122"/>
                <a:cs typeface="Calibri" pitchFamily="34" charset="-120"/>
              </a:rPr>
              <a:t>→ bas : population, </a:t>
            </a:r>
            <a:r>
              <a:rPr lang="fr-FR" sz="1100" noProof="0" dirty="0" err="1">
                <a:solidFill>
                  <a:srgbClr val="1A2A1A"/>
                </a:solidFill>
                <a:latin typeface="Calibri" pitchFamily="34" charset="0"/>
                <a:ea typeface="Calibri" pitchFamily="34" charset="-122"/>
                <a:cs typeface="Calibri" pitchFamily="34" charset="-120"/>
              </a:rPr>
              <a:t>prod_par_hab</a:t>
            </a:r>
            <a:r>
              <a:rPr lang="fr-FR" sz="1100" noProof="0" dirty="0">
                <a:solidFill>
                  <a:srgbClr val="1A2A1A"/>
                </a:solidFill>
                <a:latin typeface="Calibri" pitchFamily="34" charset="0"/>
                <a:ea typeface="Calibri" pitchFamily="34" charset="-122"/>
                <a:cs typeface="Calibri" pitchFamily="34" charset="-120"/>
              </a:rPr>
              <a:t> (pays autosuffisants / grands producteurs)</a:t>
            </a:r>
            <a:endParaRPr lang="fr-FR" sz="1100" noProof="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2A"/>
          </a:solidFill>
          <a:ln/>
        </p:spPr>
        <p:txBody>
          <a:bodyPr/>
          <a:lstStyle/>
          <a:p>
            <a:endParaRPr lang="fr-FR" noProof="0" dirty="0"/>
          </a:p>
        </p:txBody>
      </p:sp>
      <p:sp>
        <p:nvSpPr>
          <p:cNvPr id="3" name="Text 1"/>
          <p:cNvSpPr/>
          <p:nvPr/>
        </p:nvSpPr>
        <p:spPr>
          <a:xfrm>
            <a:off x="365760" y="137160"/>
            <a:ext cx="8229600" cy="731520"/>
          </a:xfrm>
          <a:prstGeom prst="rect">
            <a:avLst/>
          </a:prstGeom>
          <a:noFill/>
          <a:ln/>
        </p:spPr>
        <p:txBody>
          <a:bodyPr wrap="square" rtlCol="0" anchor="ctr"/>
          <a:lstStyle/>
          <a:p>
            <a:pPr marL="0" indent="0">
              <a:buNone/>
            </a:pPr>
            <a:r>
              <a:rPr lang="fr-FR" sz="2800" b="1" noProof="0" dirty="0">
                <a:solidFill>
                  <a:srgbClr val="FFFFFF"/>
                </a:solidFill>
                <a:latin typeface="Cambria" pitchFamily="34" charset="0"/>
                <a:ea typeface="Cambria" pitchFamily="34" charset="-122"/>
                <a:cs typeface="Cambria" pitchFamily="34" charset="-120"/>
              </a:rPr>
              <a:t>Plan factoriel — 131 pays</a:t>
            </a:r>
            <a:endParaRPr lang="fr-FR" sz="2800" noProof="0" dirty="0"/>
          </a:p>
        </p:txBody>
      </p:sp>
      <p:pic>
        <p:nvPicPr>
          <p:cNvPr id="4" name="Image 0" descr="preencoded.png"/>
          <p:cNvPicPr>
            <a:picLocks noChangeAspect="1"/>
          </p:cNvPicPr>
          <p:nvPr/>
        </p:nvPicPr>
        <p:blipFill>
          <a:blip r:embed="rId3"/>
          <a:stretch>
            <a:fillRect/>
          </a:stretch>
        </p:blipFill>
        <p:spPr>
          <a:xfrm>
            <a:off x="182880" y="1051560"/>
            <a:ext cx="6583680" cy="3886200"/>
          </a:xfrm>
          <a:prstGeom prst="rect">
            <a:avLst/>
          </a:prstGeom>
        </p:spPr>
      </p:pic>
      <p:sp>
        <p:nvSpPr>
          <p:cNvPr id="5" name="Shape 2"/>
          <p:cNvSpPr/>
          <p:nvPr/>
        </p:nvSpPr>
        <p:spPr>
          <a:xfrm>
            <a:off x="6903720" y="1280160"/>
            <a:ext cx="2011680" cy="2286000"/>
          </a:xfrm>
          <a:prstGeom prst="roundRect">
            <a:avLst>
              <a:gd name="adj" fmla="val 4545"/>
            </a:avLst>
          </a:prstGeom>
          <a:solidFill>
            <a:srgbClr val="EFF5EE"/>
          </a:solidFill>
          <a:ln/>
          <a:effectLst>
            <a:outerShdw blurRad="76200" dist="25400" dir="2700000" algn="bl" rotWithShape="0">
              <a:srgbClr val="000000">
                <a:alpha val="10000"/>
              </a:srgbClr>
            </a:outerShdw>
          </a:effectLst>
        </p:spPr>
        <p:txBody>
          <a:bodyPr/>
          <a:lstStyle/>
          <a:p>
            <a:endParaRPr lang="fr-FR" noProof="0" dirty="0"/>
          </a:p>
        </p:txBody>
      </p:sp>
      <p:sp>
        <p:nvSpPr>
          <p:cNvPr id="6" name="Text 3"/>
          <p:cNvSpPr/>
          <p:nvPr/>
        </p:nvSpPr>
        <p:spPr>
          <a:xfrm>
            <a:off x="6995160" y="1371600"/>
            <a:ext cx="1828800" cy="2103120"/>
          </a:xfrm>
          <a:prstGeom prst="rect">
            <a:avLst/>
          </a:prstGeom>
          <a:noFill/>
          <a:ln/>
        </p:spPr>
        <p:txBody>
          <a:bodyPr wrap="square" rtlCol="0" anchor="ctr"/>
          <a:lstStyle/>
          <a:p>
            <a:pPr marL="0" indent="0">
              <a:buNone/>
            </a:pPr>
            <a:r>
              <a:rPr lang="fr-FR" sz="1100" b="1" noProof="0" dirty="0">
                <a:solidFill>
                  <a:srgbClr val="2C5F2D"/>
                </a:solidFill>
                <a:latin typeface="Calibri" pitchFamily="34" charset="0"/>
                <a:ea typeface="Calibri" pitchFamily="34" charset="-122"/>
                <a:cs typeface="Calibri" pitchFamily="34" charset="-120"/>
              </a:rPr>
              <a:t>F1 (axe horizontal)
</a:t>
            </a:r>
            <a:r>
              <a:rPr lang="fr-FR" sz="1000" noProof="0" dirty="0">
                <a:solidFill>
                  <a:srgbClr val="1A2A1A"/>
                </a:solidFill>
                <a:latin typeface="Calibri" pitchFamily="34" charset="0"/>
                <a:ea typeface="Calibri" pitchFamily="34" charset="-122"/>
                <a:cs typeface="Calibri" pitchFamily="34" charset="-120"/>
              </a:rPr>
              <a:t>Niveau de développement
</a:t>
            </a:r>
            <a:r>
              <a:rPr lang="fr-FR" sz="1100" b="1" noProof="0" dirty="0">
                <a:solidFill>
                  <a:srgbClr val="2C5F2D"/>
                </a:solidFill>
                <a:latin typeface="Calibri" pitchFamily="34" charset="0"/>
                <a:ea typeface="Calibri" pitchFamily="34" charset="-122"/>
                <a:cs typeface="Calibri" pitchFamily="34" charset="-120"/>
              </a:rPr>
              <a:t>F2 (axe vertical)
</a:t>
            </a:r>
            <a:r>
              <a:rPr lang="fr-FR" sz="1000" noProof="0" dirty="0">
                <a:solidFill>
                  <a:srgbClr val="1A2A1A"/>
                </a:solidFill>
                <a:latin typeface="Calibri" pitchFamily="34" charset="0"/>
                <a:ea typeface="Calibri" pitchFamily="34" charset="-122"/>
                <a:cs typeface="Calibri" pitchFamily="34" charset="-120"/>
              </a:rPr>
              <a:t>Dépendance commerciale
</a:t>
            </a:r>
            <a:r>
              <a:rPr lang="fr-FR" sz="1000" i="1" noProof="0" dirty="0">
                <a:solidFill>
                  <a:srgbClr val="6B7C6B"/>
                </a:solidFill>
                <a:latin typeface="Calibri" pitchFamily="34" charset="0"/>
                <a:ea typeface="Calibri" pitchFamily="34" charset="-122"/>
                <a:cs typeface="Calibri" pitchFamily="34" charset="-120"/>
              </a:rPr>
              <a:t>→ pays riches importateurs en haut à droite</a:t>
            </a:r>
            <a:endParaRPr lang="fr-FR" sz="1100" noProof="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2A"/>
          </a:solidFill>
          <a:ln/>
        </p:spPr>
        <p:txBody>
          <a:bodyPr/>
          <a:lstStyle/>
          <a:p>
            <a:endParaRPr lang="fr-FR" noProof="0" dirty="0"/>
          </a:p>
        </p:txBody>
      </p:sp>
      <p:sp>
        <p:nvSpPr>
          <p:cNvPr id="3" name="Text 1"/>
          <p:cNvSpPr/>
          <p:nvPr/>
        </p:nvSpPr>
        <p:spPr>
          <a:xfrm>
            <a:off x="365760" y="137160"/>
            <a:ext cx="8229600" cy="731520"/>
          </a:xfrm>
          <a:prstGeom prst="rect">
            <a:avLst/>
          </a:prstGeom>
          <a:noFill/>
          <a:ln/>
        </p:spPr>
        <p:txBody>
          <a:bodyPr wrap="square" rtlCol="0" anchor="ctr"/>
          <a:lstStyle/>
          <a:p>
            <a:pPr marL="0" indent="0">
              <a:buNone/>
            </a:pPr>
            <a:r>
              <a:rPr lang="fr-FR" sz="2800" b="1" noProof="0" dirty="0">
                <a:solidFill>
                  <a:srgbClr val="FFFFFF"/>
                </a:solidFill>
                <a:latin typeface="Cambria" pitchFamily="34" charset="0"/>
                <a:ea typeface="Cambria" pitchFamily="34" charset="-122"/>
                <a:cs typeface="Cambria" pitchFamily="34" charset="-120"/>
              </a:rPr>
              <a:t>Clustering — Méthode &amp; Choix de K</a:t>
            </a:r>
            <a:endParaRPr lang="fr-FR" sz="2800" noProof="0" dirty="0"/>
          </a:p>
        </p:txBody>
      </p:sp>
      <p:sp>
        <p:nvSpPr>
          <p:cNvPr id="4" name="Text 2"/>
          <p:cNvSpPr/>
          <p:nvPr/>
        </p:nvSpPr>
        <p:spPr>
          <a:xfrm>
            <a:off x="274320" y="1097280"/>
            <a:ext cx="4114800" cy="320040"/>
          </a:xfrm>
          <a:prstGeom prst="rect">
            <a:avLst/>
          </a:prstGeom>
          <a:noFill/>
          <a:ln/>
        </p:spPr>
        <p:txBody>
          <a:bodyPr wrap="square" rtlCol="0" anchor="ctr"/>
          <a:lstStyle/>
          <a:p>
            <a:pPr marL="0" indent="0">
              <a:buNone/>
            </a:pPr>
            <a:r>
              <a:rPr lang="fr-FR" sz="1300" b="1" noProof="0" dirty="0">
                <a:solidFill>
                  <a:srgbClr val="2C5F2D"/>
                </a:solidFill>
                <a:latin typeface="Cambria" pitchFamily="34" charset="0"/>
                <a:ea typeface="Cambria" pitchFamily="34" charset="-122"/>
                <a:cs typeface="Cambria" pitchFamily="34" charset="-120"/>
              </a:rPr>
              <a:t>CAH — pour estimer K</a:t>
            </a:r>
            <a:endParaRPr lang="fr-FR" sz="1300" noProof="0" dirty="0"/>
          </a:p>
        </p:txBody>
      </p:sp>
      <p:pic>
        <p:nvPicPr>
          <p:cNvPr id="5" name="Image 0" descr="preencoded.png"/>
          <p:cNvPicPr>
            <a:picLocks noChangeAspect="1"/>
          </p:cNvPicPr>
          <p:nvPr/>
        </p:nvPicPr>
        <p:blipFill>
          <a:blip r:embed="rId3"/>
          <a:stretch>
            <a:fillRect/>
          </a:stretch>
        </p:blipFill>
        <p:spPr>
          <a:xfrm>
            <a:off x="274320" y="1463040"/>
            <a:ext cx="4114800" cy="2057400"/>
          </a:xfrm>
          <a:prstGeom prst="rect">
            <a:avLst/>
          </a:prstGeom>
        </p:spPr>
      </p:pic>
      <p:sp>
        <p:nvSpPr>
          <p:cNvPr id="6" name="Text 3"/>
          <p:cNvSpPr/>
          <p:nvPr/>
        </p:nvSpPr>
        <p:spPr>
          <a:xfrm>
            <a:off x="4754880" y="1097280"/>
            <a:ext cx="4114800" cy="320040"/>
          </a:xfrm>
          <a:prstGeom prst="rect">
            <a:avLst/>
          </a:prstGeom>
          <a:noFill/>
          <a:ln/>
        </p:spPr>
        <p:txBody>
          <a:bodyPr wrap="square" rtlCol="0" anchor="ctr"/>
          <a:lstStyle/>
          <a:p>
            <a:pPr marL="0" indent="0">
              <a:buNone/>
            </a:pPr>
            <a:r>
              <a:rPr lang="fr-FR" sz="1300" b="1" noProof="0" dirty="0">
                <a:solidFill>
                  <a:srgbClr val="2C5F2D"/>
                </a:solidFill>
                <a:latin typeface="Cambria" pitchFamily="34" charset="0"/>
                <a:ea typeface="Cambria" pitchFamily="34" charset="-122"/>
                <a:cs typeface="Cambria" pitchFamily="34" charset="-120"/>
              </a:rPr>
              <a:t>K-Means &amp; Silhouette Score — validation de K=4</a:t>
            </a:r>
            <a:endParaRPr lang="fr-FR" sz="1300" noProof="0" dirty="0"/>
          </a:p>
        </p:txBody>
      </p:sp>
      <p:pic>
        <p:nvPicPr>
          <p:cNvPr id="7" name="Image 1" descr="preencoded.png"/>
          <p:cNvPicPr>
            <a:picLocks noChangeAspect="1"/>
          </p:cNvPicPr>
          <p:nvPr/>
        </p:nvPicPr>
        <p:blipFill>
          <a:blip r:embed="rId4"/>
          <a:stretch>
            <a:fillRect/>
          </a:stretch>
        </p:blipFill>
        <p:spPr>
          <a:xfrm>
            <a:off x="4440434" y="1443305"/>
            <a:ext cx="2309022" cy="1609081"/>
          </a:xfrm>
          <a:prstGeom prst="rect">
            <a:avLst/>
          </a:prstGeom>
        </p:spPr>
      </p:pic>
      <p:pic>
        <p:nvPicPr>
          <p:cNvPr id="8" name="Image 2" descr="preencoded.png"/>
          <p:cNvPicPr>
            <a:picLocks noChangeAspect="1"/>
          </p:cNvPicPr>
          <p:nvPr/>
        </p:nvPicPr>
        <p:blipFill>
          <a:blip r:embed="rId5"/>
          <a:stretch>
            <a:fillRect/>
          </a:stretch>
        </p:blipFill>
        <p:spPr>
          <a:xfrm>
            <a:off x="6756034" y="2004278"/>
            <a:ext cx="2309022" cy="1607602"/>
          </a:xfrm>
          <a:prstGeom prst="rect">
            <a:avLst/>
          </a:prstGeom>
        </p:spPr>
      </p:pic>
      <p:sp>
        <p:nvSpPr>
          <p:cNvPr id="9" name="Shape 4"/>
          <p:cNvSpPr/>
          <p:nvPr/>
        </p:nvSpPr>
        <p:spPr>
          <a:xfrm>
            <a:off x="274320" y="3703320"/>
            <a:ext cx="8595360" cy="1234440"/>
          </a:xfrm>
          <a:prstGeom prst="roundRect">
            <a:avLst>
              <a:gd name="adj" fmla="val 7407"/>
            </a:avLst>
          </a:prstGeom>
          <a:solidFill>
            <a:srgbClr val="F0F7F0"/>
          </a:solidFill>
          <a:ln/>
        </p:spPr>
        <p:txBody>
          <a:bodyPr/>
          <a:lstStyle/>
          <a:p>
            <a:endParaRPr lang="fr-FR" noProof="0" dirty="0"/>
          </a:p>
        </p:txBody>
      </p:sp>
      <p:pic>
        <p:nvPicPr>
          <p:cNvPr id="10" name="Image 3" descr="preencoded.png"/>
          <p:cNvPicPr>
            <a:picLocks noChangeAspect="1"/>
          </p:cNvPicPr>
          <p:nvPr/>
        </p:nvPicPr>
        <p:blipFill>
          <a:blip r:embed="rId6"/>
          <a:stretch>
            <a:fillRect/>
          </a:stretch>
        </p:blipFill>
        <p:spPr>
          <a:xfrm>
            <a:off x="457200" y="3840480"/>
            <a:ext cx="320040" cy="320040"/>
          </a:xfrm>
          <a:prstGeom prst="rect">
            <a:avLst/>
          </a:prstGeom>
        </p:spPr>
      </p:pic>
      <p:sp>
        <p:nvSpPr>
          <p:cNvPr id="11" name="Text 5"/>
          <p:cNvSpPr/>
          <p:nvPr/>
        </p:nvSpPr>
        <p:spPr>
          <a:xfrm>
            <a:off x="868680" y="3767328"/>
            <a:ext cx="7863840" cy="1005840"/>
          </a:xfrm>
          <a:prstGeom prst="rect">
            <a:avLst/>
          </a:prstGeom>
          <a:noFill/>
          <a:ln/>
        </p:spPr>
        <p:txBody>
          <a:bodyPr wrap="square" rtlCol="0" anchor="ctr"/>
          <a:lstStyle/>
          <a:p>
            <a:pPr marL="0" indent="0">
              <a:buNone/>
            </a:pPr>
            <a:r>
              <a:rPr lang="fr-FR" sz="1200" b="1" noProof="0" dirty="0">
                <a:solidFill>
                  <a:srgbClr val="2C5F2D"/>
                </a:solidFill>
                <a:latin typeface="Calibri" pitchFamily="34" charset="0"/>
                <a:ea typeface="Calibri" pitchFamily="34" charset="-122"/>
                <a:cs typeface="Calibri" pitchFamily="34" charset="-120"/>
              </a:rPr>
              <a:t>K = 4 retenu  </a:t>
            </a:r>
            <a:r>
              <a:rPr lang="fr-FR" sz="1200" noProof="0" dirty="0">
                <a:solidFill>
                  <a:srgbClr val="1A2A1A"/>
                </a:solidFill>
                <a:latin typeface="Calibri" pitchFamily="34" charset="0"/>
                <a:ea typeface="Calibri" pitchFamily="34" charset="-122"/>
                <a:cs typeface="Calibri" pitchFamily="34" charset="-120"/>
              </a:rPr>
              <a:t>— Confirmé par la méthode du coude ET le score de silhouette.  </a:t>
            </a:r>
            <a:r>
              <a:rPr lang="fr-FR" sz="1200" b="1" noProof="0" dirty="0">
                <a:solidFill>
                  <a:srgbClr val="2C5F2D"/>
                </a:solidFill>
                <a:latin typeface="Calibri" pitchFamily="34" charset="0"/>
                <a:ea typeface="Calibri" pitchFamily="34" charset="-122"/>
                <a:cs typeface="Calibri" pitchFamily="34" charset="-120"/>
              </a:rPr>
              <a:t>K-Means retenu  </a:t>
            </a:r>
            <a:r>
              <a:rPr lang="fr-FR" sz="1200" noProof="0" dirty="0">
                <a:solidFill>
                  <a:srgbClr val="1A2A1A"/>
                </a:solidFill>
                <a:latin typeface="Calibri" pitchFamily="34" charset="0"/>
                <a:ea typeface="Calibri" pitchFamily="34" charset="-122"/>
                <a:cs typeface="Calibri" pitchFamily="34" charset="-120"/>
              </a:rPr>
              <a:t>— Clusters plus compacts et homogènes que la CAH, meilleure interprétabilité métier.</a:t>
            </a:r>
            <a:endParaRPr lang="fr-FR" sz="1200" noProof="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3A2A"/>
        </a:solidFill>
        <a:effectLst/>
      </p:bgPr>
    </p:bg>
    <p:spTree>
      <p:nvGrpSpPr>
        <p:cNvPr id="1" name=""/>
        <p:cNvGrpSpPr/>
        <p:nvPr/>
      </p:nvGrpSpPr>
      <p:grpSpPr>
        <a:xfrm>
          <a:off x="0" y="0"/>
          <a:ext cx="0" cy="0"/>
          <a:chOff x="0" y="0"/>
          <a:chExt cx="0" cy="0"/>
        </a:xfrm>
      </p:grpSpPr>
      <p:sp>
        <p:nvSpPr>
          <p:cNvPr id="2" name="Shape 0"/>
          <p:cNvSpPr/>
          <p:nvPr/>
        </p:nvSpPr>
        <p:spPr>
          <a:xfrm>
            <a:off x="0" y="0"/>
            <a:ext cx="457200" cy="5143500"/>
          </a:xfrm>
          <a:prstGeom prst="rect">
            <a:avLst/>
          </a:prstGeom>
          <a:solidFill>
            <a:srgbClr val="2C5F2D"/>
          </a:solidFill>
          <a:ln/>
        </p:spPr>
        <p:txBody>
          <a:bodyPr/>
          <a:lstStyle/>
          <a:p>
            <a:endParaRPr lang="fr-FR" noProof="0" dirty="0"/>
          </a:p>
        </p:txBody>
      </p:sp>
      <p:sp>
        <p:nvSpPr>
          <p:cNvPr id="3" name="Text 1"/>
          <p:cNvSpPr/>
          <p:nvPr/>
        </p:nvSpPr>
        <p:spPr>
          <a:xfrm>
            <a:off x="822960" y="1463040"/>
            <a:ext cx="1828800" cy="1280160"/>
          </a:xfrm>
          <a:prstGeom prst="rect">
            <a:avLst/>
          </a:prstGeom>
          <a:noFill/>
          <a:ln/>
        </p:spPr>
        <p:txBody>
          <a:bodyPr wrap="square" rtlCol="0" anchor="ctr"/>
          <a:lstStyle/>
          <a:p>
            <a:pPr marL="0" indent="0" algn="l">
              <a:buNone/>
            </a:pPr>
            <a:r>
              <a:rPr lang="fr-FR" sz="8000" b="1" noProof="0" dirty="0">
                <a:solidFill>
                  <a:srgbClr val="2C5F2D"/>
                </a:solidFill>
                <a:latin typeface="Cambria" pitchFamily="34" charset="0"/>
                <a:ea typeface="Cambria" pitchFamily="34" charset="-122"/>
                <a:cs typeface="Cambria" pitchFamily="34" charset="-120"/>
              </a:rPr>
              <a:t>03</a:t>
            </a:r>
            <a:endParaRPr lang="fr-FR" sz="8000" noProof="0" dirty="0"/>
          </a:p>
        </p:txBody>
      </p:sp>
      <p:sp>
        <p:nvSpPr>
          <p:cNvPr id="4" name="Text 2"/>
          <p:cNvSpPr/>
          <p:nvPr/>
        </p:nvSpPr>
        <p:spPr>
          <a:xfrm>
            <a:off x="2926080" y="1737360"/>
            <a:ext cx="5852160" cy="822960"/>
          </a:xfrm>
          <a:prstGeom prst="rect">
            <a:avLst/>
          </a:prstGeom>
          <a:noFill/>
          <a:ln/>
        </p:spPr>
        <p:txBody>
          <a:bodyPr wrap="square" rtlCol="0" anchor="ctr"/>
          <a:lstStyle/>
          <a:p>
            <a:pPr marL="0" indent="0" algn="l">
              <a:buNone/>
            </a:pPr>
            <a:r>
              <a:rPr lang="fr-FR" sz="3200" b="1" noProof="0" dirty="0">
                <a:solidFill>
                  <a:srgbClr val="FFFFFF"/>
                </a:solidFill>
                <a:latin typeface="Cambria" pitchFamily="34" charset="0"/>
                <a:ea typeface="Cambria" pitchFamily="34" charset="-122"/>
                <a:cs typeface="Cambria" pitchFamily="34" charset="-120"/>
              </a:rPr>
              <a:t>Résultats</a:t>
            </a:r>
            <a:endParaRPr lang="fr-FR" sz="3200" noProof="0" dirty="0"/>
          </a:p>
        </p:txBody>
      </p:sp>
      <p:sp>
        <p:nvSpPr>
          <p:cNvPr id="5" name="Text 3"/>
          <p:cNvSpPr/>
          <p:nvPr/>
        </p:nvSpPr>
        <p:spPr>
          <a:xfrm>
            <a:off x="2926080" y="2606040"/>
            <a:ext cx="5852160" cy="457200"/>
          </a:xfrm>
          <a:prstGeom prst="rect">
            <a:avLst/>
          </a:prstGeom>
          <a:noFill/>
          <a:ln/>
        </p:spPr>
        <p:txBody>
          <a:bodyPr wrap="square" rtlCol="0" anchor="ctr"/>
          <a:lstStyle/>
          <a:p>
            <a:pPr marL="0" indent="0" algn="l">
              <a:buNone/>
            </a:pPr>
            <a:r>
              <a:rPr lang="fr-FR" sz="1400" noProof="0" dirty="0">
                <a:solidFill>
                  <a:srgbClr val="7AAD6E"/>
                </a:solidFill>
                <a:latin typeface="Calibri" pitchFamily="34" charset="0"/>
                <a:ea typeface="Calibri" pitchFamily="34" charset="-122"/>
                <a:cs typeface="Calibri" pitchFamily="34" charset="-120"/>
              </a:rPr>
              <a:t>Les 4 clusters et leurs profils</a:t>
            </a:r>
            <a:endParaRPr lang="fr-FR" sz="1400" noProof="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2A"/>
          </a:solidFill>
          <a:ln/>
        </p:spPr>
        <p:txBody>
          <a:bodyPr/>
          <a:lstStyle/>
          <a:p>
            <a:endParaRPr lang="fr-FR" noProof="0" dirty="0"/>
          </a:p>
        </p:txBody>
      </p:sp>
      <p:sp>
        <p:nvSpPr>
          <p:cNvPr id="3" name="Text 1"/>
          <p:cNvSpPr/>
          <p:nvPr/>
        </p:nvSpPr>
        <p:spPr>
          <a:xfrm>
            <a:off x="365760" y="137160"/>
            <a:ext cx="8229600" cy="731520"/>
          </a:xfrm>
          <a:prstGeom prst="rect">
            <a:avLst/>
          </a:prstGeom>
          <a:noFill/>
          <a:ln/>
        </p:spPr>
        <p:txBody>
          <a:bodyPr wrap="square" rtlCol="0" anchor="ctr"/>
          <a:lstStyle/>
          <a:p>
            <a:pPr marL="0" indent="0">
              <a:buNone/>
            </a:pPr>
            <a:r>
              <a:rPr lang="fr-FR" sz="2600" b="1" noProof="0" dirty="0">
                <a:solidFill>
                  <a:srgbClr val="FFFFFF"/>
                </a:solidFill>
                <a:latin typeface="Cambria" pitchFamily="34" charset="0"/>
                <a:ea typeface="Cambria" pitchFamily="34" charset="-122"/>
                <a:cs typeface="Cambria" pitchFamily="34" charset="-120"/>
              </a:rPr>
              <a:t>CAH vs K-Means — Pourquoi K-Means ?</a:t>
            </a:r>
            <a:endParaRPr lang="fr-FR" sz="2600" noProof="0" dirty="0"/>
          </a:p>
        </p:txBody>
      </p:sp>
      <p:sp>
        <p:nvSpPr>
          <p:cNvPr id="4" name="Text 2"/>
          <p:cNvSpPr/>
          <p:nvPr/>
        </p:nvSpPr>
        <p:spPr>
          <a:xfrm>
            <a:off x="0" y="1097280"/>
            <a:ext cx="4572000" cy="320040"/>
          </a:xfrm>
          <a:prstGeom prst="rect">
            <a:avLst/>
          </a:prstGeom>
          <a:noFill/>
          <a:ln/>
        </p:spPr>
        <p:txBody>
          <a:bodyPr wrap="square" rtlCol="0" anchor="ctr"/>
          <a:lstStyle/>
          <a:p>
            <a:pPr marL="0" indent="0" algn="ctr">
              <a:buNone/>
            </a:pPr>
            <a:r>
              <a:rPr lang="fr-FR" sz="1300" b="1" noProof="0" dirty="0">
                <a:solidFill>
                  <a:srgbClr val="6B7C6B"/>
                </a:solidFill>
                <a:latin typeface="Cambria" pitchFamily="34" charset="0"/>
                <a:ea typeface="Cambria" pitchFamily="34" charset="-122"/>
                <a:cs typeface="Cambria" pitchFamily="34" charset="-120"/>
              </a:rPr>
              <a:t>CAH</a:t>
            </a:r>
            <a:endParaRPr lang="fr-FR" sz="1300" noProof="0" dirty="0"/>
          </a:p>
        </p:txBody>
      </p:sp>
      <p:pic>
        <p:nvPicPr>
          <p:cNvPr id="5" name="Image 0" descr="preencoded.png"/>
          <p:cNvPicPr>
            <a:picLocks noChangeAspect="1"/>
          </p:cNvPicPr>
          <p:nvPr/>
        </p:nvPicPr>
        <p:blipFill>
          <a:blip r:embed="rId3"/>
          <a:stretch>
            <a:fillRect/>
          </a:stretch>
        </p:blipFill>
        <p:spPr>
          <a:xfrm>
            <a:off x="91440" y="1417320"/>
            <a:ext cx="4389120" cy="2542032"/>
          </a:xfrm>
          <a:prstGeom prst="rect">
            <a:avLst/>
          </a:prstGeom>
        </p:spPr>
      </p:pic>
      <p:sp>
        <p:nvSpPr>
          <p:cNvPr id="6" name="Text 3"/>
          <p:cNvSpPr/>
          <p:nvPr/>
        </p:nvSpPr>
        <p:spPr>
          <a:xfrm>
            <a:off x="4572000" y="1097280"/>
            <a:ext cx="4572000" cy="320040"/>
          </a:xfrm>
          <a:prstGeom prst="rect">
            <a:avLst/>
          </a:prstGeom>
          <a:noFill/>
          <a:ln/>
        </p:spPr>
        <p:txBody>
          <a:bodyPr wrap="square" rtlCol="0" anchor="ctr"/>
          <a:lstStyle/>
          <a:p>
            <a:pPr marL="0" indent="0" algn="ctr">
              <a:buNone/>
            </a:pPr>
            <a:r>
              <a:rPr lang="fr-FR" sz="1300" b="1" noProof="0" dirty="0">
                <a:solidFill>
                  <a:srgbClr val="7B5EA7"/>
                </a:solidFill>
                <a:latin typeface="Cambria" pitchFamily="34" charset="0"/>
                <a:ea typeface="Cambria" pitchFamily="34" charset="-122"/>
                <a:cs typeface="Cambria" pitchFamily="34" charset="-120"/>
              </a:rPr>
              <a:t>K-Means  —  Retenu</a:t>
            </a:r>
            <a:endParaRPr lang="fr-FR" sz="1300" noProof="0" dirty="0"/>
          </a:p>
        </p:txBody>
      </p:sp>
      <p:pic>
        <p:nvPicPr>
          <p:cNvPr id="7" name="Image 1" descr="preencoded.png"/>
          <p:cNvPicPr>
            <a:picLocks noChangeAspect="1"/>
          </p:cNvPicPr>
          <p:nvPr/>
        </p:nvPicPr>
        <p:blipFill>
          <a:blip r:embed="rId4"/>
          <a:stretch>
            <a:fillRect/>
          </a:stretch>
        </p:blipFill>
        <p:spPr>
          <a:xfrm>
            <a:off x="4663440" y="1417320"/>
            <a:ext cx="4389120" cy="2542032"/>
          </a:xfrm>
          <a:prstGeom prst="rect">
            <a:avLst/>
          </a:prstGeom>
        </p:spPr>
      </p:pic>
      <p:sp>
        <p:nvSpPr>
          <p:cNvPr id="8" name="Shape 4"/>
          <p:cNvSpPr/>
          <p:nvPr/>
        </p:nvSpPr>
        <p:spPr>
          <a:xfrm>
            <a:off x="274320" y="4096512"/>
            <a:ext cx="8595360" cy="795528"/>
          </a:xfrm>
          <a:prstGeom prst="roundRect">
            <a:avLst>
              <a:gd name="adj" fmla="val 8333"/>
            </a:avLst>
          </a:prstGeom>
          <a:solidFill>
            <a:srgbClr val="F0F7F0"/>
          </a:solidFill>
          <a:ln/>
        </p:spPr>
        <p:txBody>
          <a:bodyPr/>
          <a:lstStyle/>
          <a:p>
            <a:endParaRPr lang="fr-FR" noProof="0" dirty="0"/>
          </a:p>
        </p:txBody>
      </p:sp>
      <p:pic>
        <p:nvPicPr>
          <p:cNvPr id="9" name="Image 2" descr="preencoded.png"/>
          <p:cNvPicPr>
            <a:picLocks noChangeAspect="1"/>
          </p:cNvPicPr>
          <p:nvPr/>
        </p:nvPicPr>
        <p:blipFill>
          <a:blip r:embed="rId5"/>
          <a:stretch>
            <a:fillRect/>
          </a:stretch>
        </p:blipFill>
        <p:spPr>
          <a:xfrm>
            <a:off x="502920" y="4351290"/>
            <a:ext cx="320040" cy="320040"/>
          </a:xfrm>
          <a:prstGeom prst="rect">
            <a:avLst/>
          </a:prstGeom>
        </p:spPr>
      </p:pic>
      <p:sp>
        <p:nvSpPr>
          <p:cNvPr id="10" name="Text 5"/>
          <p:cNvSpPr/>
          <p:nvPr/>
        </p:nvSpPr>
        <p:spPr>
          <a:xfrm>
            <a:off x="914400" y="4195190"/>
            <a:ext cx="7772400" cy="640080"/>
          </a:xfrm>
          <a:prstGeom prst="rect">
            <a:avLst/>
          </a:prstGeom>
          <a:noFill/>
          <a:ln/>
        </p:spPr>
        <p:txBody>
          <a:bodyPr wrap="square" rtlCol="0" anchor="ctr"/>
          <a:lstStyle/>
          <a:p>
            <a:pPr marL="0" indent="0">
              <a:buNone/>
            </a:pPr>
            <a:r>
              <a:rPr lang="fr-FR" sz="1300" b="1" noProof="0" dirty="0">
                <a:solidFill>
                  <a:srgbClr val="2C5F2D"/>
                </a:solidFill>
                <a:latin typeface="Cambria" pitchFamily="34" charset="0"/>
                <a:ea typeface="Cambria" pitchFamily="34" charset="-122"/>
                <a:cs typeface="Cambria" pitchFamily="34" charset="-120"/>
              </a:rPr>
              <a:t>K-Means retenu — clusters plus compacts et homogènes que la CAH.</a:t>
            </a:r>
            <a:endParaRPr lang="fr-FR" sz="1300" noProof="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2A"/>
          </a:solidFill>
          <a:ln/>
        </p:spPr>
        <p:txBody>
          <a:bodyPr/>
          <a:lstStyle/>
          <a:p>
            <a:endParaRPr lang="fr-FR" noProof="0" dirty="0"/>
          </a:p>
        </p:txBody>
      </p:sp>
      <p:sp>
        <p:nvSpPr>
          <p:cNvPr id="3" name="Text 1"/>
          <p:cNvSpPr/>
          <p:nvPr/>
        </p:nvSpPr>
        <p:spPr>
          <a:xfrm>
            <a:off x="365760" y="137160"/>
            <a:ext cx="8229600" cy="731520"/>
          </a:xfrm>
          <a:prstGeom prst="rect">
            <a:avLst/>
          </a:prstGeom>
          <a:noFill/>
          <a:ln/>
        </p:spPr>
        <p:txBody>
          <a:bodyPr wrap="square" rtlCol="0" anchor="ctr"/>
          <a:lstStyle/>
          <a:p>
            <a:pPr marL="0" indent="0">
              <a:buNone/>
            </a:pPr>
            <a:r>
              <a:rPr lang="fr-FR" sz="2800" b="1" noProof="0" dirty="0">
                <a:solidFill>
                  <a:srgbClr val="FFFFFF"/>
                </a:solidFill>
                <a:latin typeface="Cambria" pitchFamily="34" charset="0"/>
                <a:ea typeface="Cambria" pitchFamily="34" charset="-122"/>
                <a:cs typeface="Cambria" pitchFamily="34" charset="-120"/>
              </a:rPr>
              <a:t>Profil moyen des 4 clusters</a:t>
            </a:r>
            <a:endParaRPr lang="fr-FR" sz="2800" noProof="0" dirty="0"/>
          </a:p>
        </p:txBody>
      </p:sp>
      <p:pic>
        <p:nvPicPr>
          <p:cNvPr id="4" name="Image 0" descr="preencoded.png"/>
          <p:cNvPicPr>
            <a:picLocks noChangeAspect="1"/>
          </p:cNvPicPr>
          <p:nvPr/>
        </p:nvPicPr>
        <p:blipFill>
          <a:blip r:embed="rId3"/>
          <a:stretch>
            <a:fillRect/>
          </a:stretch>
        </p:blipFill>
        <p:spPr>
          <a:xfrm>
            <a:off x="274320" y="1097280"/>
            <a:ext cx="8595360" cy="2834640"/>
          </a:xfrm>
          <a:prstGeom prst="rect">
            <a:avLst/>
          </a:prstGeom>
        </p:spPr>
      </p:pic>
      <p:sp>
        <p:nvSpPr>
          <p:cNvPr id="5" name="Text 2"/>
          <p:cNvSpPr/>
          <p:nvPr/>
        </p:nvSpPr>
        <p:spPr>
          <a:xfrm>
            <a:off x="365760" y="4069080"/>
            <a:ext cx="8412480" cy="365760"/>
          </a:xfrm>
          <a:prstGeom prst="rect">
            <a:avLst/>
          </a:prstGeom>
          <a:noFill/>
          <a:ln/>
        </p:spPr>
        <p:txBody>
          <a:bodyPr wrap="square" rtlCol="0" anchor="ctr"/>
          <a:lstStyle/>
          <a:p>
            <a:pPr marL="0" indent="0">
              <a:buNone/>
            </a:pPr>
            <a:r>
              <a:rPr lang="fr-FR" sz="1000" b="1" noProof="0" dirty="0">
                <a:solidFill>
                  <a:srgbClr val="8C8C8C"/>
                </a:solidFill>
                <a:latin typeface="Calibri" pitchFamily="34" charset="0"/>
                <a:ea typeface="Calibri" pitchFamily="34" charset="-122"/>
                <a:cs typeface="Calibri" pitchFamily="34" charset="-120"/>
              </a:rPr>
              <a:t>Cluster 0  </a:t>
            </a:r>
            <a:r>
              <a:rPr lang="fr-FR" sz="1000" noProof="0" dirty="0">
                <a:solidFill>
                  <a:srgbClr val="1A2A1A"/>
                </a:solidFill>
                <a:latin typeface="Calibri" pitchFamily="34" charset="0"/>
                <a:ea typeface="Calibri" pitchFamily="34" charset="-122"/>
                <a:cs typeface="Calibri" pitchFamily="34" charset="-120"/>
              </a:rPr>
              <a:t>En développement  |  </a:t>
            </a:r>
            <a:r>
              <a:rPr lang="fr-FR" sz="1000" b="1" noProof="0" dirty="0">
                <a:solidFill>
                  <a:srgbClr val="E86B3A"/>
                </a:solidFill>
                <a:latin typeface="Calibri" pitchFamily="34" charset="0"/>
                <a:ea typeface="Calibri" pitchFamily="34" charset="-122"/>
                <a:cs typeface="Calibri" pitchFamily="34" charset="-120"/>
              </a:rPr>
              <a:t>Cluster 1  </a:t>
            </a:r>
            <a:r>
              <a:rPr lang="fr-FR" sz="1000" noProof="0" dirty="0">
                <a:solidFill>
                  <a:srgbClr val="1A2A1A"/>
                </a:solidFill>
                <a:latin typeface="Calibri" pitchFamily="34" charset="0"/>
                <a:ea typeface="Calibri" pitchFamily="34" charset="-122"/>
                <a:cs typeface="Calibri" pitchFamily="34" charset="-120"/>
              </a:rPr>
              <a:t>Développés autosuffisants  |  </a:t>
            </a:r>
            <a:r>
              <a:rPr lang="fr-FR" sz="1000" b="1" noProof="0" dirty="0">
                <a:solidFill>
                  <a:srgbClr val="7B5EA7"/>
                </a:solidFill>
                <a:latin typeface="Calibri" pitchFamily="34" charset="0"/>
                <a:ea typeface="Calibri" pitchFamily="34" charset="-122"/>
                <a:cs typeface="Calibri" pitchFamily="34" charset="-120"/>
              </a:rPr>
              <a:t>Cluster 2  </a:t>
            </a:r>
            <a:r>
              <a:rPr lang="fr-FR" sz="1000" noProof="0" dirty="0">
                <a:solidFill>
                  <a:srgbClr val="1A2A1A"/>
                </a:solidFill>
                <a:latin typeface="Calibri" pitchFamily="34" charset="0"/>
                <a:ea typeface="Calibri" pitchFamily="34" charset="-122"/>
                <a:cs typeface="Calibri" pitchFamily="34" charset="-120"/>
              </a:rPr>
              <a:t>Développés importateurs (cible)  |  </a:t>
            </a:r>
            <a:r>
              <a:rPr lang="fr-FR" sz="1000" b="1" noProof="0" dirty="0">
                <a:solidFill>
                  <a:srgbClr val="C97A2A"/>
                </a:solidFill>
                <a:latin typeface="Calibri" pitchFamily="34" charset="0"/>
                <a:ea typeface="Calibri" pitchFamily="34" charset="-122"/>
                <a:cs typeface="Calibri" pitchFamily="34" charset="-120"/>
              </a:rPr>
              <a:t>Cluster 3  </a:t>
            </a:r>
            <a:r>
              <a:rPr lang="fr-FR" sz="1000" noProof="0" dirty="0">
                <a:solidFill>
                  <a:srgbClr val="1A2A1A"/>
                </a:solidFill>
                <a:latin typeface="Calibri" pitchFamily="34" charset="0"/>
                <a:ea typeface="Calibri" pitchFamily="34" charset="-122"/>
                <a:cs typeface="Calibri" pitchFamily="34" charset="-120"/>
              </a:rPr>
              <a:t>Chine &amp; Inde</a:t>
            </a:r>
            <a:endParaRPr lang="fr-FR" sz="1000" noProof="0" dirty="0"/>
          </a:p>
        </p:txBody>
      </p:sp>
      <p:sp>
        <p:nvSpPr>
          <p:cNvPr id="6" name="Text 3"/>
          <p:cNvSpPr/>
          <p:nvPr/>
        </p:nvSpPr>
        <p:spPr>
          <a:xfrm>
            <a:off x="365760" y="4480560"/>
            <a:ext cx="8412480" cy="320040"/>
          </a:xfrm>
          <a:prstGeom prst="rect">
            <a:avLst/>
          </a:prstGeom>
          <a:noFill/>
          <a:ln/>
        </p:spPr>
        <p:txBody>
          <a:bodyPr wrap="square" rtlCol="0" anchor="ctr"/>
          <a:lstStyle/>
          <a:p>
            <a:pPr marL="0" indent="0">
              <a:buNone/>
            </a:pPr>
            <a:r>
              <a:rPr lang="fr-FR" sz="1000" i="1" noProof="0" dirty="0">
                <a:solidFill>
                  <a:srgbClr val="6B7C6B"/>
                </a:solidFill>
                <a:latin typeface="Calibri" pitchFamily="34" charset="0"/>
                <a:ea typeface="Calibri" pitchFamily="34" charset="-122"/>
                <a:cs typeface="Calibri" pitchFamily="34" charset="-120"/>
              </a:rPr>
              <a:t>Valeurs normalisées 0–1. Cases foncées = valeurs élevées.</a:t>
            </a:r>
            <a:endParaRPr lang="fr-FR" sz="1000" noProof="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2A"/>
          </a:solidFill>
          <a:ln/>
        </p:spPr>
        <p:txBody>
          <a:bodyPr/>
          <a:lstStyle/>
          <a:p>
            <a:endParaRPr lang="fr-FR" noProof="0" dirty="0"/>
          </a:p>
        </p:txBody>
      </p:sp>
      <p:sp>
        <p:nvSpPr>
          <p:cNvPr id="3" name="Shape 1"/>
          <p:cNvSpPr/>
          <p:nvPr/>
        </p:nvSpPr>
        <p:spPr>
          <a:xfrm>
            <a:off x="320040" y="164592"/>
            <a:ext cx="640080" cy="640080"/>
          </a:xfrm>
          <a:prstGeom prst="ellipse">
            <a:avLst/>
          </a:prstGeom>
          <a:solidFill>
            <a:srgbClr val="8C8C8C"/>
          </a:solidFill>
          <a:ln/>
        </p:spPr>
        <p:txBody>
          <a:bodyPr/>
          <a:lstStyle/>
          <a:p>
            <a:endParaRPr lang="fr-FR" noProof="0" dirty="0"/>
          </a:p>
        </p:txBody>
      </p:sp>
      <p:sp>
        <p:nvSpPr>
          <p:cNvPr id="4" name="Text 2"/>
          <p:cNvSpPr/>
          <p:nvPr/>
        </p:nvSpPr>
        <p:spPr>
          <a:xfrm>
            <a:off x="1051560" y="137160"/>
            <a:ext cx="7772400" cy="731520"/>
          </a:xfrm>
          <a:prstGeom prst="rect">
            <a:avLst/>
          </a:prstGeom>
          <a:noFill/>
          <a:ln/>
        </p:spPr>
        <p:txBody>
          <a:bodyPr wrap="square" rtlCol="0" anchor="ctr"/>
          <a:lstStyle/>
          <a:p>
            <a:pPr marL="0" indent="0">
              <a:buNone/>
            </a:pPr>
            <a:r>
              <a:rPr lang="fr-FR" sz="2600" b="1" noProof="0" dirty="0">
                <a:solidFill>
                  <a:srgbClr val="FFFFFF"/>
                </a:solidFill>
                <a:latin typeface="Cambria" pitchFamily="34" charset="0"/>
                <a:ea typeface="Cambria" pitchFamily="34" charset="-122"/>
                <a:cs typeface="Cambria" pitchFamily="34" charset="-120"/>
              </a:rPr>
              <a:t>Cluster 0 — Pays en développement</a:t>
            </a:r>
            <a:endParaRPr lang="fr-FR" sz="2600" noProof="0" dirty="0"/>
          </a:p>
        </p:txBody>
      </p:sp>
      <p:sp>
        <p:nvSpPr>
          <p:cNvPr id="5" name="Shape 3"/>
          <p:cNvSpPr/>
          <p:nvPr/>
        </p:nvSpPr>
        <p:spPr>
          <a:xfrm>
            <a:off x="274320" y="1143000"/>
            <a:ext cx="1920240" cy="1188720"/>
          </a:xfrm>
          <a:prstGeom prst="roundRect">
            <a:avLst>
              <a:gd name="adj" fmla="val 7692"/>
            </a:avLst>
          </a:prstGeom>
          <a:solidFill>
            <a:srgbClr val="8C8C8C"/>
          </a:solidFill>
          <a:ln/>
        </p:spPr>
        <p:txBody>
          <a:bodyPr/>
          <a:lstStyle/>
          <a:p>
            <a:endParaRPr lang="fr-FR" noProof="0" dirty="0"/>
          </a:p>
        </p:txBody>
      </p:sp>
      <p:sp>
        <p:nvSpPr>
          <p:cNvPr id="6" name="Text 4"/>
          <p:cNvSpPr/>
          <p:nvPr/>
        </p:nvSpPr>
        <p:spPr>
          <a:xfrm>
            <a:off x="274320" y="1188720"/>
            <a:ext cx="1920240" cy="640080"/>
          </a:xfrm>
          <a:prstGeom prst="rect">
            <a:avLst/>
          </a:prstGeom>
          <a:noFill/>
          <a:ln/>
        </p:spPr>
        <p:txBody>
          <a:bodyPr wrap="square" rtlCol="0" anchor="ctr"/>
          <a:lstStyle/>
          <a:p>
            <a:pPr marL="0" indent="0" algn="ctr">
              <a:buNone/>
            </a:pPr>
            <a:r>
              <a:rPr lang="fr-FR" sz="2200" b="1" noProof="0" dirty="0">
                <a:solidFill>
                  <a:srgbClr val="FFFFFF"/>
                </a:solidFill>
                <a:latin typeface="Cambria" pitchFamily="34" charset="0"/>
                <a:ea typeface="Cambria" pitchFamily="34" charset="-122"/>
                <a:cs typeface="Cambria" pitchFamily="34" charset="-120"/>
              </a:rPr>
              <a:t>53</a:t>
            </a:r>
            <a:endParaRPr lang="fr-FR" sz="2200" noProof="0" dirty="0"/>
          </a:p>
        </p:txBody>
      </p:sp>
      <p:sp>
        <p:nvSpPr>
          <p:cNvPr id="7" name="Text 5"/>
          <p:cNvSpPr/>
          <p:nvPr/>
        </p:nvSpPr>
        <p:spPr>
          <a:xfrm>
            <a:off x="274320" y="1828800"/>
            <a:ext cx="1920240" cy="457200"/>
          </a:xfrm>
          <a:prstGeom prst="rect">
            <a:avLst/>
          </a:prstGeom>
          <a:noFill/>
          <a:ln/>
        </p:spPr>
        <p:txBody>
          <a:bodyPr wrap="square" rtlCol="0" anchor="ctr"/>
          <a:lstStyle/>
          <a:p>
            <a:pPr marL="0" indent="0" algn="ctr">
              <a:buNone/>
            </a:pPr>
            <a:r>
              <a:rPr lang="fr-FR" sz="1000" noProof="0" dirty="0">
                <a:solidFill>
                  <a:srgbClr val="FFFFFF"/>
                </a:solidFill>
                <a:latin typeface="Calibri" pitchFamily="34" charset="0"/>
                <a:ea typeface="Calibri" pitchFamily="34" charset="-122"/>
                <a:cs typeface="Calibri" pitchFamily="34" charset="-120"/>
              </a:rPr>
              <a:t>pays</a:t>
            </a:r>
            <a:endParaRPr lang="fr-FR" sz="1000" noProof="0" dirty="0"/>
          </a:p>
        </p:txBody>
      </p:sp>
      <p:sp>
        <p:nvSpPr>
          <p:cNvPr id="8" name="Shape 6"/>
          <p:cNvSpPr/>
          <p:nvPr/>
        </p:nvSpPr>
        <p:spPr>
          <a:xfrm>
            <a:off x="2423160" y="1143000"/>
            <a:ext cx="1920240" cy="1188720"/>
          </a:xfrm>
          <a:prstGeom prst="roundRect">
            <a:avLst>
              <a:gd name="adj" fmla="val 7692"/>
            </a:avLst>
          </a:prstGeom>
          <a:solidFill>
            <a:srgbClr val="8C8C8C"/>
          </a:solidFill>
          <a:ln/>
        </p:spPr>
        <p:txBody>
          <a:bodyPr/>
          <a:lstStyle/>
          <a:p>
            <a:endParaRPr lang="fr-FR" noProof="0" dirty="0"/>
          </a:p>
        </p:txBody>
      </p:sp>
      <p:sp>
        <p:nvSpPr>
          <p:cNvPr id="9" name="Text 7"/>
          <p:cNvSpPr/>
          <p:nvPr/>
        </p:nvSpPr>
        <p:spPr>
          <a:xfrm>
            <a:off x="2423160" y="1188720"/>
            <a:ext cx="1920240" cy="640080"/>
          </a:xfrm>
          <a:prstGeom prst="rect">
            <a:avLst/>
          </a:prstGeom>
          <a:noFill/>
          <a:ln/>
        </p:spPr>
        <p:txBody>
          <a:bodyPr wrap="square" rtlCol="0" anchor="ctr"/>
          <a:lstStyle/>
          <a:p>
            <a:pPr marL="0" indent="0" algn="ctr">
              <a:buNone/>
            </a:pPr>
            <a:r>
              <a:rPr lang="fr-FR" sz="2200" b="1" noProof="0" dirty="0">
                <a:solidFill>
                  <a:srgbClr val="FFFFFF"/>
                </a:solidFill>
                <a:latin typeface="Cambria" pitchFamily="34" charset="0"/>
                <a:ea typeface="Cambria" pitchFamily="34" charset="-122"/>
                <a:cs typeface="Cambria" pitchFamily="34" charset="-120"/>
              </a:rPr>
              <a:t>2 091 $</a:t>
            </a:r>
            <a:endParaRPr lang="fr-FR" sz="2200" noProof="0" dirty="0"/>
          </a:p>
        </p:txBody>
      </p:sp>
      <p:sp>
        <p:nvSpPr>
          <p:cNvPr id="10" name="Text 8"/>
          <p:cNvSpPr/>
          <p:nvPr/>
        </p:nvSpPr>
        <p:spPr>
          <a:xfrm>
            <a:off x="2423160" y="1828800"/>
            <a:ext cx="1920240" cy="457200"/>
          </a:xfrm>
          <a:prstGeom prst="rect">
            <a:avLst/>
          </a:prstGeom>
          <a:noFill/>
          <a:ln/>
        </p:spPr>
        <p:txBody>
          <a:bodyPr wrap="square" rtlCol="0" anchor="ctr"/>
          <a:lstStyle/>
          <a:p>
            <a:pPr marL="0" indent="0" algn="ctr">
              <a:buNone/>
            </a:pPr>
            <a:r>
              <a:rPr lang="fr-FR" sz="1000" noProof="0" dirty="0">
                <a:solidFill>
                  <a:srgbClr val="FFFFFF"/>
                </a:solidFill>
                <a:latin typeface="Calibri" pitchFamily="34" charset="0"/>
                <a:ea typeface="Calibri" pitchFamily="34" charset="-122"/>
                <a:cs typeface="Calibri" pitchFamily="34" charset="-120"/>
              </a:rPr>
              <a:t>PIB/</a:t>
            </a:r>
            <a:r>
              <a:rPr lang="fr-FR" sz="1000" noProof="0" dirty="0" err="1">
                <a:solidFill>
                  <a:srgbClr val="FFFFFF"/>
                </a:solidFill>
                <a:latin typeface="Calibri" pitchFamily="34" charset="0"/>
                <a:ea typeface="Calibri" pitchFamily="34" charset="-122"/>
                <a:cs typeface="Calibri" pitchFamily="34" charset="-120"/>
              </a:rPr>
              <a:t>hab</a:t>
            </a:r>
            <a:r>
              <a:rPr lang="fr-FR" sz="1000" noProof="0" dirty="0">
                <a:solidFill>
                  <a:srgbClr val="FFFFFF"/>
                </a:solidFill>
                <a:latin typeface="Calibri" pitchFamily="34" charset="0"/>
                <a:ea typeface="Calibri" pitchFamily="34" charset="-122"/>
                <a:cs typeface="Calibri" pitchFamily="34" charset="-120"/>
              </a:rPr>
              <a:t> moyen</a:t>
            </a:r>
            <a:endParaRPr lang="fr-FR" sz="1000" noProof="0" dirty="0"/>
          </a:p>
        </p:txBody>
      </p:sp>
      <p:sp>
        <p:nvSpPr>
          <p:cNvPr id="11" name="Shape 9"/>
          <p:cNvSpPr/>
          <p:nvPr/>
        </p:nvSpPr>
        <p:spPr>
          <a:xfrm>
            <a:off x="4572000" y="1143000"/>
            <a:ext cx="1920240" cy="1188720"/>
          </a:xfrm>
          <a:prstGeom prst="roundRect">
            <a:avLst>
              <a:gd name="adj" fmla="val 7692"/>
            </a:avLst>
          </a:prstGeom>
          <a:solidFill>
            <a:srgbClr val="8C8C8C"/>
          </a:solidFill>
          <a:ln/>
        </p:spPr>
        <p:txBody>
          <a:bodyPr/>
          <a:lstStyle/>
          <a:p>
            <a:endParaRPr lang="fr-FR" noProof="0" dirty="0"/>
          </a:p>
        </p:txBody>
      </p:sp>
      <p:sp>
        <p:nvSpPr>
          <p:cNvPr id="12" name="Text 10"/>
          <p:cNvSpPr/>
          <p:nvPr/>
        </p:nvSpPr>
        <p:spPr>
          <a:xfrm>
            <a:off x="4572000" y="1188720"/>
            <a:ext cx="1920240" cy="640080"/>
          </a:xfrm>
          <a:prstGeom prst="rect">
            <a:avLst/>
          </a:prstGeom>
          <a:noFill/>
          <a:ln/>
        </p:spPr>
        <p:txBody>
          <a:bodyPr wrap="square" rtlCol="0" anchor="ctr"/>
          <a:lstStyle/>
          <a:p>
            <a:pPr marL="0" indent="0" algn="ctr">
              <a:buNone/>
            </a:pPr>
            <a:r>
              <a:rPr lang="fr-FR" sz="2200" b="1" noProof="0" dirty="0">
                <a:solidFill>
                  <a:srgbClr val="FFFFFF"/>
                </a:solidFill>
                <a:latin typeface="Cambria" pitchFamily="34" charset="0"/>
                <a:ea typeface="Cambria" pitchFamily="34" charset="-122"/>
                <a:cs typeface="Cambria" pitchFamily="34" charset="-120"/>
              </a:rPr>
              <a:t>9.4%</a:t>
            </a:r>
            <a:endParaRPr lang="fr-FR" sz="2200" noProof="0" dirty="0"/>
          </a:p>
        </p:txBody>
      </p:sp>
      <p:sp>
        <p:nvSpPr>
          <p:cNvPr id="13" name="Text 11"/>
          <p:cNvSpPr/>
          <p:nvPr/>
        </p:nvSpPr>
        <p:spPr>
          <a:xfrm>
            <a:off x="4572000" y="1828800"/>
            <a:ext cx="1920240" cy="457200"/>
          </a:xfrm>
          <a:prstGeom prst="rect">
            <a:avLst/>
          </a:prstGeom>
          <a:noFill/>
          <a:ln/>
        </p:spPr>
        <p:txBody>
          <a:bodyPr wrap="square" rtlCol="0" anchor="ctr"/>
          <a:lstStyle/>
          <a:p>
            <a:pPr marL="0" indent="0" algn="ctr">
              <a:buNone/>
            </a:pPr>
            <a:r>
              <a:rPr lang="fr-FR" sz="1000" noProof="0" dirty="0">
                <a:solidFill>
                  <a:srgbClr val="FFFFFF"/>
                </a:solidFill>
                <a:latin typeface="Calibri" pitchFamily="34" charset="0"/>
                <a:ea typeface="Calibri" pitchFamily="34" charset="-122"/>
                <a:cs typeface="Calibri" pitchFamily="34" charset="-120"/>
              </a:rPr>
              <a:t>croissance démo.</a:t>
            </a:r>
            <a:endParaRPr lang="fr-FR" sz="1000" noProof="0" dirty="0"/>
          </a:p>
        </p:txBody>
      </p:sp>
      <p:sp>
        <p:nvSpPr>
          <p:cNvPr id="14" name="Shape 12"/>
          <p:cNvSpPr/>
          <p:nvPr/>
        </p:nvSpPr>
        <p:spPr>
          <a:xfrm>
            <a:off x="6720840" y="1143000"/>
            <a:ext cx="1920240" cy="1188720"/>
          </a:xfrm>
          <a:prstGeom prst="roundRect">
            <a:avLst>
              <a:gd name="adj" fmla="val 7692"/>
            </a:avLst>
          </a:prstGeom>
          <a:solidFill>
            <a:srgbClr val="8C8C8C"/>
          </a:solidFill>
          <a:ln/>
        </p:spPr>
        <p:txBody>
          <a:bodyPr/>
          <a:lstStyle/>
          <a:p>
            <a:endParaRPr lang="fr-FR" noProof="0" dirty="0"/>
          </a:p>
        </p:txBody>
      </p:sp>
      <p:sp>
        <p:nvSpPr>
          <p:cNvPr id="15" name="Text 13"/>
          <p:cNvSpPr/>
          <p:nvPr/>
        </p:nvSpPr>
        <p:spPr>
          <a:xfrm>
            <a:off x="6720840" y="1188720"/>
            <a:ext cx="1920240" cy="640080"/>
          </a:xfrm>
          <a:prstGeom prst="rect">
            <a:avLst/>
          </a:prstGeom>
          <a:noFill/>
          <a:ln/>
        </p:spPr>
        <p:txBody>
          <a:bodyPr wrap="square" rtlCol="0" anchor="ctr"/>
          <a:lstStyle/>
          <a:p>
            <a:pPr marL="0" indent="0" algn="ctr">
              <a:buNone/>
            </a:pPr>
            <a:r>
              <a:rPr lang="fr-FR" sz="2200" b="1" noProof="0" dirty="0">
                <a:solidFill>
                  <a:srgbClr val="FFFFFF"/>
                </a:solidFill>
                <a:latin typeface="Cambria" pitchFamily="34" charset="0"/>
                <a:ea typeface="Cambria" pitchFamily="34" charset="-122"/>
                <a:cs typeface="Cambria" pitchFamily="34" charset="-120"/>
              </a:rPr>
              <a:t>42.7</a:t>
            </a:r>
            <a:endParaRPr lang="fr-FR" sz="2200" noProof="0" dirty="0"/>
          </a:p>
        </p:txBody>
      </p:sp>
      <p:sp>
        <p:nvSpPr>
          <p:cNvPr id="16" name="Text 14"/>
          <p:cNvSpPr/>
          <p:nvPr/>
        </p:nvSpPr>
        <p:spPr>
          <a:xfrm>
            <a:off x="6720840" y="1828800"/>
            <a:ext cx="1920240" cy="457200"/>
          </a:xfrm>
          <a:prstGeom prst="rect">
            <a:avLst/>
          </a:prstGeom>
          <a:noFill/>
          <a:ln/>
        </p:spPr>
        <p:txBody>
          <a:bodyPr wrap="square" rtlCol="0" anchor="ctr"/>
          <a:lstStyle/>
          <a:p>
            <a:pPr marL="0" indent="0" algn="ctr">
              <a:buNone/>
            </a:pPr>
            <a:r>
              <a:rPr lang="fr-FR" sz="1000" noProof="0" dirty="0" err="1">
                <a:solidFill>
                  <a:srgbClr val="FFFFFF"/>
                </a:solidFill>
                <a:latin typeface="Calibri" pitchFamily="34" charset="0"/>
                <a:ea typeface="Calibri" pitchFamily="34" charset="-122"/>
                <a:cs typeface="Calibri" pitchFamily="34" charset="-120"/>
              </a:rPr>
              <a:t>affordability</a:t>
            </a:r>
            <a:endParaRPr lang="fr-FR" sz="1000" noProof="0" dirty="0"/>
          </a:p>
        </p:txBody>
      </p:sp>
      <p:sp>
        <p:nvSpPr>
          <p:cNvPr id="17" name="Text 15"/>
          <p:cNvSpPr/>
          <p:nvPr/>
        </p:nvSpPr>
        <p:spPr>
          <a:xfrm>
            <a:off x="365760" y="2514600"/>
            <a:ext cx="8412480" cy="365760"/>
          </a:xfrm>
          <a:prstGeom prst="rect">
            <a:avLst/>
          </a:prstGeom>
          <a:noFill/>
          <a:ln/>
        </p:spPr>
        <p:txBody>
          <a:bodyPr wrap="square" rtlCol="0" anchor="ctr"/>
          <a:lstStyle/>
          <a:p>
            <a:pPr marL="0" indent="0">
              <a:buNone/>
            </a:pPr>
            <a:r>
              <a:rPr lang="fr-FR" sz="1200" i="1" noProof="0" dirty="0">
                <a:solidFill>
                  <a:srgbClr val="6B7C6B"/>
                </a:solidFill>
                <a:latin typeface="Calibri" pitchFamily="34" charset="0"/>
                <a:ea typeface="Calibri" pitchFamily="34" charset="-122"/>
                <a:cs typeface="Calibri" pitchFamily="34" charset="-120"/>
              </a:rPr>
              <a:t>Exemples : Algérie, Angola, Éthiopie, Nigeria, Bangladesh, Pakistan, Birmanie…</a:t>
            </a:r>
            <a:endParaRPr lang="fr-FR" sz="1200" noProof="0" dirty="0"/>
          </a:p>
        </p:txBody>
      </p:sp>
      <p:sp>
        <p:nvSpPr>
          <p:cNvPr id="18" name="Shape 16"/>
          <p:cNvSpPr/>
          <p:nvPr/>
        </p:nvSpPr>
        <p:spPr>
          <a:xfrm>
            <a:off x="365760" y="2971800"/>
            <a:ext cx="8412480" cy="1737360"/>
          </a:xfrm>
          <a:prstGeom prst="roundRect">
            <a:avLst>
              <a:gd name="adj" fmla="val 5263"/>
            </a:avLst>
          </a:prstGeom>
          <a:solidFill>
            <a:srgbClr val="F5F5F5"/>
          </a:solidFill>
          <a:ln/>
        </p:spPr>
        <p:txBody>
          <a:bodyPr/>
          <a:lstStyle/>
          <a:p>
            <a:endParaRPr lang="fr-FR" noProof="0" dirty="0"/>
          </a:p>
        </p:txBody>
      </p:sp>
      <p:pic>
        <p:nvPicPr>
          <p:cNvPr id="19" name="Image 0" descr="preencoded.png"/>
          <p:cNvPicPr>
            <a:picLocks noChangeAspect="1"/>
          </p:cNvPicPr>
          <p:nvPr/>
        </p:nvPicPr>
        <p:blipFill>
          <a:blip r:embed="rId3"/>
          <a:stretch>
            <a:fillRect/>
          </a:stretch>
        </p:blipFill>
        <p:spPr>
          <a:xfrm>
            <a:off x="548640" y="3156452"/>
            <a:ext cx="292608" cy="292608"/>
          </a:xfrm>
          <a:prstGeom prst="rect">
            <a:avLst/>
          </a:prstGeom>
        </p:spPr>
      </p:pic>
      <p:sp>
        <p:nvSpPr>
          <p:cNvPr id="20" name="Text 17"/>
          <p:cNvSpPr/>
          <p:nvPr/>
        </p:nvSpPr>
        <p:spPr>
          <a:xfrm>
            <a:off x="914400" y="3129020"/>
            <a:ext cx="7680960" cy="365760"/>
          </a:xfrm>
          <a:prstGeom prst="rect">
            <a:avLst/>
          </a:prstGeom>
          <a:noFill/>
          <a:ln/>
        </p:spPr>
        <p:txBody>
          <a:bodyPr wrap="square" rtlCol="0" anchor="ctr"/>
          <a:lstStyle/>
          <a:p>
            <a:pPr marL="0" indent="0">
              <a:buNone/>
            </a:pPr>
            <a:r>
              <a:rPr lang="fr-FR" sz="1300" b="1" noProof="0" dirty="0">
                <a:solidFill>
                  <a:srgbClr val="555555"/>
                </a:solidFill>
                <a:latin typeface="Cambria" pitchFamily="34" charset="0"/>
                <a:ea typeface="Cambria" pitchFamily="34" charset="-122"/>
                <a:cs typeface="Cambria" pitchFamily="34" charset="-120"/>
              </a:rPr>
              <a:t>Pourquoi ce cluster n'est pas notre cible :</a:t>
            </a:r>
            <a:endParaRPr lang="fr-FR" sz="1300" noProof="0" dirty="0"/>
          </a:p>
        </p:txBody>
      </p:sp>
      <p:sp>
        <p:nvSpPr>
          <p:cNvPr id="21" name="Text 18"/>
          <p:cNvSpPr/>
          <p:nvPr/>
        </p:nvSpPr>
        <p:spPr>
          <a:xfrm>
            <a:off x="594360" y="3456432"/>
            <a:ext cx="7955280" cy="1188720"/>
          </a:xfrm>
          <a:prstGeom prst="rect">
            <a:avLst/>
          </a:prstGeom>
          <a:noFill/>
          <a:ln/>
        </p:spPr>
        <p:txBody>
          <a:bodyPr wrap="square" rtlCol="0" anchor="ctr"/>
          <a:lstStyle/>
          <a:p>
            <a:pPr marL="0" indent="0">
              <a:buNone/>
            </a:pPr>
            <a:r>
              <a:rPr lang="fr-FR" sz="1100" b="1" noProof="0" dirty="0">
                <a:solidFill>
                  <a:srgbClr val="1A2A1A"/>
                </a:solidFill>
                <a:latin typeface="Calibri" pitchFamily="34" charset="0"/>
                <a:ea typeface="Calibri" pitchFamily="34" charset="-122"/>
                <a:cs typeface="Calibri" pitchFamily="34" charset="-120"/>
              </a:rPr>
              <a:t>PIB/</a:t>
            </a:r>
            <a:r>
              <a:rPr lang="fr-FR" sz="1100" b="1" noProof="0" dirty="0" err="1">
                <a:solidFill>
                  <a:srgbClr val="1A2A1A"/>
                </a:solidFill>
                <a:latin typeface="Calibri" pitchFamily="34" charset="0"/>
                <a:ea typeface="Calibri" pitchFamily="34" charset="-122"/>
                <a:cs typeface="Calibri" pitchFamily="34" charset="-120"/>
              </a:rPr>
              <a:t>hab</a:t>
            </a:r>
            <a:r>
              <a:rPr lang="fr-FR" sz="1100" b="1" noProof="0" dirty="0">
                <a:solidFill>
                  <a:srgbClr val="1A2A1A"/>
                </a:solidFill>
                <a:latin typeface="Calibri" pitchFamily="34" charset="0"/>
                <a:ea typeface="Calibri" pitchFamily="34" charset="-122"/>
                <a:cs typeface="Calibri" pitchFamily="34" charset="-120"/>
              </a:rPr>
              <a:t> très faible  </a:t>
            </a:r>
            <a:r>
              <a:rPr lang="fr-FR" sz="1100" noProof="0" dirty="0">
                <a:solidFill>
                  <a:srgbClr val="1A2A1A"/>
                </a:solidFill>
                <a:latin typeface="Calibri" pitchFamily="34" charset="0"/>
                <a:ea typeface="Calibri" pitchFamily="34" charset="-122"/>
                <a:cs typeface="Calibri" pitchFamily="34" charset="-120"/>
              </a:rPr>
              <a:t>→ pouvoir d'achat insuffisant pour des produits biologiques premium
</a:t>
            </a:r>
            <a:r>
              <a:rPr lang="fr-FR" sz="1100" b="1" noProof="0" dirty="0">
                <a:solidFill>
                  <a:srgbClr val="1A2A1A"/>
                </a:solidFill>
                <a:latin typeface="Calibri" pitchFamily="34" charset="0"/>
                <a:ea typeface="Calibri" pitchFamily="34" charset="-122"/>
                <a:cs typeface="Calibri" pitchFamily="34" charset="-120"/>
              </a:rPr>
              <a:t>Instabilité politique  </a:t>
            </a:r>
            <a:r>
              <a:rPr lang="fr-FR" sz="1100" noProof="0" dirty="0">
                <a:solidFill>
                  <a:srgbClr val="1A2A1A"/>
                </a:solidFill>
                <a:latin typeface="Calibri" pitchFamily="34" charset="0"/>
                <a:ea typeface="Calibri" pitchFamily="34" charset="-122"/>
                <a:cs typeface="Calibri" pitchFamily="34" charset="-120"/>
              </a:rPr>
              <a:t>→ risques opérationnels et logistiques élevés
</a:t>
            </a:r>
            <a:r>
              <a:rPr lang="fr-FR" sz="1100" b="1" noProof="0" dirty="0">
                <a:solidFill>
                  <a:srgbClr val="1A2A1A"/>
                </a:solidFill>
                <a:latin typeface="Calibri" pitchFamily="34" charset="0"/>
                <a:ea typeface="Calibri" pitchFamily="34" charset="-122"/>
                <a:cs typeface="Calibri" pitchFamily="34" charset="-120"/>
              </a:rPr>
              <a:t>Forte croissance démographique  </a:t>
            </a:r>
            <a:r>
              <a:rPr lang="fr-FR" sz="1100" noProof="0" dirty="0">
                <a:solidFill>
                  <a:srgbClr val="1A2A1A"/>
                </a:solidFill>
                <a:latin typeface="Calibri" pitchFamily="34" charset="0"/>
                <a:ea typeface="Calibri" pitchFamily="34" charset="-122"/>
                <a:cs typeface="Calibri" pitchFamily="34" charset="-120"/>
              </a:rPr>
              <a:t>→ pression sur la sécurité alimentaire, marché orienté vers les prix bas</a:t>
            </a:r>
            <a:endParaRPr lang="fr-FR" sz="1100" noProof="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2A"/>
          </a:solidFill>
          <a:ln/>
        </p:spPr>
        <p:txBody>
          <a:bodyPr/>
          <a:lstStyle/>
          <a:p>
            <a:endParaRPr lang="fr-FR" noProof="0" dirty="0"/>
          </a:p>
        </p:txBody>
      </p:sp>
      <p:sp>
        <p:nvSpPr>
          <p:cNvPr id="3" name="Shape 1"/>
          <p:cNvSpPr/>
          <p:nvPr/>
        </p:nvSpPr>
        <p:spPr>
          <a:xfrm>
            <a:off x="320040" y="164592"/>
            <a:ext cx="640080" cy="640080"/>
          </a:xfrm>
          <a:prstGeom prst="ellipse">
            <a:avLst/>
          </a:prstGeom>
          <a:solidFill>
            <a:srgbClr val="E86B3A"/>
          </a:solidFill>
          <a:ln/>
        </p:spPr>
        <p:txBody>
          <a:bodyPr/>
          <a:lstStyle/>
          <a:p>
            <a:endParaRPr lang="fr-FR" noProof="0" dirty="0"/>
          </a:p>
        </p:txBody>
      </p:sp>
      <p:sp>
        <p:nvSpPr>
          <p:cNvPr id="4" name="Text 2"/>
          <p:cNvSpPr/>
          <p:nvPr/>
        </p:nvSpPr>
        <p:spPr>
          <a:xfrm>
            <a:off x="1051560" y="137160"/>
            <a:ext cx="7772400" cy="731520"/>
          </a:xfrm>
          <a:prstGeom prst="rect">
            <a:avLst/>
          </a:prstGeom>
          <a:noFill/>
          <a:ln/>
        </p:spPr>
        <p:txBody>
          <a:bodyPr wrap="square" rtlCol="0" anchor="ctr"/>
          <a:lstStyle/>
          <a:p>
            <a:pPr marL="0" indent="0">
              <a:buNone/>
            </a:pPr>
            <a:r>
              <a:rPr lang="fr-FR" sz="2600" b="1" noProof="0" dirty="0">
                <a:solidFill>
                  <a:srgbClr val="FFFFFF"/>
                </a:solidFill>
                <a:latin typeface="Cambria" pitchFamily="34" charset="0"/>
                <a:ea typeface="Cambria" pitchFamily="34" charset="-122"/>
                <a:cs typeface="Cambria" pitchFamily="34" charset="-120"/>
              </a:rPr>
              <a:t>Cluster 1 — Pays développés autosuffisants</a:t>
            </a:r>
            <a:endParaRPr lang="fr-FR" sz="2600" noProof="0" dirty="0"/>
          </a:p>
        </p:txBody>
      </p:sp>
      <p:sp>
        <p:nvSpPr>
          <p:cNvPr id="5" name="Shape 3"/>
          <p:cNvSpPr/>
          <p:nvPr/>
        </p:nvSpPr>
        <p:spPr>
          <a:xfrm>
            <a:off x="274320" y="1143000"/>
            <a:ext cx="1920240" cy="1188720"/>
          </a:xfrm>
          <a:prstGeom prst="roundRect">
            <a:avLst>
              <a:gd name="adj" fmla="val 7692"/>
            </a:avLst>
          </a:prstGeom>
          <a:solidFill>
            <a:srgbClr val="E86B3A"/>
          </a:solidFill>
          <a:ln/>
        </p:spPr>
        <p:txBody>
          <a:bodyPr/>
          <a:lstStyle/>
          <a:p>
            <a:endParaRPr lang="fr-FR" noProof="0" dirty="0"/>
          </a:p>
        </p:txBody>
      </p:sp>
      <p:sp>
        <p:nvSpPr>
          <p:cNvPr id="6" name="Text 4"/>
          <p:cNvSpPr/>
          <p:nvPr/>
        </p:nvSpPr>
        <p:spPr>
          <a:xfrm>
            <a:off x="274320" y="1188720"/>
            <a:ext cx="1920240" cy="640080"/>
          </a:xfrm>
          <a:prstGeom prst="rect">
            <a:avLst/>
          </a:prstGeom>
          <a:noFill/>
          <a:ln/>
        </p:spPr>
        <p:txBody>
          <a:bodyPr wrap="square" rtlCol="0" anchor="ctr"/>
          <a:lstStyle/>
          <a:p>
            <a:pPr marL="0" indent="0" algn="ctr">
              <a:buNone/>
            </a:pPr>
            <a:r>
              <a:rPr lang="fr-FR" sz="2200" b="1" noProof="0" dirty="0">
                <a:solidFill>
                  <a:srgbClr val="FFFFFF"/>
                </a:solidFill>
                <a:latin typeface="Cambria" pitchFamily="34" charset="0"/>
                <a:ea typeface="Cambria" pitchFamily="34" charset="-122"/>
                <a:cs typeface="Cambria" pitchFamily="34" charset="-120"/>
              </a:rPr>
              <a:t>39</a:t>
            </a:r>
            <a:endParaRPr lang="fr-FR" sz="2200" noProof="0" dirty="0"/>
          </a:p>
        </p:txBody>
      </p:sp>
      <p:sp>
        <p:nvSpPr>
          <p:cNvPr id="7" name="Text 5"/>
          <p:cNvSpPr/>
          <p:nvPr/>
        </p:nvSpPr>
        <p:spPr>
          <a:xfrm>
            <a:off x="274320" y="1828800"/>
            <a:ext cx="1920240" cy="457200"/>
          </a:xfrm>
          <a:prstGeom prst="rect">
            <a:avLst/>
          </a:prstGeom>
          <a:noFill/>
          <a:ln/>
        </p:spPr>
        <p:txBody>
          <a:bodyPr wrap="square" rtlCol="0" anchor="ctr"/>
          <a:lstStyle/>
          <a:p>
            <a:pPr marL="0" indent="0" algn="ctr">
              <a:buNone/>
            </a:pPr>
            <a:r>
              <a:rPr lang="fr-FR" sz="1000" noProof="0" dirty="0">
                <a:solidFill>
                  <a:srgbClr val="FFFFFF"/>
                </a:solidFill>
                <a:latin typeface="Calibri" pitchFamily="34" charset="0"/>
                <a:ea typeface="Calibri" pitchFamily="34" charset="-122"/>
                <a:cs typeface="Calibri" pitchFamily="34" charset="-120"/>
              </a:rPr>
              <a:t>pays</a:t>
            </a:r>
            <a:endParaRPr lang="fr-FR" sz="1000" noProof="0" dirty="0"/>
          </a:p>
        </p:txBody>
      </p:sp>
      <p:sp>
        <p:nvSpPr>
          <p:cNvPr id="8" name="Shape 6"/>
          <p:cNvSpPr/>
          <p:nvPr/>
        </p:nvSpPr>
        <p:spPr>
          <a:xfrm>
            <a:off x="2423160" y="1143000"/>
            <a:ext cx="1920240" cy="1188720"/>
          </a:xfrm>
          <a:prstGeom prst="roundRect">
            <a:avLst>
              <a:gd name="adj" fmla="val 7692"/>
            </a:avLst>
          </a:prstGeom>
          <a:solidFill>
            <a:srgbClr val="E86B3A"/>
          </a:solidFill>
          <a:ln/>
        </p:spPr>
        <p:txBody>
          <a:bodyPr/>
          <a:lstStyle/>
          <a:p>
            <a:endParaRPr lang="fr-FR" noProof="0" dirty="0"/>
          </a:p>
        </p:txBody>
      </p:sp>
      <p:sp>
        <p:nvSpPr>
          <p:cNvPr id="9" name="Text 7"/>
          <p:cNvSpPr/>
          <p:nvPr/>
        </p:nvSpPr>
        <p:spPr>
          <a:xfrm>
            <a:off x="2423160" y="1188720"/>
            <a:ext cx="1920240" cy="640080"/>
          </a:xfrm>
          <a:prstGeom prst="rect">
            <a:avLst/>
          </a:prstGeom>
          <a:noFill/>
          <a:ln/>
        </p:spPr>
        <p:txBody>
          <a:bodyPr wrap="square" rtlCol="0" anchor="ctr"/>
          <a:lstStyle/>
          <a:p>
            <a:pPr marL="0" indent="0" algn="ctr">
              <a:buNone/>
            </a:pPr>
            <a:r>
              <a:rPr lang="fr-FR" sz="2200" b="1" noProof="0" dirty="0">
                <a:solidFill>
                  <a:srgbClr val="FFFFFF"/>
                </a:solidFill>
                <a:latin typeface="Cambria" pitchFamily="34" charset="0"/>
                <a:ea typeface="Cambria" pitchFamily="34" charset="-122"/>
                <a:cs typeface="Cambria" pitchFamily="34" charset="-120"/>
              </a:rPr>
              <a:t>14 938 $</a:t>
            </a:r>
            <a:endParaRPr lang="fr-FR" sz="2200" noProof="0" dirty="0"/>
          </a:p>
        </p:txBody>
      </p:sp>
      <p:sp>
        <p:nvSpPr>
          <p:cNvPr id="10" name="Text 8"/>
          <p:cNvSpPr/>
          <p:nvPr/>
        </p:nvSpPr>
        <p:spPr>
          <a:xfrm>
            <a:off x="2423160" y="1828800"/>
            <a:ext cx="1920240" cy="457200"/>
          </a:xfrm>
          <a:prstGeom prst="rect">
            <a:avLst/>
          </a:prstGeom>
          <a:noFill/>
          <a:ln/>
        </p:spPr>
        <p:txBody>
          <a:bodyPr wrap="square" rtlCol="0" anchor="ctr"/>
          <a:lstStyle/>
          <a:p>
            <a:pPr marL="0" indent="0" algn="ctr">
              <a:buNone/>
            </a:pPr>
            <a:r>
              <a:rPr lang="fr-FR" sz="1000" noProof="0" dirty="0">
                <a:solidFill>
                  <a:srgbClr val="FFFFFF"/>
                </a:solidFill>
                <a:latin typeface="Calibri" pitchFamily="34" charset="0"/>
                <a:ea typeface="Calibri" pitchFamily="34" charset="-122"/>
                <a:cs typeface="Calibri" pitchFamily="34" charset="-120"/>
              </a:rPr>
              <a:t>PIB/</a:t>
            </a:r>
            <a:r>
              <a:rPr lang="fr-FR" sz="1000" noProof="0" dirty="0" err="1">
                <a:solidFill>
                  <a:srgbClr val="FFFFFF"/>
                </a:solidFill>
                <a:latin typeface="Calibri" pitchFamily="34" charset="0"/>
                <a:ea typeface="Calibri" pitchFamily="34" charset="-122"/>
                <a:cs typeface="Calibri" pitchFamily="34" charset="-120"/>
              </a:rPr>
              <a:t>hab</a:t>
            </a:r>
            <a:r>
              <a:rPr lang="fr-FR" sz="1000" noProof="0" dirty="0">
                <a:solidFill>
                  <a:srgbClr val="FFFFFF"/>
                </a:solidFill>
                <a:latin typeface="Calibri" pitchFamily="34" charset="0"/>
                <a:ea typeface="Calibri" pitchFamily="34" charset="-122"/>
                <a:cs typeface="Calibri" pitchFamily="34" charset="-120"/>
              </a:rPr>
              <a:t> moyen</a:t>
            </a:r>
            <a:endParaRPr lang="fr-FR" sz="1000" noProof="0" dirty="0"/>
          </a:p>
        </p:txBody>
      </p:sp>
      <p:sp>
        <p:nvSpPr>
          <p:cNvPr id="11" name="Shape 9"/>
          <p:cNvSpPr/>
          <p:nvPr/>
        </p:nvSpPr>
        <p:spPr>
          <a:xfrm>
            <a:off x="4572000" y="1143000"/>
            <a:ext cx="1920240" cy="1188720"/>
          </a:xfrm>
          <a:prstGeom prst="roundRect">
            <a:avLst>
              <a:gd name="adj" fmla="val 7692"/>
            </a:avLst>
          </a:prstGeom>
          <a:solidFill>
            <a:srgbClr val="E86B3A"/>
          </a:solidFill>
          <a:ln/>
        </p:spPr>
        <p:txBody>
          <a:bodyPr/>
          <a:lstStyle/>
          <a:p>
            <a:endParaRPr lang="fr-FR" noProof="0" dirty="0"/>
          </a:p>
        </p:txBody>
      </p:sp>
      <p:sp>
        <p:nvSpPr>
          <p:cNvPr id="12" name="Text 10"/>
          <p:cNvSpPr/>
          <p:nvPr/>
        </p:nvSpPr>
        <p:spPr>
          <a:xfrm>
            <a:off x="4572000" y="1188720"/>
            <a:ext cx="1920240" cy="640080"/>
          </a:xfrm>
          <a:prstGeom prst="rect">
            <a:avLst/>
          </a:prstGeom>
          <a:noFill/>
          <a:ln/>
        </p:spPr>
        <p:txBody>
          <a:bodyPr wrap="square" rtlCol="0" anchor="ctr"/>
          <a:lstStyle/>
          <a:p>
            <a:pPr marL="0" indent="0" algn="ctr">
              <a:buNone/>
            </a:pPr>
            <a:r>
              <a:rPr lang="fr-FR" sz="2200" b="1" noProof="0" dirty="0">
                <a:solidFill>
                  <a:srgbClr val="FFFFFF"/>
                </a:solidFill>
                <a:latin typeface="Cambria" pitchFamily="34" charset="0"/>
                <a:ea typeface="Cambria" pitchFamily="34" charset="-122"/>
                <a:cs typeface="Cambria" pitchFamily="34" charset="-120"/>
              </a:rPr>
              <a:t>38.3 kg</a:t>
            </a:r>
            <a:endParaRPr lang="fr-FR" sz="2200" noProof="0" dirty="0"/>
          </a:p>
        </p:txBody>
      </p:sp>
      <p:sp>
        <p:nvSpPr>
          <p:cNvPr id="13" name="Text 11"/>
          <p:cNvSpPr/>
          <p:nvPr/>
        </p:nvSpPr>
        <p:spPr>
          <a:xfrm>
            <a:off x="4572000" y="1828800"/>
            <a:ext cx="1920240" cy="457200"/>
          </a:xfrm>
          <a:prstGeom prst="rect">
            <a:avLst/>
          </a:prstGeom>
          <a:noFill/>
          <a:ln/>
        </p:spPr>
        <p:txBody>
          <a:bodyPr wrap="square" rtlCol="0" anchor="ctr"/>
          <a:lstStyle/>
          <a:p>
            <a:pPr marL="0" indent="0" algn="ctr">
              <a:buNone/>
            </a:pPr>
            <a:r>
              <a:rPr lang="fr-FR" sz="1000" noProof="0" dirty="0">
                <a:solidFill>
                  <a:srgbClr val="FFFFFF"/>
                </a:solidFill>
                <a:latin typeface="Calibri" pitchFamily="34" charset="0"/>
                <a:ea typeface="Calibri" pitchFamily="34" charset="-122"/>
                <a:cs typeface="Calibri" pitchFamily="34" charset="-120"/>
              </a:rPr>
              <a:t>prod/</a:t>
            </a:r>
            <a:r>
              <a:rPr lang="fr-FR" sz="1000" noProof="0" dirty="0" err="1">
                <a:solidFill>
                  <a:srgbClr val="FFFFFF"/>
                </a:solidFill>
                <a:latin typeface="Calibri" pitchFamily="34" charset="0"/>
                <a:ea typeface="Calibri" pitchFamily="34" charset="-122"/>
                <a:cs typeface="Calibri" pitchFamily="34" charset="-120"/>
              </a:rPr>
              <a:t>hab</a:t>
            </a:r>
            <a:r>
              <a:rPr lang="fr-FR" sz="1000" noProof="0" dirty="0">
                <a:solidFill>
                  <a:srgbClr val="FFFFFF"/>
                </a:solidFill>
                <a:latin typeface="Calibri" pitchFamily="34" charset="0"/>
                <a:ea typeface="Calibri" pitchFamily="34" charset="-122"/>
                <a:cs typeface="Calibri" pitchFamily="34" charset="-120"/>
              </a:rPr>
              <a:t> moyen</a:t>
            </a:r>
            <a:endParaRPr lang="fr-FR" sz="1000" noProof="0" dirty="0"/>
          </a:p>
        </p:txBody>
      </p:sp>
      <p:sp>
        <p:nvSpPr>
          <p:cNvPr id="14" name="Shape 12"/>
          <p:cNvSpPr/>
          <p:nvPr/>
        </p:nvSpPr>
        <p:spPr>
          <a:xfrm>
            <a:off x="6720840" y="1143000"/>
            <a:ext cx="1920240" cy="1188720"/>
          </a:xfrm>
          <a:prstGeom prst="roundRect">
            <a:avLst>
              <a:gd name="adj" fmla="val 7692"/>
            </a:avLst>
          </a:prstGeom>
          <a:solidFill>
            <a:srgbClr val="E86B3A"/>
          </a:solidFill>
          <a:ln/>
        </p:spPr>
        <p:txBody>
          <a:bodyPr/>
          <a:lstStyle/>
          <a:p>
            <a:endParaRPr lang="fr-FR" noProof="0" dirty="0"/>
          </a:p>
        </p:txBody>
      </p:sp>
      <p:sp>
        <p:nvSpPr>
          <p:cNvPr id="15" name="Text 13"/>
          <p:cNvSpPr/>
          <p:nvPr/>
        </p:nvSpPr>
        <p:spPr>
          <a:xfrm>
            <a:off x="6720840" y="1188720"/>
            <a:ext cx="1920240" cy="640080"/>
          </a:xfrm>
          <a:prstGeom prst="rect">
            <a:avLst/>
          </a:prstGeom>
          <a:noFill/>
          <a:ln/>
        </p:spPr>
        <p:txBody>
          <a:bodyPr wrap="square" rtlCol="0" anchor="ctr"/>
          <a:lstStyle/>
          <a:p>
            <a:pPr marL="0" indent="0" algn="ctr">
              <a:buNone/>
            </a:pPr>
            <a:r>
              <a:rPr lang="fr-FR" sz="2200" b="1" noProof="0" dirty="0">
                <a:solidFill>
                  <a:srgbClr val="FFFFFF"/>
                </a:solidFill>
                <a:latin typeface="Cambria" pitchFamily="34" charset="0"/>
                <a:ea typeface="Cambria" pitchFamily="34" charset="-122"/>
                <a:cs typeface="Cambria" pitchFamily="34" charset="-120"/>
              </a:rPr>
              <a:t>3.1 kg</a:t>
            </a:r>
            <a:endParaRPr lang="fr-FR" sz="2200" noProof="0" dirty="0"/>
          </a:p>
        </p:txBody>
      </p:sp>
      <p:sp>
        <p:nvSpPr>
          <p:cNvPr id="16" name="Text 14"/>
          <p:cNvSpPr/>
          <p:nvPr/>
        </p:nvSpPr>
        <p:spPr>
          <a:xfrm>
            <a:off x="6720840" y="1828800"/>
            <a:ext cx="1920240" cy="457200"/>
          </a:xfrm>
          <a:prstGeom prst="rect">
            <a:avLst/>
          </a:prstGeom>
          <a:noFill/>
          <a:ln/>
        </p:spPr>
        <p:txBody>
          <a:bodyPr wrap="square" rtlCol="0" anchor="ctr"/>
          <a:lstStyle/>
          <a:p>
            <a:pPr marL="0" indent="0" algn="ctr">
              <a:buNone/>
            </a:pPr>
            <a:r>
              <a:rPr lang="fr-FR" sz="1000" noProof="0" dirty="0">
                <a:solidFill>
                  <a:srgbClr val="FFFFFF"/>
                </a:solidFill>
                <a:latin typeface="Calibri" pitchFamily="34" charset="0"/>
                <a:ea typeface="Calibri" pitchFamily="34" charset="-122"/>
                <a:cs typeface="Calibri" pitchFamily="34" charset="-120"/>
              </a:rPr>
              <a:t>import/</a:t>
            </a:r>
            <a:r>
              <a:rPr lang="fr-FR" sz="1000" noProof="0" dirty="0" err="1">
                <a:solidFill>
                  <a:srgbClr val="FFFFFF"/>
                </a:solidFill>
                <a:latin typeface="Calibri" pitchFamily="34" charset="0"/>
                <a:ea typeface="Calibri" pitchFamily="34" charset="-122"/>
                <a:cs typeface="Calibri" pitchFamily="34" charset="-120"/>
              </a:rPr>
              <a:t>hab</a:t>
            </a:r>
            <a:r>
              <a:rPr lang="fr-FR" sz="1000" noProof="0" dirty="0">
                <a:solidFill>
                  <a:srgbClr val="FFFFFF"/>
                </a:solidFill>
                <a:latin typeface="Calibri" pitchFamily="34" charset="0"/>
                <a:ea typeface="Calibri" pitchFamily="34" charset="-122"/>
                <a:cs typeface="Calibri" pitchFamily="34" charset="-120"/>
              </a:rPr>
              <a:t> moyen</a:t>
            </a:r>
            <a:endParaRPr lang="fr-FR" sz="1000" noProof="0" dirty="0"/>
          </a:p>
        </p:txBody>
      </p:sp>
      <p:sp>
        <p:nvSpPr>
          <p:cNvPr id="17" name="Text 15"/>
          <p:cNvSpPr/>
          <p:nvPr/>
        </p:nvSpPr>
        <p:spPr>
          <a:xfrm>
            <a:off x="365760" y="2514600"/>
            <a:ext cx="8412480" cy="365760"/>
          </a:xfrm>
          <a:prstGeom prst="rect">
            <a:avLst/>
          </a:prstGeom>
          <a:noFill/>
          <a:ln/>
        </p:spPr>
        <p:txBody>
          <a:bodyPr wrap="square" rtlCol="0" anchor="ctr"/>
          <a:lstStyle/>
          <a:p>
            <a:pPr marL="0" indent="0">
              <a:buNone/>
            </a:pPr>
            <a:r>
              <a:rPr lang="fr-FR" sz="1200" i="1" noProof="0" dirty="0">
                <a:solidFill>
                  <a:srgbClr val="6B7C6B"/>
                </a:solidFill>
                <a:latin typeface="Calibri" pitchFamily="34" charset="0"/>
                <a:ea typeface="Calibri" pitchFamily="34" charset="-122"/>
                <a:cs typeface="Calibri" pitchFamily="34" charset="-120"/>
              </a:rPr>
              <a:t>Exemples : États-Unis, Canada, Australie, Brésil, Russie, Argentine, Norvège, Israël, Nouvelle-Zélande…</a:t>
            </a:r>
            <a:endParaRPr lang="fr-FR" sz="1200" noProof="0" dirty="0"/>
          </a:p>
        </p:txBody>
      </p:sp>
      <p:sp>
        <p:nvSpPr>
          <p:cNvPr id="18" name="Shape 16"/>
          <p:cNvSpPr/>
          <p:nvPr/>
        </p:nvSpPr>
        <p:spPr>
          <a:xfrm>
            <a:off x="365760" y="2971800"/>
            <a:ext cx="8412480" cy="1737360"/>
          </a:xfrm>
          <a:prstGeom prst="roundRect">
            <a:avLst>
              <a:gd name="adj" fmla="val 5263"/>
            </a:avLst>
          </a:prstGeom>
          <a:solidFill>
            <a:srgbClr val="FFF8F0"/>
          </a:solidFill>
          <a:ln/>
        </p:spPr>
        <p:txBody>
          <a:bodyPr/>
          <a:lstStyle/>
          <a:p>
            <a:endParaRPr lang="fr-FR" noProof="0" dirty="0"/>
          </a:p>
        </p:txBody>
      </p:sp>
      <p:pic>
        <p:nvPicPr>
          <p:cNvPr id="19" name="Image 0" descr="preencoded.png"/>
          <p:cNvPicPr>
            <a:picLocks noChangeAspect="1"/>
          </p:cNvPicPr>
          <p:nvPr/>
        </p:nvPicPr>
        <p:blipFill>
          <a:blip r:embed="rId3"/>
          <a:stretch>
            <a:fillRect/>
          </a:stretch>
        </p:blipFill>
        <p:spPr>
          <a:xfrm>
            <a:off x="548640" y="3156452"/>
            <a:ext cx="292608" cy="292608"/>
          </a:xfrm>
          <a:prstGeom prst="rect">
            <a:avLst/>
          </a:prstGeom>
        </p:spPr>
      </p:pic>
      <p:sp>
        <p:nvSpPr>
          <p:cNvPr id="20" name="Text 17"/>
          <p:cNvSpPr/>
          <p:nvPr/>
        </p:nvSpPr>
        <p:spPr>
          <a:xfrm>
            <a:off x="914400" y="3129020"/>
            <a:ext cx="7680960" cy="365760"/>
          </a:xfrm>
          <a:prstGeom prst="rect">
            <a:avLst/>
          </a:prstGeom>
          <a:noFill/>
          <a:ln/>
        </p:spPr>
        <p:txBody>
          <a:bodyPr wrap="square" rtlCol="0" anchor="ctr"/>
          <a:lstStyle/>
          <a:p>
            <a:pPr marL="0" indent="0">
              <a:buNone/>
            </a:pPr>
            <a:r>
              <a:rPr lang="fr-FR" sz="1300" b="1" noProof="0" dirty="0">
                <a:solidFill>
                  <a:srgbClr val="D35400"/>
                </a:solidFill>
                <a:latin typeface="Cambria" pitchFamily="34" charset="0"/>
                <a:ea typeface="Cambria" pitchFamily="34" charset="-122"/>
                <a:cs typeface="Cambria" pitchFamily="34" charset="-120"/>
              </a:rPr>
              <a:t>Pourquoi ce cluster n'est pas notre cible :</a:t>
            </a:r>
            <a:endParaRPr lang="fr-FR" sz="1300" noProof="0" dirty="0"/>
          </a:p>
        </p:txBody>
      </p:sp>
      <p:sp>
        <p:nvSpPr>
          <p:cNvPr id="21" name="Text 18"/>
          <p:cNvSpPr/>
          <p:nvPr/>
        </p:nvSpPr>
        <p:spPr>
          <a:xfrm>
            <a:off x="594360" y="3456432"/>
            <a:ext cx="7955280" cy="1188720"/>
          </a:xfrm>
          <a:prstGeom prst="rect">
            <a:avLst/>
          </a:prstGeom>
          <a:noFill/>
          <a:ln/>
        </p:spPr>
        <p:txBody>
          <a:bodyPr wrap="square" rtlCol="0" anchor="ctr"/>
          <a:lstStyle/>
          <a:p>
            <a:pPr marL="0" indent="0">
              <a:buNone/>
            </a:pPr>
            <a:r>
              <a:rPr lang="fr-FR" sz="1100" b="1" noProof="0" dirty="0">
                <a:solidFill>
                  <a:srgbClr val="1A2A1A"/>
                </a:solidFill>
                <a:latin typeface="Calibri" pitchFamily="34" charset="0"/>
                <a:ea typeface="Calibri" pitchFamily="34" charset="-122"/>
                <a:cs typeface="Calibri" pitchFamily="34" charset="-120"/>
              </a:rPr>
              <a:t>Production locale très élevée (38.3 kg/</a:t>
            </a:r>
            <a:r>
              <a:rPr lang="fr-FR" sz="1100" b="1" noProof="0" dirty="0" err="1">
                <a:solidFill>
                  <a:srgbClr val="1A2A1A"/>
                </a:solidFill>
                <a:latin typeface="Calibri" pitchFamily="34" charset="0"/>
                <a:ea typeface="Calibri" pitchFamily="34" charset="-122"/>
                <a:cs typeface="Calibri" pitchFamily="34" charset="-120"/>
              </a:rPr>
              <a:t>hab</a:t>
            </a:r>
            <a:r>
              <a:rPr lang="fr-FR" sz="1100" b="1" noProof="0" dirty="0">
                <a:solidFill>
                  <a:srgbClr val="1A2A1A"/>
                </a:solidFill>
                <a:latin typeface="Calibri" pitchFamily="34" charset="0"/>
                <a:ea typeface="Calibri" pitchFamily="34" charset="-122"/>
                <a:cs typeface="Calibri" pitchFamily="34" charset="-120"/>
              </a:rPr>
              <a:t>)  </a:t>
            </a:r>
            <a:r>
              <a:rPr lang="fr-FR" sz="1100" noProof="0" dirty="0">
                <a:solidFill>
                  <a:srgbClr val="1A2A1A"/>
                </a:solidFill>
                <a:latin typeface="Calibri" pitchFamily="34" charset="0"/>
                <a:ea typeface="Calibri" pitchFamily="34" charset="-122"/>
                <a:cs typeface="Calibri" pitchFamily="34" charset="-120"/>
              </a:rPr>
              <a:t>→ ces pays produisent eux-mêmes leur volaille, peu de place pour l'import
</a:t>
            </a:r>
            <a:r>
              <a:rPr lang="fr-FR" sz="1100" b="1" noProof="0" dirty="0">
                <a:solidFill>
                  <a:srgbClr val="1A2A1A"/>
                </a:solidFill>
                <a:latin typeface="Calibri" pitchFamily="34" charset="0"/>
                <a:ea typeface="Calibri" pitchFamily="34" charset="-122"/>
                <a:cs typeface="Calibri" pitchFamily="34" charset="-120"/>
              </a:rPr>
              <a:t>TDI très faible (9.1%)  </a:t>
            </a:r>
            <a:r>
              <a:rPr lang="fr-FR" sz="1100" noProof="0" dirty="0">
                <a:solidFill>
                  <a:srgbClr val="1A2A1A"/>
                </a:solidFill>
                <a:latin typeface="Calibri" pitchFamily="34" charset="0"/>
                <a:ea typeface="Calibri" pitchFamily="34" charset="-122"/>
                <a:cs typeface="Calibri" pitchFamily="34" charset="-120"/>
              </a:rPr>
              <a:t>→ marché quasi-fermé aux importations de volaille
</a:t>
            </a:r>
            <a:r>
              <a:rPr lang="fr-FR" sz="1100" b="1" noProof="0" dirty="0">
                <a:solidFill>
                  <a:srgbClr val="1A2A1A"/>
                </a:solidFill>
                <a:latin typeface="Calibri" pitchFamily="34" charset="0"/>
                <a:ea typeface="Calibri" pitchFamily="34" charset="-122"/>
                <a:cs typeface="Calibri" pitchFamily="34" charset="-120"/>
              </a:rPr>
              <a:t>Imports/</a:t>
            </a:r>
            <a:r>
              <a:rPr lang="fr-FR" sz="1100" b="1" noProof="0" dirty="0" err="1">
                <a:solidFill>
                  <a:srgbClr val="1A2A1A"/>
                </a:solidFill>
                <a:latin typeface="Calibri" pitchFamily="34" charset="0"/>
                <a:ea typeface="Calibri" pitchFamily="34" charset="-122"/>
                <a:cs typeface="Calibri" pitchFamily="34" charset="-120"/>
              </a:rPr>
              <a:t>hab</a:t>
            </a:r>
            <a:r>
              <a:rPr lang="fr-FR" sz="1100" b="1" noProof="0" dirty="0">
                <a:solidFill>
                  <a:srgbClr val="1A2A1A"/>
                </a:solidFill>
                <a:latin typeface="Calibri" pitchFamily="34" charset="0"/>
                <a:ea typeface="Calibri" pitchFamily="34" charset="-122"/>
                <a:cs typeface="Calibri" pitchFamily="34" charset="-120"/>
              </a:rPr>
              <a:t> quasi-nuls (3.1 kg)  </a:t>
            </a:r>
            <a:r>
              <a:rPr lang="fr-FR" sz="1100" noProof="0" dirty="0">
                <a:solidFill>
                  <a:srgbClr val="1A2A1A"/>
                </a:solidFill>
                <a:latin typeface="Calibri" pitchFamily="34" charset="0"/>
                <a:ea typeface="Calibri" pitchFamily="34" charset="-122"/>
                <a:cs typeface="Calibri" pitchFamily="34" charset="-120"/>
              </a:rPr>
              <a:t>→ peu de demande structurelle pour nos produits</a:t>
            </a:r>
            <a:endParaRPr lang="fr-FR" sz="1100" noProof="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2A"/>
          </a:solidFill>
          <a:ln/>
        </p:spPr>
        <p:txBody>
          <a:bodyPr/>
          <a:lstStyle/>
          <a:p>
            <a:endParaRPr lang="fr-FR" noProof="0" dirty="0"/>
          </a:p>
        </p:txBody>
      </p:sp>
      <p:sp>
        <p:nvSpPr>
          <p:cNvPr id="3" name="Shape 1"/>
          <p:cNvSpPr/>
          <p:nvPr/>
        </p:nvSpPr>
        <p:spPr>
          <a:xfrm>
            <a:off x="320040" y="164592"/>
            <a:ext cx="640080" cy="640080"/>
          </a:xfrm>
          <a:prstGeom prst="ellipse">
            <a:avLst/>
          </a:prstGeom>
          <a:solidFill>
            <a:srgbClr val="C97A2A"/>
          </a:solidFill>
          <a:ln/>
        </p:spPr>
        <p:txBody>
          <a:bodyPr/>
          <a:lstStyle/>
          <a:p>
            <a:endParaRPr lang="fr-FR" noProof="0" dirty="0"/>
          </a:p>
        </p:txBody>
      </p:sp>
      <p:sp>
        <p:nvSpPr>
          <p:cNvPr id="4" name="Text 2"/>
          <p:cNvSpPr/>
          <p:nvPr/>
        </p:nvSpPr>
        <p:spPr>
          <a:xfrm>
            <a:off x="1051560" y="137160"/>
            <a:ext cx="7772400" cy="731520"/>
          </a:xfrm>
          <a:prstGeom prst="rect">
            <a:avLst/>
          </a:prstGeom>
          <a:noFill/>
          <a:ln/>
        </p:spPr>
        <p:txBody>
          <a:bodyPr wrap="square" rtlCol="0" anchor="ctr"/>
          <a:lstStyle/>
          <a:p>
            <a:pPr marL="0" indent="0">
              <a:buNone/>
            </a:pPr>
            <a:r>
              <a:rPr lang="fr-FR" sz="2600" b="1" noProof="0" dirty="0">
                <a:solidFill>
                  <a:srgbClr val="FFFFFF"/>
                </a:solidFill>
                <a:latin typeface="Cambria" pitchFamily="34" charset="0"/>
                <a:ea typeface="Cambria" pitchFamily="34" charset="-122"/>
                <a:cs typeface="Cambria" pitchFamily="34" charset="-120"/>
              </a:rPr>
              <a:t>Cluster 3 — Cas particulier : Chine &amp; Inde</a:t>
            </a:r>
            <a:endParaRPr lang="fr-FR" sz="2600" noProof="0" dirty="0"/>
          </a:p>
        </p:txBody>
      </p:sp>
      <p:sp>
        <p:nvSpPr>
          <p:cNvPr id="5" name="Shape 3"/>
          <p:cNvSpPr/>
          <p:nvPr/>
        </p:nvSpPr>
        <p:spPr>
          <a:xfrm>
            <a:off x="365760" y="1143000"/>
            <a:ext cx="4023360" cy="2286000"/>
          </a:xfrm>
          <a:prstGeom prst="roundRect">
            <a:avLst>
              <a:gd name="adj" fmla="val 4800"/>
            </a:avLst>
          </a:prstGeom>
          <a:solidFill>
            <a:srgbClr val="EFF5EE"/>
          </a:solidFill>
          <a:ln/>
          <a:effectLst>
            <a:outerShdw blurRad="76200" dist="25400" dir="2700000" algn="bl" rotWithShape="0">
              <a:srgbClr val="000000">
                <a:alpha val="10000"/>
              </a:srgbClr>
            </a:outerShdw>
          </a:effectLst>
        </p:spPr>
        <p:txBody>
          <a:bodyPr/>
          <a:lstStyle/>
          <a:p>
            <a:endParaRPr lang="fr-FR" noProof="0" dirty="0"/>
          </a:p>
        </p:txBody>
      </p:sp>
      <p:sp>
        <p:nvSpPr>
          <p:cNvPr id="6" name="Text 4"/>
          <p:cNvSpPr/>
          <p:nvPr/>
        </p:nvSpPr>
        <p:spPr>
          <a:xfrm>
            <a:off x="502920" y="1234440"/>
            <a:ext cx="3749040" cy="457200"/>
          </a:xfrm>
          <a:prstGeom prst="rect">
            <a:avLst/>
          </a:prstGeom>
          <a:noFill/>
          <a:ln/>
        </p:spPr>
        <p:txBody>
          <a:bodyPr wrap="square" rtlCol="0" anchor="ctr"/>
          <a:lstStyle/>
          <a:p>
            <a:pPr marL="0" indent="0">
              <a:buNone/>
            </a:pPr>
            <a:r>
              <a:rPr lang="fr-FR" sz="1800" b="1" noProof="0" dirty="0">
                <a:solidFill>
                  <a:srgbClr val="1A3A2A"/>
                </a:solidFill>
                <a:latin typeface="Cambria" pitchFamily="34" charset="0"/>
                <a:ea typeface="Cambria" pitchFamily="34" charset="-122"/>
                <a:cs typeface="Cambria" pitchFamily="34" charset="-120"/>
              </a:rPr>
              <a:t>Chine</a:t>
            </a:r>
            <a:endParaRPr lang="fr-FR" sz="1800" noProof="0" dirty="0"/>
          </a:p>
        </p:txBody>
      </p:sp>
      <p:sp>
        <p:nvSpPr>
          <p:cNvPr id="7" name="Text 5"/>
          <p:cNvSpPr/>
          <p:nvPr/>
        </p:nvSpPr>
        <p:spPr>
          <a:xfrm>
            <a:off x="502920" y="1737360"/>
            <a:ext cx="3749040" cy="640080"/>
          </a:xfrm>
          <a:prstGeom prst="rect">
            <a:avLst/>
          </a:prstGeom>
          <a:noFill/>
          <a:ln/>
        </p:spPr>
        <p:txBody>
          <a:bodyPr wrap="square" rtlCol="0" anchor="ctr"/>
          <a:lstStyle/>
          <a:p>
            <a:pPr marL="0" indent="0">
              <a:buNone/>
            </a:pPr>
            <a:r>
              <a:rPr lang="fr-FR" sz="1200" noProof="0" dirty="0">
                <a:solidFill>
                  <a:srgbClr val="1A2A1A"/>
                </a:solidFill>
                <a:latin typeface="Calibri" pitchFamily="34" charset="0"/>
                <a:ea typeface="Calibri" pitchFamily="34" charset="-122"/>
                <a:cs typeface="Calibri" pitchFamily="34" charset="-120"/>
              </a:rPr>
              <a:t>Population : 1.41 Md hab.</a:t>
            </a:r>
            <a:endParaRPr lang="fr-FR" sz="1200" noProof="0" dirty="0"/>
          </a:p>
          <a:p>
            <a:pPr marL="0" indent="0">
              <a:buNone/>
            </a:pPr>
            <a:r>
              <a:rPr lang="fr-FR" sz="1200" noProof="0" dirty="0">
                <a:solidFill>
                  <a:srgbClr val="1A2A1A"/>
                </a:solidFill>
                <a:latin typeface="Calibri" pitchFamily="34" charset="0"/>
                <a:ea typeface="Calibri" pitchFamily="34" charset="-122"/>
                <a:cs typeface="Calibri" pitchFamily="34" charset="-120"/>
              </a:rPr>
              <a:t>PIB/</a:t>
            </a:r>
            <a:r>
              <a:rPr lang="fr-FR" sz="1200" noProof="0" dirty="0" err="1">
                <a:solidFill>
                  <a:srgbClr val="1A2A1A"/>
                </a:solidFill>
                <a:latin typeface="Calibri" pitchFamily="34" charset="0"/>
                <a:ea typeface="Calibri" pitchFamily="34" charset="-122"/>
                <a:cs typeface="Calibri" pitchFamily="34" charset="-120"/>
              </a:rPr>
              <a:t>hab</a:t>
            </a:r>
            <a:r>
              <a:rPr lang="fr-FR" sz="1200" noProof="0" dirty="0">
                <a:solidFill>
                  <a:srgbClr val="1A2A1A"/>
                </a:solidFill>
                <a:latin typeface="Calibri" pitchFamily="34" charset="0"/>
                <a:ea typeface="Calibri" pitchFamily="34" charset="-122"/>
                <a:cs typeface="Calibri" pitchFamily="34" charset="-120"/>
              </a:rPr>
              <a:t> : 12 556 $</a:t>
            </a:r>
            <a:endParaRPr lang="fr-FR" sz="1200" noProof="0" dirty="0"/>
          </a:p>
        </p:txBody>
      </p:sp>
      <p:sp>
        <p:nvSpPr>
          <p:cNvPr id="8" name="Text 6"/>
          <p:cNvSpPr/>
          <p:nvPr/>
        </p:nvSpPr>
        <p:spPr>
          <a:xfrm>
            <a:off x="502920" y="2377440"/>
            <a:ext cx="3749040" cy="914400"/>
          </a:xfrm>
          <a:prstGeom prst="rect">
            <a:avLst/>
          </a:prstGeom>
          <a:noFill/>
          <a:ln/>
        </p:spPr>
        <p:txBody>
          <a:bodyPr wrap="square" rtlCol="0" anchor="ctr"/>
          <a:lstStyle/>
          <a:p>
            <a:pPr marL="0" indent="0">
              <a:buNone/>
            </a:pPr>
            <a:r>
              <a:rPr lang="fr-FR" sz="1100" i="1" noProof="0" dirty="0">
                <a:solidFill>
                  <a:srgbClr val="6B7C6B"/>
                </a:solidFill>
                <a:latin typeface="Calibri" pitchFamily="34" charset="0"/>
                <a:ea typeface="Calibri" pitchFamily="34" charset="-122"/>
                <a:cs typeface="Calibri" pitchFamily="34" charset="-120"/>
              </a:rPr>
              <a:t>2ème économie mondiale, production avicole massive, marché très concurrentiel</a:t>
            </a:r>
            <a:endParaRPr lang="fr-FR" sz="1100" noProof="0" dirty="0"/>
          </a:p>
        </p:txBody>
      </p:sp>
      <p:sp>
        <p:nvSpPr>
          <p:cNvPr id="9" name="Shape 7"/>
          <p:cNvSpPr/>
          <p:nvPr/>
        </p:nvSpPr>
        <p:spPr>
          <a:xfrm>
            <a:off x="4754880" y="1143000"/>
            <a:ext cx="4023360" cy="2286000"/>
          </a:xfrm>
          <a:prstGeom prst="roundRect">
            <a:avLst>
              <a:gd name="adj" fmla="val 4800"/>
            </a:avLst>
          </a:prstGeom>
          <a:solidFill>
            <a:srgbClr val="EFF5EE"/>
          </a:solidFill>
          <a:ln/>
          <a:effectLst>
            <a:outerShdw blurRad="76200" dist="25400" dir="2700000" algn="bl" rotWithShape="0">
              <a:srgbClr val="000000">
                <a:alpha val="10000"/>
              </a:srgbClr>
            </a:outerShdw>
          </a:effectLst>
        </p:spPr>
        <p:txBody>
          <a:bodyPr/>
          <a:lstStyle/>
          <a:p>
            <a:endParaRPr lang="fr-FR" noProof="0" dirty="0"/>
          </a:p>
        </p:txBody>
      </p:sp>
      <p:sp>
        <p:nvSpPr>
          <p:cNvPr id="10" name="Text 8"/>
          <p:cNvSpPr/>
          <p:nvPr/>
        </p:nvSpPr>
        <p:spPr>
          <a:xfrm>
            <a:off x="4892040" y="1234440"/>
            <a:ext cx="3749040" cy="457200"/>
          </a:xfrm>
          <a:prstGeom prst="rect">
            <a:avLst/>
          </a:prstGeom>
          <a:noFill/>
          <a:ln/>
        </p:spPr>
        <p:txBody>
          <a:bodyPr wrap="square" rtlCol="0" anchor="ctr"/>
          <a:lstStyle/>
          <a:p>
            <a:pPr marL="0" indent="0">
              <a:buNone/>
            </a:pPr>
            <a:r>
              <a:rPr lang="fr-FR" sz="1800" b="1" noProof="0" dirty="0">
                <a:solidFill>
                  <a:srgbClr val="1A3A2A"/>
                </a:solidFill>
                <a:latin typeface="Cambria" pitchFamily="34" charset="0"/>
                <a:ea typeface="Cambria" pitchFamily="34" charset="-122"/>
                <a:cs typeface="Cambria" pitchFamily="34" charset="-120"/>
              </a:rPr>
              <a:t>Inde</a:t>
            </a:r>
            <a:endParaRPr lang="fr-FR" sz="1800" noProof="0" dirty="0"/>
          </a:p>
        </p:txBody>
      </p:sp>
      <p:sp>
        <p:nvSpPr>
          <p:cNvPr id="11" name="Text 9"/>
          <p:cNvSpPr/>
          <p:nvPr/>
        </p:nvSpPr>
        <p:spPr>
          <a:xfrm>
            <a:off x="4892040" y="1737360"/>
            <a:ext cx="3749040" cy="640080"/>
          </a:xfrm>
          <a:prstGeom prst="rect">
            <a:avLst/>
          </a:prstGeom>
          <a:noFill/>
          <a:ln/>
        </p:spPr>
        <p:txBody>
          <a:bodyPr wrap="square" rtlCol="0" anchor="ctr"/>
          <a:lstStyle/>
          <a:p>
            <a:pPr marL="0" indent="0">
              <a:buNone/>
            </a:pPr>
            <a:r>
              <a:rPr lang="fr-FR" sz="1200" noProof="0" dirty="0">
                <a:solidFill>
                  <a:srgbClr val="1A2A1A"/>
                </a:solidFill>
                <a:latin typeface="Calibri" pitchFamily="34" charset="0"/>
                <a:ea typeface="Calibri" pitchFamily="34" charset="-122"/>
                <a:cs typeface="Calibri" pitchFamily="34" charset="-120"/>
              </a:rPr>
              <a:t>Population : 1.38 Md hab.</a:t>
            </a:r>
            <a:endParaRPr lang="fr-FR" sz="1200" noProof="0" dirty="0"/>
          </a:p>
          <a:p>
            <a:pPr marL="0" indent="0">
              <a:buNone/>
            </a:pPr>
            <a:r>
              <a:rPr lang="fr-FR" sz="1200" noProof="0" dirty="0">
                <a:solidFill>
                  <a:srgbClr val="1A2A1A"/>
                </a:solidFill>
                <a:latin typeface="Calibri" pitchFamily="34" charset="0"/>
                <a:ea typeface="Calibri" pitchFamily="34" charset="-122"/>
                <a:cs typeface="Calibri" pitchFamily="34" charset="-120"/>
              </a:rPr>
              <a:t>PIB/</a:t>
            </a:r>
            <a:r>
              <a:rPr lang="fr-FR" sz="1200" noProof="0" dirty="0" err="1">
                <a:solidFill>
                  <a:srgbClr val="1A2A1A"/>
                </a:solidFill>
                <a:latin typeface="Calibri" pitchFamily="34" charset="0"/>
                <a:ea typeface="Calibri" pitchFamily="34" charset="-122"/>
                <a:cs typeface="Calibri" pitchFamily="34" charset="-120"/>
              </a:rPr>
              <a:t>hab</a:t>
            </a:r>
            <a:r>
              <a:rPr lang="fr-FR" sz="1200" noProof="0" dirty="0">
                <a:solidFill>
                  <a:srgbClr val="1A2A1A"/>
                </a:solidFill>
                <a:latin typeface="Calibri" pitchFamily="34" charset="0"/>
                <a:ea typeface="Calibri" pitchFamily="34" charset="-122"/>
                <a:cs typeface="Calibri" pitchFamily="34" charset="-120"/>
              </a:rPr>
              <a:t> : 2 278 $</a:t>
            </a:r>
            <a:endParaRPr lang="fr-FR" sz="1200" noProof="0" dirty="0"/>
          </a:p>
        </p:txBody>
      </p:sp>
      <p:sp>
        <p:nvSpPr>
          <p:cNvPr id="12" name="Text 10"/>
          <p:cNvSpPr/>
          <p:nvPr/>
        </p:nvSpPr>
        <p:spPr>
          <a:xfrm>
            <a:off x="4892040" y="2377440"/>
            <a:ext cx="3749040" cy="914400"/>
          </a:xfrm>
          <a:prstGeom prst="rect">
            <a:avLst/>
          </a:prstGeom>
          <a:noFill/>
          <a:ln/>
        </p:spPr>
        <p:txBody>
          <a:bodyPr wrap="square" rtlCol="0" anchor="ctr"/>
          <a:lstStyle/>
          <a:p>
            <a:pPr marL="0" indent="0">
              <a:buNone/>
            </a:pPr>
            <a:r>
              <a:rPr lang="fr-FR" sz="1100" i="1" noProof="0" dirty="0">
                <a:solidFill>
                  <a:srgbClr val="6B7C6B"/>
                </a:solidFill>
                <a:latin typeface="Calibri" pitchFamily="34" charset="0"/>
                <a:ea typeface="Calibri" pitchFamily="34" charset="-122"/>
                <a:cs typeface="Calibri" pitchFamily="34" charset="-120"/>
              </a:rPr>
              <a:t>Très faible consommation de volaille, sensibilité culturelle et religieuse forte</a:t>
            </a:r>
            <a:endParaRPr lang="fr-FR" sz="1100" noProof="0" dirty="0"/>
          </a:p>
        </p:txBody>
      </p:sp>
      <p:sp>
        <p:nvSpPr>
          <p:cNvPr id="13" name="Shape 11"/>
          <p:cNvSpPr/>
          <p:nvPr/>
        </p:nvSpPr>
        <p:spPr>
          <a:xfrm>
            <a:off x="365760" y="3611880"/>
            <a:ext cx="8412480" cy="1188720"/>
          </a:xfrm>
          <a:prstGeom prst="roundRect">
            <a:avLst>
              <a:gd name="adj" fmla="val 7692"/>
            </a:avLst>
          </a:prstGeom>
          <a:solidFill>
            <a:srgbClr val="FFF8E8"/>
          </a:solidFill>
          <a:ln/>
        </p:spPr>
        <p:txBody>
          <a:bodyPr/>
          <a:lstStyle/>
          <a:p>
            <a:endParaRPr lang="fr-FR" noProof="0" dirty="0"/>
          </a:p>
        </p:txBody>
      </p:sp>
      <p:pic>
        <p:nvPicPr>
          <p:cNvPr id="14" name="Image 0" descr="preencoded.png"/>
          <p:cNvPicPr>
            <a:picLocks noChangeAspect="1"/>
          </p:cNvPicPr>
          <p:nvPr/>
        </p:nvPicPr>
        <p:blipFill>
          <a:blip r:embed="rId3"/>
          <a:stretch>
            <a:fillRect/>
          </a:stretch>
        </p:blipFill>
        <p:spPr>
          <a:xfrm>
            <a:off x="548640" y="3730752"/>
            <a:ext cx="292608" cy="292608"/>
          </a:xfrm>
          <a:prstGeom prst="rect">
            <a:avLst/>
          </a:prstGeom>
        </p:spPr>
      </p:pic>
      <p:sp>
        <p:nvSpPr>
          <p:cNvPr id="15" name="Text 12"/>
          <p:cNvSpPr/>
          <p:nvPr/>
        </p:nvSpPr>
        <p:spPr>
          <a:xfrm>
            <a:off x="914400" y="3703320"/>
            <a:ext cx="7680960" cy="365760"/>
          </a:xfrm>
          <a:prstGeom prst="rect">
            <a:avLst/>
          </a:prstGeom>
          <a:noFill/>
          <a:ln/>
        </p:spPr>
        <p:txBody>
          <a:bodyPr wrap="square" rtlCol="0" anchor="ctr"/>
          <a:lstStyle/>
          <a:p>
            <a:pPr marL="0" indent="0">
              <a:buNone/>
            </a:pPr>
            <a:r>
              <a:rPr lang="fr-FR" sz="1300" b="1" noProof="0" dirty="0">
                <a:solidFill>
                  <a:srgbClr val="8B6914"/>
                </a:solidFill>
                <a:latin typeface="Cambria" pitchFamily="34" charset="0"/>
                <a:ea typeface="Cambria" pitchFamily="34" charset="-122"/>
                <a:cs typeface="Cambria" pitchFamily="34" charset="-120"/>
              </a:rPr>
              <a:t>Pourquoi ces pays sont isolés :</a:t>
            </a:r>
            <a:endParaRPr lang="fr-FR" sz="1300" noProof="0" dirty="0"/>
          </a:p>
        </p:txBody>
      </p:sp>
      <p:sp>
        <p:nvSpPr>
          <p:cNvPr id="16" name="Text 13"/>
          <p:cNvSpPr/>
          <p:nvPr/>
        </p:nvSpPr>
        <p:spPr>
          <a:xfrm>
            <a:off x="594360" y="4030732"/>
            <a:ext cx="7955280" cy="658368"/>
          </a:xfrm>
          <a:prstGeom prst="rect">
            <a:avLst/>
          </a:prstGeom>
          <a:noFill/>
          <a:ln/>
        </p:spPr>
        <p:txBody>
          <a:bodyPr wrap="square" rtlCol="0" anchor="ctr"/>
          <a:lstStyle/>
          <a:p>
            <a:pPr marL="0" indent="0">
              <a:buNone/>
            </a:pPr>
            <a:r>
              <a:rPr lang="fr-FR" sz="1100" noProof="0" dirty="0">
                <a:solidFill>
                  <a:srgbClr val="1A2A1A"/>
                </a:solidFill>
                <a:latin typeface="Calibri" pitchFamily="34" charset="0"/>
                <a:ea typeface="Calibri" pitchFamily="34" charset="-122"/>
                <a:cs typeface="Calibri" pitchFamily="34" charset="-120"/>
              </a:rPr>
              <a:t>Leur poids démographique exceptionnel les place hors du périmètre d'une stratégie d'export initiale. Une étude dédiée serait nécessaire pour envisager ces marchés à long terme.</a:t>
            </a:r>
            <a:endParaRPr lang="fr-FR" sz="1100" noProof="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3D1F6B"/>
          </a:solidFill>
          <a:ln/>
        </p:spPr>
        <p:txBody>
          <a:bodyPr/>
          <a:lstStyle/>
          <a:p>
            <a:endParaRPr lang="fr-FR" noProof="0" dirty="0"/>
          </a:p>
        </p:txBody>
      </p:sp>
      <p:sp>
        <p:nvSpPr>
          <p:cNvPr id="3" name="Shape 1"/>
          <p:cNvSpPr/>
          <p:nvPr/>
        </p:nvSpPr>
        <p:spPr>
          <a:xfrm>
            <a:off x="320040" y="164592"/>
            <a:ext cx="640080" cy="640080"/>
          </a:xfrm>
          <a:prstGeom prst="ellipse">
            <a:avLst/>
          </a:prstGeom>
          <a:solidFill>
            <a:srgbClr val="7B5EA7"/>
          </a:solidFill>
          <a:ln/>
        </p:spPr>
        <p:txBody>
          <a:bodyPr/>
          <a:lstStyle/>
          <a:p>
            <a:endParaRPr lang="fr-FR" noProof="0" dirty="0"/>
          </a:p>
        </p:txBody>
      </p:sp>
      <p:sp>
        <p:nvSpPr>
          <p:cNvPr id="4" name="Text 2"/>
          <p:cNvSpPr/>
          <p:nvPr/>
        </p:nvSpPr>
        <p:spPr>
          <a:xfrm>
            <a:off x="1051560" y="137160"/>
            <a:ext cx="7772400" cy="731520"/>
          </a:xfrm>
          <a:prstGeom prst="rect">
            <a:avLst/>
          </a:prstGeom>
          <a:noFill/>
          <a:ln/>
        </p:spPr>
        <p:txBody>
          <a:bodyPr wrap="square" rtlCol="0" anchor="ctr"/>
          <a:lstStyle/>
          <a:p>
            <a:pPr marL="0" indent="0">
              <a:buNone/>
            </a:pPr>
            <a:r>
              <a:rPr lang="fr-FR" sz="2400" b="1" noProof="0" dirty="0">
                <a:solidFill>
                  <a:srgbClr val="FFFFFF"/>
                </a:solidFill>
                <a:latin typeface="Cambria" pitchFamily="34" charset="0"/>
                <a:ea typeface="Cambria" pitchFamily="34" charset="-122"/>
                <a:cs typeface="Cambria" pitchFamily="34" charset="-120"/>
              </a:rPr>
              <a:t>Cluster 2 — Pays développés importateurs  </a:t>
            </a:r>
          </a:p>
          <a:p>
            <a:pPr marL="0" indent="0">
              <a:buNone/>
            </a:pPr>
            <a:r>
              <a:rPr lang="fr-FR" sz="2400" b="1" noProof="0" dirty="0">
                <a:solidFill>
                  <a:srgbClr val="FFFFFF"/>
                </a:solidFill>
                <a:latin typeface="Cambria" pitchFamily="34" charset="0"/>
                <a:ea typeface="Cambria" pitchFamily="34" charset="-122"/>
                <a:cs typeface="Cambria" pitchFamily="34" charset="-120"/>
              </a:rPr>
              <a:t>	⭐  Notre cible</a:t>
            </a:r>
            <a:endParaRPr lang="fr-FR" sz="2400" noProof="0" dirty="0"/>
          </a:p>
        </p:txBody>
      </p:sp>
      <p:sp>
        <p:nvSpPr>
          <p:cNvPr id="5" name="Shape 3"/>
          <p:cNvSpPr/>
          <p:nvPr/>
        </p:nvSpPr>
        <p:spPr>
          <a:xfrm>
            <a:off x="274320" y="1143000"/>
            <a:ext cx="1920240" cy="1188720"/>
          </a:xfrm>
          <a:prstGeom prst="roundRect">
            <a:avLst>
              <a:gd name="adj" fmla="val 7692"/>
            </a:avLst>
          </a:prstGeom>
          <a:solidFill>
            <a:srgbClr val="7B5EA7"/>
          </a:solidFill>
          <a:ln/>
        </p:spPr>
        <p:txBody>
          <a:bodyPr/>
          <a:lstStyle/>
          <a:p>
            <a:endParaRPr lang="fr-FR" noProof="0" dirty="0"/>
          </a:p>
        </p:txBody>
      </p:sp>
      <p:sp>
        <p:nvSpPr>
          <p:cNvPr id="6" name="Text 4"/>
          <p:cNvSpPr/>
          <p:nvPr/>
        </p:nvSpPr>
        <p:spPr>
          <a:xfrm>
            <a:off x="274320" y="1188720"/>
            <a:ext cx="1920240" cy="640080"/>
          </a:xfrm>
          <a:prstGeom prst="rect">
            <a:avLst/>
          </a:prstGeom>
          <a:noFill/>
          <a:ln/>
        </p:spPr>
        <p:txBody>
          <a:bodyPr wrap="square" rtlCol="0" anchor="ctr"/>
          <a:lstStyle/>
          <a:p>
            <a:pPr marL="0" indent="0" algn="ctr">
              <a:buNone/>
            </a:pPr>
            <a:r>
              <a:rPr lang="fr-FR" sz="2000" b="1" noProof="0" dirty="0">
                <a:solidFill>
                  <a:srgbClr val="FFFFFF"/>
                </a:solidFill>
                <a:latin typeface="Cambria" pitchFamily="34" charset="0"/>
                <a:ea typeface="Cambria" pitchFamily="34" charset="-122"/>
                <a:cs typeface="Cambria" pitchFamily="34" charset="-120"/>
              </a:rPr>
              <a:t>37</a:t>
            </a:r>
            <a:endParaRPr lang="fr-FR" sz="2000" noProof="0" dirty="0"/>
          </a:p>
        </p:txBody>
      </p:sp>
      <p:sp>
        <p:nvSpPr>
          <p:cNvPr id="7" name="Text 5"/>
          <p:cNvSpPr/>
          <p:nvPr/>
        </p:nvSpPr>
        <p:spPr>
          <a:xfrm>
            <a:off x="274320" y="1828800"/>
            <a:ext cx="1920240" cy="457200"/>
          </a:xfrm>
          <a:prstGeom prst="rect">
            <a:avLst/>
          </a:prstGeom>
          <a:noFill/>
          <a:ln/>
        </p:spPr>
        <p:txBody>
          <a:bodyPr wrap="square" rtlCol="0" anchor="ctr"/>
          <a:lstStyle/>
          <a:p>
            <a:pPr marL="0" indent="0" algn="ctr">
              <a:buNone/>
            </a:pPr>
            <a:r>
              <a:rPr lang="fr-FR" sz="1000" noProof="0" dirty="0">
                <a:solidFill>
                  <a:srgbClr val="DDD0F0"/>
                </a:solidFill>
                <a:latin typeface="Calibri" pitchFamily="34" charset="0"/>
                <a:ea typeface="Calibri" pitchFamily="34" charset="-122"/>
                <a:cs typeface="Calibri" pitchFamily="34" charset="-120"/>
              </a:rPr>
              <a:t>pays</a:t>
            </a:r>
            <a:endParaRPr lang="fr-FR" sz="1000" noProof="0" dirty="0"/>
          </a:p>
        </p:txBody>
      </p:sp>
      <p:sp>
        <p:nvSpPr>
          <p:cNvPr id="8" name="Shape 6"/>
          <p:cNvSpPr/>
          <p:nvPr/>
        </p:nvSpPr>
        <p:spPr>
          <a:xfrm>
            <a:off x="2423160" y="1143000"/>
            <a:ext cx="1920240" cy="1188720"/>
          </a:xfrm>
          <a:prstGeom prst="roundRect">
            <a:avLst>
              <a:gd name="adj" fmla="val 7692"/>
            </a:avLst>
          </a:prstGeom>
          <a:solidFill>
            <a:srgbClr val="7B5EA7"/>
          </a:solidFill>
          <a:ln/>
        </p:spPr>
        <p:txBody>
          <a:bodyPr/>
          <a:lstStyle/>
          <a:p>
            <a:endParaRPr lang="fr-FR" noProof="0" dirty="0"/>
          </a:p>
        </p:txBody>
      </p:sp>
      <p:sp>
        <p:nvSpPr>
          <p:cNvPr id="9" name="Text 7"/>
          <p:cNvSpPr/>
          <p:nvPr/>
        </p:nvSpPr>
        <p:spPr>
          <a:xfrm>
            <a:off x="2423160" y="1188720"/>
            <a:ext cx="1920240" cy="640080"/>
          </a:xfrm>
          <a:prstGeom prst="rect">
            <a:avLst/>
          </a:prstGeom>
          <a:noFill/>
          <a:ln/>
        </p:spPr>
        <p:txBody>
          <a:bodyPr wrap="square" rtlCol="0" anchor="ctr"/>
          <a:lstStyle/>
          <a:p>
            <a:pPr marL="0" indent="0" algn="ctr">
              <a:buNone/>
            </a:pPr>
            <a:r>
              <a:rPr lang="fr-FR" sz="2000" b="1" noProof="0" dirty="0">
                <a:solidFill>
                  <a:srgbClr val="FFFFFF"/>
                </a:solidFill>
                <a:latin typeface="Cambria" pitchFamily="34" charset="0"/>
                <a:ea typeface="Cambria" pitchFamily="34" charset="-122"/>
                <a:cs typeface="Cambria" pitchFamily="34" charset="-120"/>
              </a:rPr>
              <a:t>31 380 $</a:t>
            </a:r>
            <a:endParaRPr lang="fr-FR" sz="2000" noProof="0" dirty="0"/>
          </a:p>
        </p:txBody>
      </p:sp>
      <p:sp>
        <p:nvSpPr>
          <p:cNvPr id="10" name="Text 8"/>
          <p:cNvSpPr/>
          <p:nvPr/>
        </p:nvSpPr>
        <p:spPr>
          <a:xfrm>
            <a:off x="2423160" y="1828800"/>
            <a:ext cx="1920240" cy="457200"/>
          </a:xfrm>
          <a:prstGeom prst="rect">
            <a:avLst/>
          </a:prstGeom>
          <a:noFill/>
          <a:ln/>
        </p:spPr>
        <p:txBody>
          <a:bodyPr wrap="square" rtlCol="0" anchor="ctr"/>
          <a:lstStyle/>
          <a:p>
            <a:pPr marL="0" indent="0" algn="ctr">
              <a:buNone/>
            </a:pPr>
            <a:r>
              <a:rPr lang="fr-FR" sz="1000" noProof="0" dirty="0">
                <a:solidFill>
                  <a:srgbClr val="DDD0F0"/>
                </a:solidFill>
                <a:latin typeface="Calibri" pitchFamily="34" charset="0"/>
                <a:ea typeface="Calibri" pitchFamily="34" charset="-122"/>
                <a:cs typeface="Calibri" pitchFamily="34" charset="-120"/>
              </a:rPr>
              <a:t>PIB/</a:t>
            </a:r>
            <a:r>
              <a:rPr lang="fr-FR" sz="1000" noProof="0" dirty="0" err="1">
                <a:solidFill>
                  <a:srgbClr val="DDD0F0"/>
                </a:solidFill>
                <a:latin typeface="Calibri" pitchFamily="34" charset="0"/>
                <a:ea typeface="Calibri" pitchFamily="34" charset="-122"/>
                <a:cs typeface="Calibri" pitchFamily="34" charset="-120"/>
              </a:rPr>
              <a:t>hab</a:t>
            </a:r>
            <a:r>
              <a:rPr lang="fr-FR" sz="1000" noProof="0" dirty="0">
                <a:solidFill>
                  <a:srgbClr val="DDD0F0"/>
                </a:solidFill>
                <a:latin typeface="Calibri" pitchFamily="34" charset="0"/>
                <a:ea typeface="Calibri" pitchFamily="34" charset="-122"/>
                <a:cs typeface="Calibri" pitchFamily="34" charset="-120"/>
              </a:rPr>
              <a:t> moyen</a:t>
            </a:r>
            <a:endParaRPr lang="fr-FR" sz="1000" noProof="0" dirty="0"/>
          </a:p>
        </p:txBody>
      </p:sp>
      <p:sp>
        <p:nvSpPr>
          <p:cNvPr id="11" name="Shape 9"/>
          <p:cNvSpPr/>
          <p:nvPr/>
        </p:nvSpPr>
        <p:spPr>
          <a:xfrm>
            <a:off x="4572000" y="1143000"/>
            <a:ext cx="1920240" cy="1188720"/>
          </a:xfrm>
          <a:prstGeom prst="roundRect">
            <a:avLst>
              <a:gd name="adj" fmla="val 7692"/>
            </a:avLst>
          </a:prstGeom>
          <a:solidFill>
            <a:srgbClr val="7B5EA7"/>
          </a:solidFill>
          <a:ln/>
        </p:spPr>
        <p:txBody>
          <a:bodyPr/>
          <a:lstStyle/>
          <a:p>
            <a:endParaRPr lang="fr-FR" noProof="0" dirty="0"/>
          </a:p>
        </p:txBody>
      </p:sp>
      <p:sp>
        <p:nvSpPr>
          <p:cNvPr id="12" name="Text 10"/>
          <p:cNvSpPr/>
          <p:nvPr/>
        </p:nvSpPr>
        <p:spPr>
          <a:xfrm>
            <a:off x="4572000" y="1188720"/>
            <a:ext cx="1920240" cy="640080"/>
          </a:xfrm>
          <a:prstGeom prst="rect">
            <a:avLst/>
          </a:prstGeom>
          <a:noFill/>
          <a:ln/>
        </p:spPr>
        <p:txBody>
          <a:bodyPr wrap="square" rtlCol="0" anchor="ctr"/>
          <a:lstStyle/>
          <a:p>
            <a:pPr marL="0" indent="0" algn="ctr">
              <a:buNone/>
            </a:pPr>
            <a:r>
              <a:rPr lang="fr-FR" sz="2000" b="1" noProof="0" dirty="0">
                <a:solidFill>
                  <a:srgbClr val="FFFFFF"/>
                </a:solidFill>
                <a:latin typeface="Cambria" pitchFamily="34" charset="0"/>
                <a:ea typeface="Cambria" pitchFamily="34" charset="-122"/>
                <a:cs typeface="Cambria" pitchFamily="34" charset="-120"/>
              </a:rPr>
              <a:t>86.9</a:t>
            </a:r>
            <a:endParaRPr lang="fr-FR" sz="2000" noProof="0" dirty="0"/>
          </a:p>
        </p:txBody>
      </p:sp>
      <p:sp>
        <p:nvSpPr>
          <p:cNvPr id="13" name="Text 11"/>
          <p:cNvSpPr/>
          <p:nvPr/>
        </p:nvSpPr>
        <p:spPr>
          <a:xfrm>
            <a:off x="4572000" y="1828800"/>
            <a:ext cx="1920240" cy="457200"/>
          </a:xfrm>
          <a:prstGeom prst="rect">
            <a:avLst/>
          </a:prstGeom>
          <a:noFill/>
          <a:ln/>
        </p:spPr>
        <p:txBody>
          <a:bodyPr wrap="square" rtlCol="0" anchor="ctr"/>
          <a:lstStyle/>
          <a:p>
            <a:pPr marL="0" indent="0" algn="ctr">
              <a:buNone/>
            </a:pPr>
            <a:r>
              <a:rPr lang="fr-FR" sz="1000" noProof="0" dirty="0" err="1">
                <a:solidFill>
                  <a:srgbClr val="DDD0F0"/>
                </a:solidFill>
                <a:latin typeface="Calibri" pitchFamily="34" charset="0"/>
                <a:ea typeface="Calibri" pitchFamily="34" charset="-122"/>
                <a:cs typeface="Calibri" pitchFamily="34" charset="-120"/>
              </a:rPr>
              <a:t>affordability</a:t>
            </a:r>
            <a:endParaRPr lang="fr-FR" sz="1000" noProof="0" dirty="0"/>
          </a:p>
        </p:txBody>
      </p:sp>
      <p:sp>
        <p:nvSpPr>
          <p:cNvPr id="14" name="Shape 12"/>
          <p:cNvSpPr/>
          <p:nvPr/>
        </p:nvSpPr>
        <p:spPr>
          <a:xfrm>
            <a:off x="6720840" y="1143000"/>
            <a:ext cx="1920240" cy="1188720"/>
          </a:xfrm>
          <a:prstGeom prst="roundRect">
            <a:avLst>
              <a:gd name="adj" fmla="val 7692"/>
            </a:avLst>
          </a:prstGeom>
          <a:solidFill>
            <a:srgbClr val="7B5EA7"/>
          </a:solidFill>
          <a:ln/>
        </p:spPr>
        <p:txBody>
          <a:bodyPr/>
          <a:lstStyle/>
          <a:p>
            <a:endParaRPr lang="fr-FR" noProof="0" dirty="0"/>
          </a:p>
        </p:txBody>
      </p:sp>
      <p:sp>
        <p:nvSpPr>
          <p:cNvPr id="15" name="Text 13"/>
          <p:cNvSpPr/>
          <p:nvPr/>
        </p:nvSpPr>
        <p:spPr>
          <a:xfrm>
            <a:off x="6720840" y="1188720"/>
            <a:ext cx="1920240" cy="640080"/>
          </a:xfrm>
          <a:prstGeom prst="rect">
            <a:avLst/>
          </a:prstGeom>
          <a:noFill/>
          <a:ln/>
        </p:spPr>
        <p:txBody>
          <a:bodyPr wrap="square" rtlCol="0" anchor="ctr"/>
          <a:lstStyle/>
          <a:p>
            <a:pPr marL="0" indent="0" algn="ctr">
              <a:buNone/>
            </a:pPr>
            <a:r>
              <a:rPr lang="fr-FR" sz="2000" b="1" noProof="0" dirty="0">
                <a:solidFill>
                  <a:srgbClr val="FFFFFF"/>
                </a:solidFill>
                <a:latin typeface="Cambria" pitchFamily="34" charset="0"/>
                <a:ea typeface="Cambria" pitchFamily="34" charset="-122"/>
                <a:cs typeface="Cambria" pitchFamily="34" charset="-120"/>
              </a:rPr>
              <a:t>16.8 kg</a:t>
            </a:r>
            <a:endParaRPr lang="fr-FR" sz="2000" noProof="0" dirty="0"/>
          </a:p>
        </p:txBody>
      </p:sp>
      <p:sp>
        <p:nvSpPr>
          <p:cNvPr id="16" name="Text 14"/>
          <p:cNvSpPr/>
          <p:nvPr/>
        </p:nvSpPr>
        <p:spPr>
          <a:xfrm>
            <a:off x="6720840" y="1828800"/>
            <a:ext cx="1920240" cy="457200"/>
          </a:xfrm>
          <a:prstGeom prst="rect">
            <a:avLst/>
          </a:prstGeom>
          <a:noFill/>
          <a:ln/>
        </p:spPr>
        <p:txBody>
          <a:bodyPr wrap="square" rtlCol="0" anchor="ctr"/>
          <a:lstStyle/>
          <a:p>
            <a:pPr marL="0" indent="0" algn="ctr">
              <a:buNone/>
            </a:pPr>
            <a:r>
              <a:rPr lang="fr-FR" sz="1000" noProof="0" dirty="0">
                <a:solidFill>
                  <a:srgbClr val="DDD0F0"/>
                </a:solidFill>
                <a:latin typeface="Calibri" pitchFamily="34" charset="0"/>
                <a:ea typeface="Calibri" pitchFamily="34" charset="-122"/>
                <a:cs typeface="Calibri" pitchFamily="34" charset="-120"/>
              </a:rPr>
              <a:t>import/</a:t>
            </a:r>
            <a:r>
              <a:rPr lang="fr-FR" sz="1000" noProof="0" dirty="0" err="1">
                <a:solidFill>
                  <a:srgbClr val="DDD0F0"/>
                </a:solidFill>
                <a:latin typeface="Calibri" pitchFamily="34" charset="0"/>
                <a:ea typeface="Calibri" pitchFamily="34" charset="-122"/>
                <a:cs typeface="Calibri" pitchFamily="34" charset="-120"/>
              </a:rPr>
              <a:t>hab</a:t>
            </a:r>
            <a:r>
              <a:rPr lang="fr-FR" sz="1000" noProof="0" dirty="0">
                <a:solidFill>
                  <a:srgbClr val="DDD0F0"/>
                </a:solidFill>
                <a:latin typeface="Calibri" pitchFamily="34" charset="0"/>
                <a:ea typeface="Calibri" pitchFamily="34" charset="-122"/>
                <a:cs typeface="Calibri" pitchFamily="34" charset="-120"/>
              </a:rPr>
              <a:t> moyen</a:t>
            </a:r>
            <a:endParaRPr lang="fr-FR" sz="1000" noProof="0" dirty="0"/>
          </a:p>
        </p:txBody>
      </p:sp>
      <p:sp>
        <p:nvSpPr>
          <p:cNvPr id="17" name="Text 15"/>
          <p:cNvSpPr/>
          <p:nvPr/>
        </p:nvSpPr>
        <p:spPr>
          <a:xfrm>
            <a:off x="365760" y="2514600"/>
            <a:ext cx="8412480" cy="365760"/>
          </a:xfrm>
          <a:prstGeom prst="rect">
            <a:avLst/>
          </a:prstGeom>
          <a:noFill/>
          <a:ln/>
        </p:spPr>
        <p:txBody>
          <a:bodyPr wrap="square" rtlCol="0" anchor="ctr"/>
          <a:lstStyle/>
          <a:p>
            <a:pPr marL="0" indent="0">
              <a:buNone/>
            </a:pPr>
            <a:r>
              <a:rPr lang="fr-FR" sz="1200" i="1" noProof="0" dirty="0">
                <a:solidFill>
                  <a:srgbClr val="6B7C6B"/>
                </a:solidFill>
                <a:latin typeface="Calibri" pitchFamily="34" charset="0"/>
                <a:ea typeface="Calibri" pitchFamily="34" charset="-122"/>
                <a:cs typeface="Calibri" pitchFamily="34" charset="-120"/>
              </a:rPr>
              <a:t>Exemples : Allemagne, Japon, Royaume-Uni, Émirats arabes unis, Australie, Canada, Suède, Danemark…</a:t>
            </a:r>
            <a:endParaRPr lang="fr-FR" sz="1200" noProof="0" dirty="0"/>
          </a:p>
        </p:txBody>
      </p:sp>
      <p:sp>
        <p:nvSpPr>
          <p:cNvPr id="18" name="Shape 16"/>
          <p:cNvSpPr/>
          <p:nvPr/>
        </p:nvSpPr>
        <p:spPr>
          <a:xfrm>
            <a:off x="365760" y="2971800"/>
            <a:ext cx="8412480" cy="1737360"/>
          </a:xfrm>
          <a:prstGeom prst="roundRect">
            <a:avLst>
              <a:gd name="adj" fmla="val 5263"/>
            </a:avLst>
          </a:prstGeom>
          <a:solidFill>
            <a:srgbClr val="F5F0FF"/>
          </a:solidFill>
          <a:ln/>
        </p:spPr>
        <p:txBody>
          <a:bodyPr/>
          <a:lstStyle/>
          <a:p>
            <a:endParaRPr lang="fr-FR" noProof="0" dirty="0"/>
          </a:p>
        </p:txBody>
      </p:sp>
      <p:pic>
        <p:nvPicPr>
          <p:cNvPr id="19" name="Image 0" descr="preencoded.png"/>
          <p:cNvPicPr>
            <a:picLocks noChangeAspect="1"/>
          </p:cNvPicPr>
          <p:nvPr/>
        </p:nvPicPr>
        <p:blipFill>
          <a:blip r:embed="rId3"/>
          <a:stretch>
            <a:fillRect/>
          </a:stretch>
        </p:blipFill>
        <p:spPr>
          <a:xfrm>
            <a:off x="548640" y="3163030"/>
            <a:ext cx="292608" cy="292608"/>
          </a:xfrm>
          <a:prstGeom prst="rect">
            <a:avLst/>
          </a:prstGeom>
        </p:spPr>
      </p:pic>
      <p:sp>
        <p:nvSpPr>
          <p:cNvPr id="20" name="Text 17"/>
          <p:cNvSpPr/>
          <p:nvPr/>
        </p:nvSpPr>
        <p:spPr>
          <a:xfrm>
            <a:off x="914400" y="3135598"/>
            <a:ext cx="7680960" cy="365760"/>
          </a:xfrm>
          <a:prstGeom prst="rect">
            <a:avLst/>
          </a:prstGeom>
          <a:noFill/>
          <a:ln/>
        </p:spPr>
        <p:txBody>
          <a:bodyPr wrap="square" rtlCol="0" anchor="ctr"/>
          <a:lstStyle/>
          <a:p>
            <a:pPr marL="0" indent="0">
              <a:buNone/>
            </a:pPr>
            <a:r>
              <a:rPr lang="fr-FR" sz="1300" b="1" noProof="0" dirty="0">
                <a:solidFill>
                  <a:srgbClr val="3D1F6B"/>
                </a:solidFill>
                <a:latin typeface="Cambria" pitchFamily="34" charset="0"/>
                <a:ea typeface="Cambria" pitchFamily="34" charset="-122"/>
                <a:cs typeface="Cambria" pitchFamily="34" charset="-120"/>
              </a:rPr>
              <a:t>Pourquoi ce cluster est notre cible :</a:t>
            </a:r>
            <a:endParaRPr lang="fr-FR" sz="1300" noProof="0" dirty="0"/>
          </a:p>
        </p:txBody>
      </p:sp>
      <p:sp>
        <p:nvSpPr>
          <p:cNvPr id="21" name="Text 18"/>
          <p:cNvSpPr/>
          <p:nvPr/>
        </p:nvSpPr>
        <p:spPr>
          <a:xfrm>
            <a:off x="594360" y="3456432"/>
            <a:ext cx="7955280" cy="1188720"/>
          </a:xfrm>
          <a:prstGeom prst="rect">
            <a:avLst/>
          </a:prstGeom>
          <a:noFill/>
          <a:ln/>
        </p:spPr>
        <p:txBody>
          <a:bodyPr wrap="square" rtlCol="0" anchor="ctr"/>
          <a:lstStyle/>
          <a:p>
            <a:pPr marL="0" indent="0">
              <a:buNone/>
            </a:pPr>
            <a:r>
              <a:rPr lang="fr-FR" sz="1100" b="1" noProof="0" dirty="0">
                <a:solidFill>
                  <a:srgbClr val="1A2A1A"/>
                </a:solidFill>
                <a:latin typeface="Calibri" pitchFamily="34" charset="0"/>
                <a:ea typeface="Calibri" pitchFamily="34" charset="-122"/>
                <a:cs typeface="Calibri" pitchFamily="34" charset="-120"/>
              </a:rPr>
              <a:t>Pouvoir d'achat élevé  </a:t>
            </a:r>
            <a:r>
              <a:rPr lang="fr-FR" sz="1100" noProof="0" dirty="0">
                <a:solidFill>
                  <a:srgbClr val="1A2A1A"/>
                </a:solidFill>
                <a:latin typeface="Calibri" pitchFamily="34" charset="0"/>
                <a:ea typeface="Calibri" pitchFamily="34" charset="-122"/>
                <a:cs typeface="Calibri" pitchFamily="34" charset="-120"/>
              </a:rPr>
              <a:t>→ capacité à payer une prime pour du biologique
</a:t>
            </a:r>
            <a:r>
              <a:rPr lang="fr-FR" sz="1100" b="1" noProof="0" dirty="0">
                <a:solidFill>
                  <a:srgbClr val="1A2A1A"/>
                </a:solidFill>
                <a:latin typeface="Calibri" pitchFamily="34" charset="0"/>
                <a:ea typeface="Calibri" pitchFamily="34" charset="-122"/>
                <a:cs typeface="Calibri" pitchFamily="34" charset="-120"/>
              </a:rPr>
              <a:t>Forte dépendance aux imports  </a:t>
            </a:r>
            <a:r>
              <a:rPr lang="fr-FR" sz="1100" noProof="0" dirty="0">
                <a:solidFill>
                  <a:srgbClr val="1A2A1A"/>
                </a:solidFill>
                <a:latin typeface="Calibri" pitchFamily="34" charset="0"/>
                <a:ea typeface="Calibri" pitchFamily="34" charset="-122"/>
                <a:cs typeface="Calibri" pitchFamily="34" charset="-120"/>
              </a:rPr>
              <a:t>→ marché ouvert, habitude d'acheter à l'étranger (16.8 kg/</a:t>
            </a:r>
            <a:r>
              <a:rPr lang="fr-FR" sz="1100" noProof="0" dirty="0" err="1">
                <a:solidFill>
                  <a:srgbClr val="1A2A1A"/>
                </a:solidFill>
                <a:latin typeface="Calibri" pitchFamily="34" charset="0"/>
                <a:ea typeface="Calibri" pitchFamily="34" charset="-122"/>
                <a:cs typeface="Calibri" pitchFamily="34" charset="-120"/>
              </a:rPr>
              <a:t>hab</a:t>
            </a:r>
            <a:r>
              <a:rPr lang="fr-FR" sz="1100" noProof="0" dirty="0">
                <a:solidFill>
                  <a:srgbClr val="1A2A1A"/>
                </a:solidFill>
                <a:latin typeface="Calibri" pitchFamily="34" charset="0"/>
                <a:ea typeface="Calibri" pitchFamily="34" charset="-122"/>
                <a:cs typeface="Calibri" pitchFamily="34" charset="-120"/>
              </a:rPr>
              <a:t>)
</a:t>
            </a:r>
            <a:r>
              <a:rPr lang="fr-FR" sz="1100" b="1" noProof="0" dirty="0">
                <a:solidFill>
                  <a:srgbClr val="1A2A1A"/>
                </a:solidFill>
                <a:latin typeface="Calibri" pitchFamily="34" charset="0"/>
                <a:ea typeface="Calibri" pitchFamily="34" charset="-122"/>
                <a:cs typeface="Calibri" pitchFamily="34" charset="-120"/>
              </a:rPr>
              <a:t>Environnement business favorable  </a:t>
            </a:r>
            <a:r>
              <a:rPr lang="fr-FR" sz="1100" noProof="0" dirty="0">
                <a:solidFill>
                  <a:srgbClr val="1A2A1A"/>
                </a:solidFill>
                <a:latin typeface="Calibri" pitchFamily="34" charset="0"/>
                <a:ea typeface="Calibri" pitchFamily="34" charset="-122"/>
                <a:cs typeface="Calibri" pitchFamily="34" charset="-120"/>
              </a:rPr>
              <a:t>→ facilité contractuelle, cadre réglementaire prévisible</a:t>
            </a:r>
            <a:endParaRPr lang="fr-FR" sz="1100" noProof="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3A2A"/>
        </a:solidFill>
        <a:effectLst/>
      </p:bgPr>
    </p:bg>
    <p:spTree>
      <p:nvGrpSpPr>
        <p:cNvPr id="1" name=""/>
        <p:cNvGrpSpPr/>
        <p:nvPr/>
      </p:nvGrpSpPr>
      <p:grpSpPr>
        <a:xfrm>
          <a:off x="0" y="0"/>
          <a:ext cx="0" cy="0"/>
          <a:chOff x="0" y="0"/>
          <a:chExt cx="0" cy="0"/>
        </a:xfrm>
      </p:grpSpPr>
      <p:sp>
        <p:nvSpPr>
          <p:cNvPr id="2" name="Shape 0"/>
          <p:cNvSpPr/>
          <p:nvPr/>
        </p:nvSpPr>
        <p:spPr>
          <a:xfrm>
            <a:off x="0" y="0"/>
            <a:ext cx="457200" cy="5143500"/>
          </a:xfrm>
          <a:prstGeom prst="rect">
            <a:avLst/>
          </a:prstGeom>
          <a:solidFill>
            <a:srgbClr val="2C5F2D"/>
          </a:solidFill>
          <a:ln/>
        </p:spPr>
        <p:txBody>
          <a:bodyPr/>
          <a:lstStyle/>
          <a:p>
            <a:endParaRPr lang="fr-FR" noProof="0" dirty="0"/>
          </a:p>
        </p:txBody>
      </p:sp>
      <p:sp>
        <p:nvSpPr>
          <p:cNvPr id="3" name="Text 1"/>
          <p:cNvSpPr/>
          <p:nvPr/>
        </p:nvSpPr>
        <p:spPr>
          <a:xfrm>
            <a:off x="822960" y="1463040"/>
            <a:ext cx="1828800" cy="1280160"/>
          </a:xfrm>
          <a:prstGeom prst="rect">
            <a:avLst/>
          </a:prstGeom>
          <a:noFill/>
          <a:ln/>
        </p:spPr>
        <p:txBody>
          <a:bodyPr wrap="square" rtlCol="0" anchor="ctr"/>
          <a:lstStyle/>
          <a:p>
            <a:pPr marL="0" indent="0" algn="l">
              <a:buNone/>
            </a:pPr>
            <a:r>
              <a:rPr lang="fr-FR" sz="8000" b="1" noProof="0" dirty="0">
                <a:solidFill>
                  <a:srgbClr val="2C5F2D"/>
                </a:solidFill>
                <a:latin typeface="Cambria" pitchFamily="34" charset="0"/>
                <a:ea typeface="Cambria" pitchFamily="34" charset="-122"/>
                <a:cs typeface="Cambria" pitchFamily="34" charset="-120"/>
              </a:rPr>
              <a:t>04</a:t>
            </a:r>
            <a:endParaRPr lang="fr-FR" sz="8000" noProof="0" dirty="0"/>
          </a:p>
        </p:txBody>
      </p:sp>
      <p:sp>
        <p:nvSpPr>
          <p:cNvPr id="4" name="Text 2"/>
          <p:cNvSpPr/>
          <p:nvPr/>
        </p:nvSpPr>
        <p:spPr>
          <a:xfrm>
            <a:off x="2926080" y="1737360"/>
            <a:ext cx="5852160" cy="822960"/>
          </a:xfrm>
          <a:prstGeom prst="rect">
            <a:avLst/>
          </a:prstGeom>
          <a:noFill/>
          <a:ln/>
        </p:spPr>
        <p:txBody>
          <a:bodyPr wrap="square" rtlCol="0" anchor="ctr"/>
          <a:lstStyle/>
          <a:p>
            <a:pPr marL="0" indent="0" algn="l">
              <a:buNone/>
            </a:pPr>
            <a:r>
              <a:rPr lang="fr-FR" sz="3200" b="1" noProof="0" dirty="0">
                <a:solidFill>
                  <a:srgbClr val="FFFFFF"/>
                </a:solidFill>
                <a:latin typeface="Cambria" pitchFamily="34" charset="0"/>
                <a:ea typeface="Cambria" pitchFamily="34" charset="-122"/>
                <a:cs typeface="Cambria" pitchFamily="34" charset="-120"/>
              </a:rPr>
              <a:t>Préconisations</a:t>
            </a:r>
            <a:endParaRPr lang="fr-FR" sz="3200" noProof="0" dirty="0"/>
          </a:p>
        </p:txBody>
      </p:sp>
      <p:sp>
        <p:nvSpPr>
          <p:cNvPr id="5" name="Text 3"/>
          <p:cNvSpPr/>
          <p:nvPr/>
        </p:nvSpPr>
        <p:spPr>
          <a:xfrm>
            <a:off x="2926080" y="2606040"/>
            <a:ext cx="5852160" cy="457200"/>
          </a:xfrm>
          <a:prstGeom prst="rect">
            <a:avLst/>
          </a:prstGeom>
          <a:noFill/>
          <a:ln/>
        </p:spPr>
        <p:txBody>
          <a:bodyPr wrap="square" rtlCol="0" anchor="ctr"/>
          <a:lstStyle/>
          <a:p>
            <a:pPr marL="0" indent="0" algn="l">
              <a:buNone/>
            </a:pPr>
            <a:r>
              <a:rPr lang="fr-FR" sz="1400" noProof="0" dirty="0" err="1">
                <a:solidFill>
                  <a:srgbClr val="7AAD6E"/>
                </a:solidFill>
                <a:latin typeface="Calibri" pitchFamily="34" charset="0"/>
                <a:ea typeface="Calibri" pitchFamily="34" charset="-122"/>
                <a:cs typeface="Calibri" pitchFamily="34" charset="-120"/>
              </a:rPr>
              <a:t>Scoring</a:t>
            </a:r>
            <a:r>
              <a:rPr lang="fr-FR" sz="1400" noProof="0" dirty="0">
                <a:solidFill>
                  <a:srgbClr val="7AAD6E"/>
                </a:solidFill>
                <a:latin typeface="Calibri" pitchFamily="34" charset="0"/>
                <a:ea typeface="Calibri" pitchFamily="34" charset="-122"/>
                <a:cs typeface="Calibri" pitchFamily="34" charset="-120"/>
              </a:rPr>
              <a:t> des marchés et recommandations</a:t>
            </a:r>
            <a:endParaRPr lang="fr-FR" sz="1400" noProof="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3D1F6B"/>
          </a:solidFill>
          <a:ln/>
        </p:spPr>
        <p:txBody>
          <a:bodyPr/>
          <a:lstStyle/>
          <a:p>
            <a:endParaRPr lang="fr-FR" noProof="0" dirty="0"/>
          </a:p>
        </p:txBody>
      </p:sp>
      <p:sp>
        <p:nvSpPr>
          <p:cNvPr id="3" name="Text 1"/>
          <p:cNvSpPr/>
          <p:nvPr/>
        </p:nvSpPr>
        <p:spPr>
          <a:xfrm>
            <a:off x="365760" y="137160"/>
            <a:ext cx="8229600" cy="731520"/>
          </a:xfrm>
          <a:prstGeom prst="rect">
            <a:avLst/>
          </a:prstGeom>
          <a:noFill/>
          <a:ln/>
        </p:spPr>
        <p:txBody>
          <a:bodyPr wrap="square" rtlCol="0" anchor="ctr"/>
          <a:lstStyle/>
          <a:p>
            <a:pPr marL="0" indent="0">
              <a:buNone/>
            </a:pPr>
            <a:r>
              <a:rPr lang="fr-FR" sz="2800" b="1" noProof="0" dirty="0">
                <a:solidFill>
                  <a:srgbClr val="FFFFFF"/>
                </a:solidFill>
                <a:latin typeface="Cambria" pitchFamily="34" charset="0"/>
                <a:ea typeface="Cambria" pitchFamily="34" charset="-122"/>
                <a:cs typeface="Cambria" pitchFamily="34" charset="-120"/>
              </a:rPr>
              <a:t>Méthode de </a:t>
            </a:r>
            <a:r>
              <a:rPr lang="fr-FR" sz="2800" b="1" noProof="0" dirty="0" err="1">
                <a:solidFill>
                  <a:srgbClr val="FFFFFF"/>
                </a:solidFill>
                <a:latin typeface="Cambria" pitchFamily="34" charset="0"/>
                <a:ea typeface="Cambria" pitchFamily="34" charset="-122"/>
                <a:cs typeface="Cambria" pitchFamily="34" charset="-120"/>
              </a:rPr>
              <a:t>scoring</a:t>
            </a:r>
            <a:r>
              <a:rPr lang="fr-FR" sz="2800" b="1" noProof="0" dirty="0">
                <a:solidFill>
                  <a:srgbClr val="FFFFFF"/>
                </a:solidFill>
                <a:latin typeface="Cambria" pitchFamily="34" charset="0"/>
                <a:ea typeface="Cambria" pitchFamily="34" charset="-122"/>
                <a:cs typeface="Cambria" pitchFamily="34" charset="-120"/>
              </a:rPr>
              <a:t> — Cluster 2</a:t>
            </a:r>
            <a:endParaRPr lang="fr-FR" sz="2800" noProof="0" dirty="0"/>
          </a:p>
        </p:txBody>
      </p:sp>
      <p:sp>
        <p:nvSpPr>
          <p:cNvPr id="4" name="Text 2"/>
          <p:cNvSpPr/>
          <p:nvPr/>
        </p:nvSpPr>
        <p:spPr>
          <a:xfrm>
            <a:off x="365760" y="1097280"/>
            <a:ext cx="8412480" cy="457200"/>
          </a:xfrm>
          <a:prstGeom prst="rect">
            <a:avLst/>
          </a:prstGeom>
          <a:noFill/>
          <a:ln/>
        </p:spPr>
        <p:txBody>
          <a:bodyPr wrap="square" rtlCol="0" anchor="ctr"/>
          <a:lstStyle/>
          <a:p>
            <a:pPr marL="0" indent="0">
              <a:buNone/>
            </a:pPr>
            <a:r>
              <a:rPr lang="fr-FR" sz="1300" noProof="0" dirty="0">
                <a:solidFill>
                  <a:srgbClr val="1A2A1A"/>
                </a:solidFill>
                <a:latin typeface="Calibri" pitchFamily="34" charset="0"/>
                <a:ea typeface="Calibri" pitchFamily="34" charset="-122"/>
                <a:cs typeface="Calibri" pitchFamily="34" charset="-120"/>
              </a:rPr>
              <a:t>Chaque pays du Cluster 2 reçoit un score composite basé sur 4 critères, normalisés entre 0 et 1 (</a:t>
            </a:r>
            <a:r>
              <a:rPr lang="fr-FR" sz="1300" noProof="0" dirty="0" err="1">
                <a:solidFill>
                  <a:srgbClr val="1A2A1A"/>
                </a:solidFill>
                <a:latin typeface="Calibri" pitchFamily="34" charset="0"/>
                <a:ea typeface="Calibri" pitchFamily="34" charset="-122"/>
                <a:cs typeface="Calibri" pitchFamily="34" charset="-120"/>
              </a:rPr>
              <a:t>MinMaxScaler</a:t>
            </a:r>
            <a:r>
              <a:rPr lang="fr-FR" sz="1300" noProof="0" dirty="0">
                <a:solidFill>
                  <a:srgbClr val="1A2A1A"/>
                </a:solidFill>
                <a:latin typeface="Calibri" pitchFamily="34" charset="0"/>
                <a:ea typeface="Calibri" pitchFamily="34" charset="-122"/>
                <a:cs typeface="Calibri" pitchFamily="34" charset="-120"/>
              </a:rPr>
              <a:t>).</a:t>
            </a:r>
            <a:endParaRPr lang="fr-FR" sz="1300" noProof="0" dirty="0"/>
          </a:p>
        </p:txBody>
      </p:sp>
      <p:sp>
        <p:nvSpPr>
          <p:cNvPr id="5" name="Shape 3"/>
          <p:cNvSpPr/>
          <p:nvPr/>
        </p:nvSpPr>
        <p:spPr>
          <a:xfrm>
            <a:off x="274320" y="1625860"/>
            <a:ext cx="1920240" cy="3108960"/>
          </a:xfrm>
          <a:prstGeom prst="roundRect">
            <a:avLst>
              <a:gd name="adj" fmla="val 5714"/>
            </a:avLst>
          </a:prstGeom>
          <a:solidFill>
            <a:srgbClr val="EFF5EE"/>
          </a:solidFill>
          <a:ln/>
          <a:effectLst>
            <a:outerShdw blurRad="76200" dist="25400" dir="2700000" algn="bl" rotWithShape="0">
              <a:srgbClr val="000000">
                <a:alpha val="10000"/>
              </a:srgbClr>
            </a:outerShdw>
          </a:effectLst>
        </p:spPr>
        <p:txBody>
          <a:bodyPr/>
          <a:lstStyle/>
          <a:p>
            <a:endParaRPr lang="fr-FR" noProof="0" dirty="0"/>
          </a:p>
        </p:txBody>
      </p:sp>
      <p:sp>
        <p:nvSpPr>
          <p:cNvPr id="6" name="Shape 4"/>
          <p:cNvSpPr/>
          <p:nvPr/>
        </p:nvSpPr>
        <p:spPr>
          <a:xfrm>
            <a:off x="777240" y="1783080"/>
            <a:ext cx="914400" cy="594360"/>
          </a:xfrm>
          <a:prstGeom prst="roundRect">
            <a:avLst>
              <a:gd name="adj" fmla="val 12308"/>
            </a:avLst>
          </a:prstGeom>
          <a:solidFill>
            <a:srgbClr val="2C5F2D"/>
          </a:solidFill>
          <a:ln/>
        </p:spPr>
        <p:txBody>
          <a:bodyPr/>
          <a:lstStyle/>
          <a:p>
            <a:endParaRPr lang="fr-FR" noProof="0" dirty="0"/>
          </a:p>
        </p:txBody>
      </p:sp>
      <p:sp>
        <p:nvSpPr>
          <p:cNvPr id="7" name="Text 5"/>
          <p:cNvSpPr/>
          <p:nvPr/>
        </p:nvSpPr>
        <p:spPr>
          <a:xfrm>
            <a:off x="777240" y="1783080"/>
            <a:ext cx="914400" cy="594360"/>
          </a:xfrm>
          <a:prstGeom prst="rect">
            <a:avLst/>
          </a:prstGeom>
          <a:noFill/>
          <a:ln/>
        </p:spPr>
        <p:txBody>
          <a:bodyPr wrap="square" rtlCol="0" anchor="ctr"/>
          <a:lstStyle/>
          <a:p>
            <a:pPr marL="0" indent="0" algn="ctr">
              <a:buNone/>
            </a:pPr>
            <a:r>
              <a:rPr lang="fr-FR" sz="2000" b="1" noProof="0" dirty="0">
                <a:solidFill>
                  <a:srgbClr val="FFFFFF"/>
                </a:solidFill>
                <a:latin typeface="Cambria" pitchFamily="34" charset="0"/>
                <a:ea typeface="Cambria" pitchFamily="34" charset="-122"/>
                <a:cs typeface="Cambria" pitchFamily="34" charset="-120"/>
              </a:rPr>
              <a:t>30%</a:t>
            </a:r>
            <a:endParaRPr lang="fr-FR" sz="2000" noProof="0" dirty="0"/>
          </a:p>
        </p:txBody>
      </p:sp>
      <p:sp>
        <p:nvSpPr>
          <p:cNvPr id="8" name="Text 6"/>
          <p:cNvSpPr/>
          <p:nvPr/>
        </p:nvSpPr>
        <p:spPr>
          <a:xfrm>
            <a:off x="365760" y="2450592"/>
            <a:ext cx="1737360" cy="502920"/>
          </a:xfrm>
          <a:prstGeom prst="rect">
            <a:avLst/>
          </a:prstGeom>
          <a:noFill/>
          <a:ln/>
        </p:spPr>
        <p:txBody>
          <a:bodyPr wrap="square" rtlCol="0" anchor="ctr"/>
          <a:lstStyle/>
          <a:p>
            <a:pPr marL="0" indent="0" algn="ctr">
              <a:buNone/>
            </a:pPr>
            <a:r>
              <a:rPr lang="fr-FR" sz="1200" b="1" noProof="0" dirty="0" err="1">
                <a:solidFill>
                  <a:srgbClr val="1A3A2A"/>
                </a:solidFill>
                <a:latin typeface="Cambria" pitchFamily="34" charset="0"/>
                <a:ea typeface="Cambria" pitchFamily="34" charset="-122"/>
                <a:cs typeface="Cambria" pitchFamily="34" charset="-120"/>
              </a:rPr>
              <a:t>Affordability</a:t>
            </a:r>
            <a:endParaRPr lang="fr-FR" sz="1200" noProof="0" dirty="0"/>
          </a:p>
        </p:txBody>
      </p:sp>
      <p:sp>
        <p:nvSpPr>
          <p:cNvPr id="9" name="Text 7"/>
          <p:cNvSpPr/>
          <p:nvPr/>
        </p:nvSpPr>
        <p:spPr>
          <a:xfrm>
            <a:off x="365760" y="2999232"/>
            <a:ext cx="1737360" cy="1691640"/>
          </a:xfrm>
          <a:prstGeom prst="rect">
            <a:avLst/>
          </a:prstGeom>
          <a:noFill/>
          <a:ln/>
        </p:spPr>
        <p:txBody>
          <a:bodyPr wrap="square" rtlCol="0" anchor="ctr"/>
          <a:lstStyle/>
          <a:p>
            <a:pPr marL="0" indent="0" algn="ctr">
              <a:buNone/>
            </a:pPr>
            <a:r>
              <a:rPr lang="fr-FR" sz="1000" noProof="0" dirty="0">
                <a:solidFill>
                  <a:srgbClr val="1A2A1A"/>
                </a:solidFill>
                <a:latin typeface="Calibri" pitchFamily="34" charset="0"/>
                <a:ea typeface="Calibri" pitchFamily="34" charset="-122"/>
                <a:cs typeface="Calibri" pitchFamily="34" charset="-120"/>
              </a:rPr>
              <a:t>Capacité des consommateurs à acheter des produits alimentaires</a:t>
            </a:r>
            <a:endParaRPr lang="fr-FR" sz="1000" noProof="0" dirty="0"/>
          </a:p>
        </p:txBody>
      </p:sp>
      <p:sp>
        <p:nvSpPr>
          <p:cNvPr id="10" name="Shape 8"/>
          <p:cNvSpPr/>
          <p:nvPr/>
        </p:nvSpPr>
        <p:spPr>
          <a:xfrm>
            <a:off x="2423160" y="1625860"/>
            <a:ext cx="1920240" cy="3108960"/>
          </a:xfrm>
          <a:prstGeom prst="roundRect">
            <a:avLst>
              <a:gd name="adj" fmla="val 5714"/>
            </a:avLst>
          </a:prstGeom>
          <a:solidFill>
            <a:srgbClr val="EFF5EE"/>
          </a:solidFill>
          <a:ln/>
          <a:effectLst>
            <a:outerShdw blurRad="76200" dist="25400" dir="2700000" algn="bl" rotWithShape="0">
              <a:srgbClr val="000000">
                <a:alpha val="10000"/>
              </a:srgbClr>
            </a:outerShdw>
          </a:effectLst>
        </p:spPr>
        <p:txBody>
          <a:bodyPr/>
          <a:lstStyle/>
          <a:p>
            <a:endParaRPr lang="fr-FR" noProof="0" dirty="0"/>
          </a:p>
        </p:txBody>
      </p:sp>
      <p:sp>
        <p:nvSpPr>
          <p:cNvPr id="11" name="Shape 9"/>
          <p:cNvSpPr/>
          <p:nvPr/>
        </p:nvSpPr>
        <p:spPr>
          <a:xfrm>
            <a:off x="2926080" y="1783080"/>
            <a:ext cx="914400" cy="594360"/>
          </a:xfrm>
          <a:prstGeom prst="roundRect">
            <a:avLst>
              <a:gd name="adj" fmla="val 12308"/>
            </a:avLst>
          </a:prstGeom>
          <a:solidFill>
            <a:srgbClr val="4A7C59"/>
          </a:solidFill>
          <a:ln/>
        </p:spPr>
        <p:txBody>
          <a:bodyPr/>
          <a:lstStyle/>
          <a:p>
            <a:endParaRPr lang="fr-FR" noProof="0" dirty="0"/>
          </a:p>
        </p:txBody>
      </p:sp>
      <p:sp>
        <p:nvSpPr>
          <p:cNvPr id="12" name="Text 10"/>
          <p:cNvSpPr/>
          <p:nvPr/>
        </p:nvSpPr>
        <p:spPr>
          <a:xfrm>
            <a:off x="2926080" y="1783080"/>
            <a:ext cx="914400" cy="594360"/>
          </a:xfrm>
          <a:prstGeom prst="rect">
            <a:avLst/>
          </a:prstGeom>
          <a:noFill/>
          <a:ln/>
        </p:spPr>
        <p:txBody>
          <a:bodyPr wrap="square" rtlCol="0" anchor="ctr"/>
          <a:lstStyle/>
          <a:p>
            <a:pPr marL="0" indent="0" algn="ctr">
              <a:buNone/>
            </a:pPr>
            <a:r>
              <a:rPr lang="fr-FR" sz="2000" b="1" noProof="0" dirty="0">
                <a:solidFill>
                  <a:srgbClr val="FFFFFF"/>
                </a:solidFill>
                <a:latin typeface="Cambria" pitchFamily="34" charset="0"/>
                <a:ea typeface="Cambria" pitchFamily="34" charset="-122"/>
                <a:cs typeface="Cambria" pitchFamily="34" charset="-120"/>
              </a:rPr>
              <a:t>25%</a:t>
            </a:r>
            <a:endParaRPr lang="fr-FR" sz="2000" noProof="0" dirty="0"/>
          </a:p>
        </p:txBody>
      </p:sp>
      <p:sp>
        <p:nvSpPr>
          <p:cNvPr id="13" name="Text 11"/>
          <p:cNvSpPr/>
          <p:nvPr/>
        </p:nvSpPr>
        <p:spPr>
          <a:xfrm>
            <a:off x="2514600" y="2450592"/>
            <a:ext cx="1737360" cy="502920"/>
          </a:xfrm>
          <a:prstGeom prst="rect">
            <a:avLst/>
          </a:prstGeom>
          <a:noFill/>
          <a:ln/>
        </p:spPr>
        <p:txBody>
          <a:bodyPr wrap="square" rtlCol="0" anchor="ctr"/>
          <a:lstStyle/>
          <a:p>
            <a:pPr marL="0" indent="0" algn="ctr">
              <a:buNone/>
            </a:pPr>
            <a:r>
              <a:rPr lang="fr-FR" sz="1200" b="1" noProof="0" dirty="0">
                <a:solidFill>
                  <a:srgbClr val="1A3A2A"/>
                </a:solidFill>
                <a:latin typeface="Cambria" pitchFamily="34" charset="0"/>
                <a:ea typeface="Cambria" pitchFamily="34" charset="-122"/>
                <a:cs typeface="Cambria" pitchFamily="34" charset="-120"/>
              </a:rPr>
              <a:t>Import / habitant</a:t>
            </a:r>
            <a:endParaRPr lang="fr-FR" sz="1200" noProof="0" dirty="0"/>
          </a:p>
        </p:txBody>
      </p:sp>
      <p:sp>
        <p:nvSpPr>
          <p:cNvPr id="14" name="Text 12"/>
          <p:cNvSpPr/>
          <p:nvPr/>
        </p:nvSpPr>
        <p:spPr>
          <a:xfrm>
            <a:off x="2514600" y="2999232"/>
            <a:ext cx="1737360" cy="1691640"/>
          </a:xfrm>
          <a:prstGeom prst="rect">
            <a:avLst/>
          </a:prstGeom>
          <a:noFill/>
          <a:ln/>
        </p:spPr>
        <p:txBody>
          <a:bodyPr wrap="square" rtlCol="0" anchor="ctr"/>
          <a:lstStyle/>
          <a:p>
            <a:pPr marL="0" indent="0" algn="ctr">
              <a:buNone/>
            </a:pPr>
            <a:r>
              <a:rPr lang="fr-FR" sz="1000" noProof="0" dirty="0">
                <a:solidFill>
                  <a:srgbClr val="1A2A1A"/>
                </a:solidFill>
                <a:latin typeface="Calibri" pitchFamily="34" charset="0"/>
                <a:ea typeface="Calibri" pitchFamily="34" charset="-122"/>
                <a:cs typeface="Calibri" pitchFamily="34" charset="-120"/>
              </a:rPr>
              <a:t>Habitude d'importer de la volaille — mesure directe de la demande</a:t>
            </a:r>
            <a:endParaRPr lang="fr-FR" sz="1000" noProof="0" dirty="0"/>
          </a:p>
        </p:txBody>
      </p:sp>
      <p:sp>
        <p:nvSpPr>
          <p:cNvPr id="15" name="Shape 13"/>
          <p:cNvSpPr/>
          <p:nvPr/>
        </p:nvSpPr>
        <p:spPr>
          <a:xfrm>
            <a:off x="4572000" y="1625860"/>
            <a:ext cx="1920240" cy="3108960"/>
          </a:xfrm>
          <a:prstGeom prst="roundRect">
            <a:avLst>
              <a:gd name="adj" fmla="val 5714"/>
            </a:avLst>
          </a:prstGeom>
          <a:solidFill>
            <a:srgbClr val="EFF5EE"/>
          </a:solidFill>
          <a:ln/>
          <a:effectLst>
            <a:outerShdw blurRad="76200" dist="25400" dir="2700000" algn="bl" rotWithShape="0">
              <a:srgbClr val="000000">
                <a:alpha val="10000"/>
              </a:srgbClr>
            </a:outerShdw>
          </a:effectLst>
        </p:spPr>
        <p:txBody>
          <a:bodyPr/>
          <a:lstStyle/>
          <a:p>
            <a:endParaRPr lang="fr-FR" noProof="0" dirty="0"/>
          </a:p>
        </p:txBody>
      </p:sp>
      <p:sp>
        <p:nvSpPr>
          <p:cNvPr id="16" name="Shape 14"/>
          <p:cNvSpPr/>
          <p:nvPr/>
        </p:nvSpPr>
        <p:spPr>
          <a:xfrm>
            <a:off x="5074920" y="1783080"/>
            <a:ext cx="914400" cy="594360"/>
          </a:xfrm>
          <a:prstGeom prst="roundRect">
            <a:avLst>
              <a:gd name="adj" fmla="val 12308"/>
            </a:avLst>
          </a:prstGeom>
          <a:solidFill>
            <a:srgbClr val="5B8A5A"/>
          </a:solidFill>
          <a:ln/>
        </p:spPr>
        <p:txBody>
          <a:bodyPr/>
          <a:lstStyle/>
          <a:p>
            <a:endParaRPr lang="fr-FR" noProof="0" dirty="0"/>
          </a:p>
        </p:txBody>
      </p:sp>
      <p:sp>
        <p:nvSpPr>
          <p:cNvPr id="17" name="Text 15"/>
          <p:cNvSpPr/>
          <p:nvPr/>
        </p:nvSpPr>
        <p:spPr>
          <a:xfrm>
            <a:off x="5074920" y="1783080"/>
            <a:ext cx="914400" cy="594360"/>
          </a:xfrm>
          <a:prstGeom prst="rect">
            <a:avLst/>
          </a:prstGeom>
          <a:noFill/>
          <a:ln/>
        </p:spPr>
        <p:txBody>
          <a:bodyPr wrap="square" rtlCol="0" anchor="ctr"/>
          <a:lstStyle/>
          <a:p>
            <a:pPr marL="0" indent="0" algn="ctr">
              <a:buNone/>
            </a:pPr>
            <a:r>
              <a:rPr lang="fr-FR" sz="2000" b="1" noProof="0" dirty="0">
                <a:solidFill>
                  <a:srgbClr val="FFFFFF"/>
                </a:solidFill>
                <a:latin typeface="Cambria" pitchFamily="34" charset="0"/>
                <a:ea typeface="Cambria" pitchFamily="34" charset="-122"/>
                <a:cs typeface="Cambria" pitchFamily="34" charset="-120"/>
              </a:rPr>
              <a:t>25%</a:t>
            </a:r>
            <a:endParaRPr lang="fr-FR" sz="2000" noProof="0" dirty="0"/>
          </a:p>
        </p:txBody>
      </p:sp>
      <p:sp>
        <p:nvSpPr>
          <p:cNvPr id="18" name="Text 16"/>
          <p:cNvSpPr/>
          <p:nvPr/>
        </p:nvSpPr>
        <p:spPr>
          <a:xfrm>
            <a:off x="4663440" y="2450592"/>
            <a:ext cx="1737360" cy="502920"/>
          </a:xfrm>
          <a:prstGeom prst="rect">
            <a:avLst/>
          </a:prstGeom>
          <a:noFill/>
          <a:ln/>
        </p:spPr>
        <p:txBody>
          <a:bodyPr wrap="square" rtlCol="0" anchor="ctr"/>
          <a:lstStyle/>
          <a:p>
            <a:pPr marL="0" indent="0" algn="ctr">
              <a:buNone/>
            </a:pPr>
            <a:r>
              <a:rPr lang="fr-FR" sz="1200" b="1" noProof="0" dirty="0">
                <a:solidFill>
                  <a:srgbClr val="1A3A2A"/>
                </a:solidFill>
                <a:latin typeface="Cambria" pitchFamily="34" charset="0"/>
                <a:ea typeface="Cambria" pitchFamily="34" charset="-122"/>
                <a:cs typeface="Cambria" pitchFamily="34" charset="-120"/>
              </a:rPr>
              <a:t>Population</a:t>
            </a:r>
            <a:endParaRPr lang="fr-FR" sz="1200" noProof="0" dirty="0"/>
          </a:p>
        </p:txBody>
      </p:sp>
      <p:sp>
        <p:nvSpPr>
          <p:cNvPr id="19" name="Text 17"/>
          <p:cNvSpPr/>
          <p:nvPr/>
        </p:nvSpPr>
        <p:spPr>
          <a:xfrm>
            <a:off x="4663440" y="2999232"/>
            <a:ext cx="1737360" cy="1691640"/>
          </a:xfrm>
          <a:prstGeom prst="rect">
            <a:avLst/>
          </a:prstGeom>
          <a:noFill/>
          <a:ln/>
        </p:spPr>
        <p:txBody>
          <a:bodyPr wrap="square" rtlCol="0" anchor="ctr"/>
          <a:lstStyle/>
          <a:p>
            <a:pPr marL="0" indent="0" algn="ctr">
              <a:buNone/>
            </a:pPr>
            <a:r>
              <a:rPr lang="fr-FR" sz="1000" noProof="0" dirty="0">
                <a:solidFill>
                  <a:srgbClr val="1A2A1A"/>
                </a:solidFill>
                <a:latin typeface="Calibri" pitchFamily="34" charset="0"/>
                <a:ea typeface="Calibri" pitchFamily="34" charset="-122"/>
                <a:cs typeface="Calibri" pitchFamily="34" charset="-120"/>
              </a:rPr>
              <a:t>Taille du marché potentiel</a:t>
            </a:r>
            <a:endParaRPr lang="fr-FR" sz="1000" noProof="0" dirty="0"/>
          </a:p>
        </p:txBody>
      </p:sp>
      <p:sp>
        <p:nvSpPr>
          <p:cNvPr id="20" name="Shape 18"/>
          <p:cNvSpPr/>
          <p:nvPr/>
        </p:nvSpPr>
        <p:spPr>
          <a:xfrm>
            <a:off x="6720840" y="1625860"/>
            <a:ext cx="1920240" cy="3108960"/>
          </a:xfrm>
          <a:prstGeom prst="roundRect">
            <a:avLst>
              <a:gd name="adj" fmla="val 5714"/>
            </a:avLst>
          </a:prstGeom>
          <a:solidFill>
            <a:srgbClr val="EFF5EE"/>
          </a:solidFill>
          <a:ln/>
          <a:effectLst>
            <a:outerShdw blurRad="76200" dist="25400" dir="2700000" algn="bl" rotWithShape="0">
              <a:srgbClr val="000000">
                <a:alpha val="10000"/>
              </a:srgbClr>
            </a:outerShdw>
          </a:effectLst>
        </p:spPr>
        <p:txBody>
          <a:bodyPr/>
          <a:lstStyle/>
          <a:p>
            <a:endParaRPr lang="fr-FR" noProof="0" dirty="0"/>
          </a:p>
        </p:txBody>
      </p:sp>
      <p:sp>
        <p:nvSpPr>
          <p:cNvPr id="21" name="Shape 19"/>
          <p:cNvSpPr/>
          <p:nvPr/>
        </p:nvSpPr>
        <p:spPr>
          <a:xfrm>
            <a:off x="7223760" y="1783080"/>
            <a:ext cx="914400" cy="594360"/>
          </a:xfrm>
          <a:prstGeom prst="roundRect">
            <a:avLst>
              <a:gd name="adj" fmla="val 12308"/>
            </a:avLst>
          </a:prstGeom>
          <a:solidFill>
            <a:srgbClr val="7AAD6E"/>
          </a:solidFill>
          <a:ln/>
        </p:spPr>
        <p:txBody>
          <a:bodyPr/>
          <a:lstStyle/>
          <a:p>
            <a:endParaRPr lang="fr-FR" noProof="0" dirty="0"/>
          </a:p>
        </p:txBody>
      </p:sp>
      <p:sp>
        <p:nvSpPr>
          <p:cNvPr id="22" name="Text 20"/>
          <p:cNvSpPr/>
          <p:nvPr/>
        </p:nvSpPr>
        <p:spPr>
          <a:xfrm>
            <a:off x="7223760" y="1783080"/>
            <a:ext cx="914400" cy="594360"/>
          </a:xfrm>
          <a:prstGeom prst="rect">
            <a:avLst/>
          </a:prstGeom>
          <a:noFill/>
          <a:ln/>
        </p:spPr>
        <p:txBody>
          <a:bodyPr wrap="square" rtlCol="0" anchor="ctr"/>
          <a:lstStyle/>
          <a:p>
            <a:pPr marL="0" indent="0" algn="ctr">
              <a:buNone/>
            </a:pPr>
            <a:r>
              <a:rPr lang="fr-FR" sz="2000" b="1" noProof="0" dirty="0">
                <a:solidFill>
                  <a:srgbClr val="FFFFFF"/>
                </a:solidFill>
                <a:latin typeface="Cambria" pitchFamily="34" charset="0"/>
                <a:ea typeface="Cambria" pitchFamily="34" charset="-122"/>
                <a:cs typeface="Cambria" pitchFamily="34" charset="-120"/>
              </a:rPr>
              <a:t>20%</a:t>
            </a:r>
            <a:endParaRPr lang="fr-FR" sz="2000" noProof="0" dirty="0"/>
          </a:p>
        </p:txBody>
      </p:sp>
      <p:sp>
        <p:nvSpPr>
          <p:cNvPr id="23" name="Text 21"/>
          <p:cNvSpPr/>
          <p:nvPr/>
        </p:nvSpPr>
        <p:spPr>
          <a:xfrm>
            <a:off x="6812280" y="2450592"/>
            <a:ext cx="1737360" cy="502920"/>
          </a:xfrm>
          <a:prstGeom prst="rect">
            <a:avLst/>
          </a:prstGeom>
          <a:noFill/>
          <a:ln/>
        </p:spPr>
        <p:txBody>
          <a:bodyPr wrap="square" rtlCol="0" anchor="ctr"/>
          <a:lstStyle/>
          <a:p>
            <a:pPr marL="0" indent="0" algn="ctr">
              <a:buNone/>
            </a:pPr>
            <a:r>
              <a:rPr lang="fr-FR" sz="1200" b="1" noProof="0" dirty="0" err="1">
                <a:solidFill>
                  <a:srgbClr val="1A3A2A"/>
                </a:solidFill>
                <a:latin typeface="Cambria" pitchFamily="34" charset="0"/>
                <a:ea typeface="Cambria" pitchFamily="34" charset="-122"/>
                <a:cs typeface="Cambria" pitchFamily="34" charset="-120"/>
              </a:rPr>
              <a:t>Ease</a:t>
            </a:r>
            <a:r>
              <a:rPr lang="fr-FR" sz="1200" b="1" noProof="0" dirty="0">
                <a:solidFill>
                  <a:srgbClr val="1A3A2A"/>
                </a:solidFill>
                <a:latin typeface="Cambria" pitchFamily="34" charset="0"/>
                <a:ea typeface="Cambria" pitchFamily="34" charset="-122"/>
                <a:cs typeface="Cambria" pitchFamily="34" charset="-120"/>
              </a:rPr>
              <a:t> of business</a:t>
            </a:r>
            <a:endParaRPr lang="fr-FR" sz="1200" noProof="0" dirty="0"/>
          </a:p>
        </p:txBody>
      </p:sp>
      <p:sp>
        <p:nvSpPr>
          <p:cNvPr id="24" name="Text 22"/>
          <p:cNvSpPr/>
          <p:nvPr/>
        </p:nvSpPr>
        <p:spPr>
          <a:xfrm>
            <a:off x="6812280" y="2999232"/>
            <a:ext cx="1737360" cy="1691640"/>
          </a:xfrm>
          <a:prstGeom prst="rect">
            <a:avLst/>
          </a:prstGeom>
          <a:noFill/>
          <a:ln/>
        </p:spPr>
        <p:txBody>
          <a:bodyPr wrap="square" rtlCol="0" anchor="ctr"/>
          <a:lstStyle/>
          <a:p>
            <a:pPr marL="0" indent="0" algn="ctr">
              <a:buNone/>
            </a:pPr>
            <a:r>
              <a:rPr lang="fr-FR" sz="1000" noProof="0" dirty="0">
                <a:solidFill>
                  <a:srgbClr val="1A2A1A"/>
                </a:solidFill>
                <a:latin typeface="Calibri" pitchFamily="34" charset="0"/>
                <a:ea typeface="Calibri" pitchFamily="34" charset="-122"/>
                <a:cs typeface="Calibri" pitchFamily="34" charset="-120"/>
              </a:rPr>
              <a:t>Facilité à faire du commerce — cadre légal et administratif</a:t>
            </a:r>
            <a:endParaRPr lang="fr-FR" sz="1000" noProof="0" dirty="0"/>
          </a:p>
        </p:txBody>
      </p:sp>
      <p:sp>
        <p:nvSpPr>
          <p:cNvPr id="25" name="Text 23"/>
          <p:cNvSpPr/>
          <p:nvPr/>
        </p:nvSpPr>
        <p:spPr>
          <a:xfrm>
            <a:off x="365760" y="4800600"/>
            <a:ext cx="8412480" cy="274320"/>
          </a:xfrm>
          <a:prstGeom prst="rect">
            <a:avLst/>
          </a:prstGeom>
          <a:noFill/>
          <a:ln/>
        </p:spPr>
        <p:txBody>
          <a:bodyPr wrap="square" rtlCol="0" anchor="ctr"/>
          <a:lstStyle/>
          <a:p>
            <a:pPr marL="0" indent="0">
              <a:buNone/>
            </a:pPr>
            <a:r>
              <a:rPr lang="fr-FR" sz="1000" i="1" noProof="0" dirty="0">
                <a:solidFill>
                  <a:srgbClr val="6B7C6B"/>
                </a:solidFill>
                <a:latin typeface="Calibri" pitchFamily="34" charset="0"/>
                <a:ea typeface="Calibri" pitchFamily="34" charset="-122"/>
                <a:cs typeface="Calibri" pitchFamily="34" charset="-120"/>
              </a:rPr>
              <a:t>Note : le TDI a été exclu car redondant avec import/</a:t>
            </a:r>
            <a:r>
              <a:rPr lang="fr-FR" sz="1000" i="1" noProof="0" dirty="0" err="1">
                <a:solidFill>
                  <a:srgbClr val="6B7C6B"/>
                </a:solidFill>
                <a:latin typeface="Calibri" pitchFamily="34" charset="0"/>
                <a:ea typeface="Calibri" pitchFamily="34" charset="-122"/>
                <a:cs typeface="Calibri" pitchFamily="34" charset="-120"/>
              </a:rPr>
              <a:t>hab</a:t>
            </a:r>
            <a:r>
              <a:rPr lang="fr-FR" sz="1000" i="1" noProof="0" dirty="0">
                <a:solidFill>
                  <a:srgbClr val="6B7C6B"/>
                </a:solidFill>
                <a:latin typeface="Calibri" pitchFamily="34" charset="0"/>
                <a:ea typeface="Calibri" pitchFamily="34" charset="-122"/>
                <a:cs typeface="Calibri" pitchFamily="34" charset="-120"/>
              </a:rPr>
              <a:t> (corrélation 0.62)</a:t>
            </a:r>
            <a:endParaRPr lang="fr-FR" sz="1000" noProof="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3D1F6B"/>
          </a:solidFill>
          <a:ln/>
        </p:spPr>
        <p:txBody>
          <a:bodyPr/>
          <a:lstStyle/>
          <a:p>
            <a:endParaRPr lang="fr-FR" noProof="0" dirty="0"/>
          </a:p>
        </p:txBody>
      </p:sp>
      <p:sp>
        <p:nvSpPr>
          <p:cNvPr id="3" name="Text 1"/>
          <p:cNvSpPr/>
          <p:nvPr/>
        </p:nvSpPr>
        <p:spPr>
          <a:xfrm>
            <a:off x="365760" y="137160"/>
            <a:ext cx="8229600" cy="731520"/>
          </a:xfrm>
          <a:prstGeom prst="rect">
            <a:avLst/>
          </a:prstGeom>
          <a:noFill/>
          <a:ln/>
        </p:spPr>
        <p:txBody>
          <a:bodyPr wrap="square" rtlCol="0" anchor="ctr"/>
          <a:lstStyle/>
          <a:p>
            <a:pPr marL="0" indent="0">
              <a:buNone/>
            </a:pPr>
            <a:r>
              <a:rPr lang="fr-FR" sz="2800" b="1" noProof="0" dirty="0">
                <a:solidFill>
                  <a:srgbClr val="FFFFFF"/>
                </a:solidFill>
                <a:latin typeface="Cambria" pitchFamily="34" charset="0"/>
                <a:ea typeface="Cambria" pitchFamily="34" charset="-122"/>
                <a:cs typeface="Cambria" pitchFamily="34" charset="-120"/>
              </a:rPr>
              <a:t>Top 15 pays recommandés</a:t>
            </a:r>
            <a:endParaRPr lang="fr-FR" sz="2800" noProof="0" dirty="0"/>
          </a:p>
        </p:txBody>
      </p:sp>
      <p:pic>
        <p:nvPicPr>
          <p:cNvPr id="4" name="Image 0"/>
          <p:cNvPicPr>
            <a:picLocks noChangeAspect="1"/>
          </p:cNvPicPr>
          <p:nvPr/>
        </p:nvPicPr>
        <p:blipFill>
          <a:blip r:embed="rId3"/>
          <a:srcRect/>
          <a:stretch/>
        </p:blipFill>
        <p:spPr>
          <a:xfrm>
            <a:off x="182880" y="1097280"/>
            <a:ext cx="5760720" cy="2880360"/>
          </a:xfrm>
          <a:prstGeom prst="rect">
            <a:avLst/>
          </a:prstGeom>
        </p:spPr>
      </p:pic>
      <p:sp>
        <p:nvSpPr>
          <p:cNvPr id="5" name="Shape 2"/>
          <p:cNvSpPr/>
          <p:nvPr/>
        </p:nvSpPr>
        <p:spPr>
          <a:xfrm>
            <a:off x="6126480" y="1143000"/>
            <a:ext cx="2788920" cy="658368"/>
          </a:xfrm>
          <a:prstGeom prst="roundRect">
            <a:avLst>
              <a:gd name="adj" fmla="val 11111"/>
            </a:avLst>
          </a:prstGeom>
          <a:solidFill>
            <a:srgbClr val="3D1F6B"/>
          </a:solidFill>
          <a:ln/>
          <a:effectLst>
            <a:outerShdw blurRad="76200" dist="25400" dir="2700000" algn="bl" rotWithShape="0">
              <a:srgbClr val="000000">
                <a:alpha val="10000"/>
              </a:srgbClr>
            </a:outerShdw>
          </a:effectLst>
        </p:spPr>
        <p:txBody>
          <a:bodyPr/>
          <a:lstStyle/>
          <a:p>
            <a:endParaRPr lang="fr-FR" noProof="0" dirty="0"/>
          </a:p>
        </p:txBody>
      </p:sp>
      <p:sp>
        <p:nvSpPr>
          <p:cNvPr id="6" name="Text 3"/>
          <p:cNvSpPr/>
          <p:nvPr/>
        </p:nvSpPr>
        <p:spPr>
          <a:xfrm>
            <a:off x="6172200" y="1234440"/>
            <a:ext cx="365760" cy="457200"/>
          </a:xfrm>
          <a:prstGeom prst="rect">
            <a:avLst/>
          </a:prstGeom>
          <a:noFill/>
          <a:ln/>
        </p:spPr>
        <p:txBody>
          <a:bodyPr wrap="square" rtlCol="0" anchor="ctr"/>
          <a:lstStyle/>
          <a:p>
            <a:pPr marL="0" indent="0" algn="ctr">
              <a:buNone/>
            </a:pPr>
            <a:r>
              <a:rPr lang="fr-FR" sz="1800" b="1" noProof="0" dirty="0">
                <a:solidFill>
                  <a:srgbClr val="FFFFFF"/>
                </a:solidFill>
                <a:latin typeface="Cambria" pitchFamily="34" charset="0"/>
                <a:ea typeface="Cambria" pitchFamily="34" charset="-122"/>
                <a:cs typeface="Cambria" pitchFamily="34" charset="-120"/>
              </a:rPr>
              <a:t>1</a:t>
            </a:r>
            <a:endParaRPr lang="fr-FR" sz="1800" noProof="0" dirty="0"/>
          </a:p>
        </p:txBody>
      </p:sp>
      <p:sp>
        <p:nvSpPr>
          <p:cNvPr id="7" name="Text 4"/>
          <p:cNvSpPr/>
          <p:nvPr/>
        </p:nvSpPr>
        <p:spPr>
          <a:xfrm>
            <a:off x="6583680" y="1216152"/>
            <a:ext cx="1645920" cy="320040"/>
          </a:xfrm>
          <a:prstGeom prst="rect">
            <a:avLst/>
          </a:prstGeom>
          <a:noFill/>
          <a:ln/>
        </p:spPr>
        <p:txBody>
          <a:bodyPr wrap="square" rtlCol="0" anchor="ctr"/>
          <a:lstStyle/>
          <a:p>
            <a:pPr marL="0" indent="0">
              <a:buNone/>
            </a:pPr>
            <a:r>
              <a:rPr lang="fr-FR" sz="1200" b="1" noProof="0" dirty="0">
                <a:solidFill>
                  <a:srgbClr val="FFFFFF"/>
                </a:solidFill>
                <a:latin typeface="Cambria" pitchFamily="34" charset="0"/>
                <a:ea typeface="Cambria" pitchFamily="34" charset="-122"/>
                <a:cs typeface="Cambria" pitchFamily="34" charset="-120"/>
              </a:rPr>
              <a:t>Japon</a:t>
            </a:r>
            <a:endParaRPr lang="fr-FR" sz="1200" noProof="0" dirty="0"/>
          </a:p>
        </p:txBody>
      </p:sp>
      <p:sp>
        <p:nvSpPr>
          <p:cNvPr id="8" name="Text 5"/>
          <p:cNvSpPr/>
          <p:nvPr/>
        </p:nvSpPr>
        <p:spPr>
          <a:xfrm>
            <a:off x="6583680" y="1490472"/>
            <a:ext cx="1645920" cy="256032"/>
          </a:xfrm>
          <a:prstGeom prst="rect">
            <a:avLst/>
          </a:prstGeom>
          <a:noFill/>
          <a:ln/>
        </p:spPr>
        <p:txBody>
          <a:bodyPr wrap="square" rtlCol="0" anchor="ctr"/>
          <a:lstStyle/>
          <a:p>
            <a:pPr marL="0" indent="0">
              <a:buNone/>
            </a:pPr>
            <a:r>
              <a:rPr lang="fr-FR" sz="1100" noProof="0" dirty="0">
                <a:solidFill>
                  <a:srgbClr val="DDD0F0"/>
                </a:solidFill>
                <a:latin typeface="Calibri" pitchFamily="34" charset="0"/>
                <a:ea typeface="Calibri" pitchFamily="34" charset="-122"/>
                <a:cs typeface="Calibri" pitchFamily="34" charset="-120"/>
              </a:rPr>
              <a:t>0.708</a:t>
            </a:r>
            <a:endParaRPr lang="fr-FR" sz="1100" noProof="0" dirty="0"/>
          </a:p>
        </p:txBody>
      </p:sp>
      <p:sp>
        <p:nvSpPr>
          <p:cNvPr id="9" name="Shape 6"/>
          <p:cNvSpPr/>
          <p:nvPr/>
        </p:nvSpPr>
        <p:spPr>
          <a:xfrm>
            <a:off x="6126480" y="1901952"/>
            <a:ext cx="2788920" cy="658368"/>
          </a:xfrm>
          <a:prstGeom prst="roundRect">
            <a:avLst>
              <a:gd name="adj" fmla="val 11111"/>
            </a:avLst>
          </a:prstGeom>
          <a:solidFill>
            <a:srgbClr val="4A2880"/>
          </a:solidFill>
          <a:ln/>
          <a:effectLst>
            <a:outerShdw blurRad="76200" dist="25400" dir="2700000" algn="bl" rotWithShape="0">
              <a:srgbClr val="000000">
                <a:alpha val="10000"/>
              </a:srgbClr>
            </a:outerShdw>
          </a:effectLst>
        </p:spPr>
        <p:txBody>
          <a:bodyPr/>
          <a:lstStyle/>
          <a:p>
            <a:endParaRPr lang="fr-FR" noProof="0" dirty="0"/>
          </a:p>
        </p:txBody>
      </p:sp>
      <p:sp>
        <p:nvSpPr>
          <p:cNvPr id="10" name="Text 7"/>
          <p:cNvSpPr/>
          <p:nvPr/>
        </p:nvSpPr>
        <p:spPr>
          <a:xfrm>
            <a:off x="6172200" y="1993392"/>
            <a:ext cx="365760" cy="457200"/>
          </a:xfrm>
          <a:prstGeom prst="rect">
            <a:avLst/>
          </a:prstGeom>
          <a:noFill/>
          <a:ln/>
        </p:spPr>
        <p:txBody>
          <a:bodyPr wrap="square" rtlCol="0" anchor="ctr"/>
          <a:lstStyle/>
          <a:p>
            <a:pPr marL="0" indent="0" algn="ctr">
              <a:buNone/>
            </a:pPr>
            <a:r>
              <a:rPr lang="fr-FR" sz="1800" b="1" noProof="0" dirty="0">
                <a:solidFill>
                  <a:srgbClr val="FFFFFF"/>
                </a:solidFill>
                <a:latin typeface="Cambria" pitchFamily="34" charset="0"/>
                <a:ea typeface="Cambria" pitchFamily="34" charset="-122"/>
                <a:cs typeface="Cambria" pitchFamily="34" charset="-120"/>
              </a:rPr>
              <a:t>2</a:t>
            </a:r>
            <a:endParaRPr lang="fr-FR" sz="1800" noProof="0" dirty="0"/>
          </a:p>
        </p:txBody>
      </p:sp>
      <p:sp>
        <p:nvSpPr>
          <p:cNvPr id="11" name="Text 8"/>
          <p:cNvSpPr/>
          <p:nvPr/>
        </p:nvSpPr>
        <p:spPr>
          <a:xfrm>
            <a:off x="6583680" y="1975104"/>
            <a:ext cx="1645920" cy="320040"/>
          </a:xfrm>
          <a:prstGeom prst="rect">
            <a:avLst/>
          </a:prstGeom>
          <a:noFill/>
          <a:ln/>
        </p:spPr>
        <p:txBody>
          <a:bodyPr wrap="square" rtlCol="0" anchor="ctr"/>
          <a:lstStyle/>
          <a:p>
            <a:pPr marL="0" indent="0">
              <a:buNone/>
            </a:pPr>
            <a:r>
              <a:rPr lang="fr-FR" sz="1200" b="1" noProof="0" dirty="0">
                <a:solidFill>
                  <a:srgbClr val="FFFFFF"/>
                </a:solidFill>
                <a:latin typeface="Cambria" pitchFamily="34" charset="0"/>
                <a:ea typeface="Cambria" pitchFamily="34" charset="-122"/>
                <a:cs typeface="Cambria" pitchFamily="34" charset="-120"/>
              </a:rPr>
              <a:t>Allemagne</a:t>
            </a:r>
            <a:endParaRPr lang="fr-FR" sz="1200" noProof="0" dirty="0"/>
          </a:p>
        </p:txBody>
      </p:sp>
      <p:sp>
        <p:nvSpPr>
          <p:cNvPr id="12" name="Text 9"/>
          <p:cNvSpPr/>
          <p:nvPr/>
        </p:nvSpPr>
        <p:spPr>
          <a:xfrm>
            <a:off x="6583680" y="2249424"/>
            <a:ext cx="1645920" cy="256032"/>
          </a:xfrm>
          <a:prstGeom prst="rect">
            <a:avLst/>
          </a:prstGeom>
          <a:noFill/>
          <a:ln/>
        </p:spPr>
        <p:txBody>
          <a:bodyPr wrap="square" rtlCol="0" anchor="ctr"/>
          <a:lstStyle/>
          <a:p>
            <a:pPr marL="0" indent="0">
              <a:buNone/>
            </a:pPr>
            <a:r>
              <a:rPr lang="fr-FR" sz="1100" noProof="0" dirty="0">
                <a:solidFill>
                  <a:srgbClr val="DDD0F0"/>
                </a:solidFill>
                <a:latin typeface="Calibri" pitchFamily="34" charset="0"/>
                <a:ea typeface="Calibri" pitchFamily="34" charset="-122"/>
                <a:cs typeface="Calibri" pitchFamily="34" charset="-120"/>
              </a:rPr>
              <a:t>0.662</a:t>
            </a:r>
            <a:endParaRPr lang="fr-FR" sz="1100" noProof="0" dirty="0"/>
          </a:p>
        </p:txBody>
      </p:sp>
      <p:sp>
        <p:nvSpPr>
          <p:cNvPr id="13" name="Shape 10"/>
          <p:cNvSpPr/>
          <p:nvPr/>
        </p:nvSpPr>
        <p:spPr>
          <a:xfrm>
            <a:off x="6126480" y="2660904"/>
            <a:ext cx="2788920" cy="658368"/>
          </a:xfrm>
          <a:prstGeom prst="roundRect">
            <a:avLst>
              <a:gd name="adj" fmla="val 11111"/>
            </a:avLst>
          </a:prstGeom>
          <a:solidFill>
            <a:srgbClr val="6040A0"/>
          </a:solidFill>
          <a:ln/>
          <a:effectLst>
            <a:outerShdw blurRad="76200" dist="25400" dir="2700000" algn="bl" rotWithShape="0">
              <a:srgbClr val="000000">
                <a:alpha val="10000"/>
              </a:srgbClr>
            </a:outerShdw>
          </a:effectLst>
        </p:spPr>
        <p:txBody>
          <a:bodyPr/>
          <a:lstStyle/>
          <a:p>
            <a:endParaRPr lang="fr-FR" noProof="0" dirty="0"/>
          </a:p>
        </p:txBody>
      </p:sp>
      <p:sp>
        <p:nvSpPr>
          <p:cNvPr id="14" name="Text 11"/>
          <p:cNvSpPr/>
          <p:nvPr/>
        </p:nvSpPr>
        <p:spPr>
          <a:xfrm>
            <a:off x="6172200" y="2752344"/>
            <a:ext cx="365760" cy="457200"/>
          </a:xfrm>
          <a:prstGeom prst="rect">
            <a:avLst/>
          </a:prstGeom>
          <a:noFill/>
          <a:ln/>
        </p:spPr>
        <p:txBody>
          <a:bodyPr wrap="square" rtlCol="0" anchor="ctr"/>
          <a:lstStyle/>
          <a:p>
            <a:pPr marL="0" indent="0" algn="ctr">
              <a:buNone/>
            </a:pPr>
            <a:r>
              <a:rPr lang="fr-FR" sz="1800" b="1" noProof="0" dirty="0">
                <a:solidFill>
                  <a:srgbClr val="FFFFFF"/>
                </a:solidFill>
                <a:latin typeface="Cambria" pitchFamily="34" charset="0"/>
                <a:ea typeface="Cambria" pitchFamily="34" charset="-122"/>
                <a:cs typeface="Cambria" pitchFamily="34" charset="-120"/>
              </a:rPr>
              <a:t>3</a:t>
            </a:r>
            <a:endParaRPr lang="fr-FR" sz="1800" noProof="0" dirty="0"/>
          </a:p>
        </p:txBody>
      </p:sp>
      <p:sp>
        <p:nvSpPr>
          <p:cNvPr id="15" name="Text 12"/>
          <p:cNvSpPr/>
          <p:nvPr/>
        </p:nvSpPr>
        <p:spPr>
          <a:xfrm>
            <a:off x="6583680" y="2734056"/>
            <a:ext cx="1645920" cy="320040"/>
          </a:xfrm>
          <a:prstGeom prst="rect">
            <a:avLst/>
          </a:prstGeom>
          <a:noFill/>
          <a:ln/>
        </p:spPr>
        <p:txBody>
          <a:bodyPr wrap="square" rtlCol="0" anchor="ctr"/>
          <a:lstStyle/>
          <a:p>
            <a:pPr marL="0" indent="0">
              <a:buNone/>
            </a:pPr>
            <a:r>
              <a:rPr lang="fr-FR" sz="1200" b="1" noProof="0" dirty="0">
                <a:solidFill>
                  <a:srgbClr val="FFFFFF"/>
                </a:solidFill>
                <a:latin typeface="Cambria" pitchFamily="34" charset="0"/>
                <a:ea typeface="Cambria" pitchFamily="34" charset="-122"/>
                <a:cs typeface="Cambria" pitchFamily="34" charset="-120"/>
              </a:rPr>
              <a:t>Émirats arabes unis</a:t>
            </a:r>
            <a:endParaRPr lang="fr-FR" sz="1200" noProof="0" dirty="0"/>
          </a:p>
        </p:txBody>
      </p:sp>
      <p:sp>
        <p:nvSpPr>
          <p:cNvPr id="16" name="Text 13"/>
          <p:cNvSpPr/>
          <p:nvPr/>
        </p:nvSpPr>
        <p:spPr>
          <a:xfrm>
            <a:off x="6583680" y="3008376"/>
            <a:ext cx="1645920" cy="256032"/>
          </a:xfrm>
          <a:prstGeom prst="rect">
            <a:avLst/>
          </a:prstGeom>
          <a:noFill/>
          <a:ln/>
        </p:spPr>
        <p:txBody>
          <a:bodyPr wrap="square" rtlCol="0" anchor="ctr"/>
          <a:lstStyle/>
          <a:p>
            <a:pPr marL="0" indent="0">
              <a:buNone/>
            </a:pPr>
            <a:r>
              <a:rPr lang="fr-FR" sz="1100" noProof="0" dirty="0">
                <a:solidFill>
                  <a:srgbClr val="DDD0F0"/>
                </a:solidFill>
                <a:latin typeface="Calibri" pitchFamily="34" charset="0"/>
                <a:ea typeface="Calibri" pitchFamily="34" charset="-122"/>
                <a:cs typeface="Calibri" pitchFamily="34" charset="-120"/>
              </a:rPr>
              <a:t>0.656</a:t>
            </a:r>
            <a:endParaRPr lang="fr-FR" sz="1100" noProof="0" dirty="0"/>
          </a:p>
        </p:txBody>
      </p:sp>
      <p:sp>
        <p:nvSpPr>
          <p:cNvPr id="17" name="Shape 14"/>
          <p:cNvSpPr/>
          <p:nvPr/>
        </p:nvSpPr>
        <p:spPr>
          <a:xfrm>
            <a:off x="6126480" y="3419856"/>
            <a:ext cx="2788920" cy="658368"/>
          </a:xfrm>
          <a:prstGeom prst="roundRect">
            <a:avLst>
              <a:gd name="adj" fmla="val 11111"/>
            </a:avLst>
          </a:prstGeom>
          <a:solidFill>
            <a:srgbClr val="F8F6FF"/>
          </a:solidFill>
          <a:ln/>
          <a:effectLst>
            <a:outerShdw blurRad="76200" dist="25400" dir="2700000" algn="bl" rotWithShape="0">
              <a:srgbClr val="000000">
                <a:alpha val="10000"/>
              </a:srgbClr>
            </a:outerShdw>
          </a:effectLst>
        </p:spPr>
        <p:txBody>
          <a:bodyPr/>
          <a:lstStyle/>
          <a:p>
            <a:endParaRPr lang="fr-FR" noProof="0" dirty="0"/>
          </a:p>
        </p:txBody>
      </p:sp>
      <p:sp>
        <p:nvSpPr>
          <p:cNvPr id="18" name="Text 15"/>
          <p:cNvSpPr/>
          <p:nvPr/>
        </p:nvSpPr>
        <p:spPr>
          <a:xfrm>
            <a:off x="6172200" y="3511296"/>
            <a:ext cx="365760" cy="457200"/>
          </a:xfrm>
          <a:prstGeom prst="rect">
            <a:avLst/>
          </a:prstGeom>
          <a:noFill/>
          <a:ln/>
        </p:spPr>
        <p:txBody>
          <a:bodyPr wrap="square" rtlCol="0" anchor="ctr"/>
          <a:lstStyle/>
          <a:p>
            <a:pPr marL="0" indent="0" algn="ctr">
              <a:buNone/>
            </a:pPr>
            <a:r>
              <a:rPr lang="fr-FR" sz="1800" b="1" noProof="0" dirty="0">
                <a:solidFill>
                  <a:srgbClr val="7B5EA7"/>
                </a:solidFill>
                <a:latin typeface="Cambria" pitchFamily="34" charset="0"/>
                <a:ea typeface="Cambria" pitchFamily="34" charset="-122"/>
                <a:cs typeface="Cambria" pitchFamily="34" charset="-120"/>
              </a:rPr>
              <a:t>4</a:t>
            </a:r>
            <a:endParaRPr lang="fr-FR" sz="1800" noProof="0" dirty="0"/>
          </a:p>
        </p:txBody>
      </p:sp>
      <p:sp>
        <p:nvSpPr>
          <p:cNvPr id="19" name="Text 16"/>
          <p:cNvSpPr/>
          <p:nvPr/>
        </p:nvSpPr>
        <p:spPr>
          <a:xfrm>
            <a:off x="6583680" y="3493008"/>
            <a:ext cx="1645920" cy="320040"/>
          </a:xfrm>
          <a:prstGeom prst="rect">
            <a:avLst/>
          </a:prstGeom>
          <a:noFill/>
          <a:ln/>
        </p:spPr>
        <p:txBody>
          <a:bodyPr wrap="square" rtlCol="0" anchor="ctr"/>
          <a:lstStyle/>
          <a:p>
            <a:pPr marL="0" indent="0">
              <a:buNone/>
            </a:pPr>
            <a:r>
              <a:rPr lang="fr-FR" sz="1200" b="1" noProof="0" dirty="0">
                <a:solidFill>
                  <a:srgbClr val="1A2A1A"/>
                </a:solidFill>
                <a:latin typeface="Cambria" pitchFamily="34" charset="0"/>
                <a:ea typeface="Cambria" pitchFamily="34" charset="-122"/>
                <a:cs typeface="Cambria" pitchFamily="34" charset="-120"/>
              </a:rPr>
              <a:t>Royaume-Uni</a:t>
            </a:r>
            <a:endParaRPr lang="fr-FR" sz="1200" noProof="0" dirty="0"/>
          </a:p>
        </p:txBody>
      </p:sp>
      <p:sp>
        <p:nvSpPr>
          <p:cNvPr id="20" name="Text 17"/>
          <p:cNvSpPr/>
          <p:nvPr/>
        </p:nvSpPr>
        <p:spPr>
          <a:xfrm>
            <a:off x="6583680" y="3767328"/>
            <a:ext cx="1645920" cy="256032"/>
          </a:xfrm>
          <a:prstGeom prst="rect">
            <a:avLst/>
          </a:prstGeom>
          <a:noFill/>
          <a:ln/>
        </p:spPr>
        <p:txBody>
          <a:bodyPr wrap="square" rtlCol="0" anchor="ctr"/>
          <a:lstStyle/>
          <a:p>
            <a:pPr marL="0" indent="0">
              <a:buNone/>
            </a:pPr>
            <a:r>
              <a:rPr lang="fr-FR" sz="1100" noProof="0" dirty="0">
                <a:solidFill>
                  <a:srgbClr val="6B7C6B"/>
                </a:solidFill>
                <a:latin typeface="Calibri" pitchFamily="34" charset="0"/>
                <a:ea typeface="Calibri" pitchFamily="34" charset="-122"/>
                <a:cs typeface="Calibri" pitchFamily="34" charset="-120"/>
              </a:rPr>
              <a:t>0.653</a:t>
            </a:r>
            <a:endParaRPr lang="fr-FR" sz="1100" noProof="0" dirty="0"/>
          </a:p>
        </p:txBody>
      </p:sp>
      <p:sp>
        <p:nvSpPr>
          <p:cNvPr id="21" name="Shape 18"/>
          <p:cNvSpPr/>
          <p:nvPr/>
        </p:nvSpPr>
        <p:spPr>
          <a:xfrm>
            <a:off x="6126480" y="4178808"/>
            <a:ext cx="2788920" cy="658368"/>
          </a:xfrm>
          <a:prstGeom prst="roundRect">
            <a:avLst>
              <a:gd name="adj" fmla="val 11111"/>
            </a:avLst>
          </a:prstGeom>
          <a:solidFill>
            <a:srgbClr val="F8F6FF"/>
          </a:solidFill>
          <a:ln/>
          <a:effectLst>
            <a:outerShdw blurRad="76200" dist="25400" dir="2700000" algn="bl" rotWithShape="0">
              <a:srgbClr val="000000">
                <a:alpha val="10000"/>
              </a:srgbClr>
            </a:outerShdw>
          </a:effectLst>
        </p:spPr>
        <p:txBody>
          <a:bodyPr/>
          <a:lstStyle/>
          <a:p>
            <a:endParaRPr lang="fr-FR" noProof="0" dirty="0"/>
          </a:p>
        </p:txBody>
      </p:sp>
      <p:sp>
        <p:nvSpPr>
          <p:cNvPr id="22" name="Text 19"/>
          <p:cNvSpPr/>
          <p:nvPr/>
        </p:nvSpPr>
        <p:spPr>
          <a:xfrm>
            <a:off x="6172200" y="4270248"/>
            <a:ext cx="365760" cy="457200"/>
          </a:xfrm>
          <a:prstGeom prst="rect">
            <a:avLst/>
          </a:prstGeom>
          <a:noFill/>
          <a:ln/>
        </p:spPr>
        <p:txBody>
          <a:bodyPr wrap="square" rtlCol="0" anchor="ctr"/>
          <a:lstStyle/>
          <a:p>
            <a:pPr marL="0" indent="0" algn="ctr">
              <a:buNone/>
            </a:pPr>
            <a:r>
              <a:rPr lang="fr-FR" sz="1800" b="1" noProof="0" dirty="0">
                <a:solidFill>
                  <a:srgbClr val="7B5EA7"/>
                </a:solidFill>
                <a:latin typeface="Cambria" pitchFamily="34" charset="0"/>
                <a:ea typeface="Cambria" pitchFamily="34" charset="-122"/>
                <a:cs typeface="Cambria" pitchFamily="34" charset="-120"/>
              </a:rPr>
              <a:t>5</a:t>
            </a:r>
            <a:endParaRPr lang="fr-FR" sz="1800" noProof="0" dirty="0"/>
          </a:p>
        </p:txBody>
      </p:sp>
      <p:sp>
        <p:nvSpPr>
          <p:cNvPr id="23" name="Text 20"/>
          <p:cNvSpPr/>
          <p:nvPr/>
        </p:nvSpPr>
        <p:spPr>
          <a:xfrm>
            <a:off x="6583680" y="4251960"/>
            <a:ext cx="1645920" cy="320040"/>
          </a:xfrm>
          <a:prstGeom prst="rect">
            <a:avLst/>
          </a:prstGeom>
          <a:noFill/>
          <a:ln/>
        </p:spPr>
        <p:txBody>
          <a:bodyPr wrap="square" rtlCol="0" anchor="ctr"/>
          <a:lstStyle/>
          <a:p>
            <a:pPr marL="0" indent="0">
              <a:buNone/>
            </a:pPr>
            <a:r>
              <a:rPr lang="fr-FR" sz="1200" b="1" noProof="0" dirty="0">
                <a:solidFill>
                  <a:srgbClr val="1A2A1A"/>
                </a:solidFill>
                <a:latin typeface="Cambria" pitchFamily="34" charset="0"/>
                <a:ea typeface="Cambria" pitchFamily="34" charset="-122"/>
                <a:cs typeface="Cambria" pitchFamily="34" charset="-120"/>
              </a:rPr>
              <a:t>Danemark</a:t>
            </a:r>
            <a:endParaRPr lang="fr-FR" sz="1200" noProof="0" dirty="0"/>
          </a:p>
        </p:txBody>
      </p:sp>
      <p:sp>
        <p:nvSpPr>
          <p:cNvPr id="24" name="Text 21"/>
          <p:cNvSpPr/>
          <p:nvPr/>
        </p:nvSpPr>
        <p:spPr>
          <a:xfrm>
            <a:off x="6583680" y="4526280"/>
            <a:ext cx="1645920" cy="256032"/>
          </a:xfrm>
          <a:prstGeom prst="rect">
            <a:avLst/>
          </a:prstGeom>
          <a:noFill/>
          <a:ln/>
        </p:spPr>
        <p:txBody>
          <a:bodyPr wrap="square" rtlCol="0" anchor="ctr"/>
          <a:lstStyle/>
          <a:p>
            <a:pPr marL="0" indent="0">
              <a:buNone/>
            </a:pPr>
            <a:r>
              <a:rPr lang="fr-FR" sz="1100" noProof="0" dirty="0">
                <a:solidFill>
                  <a:srgbClr val="6B7C6B"/>
                </a:solidFill>
                <a:latin typeface="Calibri" pitchFamily="34" charset="0"/>
                <a:ea typeface="Calibri" pitchFamily="34" charset="-122"/>
                <a:cs typeface="Calibri" pitchFamily="34" charset="-120"/>
              </a:rPr>
              <a:t>0.600</a:t>
            </a:r>
            <a:endParaRPr lang="fr-FR" sz="1100" noProof="0" dirty="0"/>
          </a:p>
        </p:txBody>
      </p:sp>
      <p:sp>
        <p:nvSpPr>
          <p:cNvPr id="25" name="Text 22"/>
          <p:cNvSpPr/>
          <p:nvPr/>
        </p:nvSpPr>
        <p:spPr>
          <a:xfrm>
            <a:off x="182880" y="4114800"/>
            <a:ext cx="8778240" cy="274320"/>
          </a:xfrm>
          <a:prstGeom prst="rect">
            <a:avLst/>
          </a:prstGeom>
          <a:noFill/>
          <a:ln/>
        </p:spPr>
        <p:txBody>
          <a:bodyPr wrap="square" rtlCol="0" anchor="ctr"/>
          <a:lstStyle/>
          <a:p>
            <a:pPr marL="0" indent="0">
              <a:buNone/>
            </a:pPr>
            <a:r>
              <a:rPr lang="fr-FR" sz="950" i="1" noProof="0" dirty="0">
                <a:solidFill>
                  <a:srgbClr val="6B7C6B"/>
                </a:solidFill>
                <a:latin typeface="Calibri" pitchFamily="34" charset="0"/>
                <a:ea typeface="Calibri" pitchFamily="34" charset="-122"/>
                <a:cs typeface="Calibri" pitchFamily="34" charset="-120"/>
              </a:rPr>
              <a:t>6. Belgique  •  7. Sainte-Lucie  •  8. Irlande  •  9. Corée du Sud  •  10. Autriche</a:t>
            </a:r>
            <a:endParaRPr lang="fr-FR" sz="950" noProof="0" dirty="0"/>
          </a:p>
        </p:txBody>
      </p:sp>
      <p:sp>
        <p:nvSpPr>
          <p:cNvPr id="26" name="Text 23"/>
          <p:cNvSpPr/>
          <p:nvPr/>
        </p:nvSpPr>
        <p:spPr>
          <a:xfrm>
            <a:off x="182880" y="4407408"/>
            <a:ext cx="8778240" cy="274320"/>
          </a:xfrm>
          <a:prstGeom prst="rect">
            <a:avLst/>
          </a:prstGeom>
          <a:noFill/>
          <a:ln/>
        </p:spPr>
        <p:txBody>
          <a:bodyPr wrap="square" rtlCol="0" anchor="ctr"/>
          <a:lstStyle/>
          <a:p>
            <a:pPr marL="0" indent="0">
              <a:buNone/>
            </a:pPr>
            <a:r>
              <a:rPr lang="fr-FR" sz="950" i="1" noProof="0" dirty="0">
                <a:solidFill>
                  <a:srgbClr val="6B7C6B"/>
                </a:solidFill>
                <a:latin typeface="Calibri" pitchFamily="34" charset="0"/>
                <a:ea typeface="Calibri" pitchFamily="34" charset="-122"/>
                <a:cs typeface="Calibri" pitchFamily="34" charset="-120"/>
              </a:rPr>
              <a:t>11. Suède  •  12. </a:t>
            </a:r>
            <a:r>
              <a:rPr lang="fr-FR" sz="950" i="1" noProof="0" dirty="0" err="1">
                <a:solidFill>
                  <a:srgbClr val="6B7C6B"/>
                </a:solidFill>
                <a:latin typeface="Calibri" pitchFamily="34" charset="0"/>
                <a:ea typeface="Calibri" pitchFamily="34" charset="-122"/>
                <a:cs typeface="Calibri" pitchFamily="34" charset="-120"/>
              </a:rPr>
              <a:t>Rép</a:t>
            </a:r>
            <a:r>
              <a:rPr lang="fr-FR" sz="950" i="1" noProof="0" dirty="0">
                <a:solidFill>
                  <a:srgbClr val="6B7C6B"/>
                </a:solidFill>
                <a:latin typeface="Calibri" pitchFamily="34" charset="0"/>
                <a:ea typeface="Calibri" pitchFamily="34" charset="-122"/>
                <a:cs typeface="Calibri" pitchFamily="34" charset="-120"/>
              </a:rPr>
              <a:t>. Tchèque  •  13. Finlande  •  14. Islande  •  15. Suisse</a:t>
            </a:r>
            <a:endParaRPr lang="fr-FR" sz="950" noProof="0" dirty="0"/>
          </a:p>
        </p:txBody>
      </p:sp>
      <p:sp>
        <p:nvSpPr>
          <p:cNvPr id="27" name="Text 24"/>
          <p:cNvSpPr/>
          <p:nvPr/>
        </p:nvSpPr>
        <p:spPr>
          <a:xfrm>
            <a:off x="182880" y="4754880"/>
            <a:ext cx="8778240" cy="228600"/>
          </a:xfrm>
          <a:prstGeom prst="rect">
            <a:avLst/>
          </a:prstGeom>
          <a:noFill/>
          <a:ln/>
        </p:spPr>
        <p:txBody>
          <a:bodyPr wrap="square" rtlCol="0" anchor="ctr"/>
          <a:lstStyle/>
          <a:p>
            <a:pPr marL="0" indent="0">
              <a:buNone/>
            </a:pPr>
            <a:r>
              <a:rPr lang="fr-FR" sz="850" i="1" noProof="0" dirty="0">
                <a:solidFill>
                  <a:srgbClr val="C0B8D8"/>
                </a:solidFill>
                <a:latin typeface="Calibri" pitchFamily="34" charset="0"/>
                <a:ea typeface="Calibri" pitchFamily="34" charset="-122"/>
                <a:cs typeface="Calibri" pitchFamily="34" charset="-120"/>
              </a:rPr>
              <a:t>Intensité = score composite (</a:t>
            </a:r>
            <a:r>
              <a:rPr lang="fr-FR" sz="850" i="1" noProof="0" dirty="0" err="1">
                <a:solidFill>
                  <a:srgbClr val="C0B8D8"/>
                </a:solidFill>
                <a:latin typeface="Calibri" pitchFamily="34" charset="0"/>
                <a:ea typeface="Calibri" pitchFamily="34" charset="-122"/>
                <a:cs typeface="Calibri" pitchFamily="34" charset="-120"/>
              </a:rPr>
              <a:t>affordability</a:t>
            </a:r>
            <a:r>
              <a:rPr lang="fr-FR" sz="850" i="1" noProof="0" dirty="0">
                <a:solidFill>
                  <a:srgbClr val="C0B8D8"/>
                </a:solidFill>
                <a:latin typeface="Calibri" pitchFamily="34" charset="0"/>
                <a:ea typeface="Calibri" pitchFamily="34" charset="-122"/>
                <a:cs typeface="Calibri" pitchFamily="34" charset="-120"/>
              </a:rPr>
              <a:t> 30%, import/</a:t>
            </a:r>
            <a:r>
              <a:rPr lang="fr-FR" sz="850" i="1" noProof="0" dirty="0" err="1">
                <a:solidFill>
                  <a:srgbClr val="C0B8D8"/>
                </a:solidFill>
                <a:latin typeface="Calibri" pitchFamily="34" charset="0"/>
                <a:ea typeface="Calibri" pitchFamily="34" charset="-122"/>
                <a:cs typeface="Calibri" pitchFamily="34" charset="-120"/>
              </a:rPr>
              <a:t>hab</a:t>
            </a:r>
            <a:r>
              <a:rPr lang="fr-FR" sz="850" i="1" noProof="0" dirty="0">
                <a:solidFill>
                  <a:srgbClr val="C0B8D8"/>
                </a:solidFill>
                <a:latin typeface="Calibri" pitchFamily="34" charset="0"/>
                <a:ea typeface="Calibri" pitchFamily="34" charset="-122"/>
                <a:cs typeface="Calibri" pitchFamily="34" charset="-120"/>
              </a:rPr>
              <a:t> 25%, population 25%, </a:t>
            </a:r>
            <a:r>
              <a:rPr lang="fr-FR" sz="850" i="1" noProof="0" dirty="0" err="1">
                <a:solidFill>
                  <a:srgbClr val="C0B8D8"/>
                </a:solidFill>
                <a:latin typeface="Calibri" pitchFamily="34" charset="0"/>
                <a:ea typeface="Calibri" pitchFamily="34" charset="-122"/>
                <a:cs typeface="Calibri" pitchFamily="34" charset="-120"/>
              </a:rPr>
              <a:t>ease</a:t>
            </a:r>
            <a:r>
              <a:rPr lang="fr-FR" sz="850" i="1" noProof="0" dirty="0">
                <a:solidFill>
                  <a:srgbClr val="C0B8D8"/>
                </a:solidFill>
                <a:latin typeface="Calibri" pitchFamily="34" charset="0"/>
                <a:ea typeface="Calibri" pitchFamily="34" charset="-122"/>
                <a:cs typeface="Calibri" pitchFamily="34" charset="-120"/>
              </a:rPr>
              <a:t> of business 20%)</a:t>
            </a:r>
            <a:endParaRPr lang="fr-FR" sz="850" noProof="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3D1F6B"/>
          </a:solidFill>
          <a:ln/>
        </p:spPr>
        <p:txBody>
          <a:bodyPr/>
          <a:lstStyle/>
          <a:p>
            <a:endParaRPr lang="fr-FR" noProof="0" dirty="0"/>
          </a:p>
        </p:txBody>
      </p:sp>
      <p:sp>
        <p:nvSpPr>
          <p:cNvPr id="3" name="Text 1"/>
          <p:cNvSpPr/>
          <p:nvPr/>
        </p:nvSpPr>
        <p:spPr>
          <a:xfrm>
            <a:off x="365760" y="137160"/>
            <a:ext cx="8229600" cy="731520"/>
          </a:xfrm>
          <a:prstGeom prst="rect">
            <a:avLst/>
          </a:prstGeom>
          <a:noFill/>
          <a:ln/>
        </p:spPr>
        <p:txBody>
          <a:bodyPr wrap="square" rtlCol="0" anchor="ctr"/>
          <a:lstStyle/>
          <a:p>
            <a:pPr marL="0" indent="0">
              <a:buNone/>
            </a:pPr>
            <a:r>
              <a:rPr lang="fr-FR" sz="2600" b="1" noProof="0" dirty="0">
                <a:solidFill>
                  <a:srgbClr val="FFFFFF"/>
                </a:solidFill>
                <a:latin typeface="Cambria" pitchFamily="34" charset="0"/>
                <a:ea typeface="Cambria" pitchFamily="34" charset="-122"/>
                <a:cs typeface="Cambria" pitchFamily="34" charset="-120"/>
              </a:rPr>
              <a:t>Répartition géographique des marchés cibles</a:t>
            </a:r>
            <a:endParaRPr lang="fr-FR" sz="2600" noProof="0" dirty="0"/>
          </a:p>
        </p:txBody>
      </p:sp>
      <p:sp>
        <p:nvSpPr>
          <p:cNvPr id="4" name="Text 2"/>
          <p:cNvSpPr/>
          <p:nvPr/>
        </p:nvSpPr>
        <p:spPr>
          <a:xfrm>
            <a:off x="365760" y="1097280"/>
            <a:ext cx="8412480" cy="457200"/>
          </a:xfrm>
          <a:prstGeom prst="rect">
            <a:avLst/>
          </a:prstGeom>
          <a:noFill/>
          <a:ln/>
        </p:spPr>
        <p:txBody>
          <a:bodyPr wrap="square" rtlCol="0" anchor="ctr"/>
          <a:lstStyle/>
          <a:p>
            <a:pPr marL="0" indent="0">
              <a:buNone/>
            </a:pPr>
            <a:r>
              <a:rPr lang="fr-FR" sz="1300" noProof="0" dirty="0">
                <a:solidFill>
                  <a:srgbClr val="1A2A1A"/>
                </a:solidFill>
                <a:latin typeface="Calibri" pitchFamily="34" charset="0"/>
                <a:ea typeface="Calibri" pitchFamily="34" charset="-122"/>
                <a:cs typeface="Calibri" pitchFamily="34" charset="-120"/>
              </a:rPr>
              <a:t>Les 37 pays du Cluster 2 se concentrent majoritairement en </a:t>
            </a:r>
            <a:r>
              <a:rPr lang="fr-FR" sz="1300" b="1" noProof="0" dirty="0">
                <a:solidFill>
                  <a:srgbClr val="7B5EA7"/>
                </a:solidFill>
                <a:latin typeface="Calibri" pitchFamily="34" charset="0"/>
                <a:ea typeface="Calibri" pitchFamily="34" charset="-122"/>
                <a:cs typeface="Calibri" pitchFamily="34" charset="-120"/>
              </a:rPr>
              <a:t>Europe occidentale</a:t>
            </a:r>
            <a:r>
              <a:rPr lang="fr-FR" sz="1300" noProof="0" dirty="0">
                <a:solidFill>
                  <a:srgbClr val="1A2A1A"/>
                </a:solidFill>
                <a:latin typeface="Calibri" pitchFamily="34" charset="0"/>
                <a:ea typeface="Calibri" pitchFamily="34" charset="-122"/>
                <a:cs typeface="Calibri" pitchFamily="34" charset="-120"/>
              </a:rPr>
              <a:t>, avec des opportunités en </a:t>
            </a:r>
            <a:r>
              <a:rPr lang="fr-FR" sz="1300" b="1" noProof="0" dirty="0">
                <a:solidFill>
                  <a:srgbClr val="7B5EA7"/>
                </a:solidFill>
                <a:latin typeface="Calibri" pitchFamily="34" charset="0"/>
                <a:ea typeface="Calibri" pitchFamily="34" charset="-122"/>
                <a:cs typeface="Calibri" pitchFamily="34" charset="-120"/>
              </a:rPr>
              <a:t>Asie-Pacifique</a:t>
            </a:r>
            <a:r>
              <a:rPr lang="fr-FR" sz="1300" noProof="0" dirty="0">
                <a:solidFill>
                  <a:srgbClr val="1A2A1A"/>
                </a:solidFill>
                <a:latin typeface="Calibri" pitchFamily="34" charset="0"/>
                <a:ea typeface="Calibri" pitchFamily="34" charset="-122"/>
                <a:cs typeface="Calibri" pitchFamily="34" charset="-120"/>
              </a:rPr>
              <a:t> et </a:t>
            </a:r>
            <a:r>
              <a:rPr lang="fr-FR" sz="1300" b="1" noProof="0" dirty="0">
                <a:solidFill>
                  <a:srgbClr val="7B5EA7"/>
                </a:solidFill>
                <a:latin typeface="Calibri" pitchFamily="34" charset="0"/>
                <a:ea typeface="Calibri" pitchFamily="34" charset="-122"/>
                <a:cs typeface="Calibri" pitchFamily="34" charset="-120"/>
              </a:rPr>
              <a:t>Moyen-Orient</a:t>
            </a:r>
            <a:r>
              <a:rPr lang="fr-FR" sz="1300" noProof="0" dirty="0">
                <a:solidFill>
                  <a:srgbClr val="1A2A1A"/>
                </a:solidFill>
                <a:latin typeface="Calibri" pitchFamily="34" charset="0"/>
                <a:ea typeface="Calibri" pitchFamily="34" charset="-122"/>
                <a:cs typeface="Calibri" pitchFamily="34" charset="-120"/>
              </a:rPr>
              <a:t>.</a:t>
            </a:r>
            <a:endParaRPr lang="fr-FR" sz="1300" noProof="0" dirty="0"/>
          </a:p>
        </p:txBody>
      </p:sp>
      <p:sp>
        <p:nvSpPr>
          <p:cNvPr id="5" name="Shape 3"/>
          <p:cNvSpPr/>
          <p:nvPr/>
        </p:nvSpPr>
        <p:spPr>
          <a:xfrm>
            <a:off x="274320" y="1691640"/>
            <a:ext cx="2834640" cy="2926080"/>
          </a:xfrm>
          <a:prstGeom prst="roundRect">
            <a:avLst>
              <a:gd name="adj" fmla="val 3871"/>
            </a:avLst>
          </a:prstGeom>
          <a:solidFill>
            <a:srgbClr val="F5F0FF"/>
          </a:solidFill>
          <a:ln/>
          <a:effectLst>
            <a:outerShdw blurRad="76200" dist="25400" dir="2700000" algn="bl" rotWithShape="0">
              <a:srgbClr val="000000">
                <a:alpha val="10000"/>
              </a:srgbClr>
            </a:outerShdw>
          </a:effectLst>
        </p:spPr>
        <p:txBody>
          <a:bodyPr/>
          <a:lstStyle/>
          <a:p>
            <a:endParaRPr lang="fr-FR" noProof="0" dirty="0"/>
          </a:p>
        </p:txBody>
      </p:sp>
      <p:pic>
        <p:nvPicPr>
          <p:cNvPr id="6" name="Image 0" descr="preencoded.png"/>
          <p:cNvPicPr>
            <a:picLocks noChangeAspect="1"/>
          </p:cNvPicPr>
          <p:nvPr/>
        </p:nvPicPr>
        <p:blipFill>
          <a:blip r:embed="rId3"/>
          <a:stretch>
            <a:fillRect/>
          </a:stretch>
        </p:blipFill>
        <p:spPr>
          <a:xfrm>
            <a:off x="1463040" y="1874520"/>
            <a:ext cx="457200" cy="457200"/>
          </a:xfrm>
          <a:prstGeom prst="rect">
            <a:avLst/>
          </a:prstGeom>
        </p:spPr>
      </p:pic>
      <p:sp>
        <p:nvSpPr>
          <p:cNvPr id="7" name="Text 4"/>
          <p:cNvSpPr/>
          <p:nvPr/>
        </p:nvSpPr>
        <p:spPr>
          <a:xfrm>
            <a:off x="384048" y="2441448"/>
            <a:ext cx="2615184" cy="365760"/>
          </a:xfrm>
          <a:prstGeom prst="rect">
            <a:avLst/>
          </a:prstGeom>
          <a:noFill/>
          <a:ln/>
        </p:spPr>
        <p:txBody>
          <a:bodyPr wrap="square" rtlCol="0" anchor="ctr"/>
          <a:lstStyle/>
          <a:p>
            <a:pPr marL="0" indent="0" algn="ctr">
              <a:buNone/>
            </a:pPr>
            <a:r>
              <a:rPr lang="fr-FR" sz="1200" b="1" noProof="0" dirty="0">
                <a:solidFill>
                  <a:srgbClr val="7B5EA7"/>
                </a:solidFill>
                <a:latin typeface="Cambria" pitchFamily="34" charset="0"/>
                <a:ea typeface="Cambria" pitchFamily="34" charset="-122"/>
                <a:cs typeface="Cambria" pitchFamily="34" charset="-120"/>
              </a:rPr>
              <a:t>Europe occidentale</a:t>
            </a:r>
            <a:endParaRPr lang="fr-FR" sz="1200" noProof="0" dirty="0"/>
          </a:p>
        </p:txBody>
      </p:sp>
      <p:sp>
        <p:nvSpPr>
          <p:cNvPr id="8" name="Text 5"/>
          <p:cNvSpPr/>
          <p:nvPr/>
        </p:nvSpPr>
        <p:spPr>
          <a:xfrm>
            <a:off x="384048" y="2862072"/>
            <a:ext cx="2615184" cy="1554480"/>
          </a:xfrm>
          <a:prstGeom prst="rect">
            <a:avLst/>
          </a:prstGeom>
          <a:noFill/>
          <a:ln/>
        </p:spPr>
        <p:txBody>
          <a:bodyPr wrap="square" rtlCol="0" anchor="t"/>
          <a:lstStyle/>
          <a:p>
            <a:pPr marL="0" indent="0" algn="ctr">
              <a:buNone/>
            </a:pPr>
            <a:r>
              <a:rPr lang="fr-FR" sz="1200" noProof="0" dirty="0">
                <a:solidFill>
                  <a:srgbClr val="1A2A1A"/>
                </a:solidFill>
                <a:latin typeface="Calibri" pitchFamily="34" charset="0"/>
                <a:ea typeface="Calibri" pitchFamily="34" charset="-122"/>
                <a:cs typeface="Calibri" pitchFamily="34" charset="-120"/>
              </a:rPr>
              <a:t>Allemagne, UK, Belgique, Danemark,</a:t>
            </a:r>
            <a:endParaRPr lang="fr-FR" sz="1200" noProof="0" dirty="0"/>
          </a:p>
          <a:p>
            <a:pPr marL="0" indent="0" algn="ctr">
              <a:buNone/>
            </a:pPr>
            <a:r>
              <a:rPr lang="fr-FR" sz="1200" noProof="0" dirty="0">
                <a:solidFill>
                  <a:srgbClr val="1A2A1A"/>
                </a:solidFill>
                <a:latin typeface="Calibri" pitchFamily="34" charset="0"/>
                <a:ea typeface="Calibri" pitchFamily="34" charset="-122"/>
                <a:cs typeface="Calibri" pitchFamily="34" charset="-120"/>
              </a:rPr>
              <a:t>Suède, Suisse, Autriche, Finlande,</a:t>
            </a:r>
            <a:endParaRPr lang="fr-FR" sz="1200" noProof="0" dirty="0"/>
          </a:p>
          <a:p>
            <a:pPr marL="0" indent="0" algn="ctr">
              <a:buNone/>
            </a:pPr>
            <a:r>
              <a:rPr lang="fr-FR" sz="1200" noProof="0" dirty="0">
                <a:solidFill>
                  <a:srgbClr val="1A2A1A"/>
                </a:solidFill>
                <a:latin typeface="Calibri" pitchFamily="34" charset="0"/>
                <a:ea typeface="Calibri" pitchFamily="34" charset="-122"/>
                <a:cs typeface="Calibri" pitchFamily="34" charset="-120"/>
              </a:rPr>
              <a:t>Irlande, Islande, </a:t>
            </a:r>
            <a:r>
              <a:rPr lang="fr-FR" sz="1200" noProof="0" dirty="0" err="1">
                <a:solidFill>
                  <a:srgbClr val="1A2A1A"/>
                </a:solidFill>
                <a:latin typeface="Calibri" pitchFamily="34" charset="0"/>
                <a:ea typeface="Calibri" pitchFamily="34" charset="-122"/>
                <a:cs typeface="Calibri" pitchFamily="34" charset="-120"/>
              </a:rPr>
              <a:t>Rép</a:t>
            </a:r>
            <a:r>
              <a:rPr lang="fr-FR" sz="1200" noProof="0" dirty="0">
                <a:solidFill>
                  <a:srgbClr val="1A2A1A"/>
                </a:solidFill>
                <a:latin typeface="Calibri" pitchFamily="34" charset="0"/>
                <a:ea typeface="Calibri" pitchFamily="34" charset="-122"/>
                <a:cs typeface="Calibri" pitchFamily="34" charset="-120"/>
              </a:rPr>
              <a:t>. Tchèque…</a:t>
            </a:r>
            <a:endParaRPr lang="fr-FR" sz="1200" noProof="0" dirty="0"/>
          </a:p>
        </p:txBody>
      </p:sp>
      <p:sp>
        <p:nvSpPr>
          <p:cNvPr id="9" name="Shape 6"/>
          <p:cNvSpPr/>
          <p:nvPr/>
        </p:nvSpPr>
        <p:spPr>
          <a:xfrm>
            <a:off x="3291840" y="1691640"/>
            <a:ext cx="2743200" cy="2926080"/>
          </a:xfrm>
          <a:prstGeom prst="roundRect">
            <a:avLst>
              <a:gd name="adj" fmla="val 4000"/>
            </a:avLst>
          </a:prstGeom>
          <a:solidFill>
            <a:srgbClr val="F5F0FF"/>
          </a:solidFill>
          <a:ln/>
          <a:effectLst>
            <a:outerShdw blurRad="76200" dist="25400" dir="2700000" algn="bl" rotWithShape="0">
              <a:srgbClr val="000000">
                <a:alpha val="10000"/>
              </a:srgbClr>
            </a:outerShdw>
          </a:effectLst>
        </p:spPr>
        <p:txBody>
          <a:bodyPr/>
          <a:lstStyle/>
          <a:p>
            <a:endParaRPr lang="fr-FR" noProof="0" dirty="0"/>
          </a:p>
        </p:txBody>
      </p:sp>
      <p:pic>
        <p:nvPicPr>
          <p:cNvPr id="10" name="Image 1" descr="preencoded.png"/>
          <p:cNvPicPr>
            <a:picLocks noChangeAspect="1"/>
          </p:cNvPicPr>
          <p:nvPr/>
        </p:nvPicPr>
        <p:blipFill>
          <a:blip r:embed="rId4"/>
          <a:stretch>
            <a:fillRect/>
          </a:stretch>
        </p:blipFill>
        <p:spPr>
          <a:xfrm>
            <a:off x="4434840" y="1874520"/>
            <a:ext cx="457200" cy="457200"/>
          </a:xfrm>
          <a:prstGeom prst="rect">
            <a:avLst/>
          </a:prstGeom>
        </p:spPr>
      </p:pic>
      <p:sp>
        <p:nvSpPr>
          <p:cNvPr id="11" name="Text 7"/>
          <p:cNvSpPr/>
          <p:nvPr/>
        </p:nvSpPr>
        <p:spPr>
          <a:xfrm>
            <a:off x="3401568" y="2441448"/>
            <a:ext cx="2523744" cy="365760"/>
          </a:xfrm>
          <a:prstGeom prst="rect">
            <a:avLst/>
          </a:prstGeom>
          <a:noFill/>
          <a:ln/>
        </p:spPr>
        <p:txBody>
          <a:bodyPr wrap="square" rtlCol="0" anchor="ctr"/>
          <a:lstStyle/>
          <a:p>
            <a:pPr marL="0" indent="0" algn="ctr">
              <a:buNone/>
            </a:pPr>
            <a:r>
              <a:rPr lang="fr-FR" sz="1200" b="1" noProof="0" dirty="0">
                <a:solidFill>
                  <a:srgbClr val="7B5EA7"/>
                </a:solidFill>
                <a:latin typeface="Cambria" pitchFamily="34" charset="0"/>
                <a:ea typeface="Cambria" pitchFamily="34" charset="-122"/>
                <a:cs typeface="Cambria" pitchFamily="34" charset="-120"/>
              </a:rPr>
              <a:t>Asie-Pacifique</a:t>
            </a:r>
            <a:endParaRPr lang="fr-FR" sz="1200" noProof="0" dirty="0"/>
          </a:p>
        </p:txBody>
      </p:sp>
      <p:sp>
        <p:nvSpPr>
          <p:cNvPr id="12" name="Text 8"/>
          <p:cNvSpPr/>
          <p:nvPr/>
        </p:nvSpPr>
        <p:spPr>
          <a:xfrm>
            <a:off x="3401568" y="2862072"/>
            <a:ext cx="2523744" cy="1554480"/>
          </a:xfrm>
          <a:prstGeom prst="rect">
            <a:avLst/>
          </a:prstGeom>
          <a:noFill/>
          <a:ln/>
        </p:spPr>
        <p:txBody>
          <a:bodyPr wrap="square" rtlCol="0" anchor="t"/>
          <a:lstStyle/>
          <a:p>
            <a:pPr marL="0" indent="0" algn="ctr">
              <a:buNone/>
            </a:pPr>
            <a:r>
              <a:rPr lang="fr-FR" sz="1200" noProof="0" dirty="0">
                <a:solidFill>
                  <a:srgbClr val="1A2A1A"/>
                </a:solidFill>
                <a:latin typeface="Calibri" pitchFamily="34" charset="0"/>
                <a:ea typeface="Calibri" pitchFamily="34" charset="-122"/>
                <a:cs typeface="Calibri" pitchFamily="34" charset="-120"/>
              </a:rPr>
              <a:t>Japon, Corée du Sud,</a:t>
            </a:r>
            <a:endParaRPr lang="fr-FR" sz="1200" noProof="0" dirty="0"/>
          </a:p>
          <a:p>
            <a:pPr marL="0" indent="0" algn="ctr">
              <a:buNone/>
            </a:pPr>
            <a:r>
              <a:rPr lang="fr-FR" sz="1200" noProof="0" dirty="0">
                <a:solidFill>
                  <a:srgbClr val="1A2A1A"/>
                </a:solidFill>
                <a:latin typeface="Calibri" pitchFamily="34" charset="0"/>
                <a:ea typeface="Calibri" pitchFamily="34" charset="-122"/>
                <a:cs typeface="Calibri" pitchFamily="34" charset="-120"/>
              </a:rPr>
              <a:t>Australie, Nouvelle-Zélande,</a:t>
            </a:r>
            <a:endParaRPr lang="fr-FR" sz="1200" noProof="0" dirty="0"/>
          </a:p>
          <a:p>
            <a:pPr marL="0" indent="0" algn="ctr">
              <a:buNone/>
            </a:pPr>
            <a:r>
              <a:rPr lang="fr-FR" sz="1200" noProof="0" dirty="0">
                <a:solidFill>
                  <a:srgbClr val="1A2A1A"/>
                </a:solidFill>
                <a:latin typeface="Calibri" pitchFamily="34" charset="0"/>
                <a:ea typeface="Calibri" pitchFamily="34" charset="-122"/>
                <a:cs typeface="Calibri" pitchFamily="34" charset="-120"/>
              </a:rPr>
              <a:t>Israël…</a:t>
            </a:r>
            <a:endParaRPr lang="fr-FR" sz="1200" noProof="0" dirty="0"/>
          </a:p>
        </p:txBody>
      </p:sp>
      <p:sp>
        <p:nvSpPr>
          <p:cNvPr id="13" name="Shape 9"/>
          <p:cNvSpPr/>
          <p:nvPr/>
        </p:nvSpPr>
        <p:spPr>
          <a:xfrm>
            <a:off x="6217920" y="1691640"/>
            <a:ext cx="2651760" cy="2926080"/>
          </a:xfrm>
          <a:prstGeom prst="roundRect">
            <a:avLst>
              <a:gd name="adj" fmla="val 4138"/>
            </a:avLst>
          </a:prstGeom>
          <a:solidFill>
            <a:srgbClr val="F5F0FF"/>
          </a:solidFill>
          <a:ln/>
          <a:effectLst>
            <a:outerShdw blurRad="76200" dist="25400" dir="2700000" algn="bl" rotWithShape="0">
              <a:srgbClr val="000000">
                <a:alpha val="10000"/>
              </a:srgbClr>
            </a:outerShdw>
          </a:effectLst>
        </p:spPr>
        <p:txBody>
          <a:bodyPr/>
          <a:lstStyle/>
          <a:p>
            <a:endParaRPr lang="fr-FR" noProof="0" dirty="0"/>
          </a:p>
        </p:txBody>
      </p:sp>
      <p:pic>
        <p:nvPicPr>
          <p:cNvPr id="14" name="Image 2" descr="preencoded.png"/>
          <p:cNvPicPr>
            <a:picLocks noChangeAspect="1"/>
          </p:cNvPicPr>
          <p:nvPr/>
        </p:nvPicPr>
        <p:blipFill>
          <a:blip r:embed="rId5"/>
          <a:stretch>
            <a:fillRect/>
          </a:stretch>
        </p:blipFill>
        <p:spPr>
          <a:xfrm>
            <a:off x="7315200" y="1874520"/>
            <a:ext cx="457200" cy="457200"/>
          </a:xfrm>
          <a:prstGeom prst="rect">
            <a:avLst/>
          </a:prstGeom>
        </p:spPr>
      </p:pic>
      <p:sp>
        <p:nvSpPr>
          <p:cNvPr id="15" name="Text 10"/>
          <p:cNvSpPr/>
          <p:nvPr/>
        </p:nvSpPr>
        <p:spPr>
          <a:xfrm>
            <a:off x="6327648" y="2441448"/>
            <a:ext cx="2432304" cy="365760"/>
          </a:xfrm>
          <a:prstGeom prst="rect">
            <a:avLst/>
          </a:prstGeom>
          <a:noFill/>
          <a:ln/>
        </p:spPr>
        <p:txBody>
          <a:bodyPr wrap="square" rtlCol="0" anchor="ctr"/>
          <a:lstStyle/>
          <a:p>
            <a:pPr marL="0" indent="0" algn="ctr">
              <a:buNone/>
            </a:pPr>
            <a:r>
              <a:rPr lang="fr-FR" sz="1200" b="1" noProof="0" dirty="0">
                <a:solidFill>
                  <a:srgbClr val="7B5EA7"/>
                </a:solidFill>
                <a:latin typeface="Cambria" pitchFamily="34" charset="0"/>
                <a:ea typeface="Cambria" pitchFamily="34" charset="-122"/>
                <a:cs typeface="Cambria" pitchFamily="34" charset="-120"/>
              </a:rPr>
              <a:t>Amériques &amp; autres</a:t>
            </a:r>
            <a:endParaRPr lang="fr-FR" sz="1200" noProof="0" dirty="0"/>
          </a:p>
        </p:txBody>
      </p:sp>
      <p:sp>
        <p:nvSpPr>
          <p:cNvPr id="16" name="Text 11"/>
          <p:cNvSpPr/>
          <p:nvPr/>
        </p:nvSpPr>
        <p:spPr>
          <a:xfrm>
            <a:off x="6327648" y="2862072"/>
            <a:ext cx="2432304" cy="1554480"/>
          </a:xfrm>
          <a:prstGeom prst="rect">
            <a:avLst/>
          </a:prstGeom>
          <a:noFill/>
          <a:ln/>
        </p:spPr>
        <p:txBody>
          <a:bodyPr wrap="square" rtlCol="0" anchor="t"/>
          <a:lstStyle/>
          <a:p>
            <a:pPr marL="0" indent="0" algn="ctr">
              <a:buNone/>
            </a:pPr>
            <a:r>
              <a:rPr lang="fr-FR" sz="1200" noProof="0" dirty="0">
                <a:solidFill>
                  <a:srgbClr val="1A2A1A"/>
                </a:solidFill>
                <a:latin typeface="Calibri" pitchFamily="34" charset="0"/>
                <a:ea typeface="Calibri" pitchFamily="34" charset="-122"/>
                <a:cs typeface="Calibri" pitchFamily="34" charset="-120"/>
              </a:rPr>
              <a:t>Canada, États-Unis, Argentine,</a:t>
            </a:r>
            <a:endParaRPr lang="fr-FR" sz="1200" noProof="0" dirty="0"/>
          </a:p>
          <a:p>
            <a:pPr marL="0" indent="0" algn="ctr">
              <a:buNone/>
            </a:pPr>
            <a:r>
              <a:rPr lang="fr-FR" sz="1200" noProof="0" dirty="0">
                <a:solidFill>
                  <a:srgbClr val="1A2A1A"/>
                </a:solidFill>
                <a:latin typeface="Calibri" pitchFamily="34" charset="0"/>
                <a:ea typeface="Calibri" pitchFamily="34" charset="-122"/>
                <a:cs typeface="Calibri" pitchFamily="34" charset="-120"/>
              </a:rPr>
              <a:t>Émirats arabes unis,</a:t>
            </a:r>
            <a:endParaRPr lang="fr-FR" sz="1200" noProof="0" dirty="0"/>
          </a:p>
          <a:p>
            <a:pPr marL="0" indent="0" algn="ctr">
              <a:buNone/>
            </a:pPr>
            <a:r>
              <a:rPr lang="fr-FR" sz="1200" noProof="0" dirty="0">
                <a:solidFill>
                  <a:srgbClr val="1A2A1A"/>
                </a:solidFill>
                <a:latin typeface="Calibri" pitchFamily="34" charset="0"/>
                <a:ea typeface="Calibri" pitchFamily="34" charset="-122"/>
                <a:cs typeface="Calibri" pitchFamily="34" charset="-120"/>
              </a:rPr>
              <a:t>Maurice, Trinité-et-Tobago…</a:t>
            </a:r>
            <a:endParaRPr lang="fr-FR" sz="1200" noProof="0" dirty="0"/>
          </a:p>
        </p:txBody>
      </p:sp>
      <p:sp>
        <p:nvSpPr>
          <p:cNvPr id="17" name="Text 12"/>
          <p:cNvSpPr/>
          <p:nvPr/>
        </p:nvSpPr>
        <p:spPr>
          <a:xfrm>
            <a:off x="365760" y="4773168"/>
            <a:ext cx="8412480" cy="274320"/>
          </a:xfrm>
          <a:prstGeom prst="rect">
            <a:avLst/>
          </a:prstGeom>
          <a:noFill/>
          <a:ln/>
        </p:spPr>
        <p:txBody>
          <a:bodyPr wrap="square" rtlCol="0" anchor="ctr"/>
          <a:lstStyle/>
          <a:p>
            <a:pPr marL="0" indent="0">
              <a:buNone/>
            </a:pPr>
            <a:r>
              <a:rPr lang="fr-FR" sz="900" i="1" noProof="0" dirty="0">
                <a:solidFill>
                  <a:srgbClr val="6B7C6B"/>
                </a:solidFill>
                <a:latin typeface="Calibri" pitchFamily="34" charset="0"/>
                <a:ea typeface="Calibri" pitchFamily="34" charset="-122"/>
                <a:cs typeface="Calibri" pitchFamily="34" charset="-120"/>
              </a:rPr>
              <a:t>* France retirée de l'analyse (marché domestique)</a:t>
            </a:r>
            <a:endParaRPr lang="fr-FR" sz="900" noProof="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2A"/>
          </a:solidFill>
          <a:ln/>
        </p:spPr>
        <p:txBody>
          <a:bodyPr/>
          <a:lstStyle/>
          <a:p>
            <a:endParaRPr lang="fr-FR" noProof="0" dirty="0"/>
          </a:p>
        </p:txBody>
      </p:sp>
      <p:sp>
        <p:nvSpPr>
          <p:cNvPr id="3" name="Text 1"/>
          <p:cNvSpPr/>
          <p:nvPr/>
        </p:nvSpPr>
        <p:spPr>
          <a:xfrm>
            <a:off x="365760" y="137160"/>
            <a:ext cx="8229600" cy="731520"/>
          </a:xfrm>
          <a:prstGeom prst="rect">
            <a:avLst/>
          </a:prstGeom>
          <a:noFill/>
          <a:ln/>
        </p:spPr>
        <p:txBody>
          <a:bodyPr wrap="square" rtlCol="0" anchor="ctr"/>
          <a:lstStyle/>
          <a:p>
            <a:pPr marL="0" indent="0">
              <a:buNone/>
            </a:pPr>
            <a:r>
              <a:rPr lang="fr-FR" sz="2800" b="1" noProof="0" dirty="0">
                <a:solidFill>
                  <a:srgbClr val="FFFFFF"/>
                </a:solidFill>
                <a:latin typeface="Cambria" pitchFamily="34" charset="0"/>
                <a:ea typeface="Cambria" pitchFamily="34" charset="-122"/>
                <a:cs typeface="Cambria" pitchFamily="34" charset="-120"/>
              </a:rPr>
              <a:t>Synthèse — 3 messages clés</a:t>
            </a:r>
            <a:endParaRPr lang="fr-FR" sz="2800" noProof="0" dirty="0"/>
          </a:p>
        </p:txBody>
      </p:sp>
      <p:sp>
        <p:nvSpPr>
          <p:cNvPr id="4" name="Shape 2"/>
          <p:cNvSpPr/>
          <p:nvPr/>
        </p:nvSpPr>
        <p:spPr>
          <a:xfrm>
            <a:off x="365760" y="1188720"/>
            <a:ext cx="8412480" cy="1097280"/>
          </a:xfrm>
          <a:prstGeom prst="roundRect">
            <a:avLst>
              <a:gd name="adj" fmla="val 10000"/>
            </a:avLst>
          </a:prstGeom>
          <a:solidFill>
            <a:srgbClr val="EFF5EE"/>
          </a:solidFill>
          <a:ln/>
          <a:effectLst>
            <a:outerShdw blurRad="76200" dist="25400" dir="2700000" algn="bl" rotWithShape="0">
              <a:srgbClr val="000000">
                <a:alpha val="10000"/>
              </a:srgbClr>
            </a:outerShdw>
          </a:effectLst>
        </p:spPr>
        <p:txBody>
          <a:bodyPr/>
          <a:lstStyle/>
          <a:p>
            <a:endParaRPr lang="fr-FR" noProof="0" dirty="0"/>
          </a:p>
        </p:txBody>
      </p:sp>
      <p:sp>
        <p:nvSpPr>
          <p:cNvPr id="5" name="Shape 3"/>
          <p:cNvSpPr/>
          <p:nvPr/>
        </p:nvSpPr>
        <p:spPr>
          <a:xfrm>
            <a:off x="502920" y="1444752"/>
            <a:ext cx="594360" cy="594360"/>
          </a:xfrm>
          <a:prstGeom prst="ellipse">
            <a:avLst/>
          </a:prstGeom>
          <a:solidFill>
            <a:srgbClr val="2C5F2D"/>
          </a:solidFill>
          <a:ln/>
        </p:spPr>
        <p:txBody>
          <a:bodyPr/>
          <a:lstStyle/>
          <a:p>
            <a:endParaRPr lang="fr-FR" noProof="0" dirty="0"/>
          </a:p>
        </p:txBody>
      </p:sp>
      <p:sp>
        <p:nvSpPr>
          <p:cNvPr id="6" name="Text 4"/>
          <p:cNvSpPr/>
          <p:nvPr/>
        </p:nvSpPr>
        <p:spPr>
          <a:xfrm>
            <a:off x="502920" y="1444752"/>
            <a:ext cx="594360" cy="594360"/>
          </a:xfrm>
          <a:prstGeom prst="rect">
            <a:avLst/>
          </a:prstGeom>
          <a:noFill/>
          <a:ln/>
        </p:spPr>
        <p:txBody>
          <a:bodyPr wrap="square" rtlCol="0" anchor="ctr"/>
          <a:lstStyle/>
          <a:p>
            <a:pPr marL="0" indent="0" algn="ctr">
              <a:buNone/>
            </a:pPr>
            <a:r>
              <a:rPr lang="fr-FR" sz="2000" b="1" noProof="0" dirty="0">
                <a:solidFill>
                  <a:srgbClr val="FFFFFF"/>
                </a:solidFill>
                <a:latin typeface="Cambria" pitchFamily="34" charset="0"/>
                <a:ea typeface="Cambria" pitchFamily="34" charset="-122"/>
                <a:cs typeface="Cambria" pitchFamily="34" charset="-120"/>
              </a:rPr>
              <a:t>1</a:t>
            </a:r>
            <a:endParaRPr lang="fr-FR" sz="2000" noProof="0" dirty="0"/>
          </a:p>
        </p:txBody>
      </p:sp>
      <p:sp>
        <p:nvSpPr>
          <p:cNvPr id="7" name="Text 5"/>
          <p:cNvSpPr/>
          <p:nvPr/>
        </p:nvSpPr>
        <p:spPr>
          <a:xfrm>
            <a:off x="1188720" y="1261872"/>
            <a:ext cx="7223760" cy="384048"/>
          </a:xfrm>
          <a:prstGeom prst="rect">
            <a:avLst/>
          </a:prstGeom>
          <a:noFill/>
          <a:ln/>
        </p:spPr>
        <p:txBody>
          <a:bodyPr wrap="square" rtlCol="0" anchor="ctr"/>
          <a:lstStyle/>
          <a:p>
            <a:pPr marL="0" indent="0">
              <a:buNone/>
            </a:pPr>
            <a:r>
              <a:rPr lang="fr-FR" sz="1400" b="1" noProof="0" dirty="0">
                <a:solidFill>
                  <a:srgbClr val="1A3A2A"/>
                </a:solidFill>
                <a:latin typeface="Cambria" pitchFamily="34" charset="0"/>
                <a:ea typeface="Cambria" pitchFamily="34" charset="-122"/>
                <a:cs typeface="Cambria" pitchFamily="34" charset="-120"/>
              </a:rPr>
              <a:t>Un clustering solide et validé</a:t>
            </a:r>
            <a:endParaRPr lang="fr-FR" sz="1400" noProof="0" dirty="0"/>
          </a:p>
        </p:txBody>
      </p:sp>
      <p:sp>
        <p:nvSpPr>
          <p:cNvPr id="8" name="Text 6"/>
          <p:cNvSpPr/>
          <p:nvPr/>
        </p:nvSpPr>
        <p:spPr>
          <a:xfrm>
            <a:off x="1188720" y="1664208"/>
            <a:ext cx="7223760" cy="548640"/>
          </a:xfrm>
          <a:prstGeom prst="rect">
            <a:avLst/>
          </a:prstGeom>
          <a:noFill/>
          <a:ln/>
        </p:spPr>
        <p:txBody>
          <a:bodyPr wrap="square" rtlCol="0" anchor="ctr"/>
          <a:lstStyle/>
          <a:p>
            <a:pPr marL="0" indent="0">
              <a:buNone/>
            </a:pPr>
            <a:r>
              <a:rPr lang="fr-FR" sz="1100" noProof="0" dirty="0">
                <a:solidFill>
                  <a:srgbClr val="1A2A1A"/>
                </a:solidFill>
                <a:latin typeface="Calibri" pitchFamily="34" charset="0"/>
                <a:ea typeface="Calibri" pitchFamily="34" charset="-122"/>
                <a:cs typeface="Calibri" pitchFamily="34" charset="-120"/>
              </a:rPr>
              <a:t>131 pays segmentés en 4 groupes cohérents via ACP + K-Means. Score silhouette satisfaisant, résultats interprétables et alignés avec la réalité économique mondiale.</a:t>
            </a:r>
            <a:endParaRPr lang="fr-FR" sz="1100" noProof="0" dirty="0"/>
          </a:p>
        </p:txBody>
      </p:sp>
      <p:sp>
        <p:nvSpPr>
          <p:cNvPr id="9" name="Shape 7"/>
          <p:cNvSpPr/>
          <p:nvPr/>
        </p:nvSpPr>
        <p:spPr>
          <a:xfrm>
            <a:off x="365760" y="2423160"/>
            <a:ext cx="8412480" cy="1097280"/>
          </a:xfrm>
          <a:prstGeom prst="roundRect">
            <a:avLst>
              <a:gd name="adj" fmla="val 10000"/>
            </a:avLst>
          </a:prstGeom>
          <a:solidFill>
            <a:srgbClr val="EFF5EE"/>
          </a:solidFill>
          <a:ln/>
          <a:effectLst>
            <a:outerShdw blurRad="76200" dist="25400" dir="2700000" algn="bl" rotWithShape="0">
              <a:srgbClr val="000000">
                <a:alpha val="10000"/>
              </a:srgbClr>
            </a:outerShdw>
          </a:effectLst>
        </p:spPr>
        <p:txBody>
          <a:bodyPr/>
          <a:lstStyle/>
          <a:p>
            <a:endParaRPr lang="fr-FR" noProof="0" dirty="0"/>
          </a:p>
        </p:txBody>
      </p:sp>
      <p:sp>
        <p:nvSpPr>
          <p:cNvPr id="10" name="Shape 8"/>
          <p:cNvSpPr/>
          <p:nvPr/>
        </p:nvSpPr>
        <p:spPr>
          <a:xfrm>
            <a:off x="502920" y="2679192"/>
            <a:ext cx="594360" cy="594360"/>
          </a:xfrm>
          <a:prstGeom prst="ellipse">
            <a:avLst/>
          </a:prstGeom>
          <a:solidFill>
            <a:srgbClr val="7B5EA7"/>
          </a:solidFill>
          <a:ln/>
        </p:spPr>
        <p:txBody>
          <a:bodyPr/>
          <a:lstStyle/>
          <a:p>
            <a:endParaRPr lang="fr-FR" noProof="0" dirty="0"/>
          </a:p>
        </p:txBody>
      </p:sp>
      <p:sp>
        <p:nvSpPr>
          <p:cNvPr id="11" name="Text 9"/>
          <p:cNvSpPr/>
          <p:nvPr/>
        </p:nvSpPr>
        <p:spPr>
          <a:xfrm>
            <a:off x="502920" y="2679192"/>
            <a:ext cx="594360" cy="594360"/>
          </a:xfrm>
          <a:prstGeom prst="rect">
            <a:avLst/>
          </a:prstGeom>
          <a:noFill/>
          <a:ln/>
        </p:spPr>
        <p:txBody>
          <a:bodyPr wrap="square" rtlCol="0" anchor="ctr"/>
          <a:lstStyle/>
          <a:p>
            <a:pPr marL="0" indent="0" algn="ctr">
              <a:buNone/>
            </a:pPr>
            <a:r>
              <a:rPr lang="fr-FR" sz="2000" b="1" noProof="0" dirty="0">
                <a:solidFill>
                  <a:srgbClr val="FFFFFF"/>
                </a:solidFill>
                <a:latin typeface="Cambria" pitchFamily="34" charset="0"/>
                <a:ea typeface="Cambria" pitchFamily="34" charset="-122"/>
                <a:cs typeface="Cambria" pitchFamily="34" charset="-120"/>
              </a:rPr>
              <a:t>2</a:t>
            </a:r>
            <a:endParaRPr lang="fr-FR" sz="2000" noProof="0" dirty="0"/>
          </a:p>
        </p:txBody>
      </p:sp>
      <p:sp>
        <p:nvSpPr>
          <p:cNvPr id="12" name="Text 10"/>
          <p:cNvSpPr/>
          <p:nvPr/>
        </p:nvSpPr>
        <p:spPr>
          <a:xfrm>
            <a:off x="1188720" y="2496312"/>
            <a:ext cx="7223760" cy="384048"/>
          </a:xfrm>
          <a:prstGeom prst="rect">
            <a:avLst/>
          </a:prstGeom>
          <a:noFill/>
          <a:ln/>
        </p:spPr>
        <p:txBody>
          <a:bodyPr wrap="square" rtlCol="0" anchor="ctr"/>
          <a:lstStyle/>
          <a:p>
            <a:pPr marL="0" indent="0">
              <a:buNone/>
            </a:pPr>
            <a:r>
              <a:rPr lang="fr-FR" sz="1400" b="1" noProof="0" dirty="0">
                <a:solidFill>
                  <a:srgbClr val="1A3A2A"/>
                </a:solidFill>
                <a:latin typeface="Cambria" pitchFamily="34" charset="0"/>
                <a:ea typeface="Cambria" pitchFamily="34" charset="-122"/>
                <a:cs typeface="Cambria" pitchFamily="34" charset="-120"/>
              </a:rPr>
              <a:t>Un marché cible clairement identifié</a:t>
            </a:r>
            <a:endParaRPr lang="fr-FR" sz="1400" noProof="0" dirty="0"/>
          </a:p>
        </p:txBody>
      </p:sp>
      <p:sp>
        <p:nvSpPr>
          <p:cNvPr id="13" name="Text 11"/>
          <p:cNvSpPr/>
          <p:nvPr/>
        </p:nvSpPr>
        <p:spPr>
          <a:xfrm>
            <a:off x="1188720" y="2898648"/>
            <a:ext cx="7223760" cy="548640"/>
          </a:xfrm>
          <a:prstGeom prst="rect">
            <a:avLst/>
          </a:prstGeom>
          <a:noFill/>
          <a:ln/>
        </p:spPr>
        <p:txBody>
          <a:bodyPr wrap="square" rtlCol="0" anchor="ctr"/>
          <a:lstStyle/>
          <a:p>
            <a:pPr marL="0" indent="0">
              <a:buNone/>
            </a:pPr>
            <a:r>
              <a:rPr lang="fr-FR" sz="1100" noProof="0" dirty="0">
                <a:solidFill>
                  <a:srgbClr val="1A2A1A"/>
                </a:solidFill>
                <a:latin typeface="Calibri" pitchFamily="34" charset="0"/>
                <a:ea typeface="Calibri" pitchFamily="34" charset="-122"/>
                <a:cs typeface="Calibri" pitchFamily="34" charset="-120"/>
              </a:rPr>
              <a:t>Le Cluster 2 (37 pays développés importateurs) cumule pouvoir d'achat élevé, forte dépendance aux imports (16.8 kg/</a:t>
            </a:r>
            <a:r>
              <a:rPr lang="fr-FR" sz="1100" noProof="0" dirty="0" err="1">
                <a:solidFill>
                  <a:srgbClr val="1A2A1A"/>
                </a:solidFill>
                <a:latin typeface="Calibri" pitchFamily="34" charset="0"/>
                <a:ea typeface="Calibri" pitchFamily="34" charset="-122"/>
                <a:cs typeface="Calibri" pitchFamily="34" charset="-120"/>
              </a:rPr>
              <a:t>hab</a:t>
            </a:r>
            <a:r>
              <a:rPr lang="fr-FR" sz="1100" noProof="0" dirty="0">
                <a:solidFill>
                  <a:srgbClr val="1A2A1A"/>
                </a:solidFill>
                <a:latin typeface="Calibri" pitchFamily="34" charset="0"/>
                <a:ea typeface="Calibri" pitchFamily="34" charset="-122"/>
                <a:cs typeface="Calibri" pitchFamily="34" charset="-120"/>
              </a:rPr>
              <a:t>) et environnement business favorable.</a:t>
            </a:r>
            <a:endParaRPr lang="fr-FR" sz="1100" noProof="0" dirty="0"/>
          </a:p>
        </p:txBody>
      </p:sp>
      <p:sp>
        <p:nvSpPr>
          <p:cNvPr id="14" name="Shape 12"/>
          <p:cNvSpPr/>
          <p:nvPr/>
        </p:nvSpPr>
        <p:spPr>
          <a:xfrm>
            <a:off x="365760" y="3657600"/>
            <a:ext cx="8412480" cy="1097280"/>
          </a:xfrm>
          <a:prstGeom prst="roundRect">
            <a:avLst>
              <a:gd name="adj" fmla="val 10000"/>
            </a:avLst>
          </a:prstGeom>
          <a:solidFill>
            <a:srgbClr val="EFF5EE"/>
          </a:solidFill>
          <a:ln/>
          <a:effectLst>
            <a:outerShdw blurRad="76200" dist="25400" dir="2700000" algn="bl" rotWithShape="0">
              <a:srgbClr val="000000">
                <a:alpha val="10000"/>
              </a:srgbClr>
            </a:outerShdw>
          </a:effectLst>
        </p:spPr>
        <p:txBody>
          <a:bodyPr/>
          <a:lstStyle/>
          <a:p>
            <a:endParaRPr lang="fr-FR" noProof="0" dirty="0"/>
          </a:p>
        </p:txBody>
      </p:sp>
      <p:sp>
        <p:nvSpPr>
          <p:cNvPr id="15" name="Shape 13"/>
          <p:cNvSpPr/>
          <p:nvPr/>
        </p:nvSpPr>
        <p:spPr>
          <a:xfrm>
            <a:off x="502920" y="3913632"/>
            <a:ext cx="594360" cy="594360"/>
          </a:xfrm>
          <a:prstGeom prst="ellipse">
            <a:avLst/>
          </a:prstGeom>
          <a:solidFill>
            <a:srgbClr val="E8A020"/>
          </a:solidFill>
          <a:ln/>
        </p:spPr>
        <p:txBody>
          <a:bodyPr/>
          <a:lstStyle/>
          <a:p>
            <a:endParaRPr lang="fr-FR" noProof="0" dirty="0"/>
          </a:p>
        </p:txBody>
      </p:sp>
      <p:sp>
        <p:nvSpPr>
          <p:cNvPr id="16" name="Text 14"/>
          <p:cNvSpPr/>
          <p:nvPr/>
        </p:nvSpPr>
        <p:spPr>
          <a:xfrm>
            <a:off x="502920" y="3913632"/>
            <a:ext cx="594360" cy="594360"/>
          </a:xfrm>
          <a:prstGeom prst="rect">
            <a:avLst/>
          </a:prstGeom>
          <a:noFill/>
          <a:ln/>
        </p:spPr>
        <p:txBody>
          <a:bodyPr wrap="square" rtlCol="0" anchor="ctr"/>
          <a:lstStyle/>
          <a:p>
            <a:pPr marL="0" indent="0" algn="ctr">
              <a:buNone/>
            </a:pPr>
            <a:r>
              <a:rPr lang="fr-FR" sz="2000" b="1" noProof="0" dirty="0">
                <a:solidFill>
                  <a:srgbClr val="FFFFFF"/>
                </a:solidFill>
                <a:latin typeface="Cambria" pitchFamily="34" charset="0"/>
                <a:ea typeface="Cambria" pitchFamily="34" charset="-122"/>
                <a:cs typeface="Cambria" pitchFamily="34" charset="-120"/>
              </a:rPr>
              <a:t>3</a:t>
            </a:r>
            <a:endParaRPr lang="fr-FR" sz="2000" noProof="0" dirty="0"/>
          </a:p>
        </p:txBody>
      </p:sp>
      <p:sp>
        <p:nvSpPr>
          <p:cNvPr id="17" name="Text 15"/>
          <p:cNvSpPr/>
          <p:nvPr/>
        </p:nvSpPr>
        <p:spPr>
          <a:xfrm>
            <a:off x="1188720" y="3730752"/>
            <a:ext cx="7223760" cy="384048"/>
          </a:xfrm>
          <a:prstGeom prst="rect">
            <a:avLst/>
          </a:prstGeom>
          <a:noFill/>
          <a:ln/>
        </p:spPr>
        <p:txBody>
          <a:bodyPr wrap="square" rtlCol="0" anchor="ctr"/>
          <a:lstStyle/>
          <a:p>
            <a:pPr marL="0" indent="0">
              <a:buNone/>
            </a:pPr>
            <a:r>
              <a:rPr lang="fr-FR" sz="1400" b="1" noProof="0" dirty="0">
                <a:solidFill>
                  <a:srgbClr val="1A3A2A"/>
                </a:solidFill>
                <a:latin typeface="Cambria" pitchFamily="34" charset="0"/>
                <a:ea typeface="Cambria" pitchFamily="34" charset="-122"/>
                <a:cs typeface="Cambria" pitchFamily="34" charset="-120"/>
              </a:rPr>
              <a:t>Des préconisations actionnables</a:t>
            </a:r>
            <a:endParaRPr lang="fr-FR" sz="1400" noProof="0" dirty="0"/>
          </a:p>
        </p:txBody>
      </p:sp>
      <p:sp>
        <p:nvSpPr>
          <p:cNvPr id="18" name="Text 16"/>
          <p:cNvSpPr/>
          <p:nvPr/>
        </p:nvSpPr>
        <p:spPr>
          <a:xfrm>
            <a:off x="1188720" y="4133088"/>
            <a:ext cx="7223760" cy="548640"/>
          </a:xfrm>
          <a:prstGeom prst="rect">
            <a:avLst/>
          </a:prstGeom>
          <a:noFill/>
          <a:ln/>
        </p:spPr>
        <p:txBody>
          <a:bodyPr wrap="square" rtlCol="0" anchor="ctr"/>
          <a:lstStyle/>
          <a:p>
            <a:pPr marL="0" indent="0">
              <a:buNone/>
            </a:pPr>
            <a:r>
              <a:rPr lang="fr-FR" sz="1100" noProof="0" dirty="0">
                <a:solidFill>
                  <a:srgbClr val="1A2A1A"/>
                </a:solidFill>
                <a:latin typeface="Calibri" pitchFamily="34" charset="0"/>
                <a:ea typeface="Calibri" pitchFamily="34" charset="-122"/>
                <a:cs typeface="Calibri" pitchFamily="34" charset="-120"/>
              </a:rPr>
              <a:t>Top 15 pays scorés et priorisés. Japon, Allemagne et Émirats arabes unis en tête — marchés à fort potentiel, prêts pour une étude de marché approfondie.</a:t>
            </a:r>
            <a:endParaRPr lang="fr-FR" sz="1100" noProof="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A3A2A"/>
        </a:solidFill>
        <a:effectLst/>
      </p:bgPr>
    </p:bg>
    <p:spTree>
      <p:nvGrpSpPr>
        <p:cNvPr id="1" name=""/>
        <p:cNvGrpSpPr/>
        <p:nvPr/>
      </p:nvGrpSpPr>
      <p:grpSpPr>
        <a:xfrm>
          <a:off x="0" y="0"/>
          <a:ext cx="0" cy="0"/>
          <a:chOff x="0" y="0"/>
          <a:chExt cx="0" cy="0"/>
        </a:xfrm>
      </p:grpSpPr>
      <p:sp>
        <p:nvSpPr>
          <p:cNvPr id="2" name="Shape 0"/>
          <p:cNvSpPr/>
          <p:nvPr/>
        </p:nvSpPr>
        <p:spPr>
          <a:xfrm>
            <a:off x="0" y="0"/>
            <a:ext cx="5303520" cy="5143500"/>
          </a:xfrm>
          <a:prstGeom prst="rect">
            <a:avLst/>
          </a:prstGeom>
          <a:solidFill>
            <a:srgbClr val="2C5F2D"/>
          </a:solidFill>
          <a:ln/>
        </p:spPr>
        <p:txBody>
          <a:bodyPr/>
          <a:lstStyle/>
          <a:p>
            <a:endParaRPr lang="fr-FR" noProof="0" dirty="0"/>
          </a:p>
        </p:txBody>
      </p:sp>
      <p:sp>
        <p:nvSpPr>
          <p:cNvPr id="3" name="Text 1"/>
          <p:cNvSpPr/>
          <p:nvPr/>
        </p:nvSpPr>
        <p:spPr>
          <a:xfrm>
            <a:off x="457200" y="1371600"/>
            <a:ext cx="4572000" cy="914400"/>
          </a:xfrm>
          <a:prstGeom prst="rect">
            <a:avLst/>
          </a:prstGeom>
          <a:noFill/>
          <a:ln/>
        </p:spPr>
        <p:txBody>
          <a:bodyPr wrap="square" rtlCol="0" anchor="ctr"/>
          <a:lstStyle/>
          <a:p>
            <a:pPr marL="0" indent="0" algn="l">
              <a:buNone/>
            </a:pPr>
            <a:r>
              <a:rPr lang="fr-FR" sz="5600" b="1" noProof="0" dirty="0">
                <a:solidFill>
                  <a:srgbClr val="FFFFFF"/>
                </a:solidFill>
                <a:latin typeface="Cambria" pitchFamily="34" charset="0"/>
                <a:ea typeface="Cambria" pitchFamily="34" charset="-122"/>
                <a:cs typeface="Cambria" pitchFamily="34" charset="-120"/>
              </a:rPr>
              <a:t>Merci.</a:t>
            </a:r>
            <a:endParaRPr lang="fr-FR" sz="5600" noProof="0" dirty="0"/>
          </a:p>
        </p:txBody>
      </p:sp>
      <p:sp>
        <p:nvSpPr>
          <p:cNvPr id="4" name="Text 2"/>
          <p:cNvSpPr/>
          <p:nvPr/>
        </p:nvSpPr>
        <p:spPr>
          <a:xfrm>
            <a:off x="457200" y="2331720"/>
            <a:ext cx="4572000" cy="640080"/>
          </a:xfrm>
          <a:prstGeom prst="rect">
            <a:avLst/>
          </a:prstGeom>
          <a:noFill/>
          <a:ln/>
        </p:spPr>
        <p:txBody>
          <a:bodyPr wrap="square" rtlCol="0" anchor="ctr"/>
          <a:lstStyle/>
          <a:p>
            <a:pPr marL="0" indent="0" algn="l">
              <a:buNone/>
            </a:pPr>
            <a:r>
              <a:rPr lang="fr-FR" sz="2400" noProof="0" dirty="0">
                <a:solidFill>
                  <a:srgbClr val="C8E6C9"/>
                </a:solidFill>
                <a:latin typeface="Calibri" pitchFamily="34" charset="0"/>
                <a:ea typeface="Calibri" pitchFamily="34" charset="-122"/>
                <a:cs typeface="Calibri" pitchFamily="34" charset="-120"/>
              </a:rPr>
              <a:t>Des questions ?</a:t>
            </a:r>
            <a:endParaRPr lang="fr-FR" sz="2400" noProof="0" dirty="0"/>
          </a:p>
        </p:txBody>
      </p:sp>
      <p:sp>
        <p:nvSpPr>
          <p:cNvPr id="5" name="Text 3"/>
          <p:cNvSpPr/>
          <p:nvPr/>
        </p:nvSpPr>
        <p:spPr>
          <a:xfrm>
            <a:off x="5669280" y="2011680"/>
            <a:ext cx="3200400" cy="1828800"/>
          </a:xfrm>
          <a:prstGeom prst="rect">
            <a:avLst/>
          </a:prstGeom>
          <a:noFill/>
          <a:ln/>
        </p:spPr>
        <p:txBody>
          <a:bodyPr wrap="square" rtlCol="0" anchor="ctr"/>
          <a:lstStyle/>
          <a:p>
            <a:pPr marL="0" indent="0">
              <a:buNone/>
            </a:pPr>
            <a:r>
              <a:rPr lang="fr-FR" sz="1600" b="1" noProof="0" dirty="0">
                <a:solidFill>
                  <a:srgbClr val="FFFFFF"/>
                </a:solidFill>
                <a:latin typeface="Calibri" pitchFamily="34" charset="0"/>
                <a:ea typeface="Calibri" pitchFamily="34" charset="-122"/>
                <a:cs typeface="Calibri" pitchFamily="34" charset="-120"/>
              </a:rPr>
              <a:t>Tristan DESPONT
</a:t>
            </a:r>
            <a:r>
              <a:rPr lang="fr-FR" sz="1300" noProof="0" dirty="0">
                <a:solidFill>
                  <a:srgbClr val="C8E6C9"/>
                </a:solidFill>
                <a:latin typeface="Calibri" pitchFamily="34" charset="0"/>
                <a:ea typeface="Calibri" pitchFamily="34" charset="-122"/>
                <a:cs typeface="Calibri" pitchFamily="34" charset="-120"/>
              </a:rPr>
              <a:t>Data Analyst — La Poule qui Chante
</a:t>
            </a:r>
            <a:r>
              <a:rPr lang="fr-FR" sz="1200" noProof="0" dirty="0">
                <a:solidFill>
                  <a:srgbClr val="A0C8A0"/>
                </a:solidFill>
                <a:latin typeface="Calibri" pitchFamily="34" charset="0"/>
                <a:ea typeface="Calibri" pitchFamily="34" charset="-122"/>
                <a:cs typeface="Calibri" pitchFamily="34" charset="-120"/>
              </a:rPr>
              <a:t>Mission : Expansion Internationale</a:t>
            </a:r>
            <a:endParaRPr lang="fr-FR" sz="1600" noProof="0" dirty="0"/>
          </a:p>
        </p:txBody>
      </p:sp>
      <p:sp>
        <p:nvSpPr>
          <p:cNvPr id="6" name="Text 4"/>
          <p:cNvSpPr/>
          <p:nvPr/>
        </p:nvSpPr>
        <p:spPr>
          <a:xfrm>
            <a:off x="5669280" y="4114800"/>
            <a:ext cx="3200400" cy="457200"/>
          </a:xfrm>
          <a:prstGeom prst="rect">
            <a:avLst/>
          </a:prstGeom>
          <a:noFill/>
          <a:ln/>
        </p:spPr>
        <p:txBody>
          <a:bodyPr wrap="square" rtlCol="0" anchor="ctr"/>
          <a:lstStyle/>
          <a:p>
            <a:pPr marL="0" indent="0">
              <a:buNone/>
            </a:pPr>
            <a:r>
              <a:rPr lang="fr-FR" sz="1100" noProof="0" dirty="0">
                <a:solidFill>
                  <a:srgbClr val="90A890"/>
                </a:solidFill>
                <a:latin typeface="Calibri" pitchFamily="34" charset="0"/>
                <a:ea typeface="Calibri" pitchFamily="34" charset="-122"/>
                <a:cs typeface="Calibri" pitchFamily="34" charset="-120"/>
              </a:rPr>
              <a:t>131 pays  •  11 variables  •  4 clusters  •  Top 15 marchés</a:t>
            </a:r>
            <a:endParaRPr lang="fr-FR" sz="1100" noProof="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6B7C6B"/>
          </a:solidFill>
          <a:ln/>
        </p:spPr>
        <p:txBody>
          <a:bodyPr/>
          <a:lstStyle/>
          <a:p>
            <a:endParaRPr lang="fr-FR" noProof="0" dirty="0"/>
          </a:p>
        </p:txBody>
      </p:sp>
      <p:sp>
        <p:nvSpPr>
          <p:cNvPr id="3" name="Text 1"/>
          <p:cNvSpPr/>
          <p:nvPr/>
        </p:nvSpPr>
        <p:spPr>
          <a:xfrm>
            <a:off x="365760" y="137160"/>
            <a:ext cx="8229600" cy="731520"/>
          </a:xfrm>
          <a:prstGeom prst="rect">
            <a:avLst/>
          </a:prstGeom>
          <a:noFill/>
          <a:ln/>
        </p:spPr>
        <p:txBody>
          <a:bodyPr wrap="square" rtlCol="0" anchor="ctr"/>
          <a:lstStyle/>
          <a:p>
            <a:pPr marL="0" indent="0">
              <a:buNone/>
            </a:pPr>
            <a:r>
              <a:rPr lang="fr-FR" sz="2400" b="1" noProof="0" dirty="0">
                <a:solidFill>
                  <a:srgbClr val="FFFFFF"/>
                </a:solidFill>
                <a:latin typeface="Cambria" pitchFamily="34" charset="0"/>
                <a:ea typeface="Cambria" pitchFamily="34" charset="-122"/>
                <a:cs typeface="Cambria" pitchFamily="34" charset="-120"/>
              </a:rPr>
              <a:t>Annexe — Dictionnaire des variables</a:t>
            </a:r>
            <a:endParaRPr lang="fr-FR" sz="2400" noProof="0" dirty="0"/>
          </a:p>
        </p:txBody>
      </p:sp>
      <p:graphicFrame>
        <p:nvGraphicFramePr>
          <p:cNvPr id="25" name="Table 0"/>
          <p:cNvGraphicFramePr>
            <a:graphicFrameLocks noGrp="1"/>
          </p:cNvGraphicFramePr>
          <p:nvPr>
            <p:extLst>
              <p:ext uri="{D42A27DB-BD31-4B8C-83A1-F6EECF244321}">
                <p14:modId xmlns:p14="http://schemas.microsoft.com/office/powerpoint/2010/main" val="3422412759"/>
              </p:ext>
            </p:extLst>
          </p:nvPr>
        </p:nvGraphicFramePr>
        <p:xfrm>
          <a:off x="274319" y="1097280"/>
          <a:ext cx="8599966" cy="3840480"/>
        </p:xfrm>
        <a:graphic>
          <a:graphicData uri="http://schemas.openxmlformats.org/drawingml/2006/table">
            <a:tbl>
              <a:tblPr/>
              <a:tblGrid>
                <a:gridCol w="2252372">
                  <a:extLst>
                    <a:ext uri="{9D8B030D-6E8A-4147-A177-3AD203B41FA5}">
                      <a16:colId xmlns:a16="http://schemas.microsoft.com/office/drawing/2014/main" val="20000"/>
                    </a:ext>
                  </a:extLst>
                </a:gridCol>
                <a:gridCol w="3071416">
                  <a:extLst>
                    <a:ext uri="{9D8B030D-6E8A-4147-A177-3AD203B41FA5}">
                      <a16:colId xmlns:a16="http://schemas.microsoft.com/office/drawing/2014/main" val="20001"/>
                    </a:ext>
                  </a:extLst>
                </a:gridCol>
                <a:gridCol w="1842850">
                  <a:extLst>
                    <a:ext uri="{9D8B030D-6E8A-4147-A177-3AD203B41FA5}">
                      <a16:colId xmlns:a16="http://schemas.microsoft.com/office/drawing/2014/main" val="20002"/>
                    </a:ext>
                  </a:extLst>
                </a:gridCol>
                <a:gridCol w="1433328">
                  <a:extLst>
                    <a:ext uri="{9D8B030D-6E8A-4147-A177-3AD203B41FA5}">
                      <a16:colId xmlns:a16="http://schemas.microsoft.com/office/drawing/2014/main" val="20003"/>
                    </a:ext>
                  </a:extLst>
                </a:gridCol>
              </a:tblGrid>
              <a:tr h="320040">
                <a:tc>
                  <a:txBody>
                    <a:bodyPr/>
                    <a:lstStyle/>
                    <a:p>
                      <a:pPr marL="0" indent="0">
                        <a:buNone/>
                      </a:pPr>
                      <a:r>
                        <a:rPr lang="fr-FR" sz="1100" b="1" noProof="0" dirty="0">
                          <a:solidFill>
                            <a:srgbClr val="FFFFFF"/>
                          </a:solidFill>
                          <a:latin typeface="Calibri" pitchFamily="34" charset="0"/>
                          <a:ea typeface="Calibri" pitchFamily="34" charset="-122"/>
                          <a:cs typeface="Calibri" pitchFamily="34" charset="-120"/>
                        </a:rPr>
                        <a:t>Variable</a:t>
                      </a:r>
                      <a:endParaRPr lang="fr-FR" sz="1100" noProof="0" dirty="0">
                        <a:latin typeface="Calibri" charset="0"/>
                        <a:ea typeface="Calibri" charset="0"/>
                        <a:cs typeface="Calibri" charset="0"/>
                      </a:endParaRPr>
                    </a:p>
                  </a:txBody>
                  <a:tcPr>
                    <a:lnL w="3810" cap="flat" cmpd="sng" algn="ctr">
                      <a:solidFill>
                        <a:srgbClr val="D0D8D0"/>
                      </a:solidFill>
                      <a:prstDash val="solid"/>
                      <a:round/>
                      <a:headEnd type="none" w="med" len="med"/>
                      <a:tailEnd type="none" w="med" len="med"/>
                    </a:lnL>
                    <a:lnR w="3810" cap="flat" cmpd="sng" algn="ctr">
                      <a:solidFill>
                        <a:srgbClr val="D0D8D0"/>
                      </a:solidFill>
                      <a:prstDash val="solid"/>
                      <a:round/>
                      <a:headEnd type="none" w="med" len="med"/>
                      <a:tailEnd type="none" w="med" len="med"/>
                    </a:lnR>
                    <a:lnT w="3810" cap="flat" cmpd="sng" algn="ctr">
                      <a:solidFill>
                        <a:srgbClr val="D0D8D0"/>
                      </a:solidFill>
                      <a:prstDash val="solid"/>
                      <a:round/>
                      <a:headEnd type="none" w="med" len="med"/>
                      <a:tailEnd type="none" w="med" len="med"/>
                    </a:lnT>
                    <a:lnB w="3810" cap="flat" cmpd="sng" algn="ctr">
                      <a:solidFill>
                        <a:srgbClr val="D0D8D0"/>
                      </a:solidFill>
                      <a:prstDash val="solid"/>
                      <a:round/>
                      <a:headEnd type="none" w="med" len="med"/>
                      <a:tailEnd type="none" w="med" len="med"/>
                    </a:lnB>
                    <a:solidFill>
                      <a:srgbClr val="2C5F2D"/>
                    </a:solidFill>
                  </a:tcPr>
                </a:tc>
                <a:tc>
                  <a:txBody>
                    <a:bodyPr/>
                    <a:lstStyle/>
                    <a:p>
                      <a:pPr marL="0" indent="0">
                        <a:buNone/>
                      </a:pPr>
                      <a:r>
                        <a:rPr lang="fr-FR" sz="1100" b="1" noProof="0" dirty="0">
                          <a:solidFill>
                            <a:srgbClr val="FFFFFF"/>
                          </a:solidFill>
                          <a:latin typeface="Calibri" pitchFamily="34" charset="0"/>
                          <a:ea typeface="Calibri" pitchFamily="34" charset="-122"/>
                          <a:cs typeface="Calibri" pitchFamily="34" charset="-120"/>
                        </a:rPr>
                        <a:t>Description</a:t>
                      </a:r>
                      <a:endParaRPr lang="fr-FR" sz="1100" noProof="0" dirty="0">
                        <a:latin typeface="Calibri" charset="0"/>
                        <a:ea typeface="Calibri" charset="0"/>
                        <a:cs typeface="Calibri" charset="0"/>
                      </a:endParaRPr>
                    </a:p>
                  </a:txBody>
                  <a:tcPr>
                    <a:lnL w="3810" cap="flat" cmpd="sng" algn="ctr">
                      <a:solidFill>
                        <a:srgbClr val="D0D8D0"/>
                      </a:solidFill>
                      <a:prstDash val="solid"/>
                      <a:round/>
                      <a:headEnd type="none" w="med" len="med"/>
                      <a:tailEnd type="none" w="med" len="med"/>
                    </a:lnL>
                    <a:lnR w="3810" cap="flat" cmpd="sng" algn="ctr">
                      <a:solidFill>
                        <a:srgbClr val="D0D8D0"/>
                      </a:solidFill>
                      <a:prstDash val="solid"/>
                      <a:round/>
                      <a:headEnd type="none" w="med" len="med"/>
                      <a:tailEnd type="none" w="med" len="med"/>
                    </a:lnR>
                    <a:lnT w="3810" cap="flat" cmpd="sng" algn="ctr">
                      <a:solidFill>
                        <a:srgbClr val="D0D8D0"/>
                      </a:solidFill>
                      <a:prstDash val="solid"/>
                      <a:round/>
                      <a:headEnd type="none" w="med" len="med"/>
                      <a:tailEnd type="none" w="med" len="med"/>
                    </a:lnT>
                    <a:lnB w="3810" cap="flat" cmpd="sng" algn="ctr">
                      <a:solidFill>
                        <a:srgbClr val="D0D8D0"/>
                      </a:solidFill>
                      <a:prstDash val="solid"/>
                      <a:round/>
                      <a:headEnd type="none" w="med" len="med"/>
                      <a:tailEnd type="none" w="med" len="med"/>
                    </a:lnB>
                    <a:solidFill>
                      <a:srgbClr val="2C5F2D"/>
                    </a:solidFill>
                  </a:tcPr>
                </a:tc>
                <a:tc>
                  <a:txBody>
                    <a:bodyPr/>
                    <a:lstStyle/>
                    <a:p>
                      <a:pPr marL="0" indent="0">
                        <a:buNone/>
                      </a:pPr>
                      <a:r>
                        <a:rPr lang="fr-FR" sz="1100" b="1" noProof="0" dirty="0">
                          <a:solidFill>
                            <a:srgbClr val="FFFFFF"/>
                          </a:solidFill>
                          <a:latin typeface="Calibri" pitchFamily="34" charset="0"/>
                          <a:ea typeface="Calibri" pitchFamily="34" charset="-122"/>
                          <a:cs typeface="Calibri" pitchFamily="34" charset="-120"/>
                        </a:rPr>
                        <a:t>Unité</a:t>
                      </a:r>
                      <a:endParaRPr lang="fr-FR" sz="1100" noProof="0" dirty="0">
                        <a:latin typeface="Calibri" charset="0"/>
                        <a:ea typeface="Calibri" charset="0"/>
                        <a:cs typeface="Calibri" charset="0"/>
                      </a:endParaRPr>
                    </a:p>
                  </a:txBody>
                  <a:tcPr>
                    <a:lnL w="3810" cap="flat" cmpd="sng" algn="ctr">
                      <a:solidFill>
                        <a:srgbClr val="D0D8D0"/>
                      </a:solidFill>
                      <a:prstDash val="solid"/>
                      <a:round/>
                      <a:headEnd type="none" w="med" len="med"/>
                      <a:tailEnd type="none" w="med" len="med"/>
                    </a:lnL>
                    <a:lnR w="3810" cap="flat" cmpd="sng" algn="ctr">
                      <a:solidFill>
                        <a:srgbClr val="D0D8D0"/>
                      </a:solidFill>
                      <a:prstDash val="solid"/>
                      <a:round/>
                      <a:headEnd type="none" w="med" len="med"/>
                      <a:tailEnd type="none" w="med" len="med"/>
                    </a:lnR>
                    <a:lnT w="3810" cap="flat" cmpd="sng" algn="ctr">
                      <a:solidFill>
                        <a:srgbClr val="D0D8D0"/>
                      </a:solidFill>
                      <a:prstDash val="solid"/>
                      <a:round/>
                      <a:headEnd type="none" w="med" len="med"/>
                      <a:tailEnd type="none" w="med" len="med"/>
                    </a:lnT>
                    <a:lnB w="3810" cap="flat" cmpd="sng" algn="ctr">
                      <a:solidFill>
                        <a:srgbClr val="D0D8D0"/>
                      </a:solidFill>
                      <a:prstDash val="solid"/>
                      <a:round/>
                      <a:headEnd type="none" w="med" len="med"/>
                      <a:tailEnd type="none" w="med" len="med"/>
                    </a:lnB>
                    <a:solidFill>
                      <a:srgbClr val="2C5F2D"/>
                    </a:solidFill>
                  </a:tcPr>
                </a:tc>
                <a:tc>
                  <a:txBody>
                    <a:bodyPr/>
                    <a:lstStyle/>
                    <a:p>
                      <a:pPr marL="0" indent="0">
                        <a:buNone/>
                      </a:pPr>
                      <a:r>
                        <a:rPr lang="fr-FR" sz="1100" b="1" noProof="0" dirty="0">
                          <a:solidFill>
                            <a:srgbClr val="FFFFFF"/>
                          </a:solidFill>
                          <a:latin typeface="Calibri" pitchFamily="34" charset="0"/>
                          <a:ea typeface="Calibri" pitchFamily="34" charset="-122"/>
                          <a:cs typeface="Calibri" pitchFamily="34" charset="-120"/>
                        </a:rPr>
                        <a:t>Source</a:t>
                      </a:r>
                      <a:endParaRPr lang="fr-FR" sz="1100" noProof="0" dirty="0">
                        <a:latin typeface="Calibri" charset="0"/>
                        <a:ea typeface="Calibri" charset="0"/>
                        <a:cs typeface="Calibri" charset="0"/>
                      </a:endParaRPr>
                    </a:p>
                  </a:txBody>
                  <a:tcPr>
                    <a:lnL w="3810" cap="flat" cmpd="sng" algn="ctr">
                      <a:solidFill>
                        <a:srgbClr val="D0D8D0"/>
                      </a:solidFill>
                      <a:prstDash val="solid"/>
                      <a:round/>
                      <a:headEnd type="none" w="med" len="med"/>
                      <a:tailEnd type="none" w="med" len="med"/>
                    </a:lnL>
                    <a:lnR w="3810" cap="flat" cmpd="sng" algn="ctr">
                      <a:solidFill>
                        <a:srgbClr val="D0D8D0"/>
                      </a:solidFill>
                      <a:prstDash val="solid"/>
                      <a:round/>
                      <a:headEnd type="none" w="med" len="med"/>
                      <a:tailEnd type="none" w="med" len="med"/>
                    </a:lnR>
                    <a:lnT w="3810" cap="flat" cmpd="sng" algn="ctr">
                      <a:solidFill>
                        <a:srgbClr val="D0D8D0"/>
                      </a:solidFill>
                      <a:prstDash val="solid"/>
                      <a:round/>
                      <a:headEnd type="none" w="med" len="med"/>
                      <a:tailEnd type="none" w="med" len="med"/>
                    </a:lnT>
                    <a:lnB w="3810" cap="flat" cmpd="sng" algn="ctr">
                      <a:solidFill>
                        <a:srgbClr val="D0D8D0"/>
                      </a:solidFill>
                      <a:prstDash val="solid"/>
                      <a:round/>
                      <a:headEnd type="none" w="med" len="med"/>
                      <a:tailEnd type="none" w="med" len="med"/>
                    </a:lnB>
                    <a:solidFill>
                      <a:srgbClr val="2C5F2D"/>
                    </a:solidFill>
                  </a:tcPr>
                </a:tc>
                <a:extLst>
                  <a:ext uri="{0D108BD9-81ED-4DB2-BD59-A6C34878D82A}">
                    <a16:rowId xmlns:a16="http://schemas.microsoft.com/office/drawing/2014/main" val="10000"/>
                  </a:ext>
                </a:extLst>
              </a:tr>
              <a:tr h="320040">
                <a:tc>
                  <a:txBody>
                    <a:bodyPr/>
                    <a:lstStyle/>
                    <a:p>
                      <a:pPr marL="0" indent="0">
                        <a:buNone/>
                      </a:pPr>
                      <a:r>
                        <a:rPr lang="fr-FR" sz="1000" noProof="0" dirty="0" err="1">
                          <a:solidFill>
                            <a:srgbClr val="1A2A1A"/>
                          </a:solidFill>
                          <a:latin typeface="Calibri" pitchFamily="34" charset="0"/>
                          <a:ea typeface="Calibri" pitchFamily="34" charset="-122"/>
                          <a:cs typeface="Calibri" pitchFamily="34" charset="-120"/>
                        </a:rPr>
                        <a:t>dispo_alimentaire</a:t>
                      </a:r>
                      <a:endParaRPr lang="fr-FR" sz="1000" noProof="0" dirty="0">
                        <a:latin typeface="Calibri" charset="0"/>
                        <a:ea typeface="Calibri" charset="0"/>
                        <a:cs typeface="Calibri" charset="0"/>
                      </a:endParaRPr>
                    </a:p>
                  </a:txBody>
                  <a:tcPr>
                    <a:lnL w="3810" cap="flat" cmpd="sng" algn="ctr">
                      <a:solidFill>
                        <a:srgbClr val="D0D8D0"/>
                      </a:solidFill>
                      <a:prstDash val="solid"/>
                      <a:round/>
                      <a:headEnd type="none" w="med" len="med"/>
                      <a:tailEnd type="none" w="med" len="med"/>
                    </a:lnL>
                    <a:lnR w="3810" cap="flat" cmpd="sng" algn="ctr">
                      <a:solidFill>
                        <a:srgbClr val="D0D8D0"/>
                      </a:solidFill>
                      <a:prstDash val="solid"/>
                      <a:round/>
                      <a:headEnd type="none" w="med" len="med"/>
                      <a:tailEnd type="none" w="med" len="med"/>
                    </a:lnR>
                    <a:lnT w="3810" cap="flat" cmpd="sng" algn="ctr">
                      <a:solidFill>
                        <a:srgbClr val="D0D8D0"/>
                      </a:solidFill>
                      <a:prstDash val="solid"/>
                      <a:round/>
                      <a:headEnd type="none" w="med" len="med"/>
                      <a:tailEnd type="none" w="med" len="med"/>
                    </a:lnT>
                    <a:lnB w="3810" cap="flat" cmpd="sng" algn="ctr">
                      <a:solidFill>
                        <a:srgbClr val="D0D8D0"/>
                      </a:solidFill>
                      <a:prstDash val="solid"/>
                      <a:round/>
                      <a:headEnd type="none" w="med" len="med"/>
                      <a:tailEnd type="none" w="med" len="med"/>
                    </a:lnB>
                    <a:solidFill>
                      <a:srgbClr val="FFFFFF"/>
                    </a:solidFill>
                  </a:tcPr>
                </a:tc>
                <a:tc>
                  <a:txBody>
                    <a:bodyPr/>
                    <a:lstStyle/>
                    <a:p>
                      <a:pPr marL="0" indent="0">
                        <a:buNone/>
                      </a:pPr>
                      <a:r>
                        <a:rPr lang="fr-FR" sz="1000" noProof="0" dirty="0">
                          <a:solidFill>
                            <a:srgbClr val="1A2A1A"/>
                          </a:solidFill>
                          <a:latin typeface="Calibri" pitchFamily="34" charset="0"/>
                          <a:ea typeface="Calibri" pitchFamily="34" charset="-122"/>
                          <a:cs typeface="Calibri" pitchFamily="34" charset="-120"/>
                        </a:rPr>
                        <a:t>Disponibilité alimentaire en volaille</a:t>
                      </a:r>
                      <a:endParaRPr lang="fr-FR" sz="1000" noProof="0" dirty="0">
                        <a:latin typeface="Calibri" charset="0"/>
                        <a:ea typeface="Calibri" charset="0"/>
                        <a:cs typeface="Calibri" charset="0"/>
                      </a:endParaRPr>
                    </a:p>
                  </a:txBody>
                  <a:tcPr>
                    <a:lnL w="3810" cap="flat" cmpd="sng" algn="ctr">
                      <a:solidFill>
                        <a:srgbClr val="D0D8D0"/>
                      </a:solidFill>
                      <a:prstDash val="solid"/>
                      <a:round/>
                      <a:headEnd type="none" w="med" len="med"/>
                      <a:tailEnd type="none" w="med" len="med"/>
                    </a:lnL>
                    <a:lnR w="3810" cap="flat" cmpd="sng" algn="ctr">
                      <a:solidFill>
                        <a:srgbClr val="D0D8D0"/>
                      </a:solidFill>
                      <a:prstDash val="solid"/>
                      <a:round/>
                      <a:headEnd type="none" w="med" len="med"/>
                      <a:tailEnd type="none" w="med" len="med"/>
                    </a:lnR>
                    <a:lnT w="3810" cap="flat" cmpd="sng" algn="ctr">
                      <a:solidFill>
                        <a:srgbClr val="D0D8D0"/>
                      </a:solidFill>
                      <a:prstDash val="solid"/>
                      <a:round/>
                      <a:headEnd type="none" w="med" len="med"/>
                      <a:tailEnd type="none" w="med" len="med"/>
                    </a:lnT>
                    <a:lnB w="3810" cap="flat" cmpd="sng" algn="ctr">
                      <a:solidFill>
                        <a:srgbClr val="D0D8D0"/>
                      </a:solidFill>
                      <a:prstDash val="solid"/>
                      <a:round/>
                      <a:headEnd type="none" w="med" len="med"/>
                      <a:tailEnd type="none" w="med" len="med"/>
                    </a:lnB>
                    <a:solidFill>
                      <a:srgbClr val="FFFFFF"/>
                    </a:solidFill>
                  </a:tcPr>
                </a:tc>
                <a:tc>
                  <a:txBody>
                    <a:bodyPr/>
                    <a:lstStyle/>
                    <a:p>
                      <a:pPr marL="0" indent="0">
                        <a:buNone/>
                      </a:pPr>
                      <a:r>
                        <a:rPr lang="fr-FR" sz="1000" noProof="0" dirty="0">
                          <a:solidFill>
                            <a:srgbClr val="1A2A1A"/>
                          </a:solidFill>
                          <a:latin typeface="Calibri" pitchFamily="34" charset="0"/>
                          <a:ea typeface="Calibri" pitchFamily="34" charset="-122"/>
                          <a:cs typeface="Calibri" pitchFamily="34" charset="-120"/>
                        </a:rPr>
                        <a:t>kcal/</a:t>
                      </a:r>
                      <a:r>
                        <a:rPr lang="fr-FR" sz="1000" noProof="0" dirty="0" err="1">
                          <a:solidFill>
                            <a:srgbClr val="1A2A1A"/>
                          </a:solidFill>
                          <a:latin typeface="Calibri" pitchFamily="34" charset="0"/>
                          <a:ea typeface="Calibri" pitchFamily="34" charset="-122"/>
                          <a:cs typeface="Calibri" pitchFamily="34" charset="-120"/>
                        </a:rPr>
                        <a:t>hab</a:t>
                      </a:r>
                      <a:r>
                        <a:rPr lang="fr-FR" sz="1000" noProof="0" dirty="0">
                          <a:solidFill>
                            <a:srgbClr val="1A2A1A"/>
                          </a:solidFill>
                          <a:latin typeface="Calibri" pitchFamily="34" charset="0"/>
                          <a:ea typeface="Calibri" pitchFamily="34" charset="-122"/>
                          <a:cs typeface="Calibri" pitchFamily="34" charset="-120"/>
                        </a:rPr>
                        <a:t>/jour</a:t>
                      </a:r>
                      <a:endParaRPr lang="fr-FR" sz="1000" noProof="0" dirty="0">
                        <a:latin typeface="Calibri" charset="0"/>
                        <a:ea typeface="Calibri" charset="0"/>
                        <a:cs typeface="Calibri" charset="0"/>
                      </a:endParaRPr>
                    </a:p>
                  </a:txBody>
                  <a:tcPr>
                    <a:lnL w="3810" cap="flat" cmpd="sng" algn="ctr">
                      <a:solidFill>
                        <a:srgbClr val="D0D8D0"/>
                      </a:solidFill>
                      <a:prstDash val="solid"/>
                      <a:round/>
                      <a:headEnd type="none" w="med" len="med"/>
                      <a:tailEnd type="none" w="med" len="med"/>
                    </a:lnL>
                    <a:lnR w="3810" cap="flat" cmpd="sng" algn="ctr">
                      <a:solidFill>
                        <a:srgbClr val="D0D8D0"/>
                      </a:solidFill>
                      <a:prstDash val="solid"/>
                      <a:round/>
                      <a:headEnd type="none" w="med" len="med"/>
                      <a:tailEnd type="none" w="med" len="med"/>
                    </a:lnR>
                    <a:lnT w="3810" cap="flat" cmpd="sng" algn="ctr">
                      <a:solidFill>
                        <a:srgbClr val="D0D8D0"/>
                      </a:solidFill>
                      <a:prstDash val="solid"/>
                      <a:round/>
                      <a:headEnd type="none" w="med" len="med"/>
                      <a:tailEnd type="none" w="med" len="med"/>
                    </a:lnT>
                    <a:lnB w="3810" cap="flat" cmpd="sng" algn="ctr">
                      <a:solidFill>
                        <a:srgbClr val="D0D8D0"/>
                      </a:solidFill>
                      <a:prstDash val="solid"/>
                      <a:round/>
                      <a:headEnd type="none" w="med" len="med"/>
                      <a:tailEnd type="none" w="med" len="med"/>
                    </a:lnB>
                    <a:solidFill>
                      <a:srgbClr val="FFFFFF"/>
                    </a:solidFill>
                  </a:tcPr>
                </a:tc>
                <a:tc>
                  <a:txBody>
                    <a:bodyPr/>
                    <a:lstStyle/>
                    <a:p>
                      <a:pPr marL="0" indent="0">
                        <a:buNone/>
                      </a:pPr>
                      <a:r>
                        <a:rPr lang="fr-FR" sz="1000" noProof="0" dirty="0">
                          <a:solidFill>
                            <a:srgbClr val="1A2A1A"/>
                          </a:solidFill>
                          <a:latin typeface="Calibri" pitchFamily="34" charset="0"/>
                          <a:ea typeface="Calibri" pitchFamily="34" charset="-122"/>
                          <a:cs typeface="Calibri" pitchFamily="34" charset="-120"/>
                        </a:rPr>
                        <a:t>FAO</a:t>
                      </a:r>
                      <a:endParaRPr lang="fr-FR" sz="1000" noProof="0" dirty="0">
                        <a:latin typeface="Calibri" charset="0"/>
                        <a:ea typeface="Calibri" charset="0"/>
                        <a:cs typeface="Calibri" charset="0"/>
                      </a:endParaRPr>
                    </a:p>
                  </a:txBody>
                  <a:tcPr>
                    <a:lnL w="3810" cap="flat" cmpd="sng" algn="ctr">
                      <a:solidFill>
                        <a:srgbClr val="D0D8D0"/>
                      </a:solidFill>
                      <a:prstDash val="solid"/>
                      <a:round/>
                      <a:headEnd type="none" w="med" len="med"/>
                      <a:tailEnd type="none" w="med" len="med"/>
                    </a:lnL>
                    <a:lnR w="3810" cap="flat" cmpd="sng" algn="ctr">
                      <a:solidFill>
                        <a:srgbClr val="D0D8D0"/>
                      </a:solidFill>
                      <a:prstDash val="solid"/>
                      <a:round/>
                      <a:headEnd type="none" w="med" len="med"/>
                      <a:tailEnd type="none" w="med" len="med"/>
                    </a:lnR>
                    <a:lnT w="3810" cap="flat" cmpd="sng" algn="ctr">
                      <a:solidFill>
                        <a:srgbClr val="D0D8D0"/>
                      </a:solidFill>
                      <a:prstDash val="solid"/>
                      <a:round/>
                      <a:headEnd type="none" w="med" len="med"/>
                      <a:tailEnd type="none" w="med" len="med"/>
                    </a:lnT>
                    <a:lnB w="3810" cap="flat" cmpd="sng" algn="ctr">
                      <a:solidFill>
                        <a:srgbClr val="D0D8D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0040">
                <a:tc>
                  <a:txBody>
                    <a:bodyPr/>
                    <a:lstStyle/>
                    <a:p>
                      <a:pPr marL="0" indent="0">
                        <a:buNone/>
                      </a:pPr>
                      <a:r>
                        <a:rPr lang="fr-FR" sz="1000" noProof="0" dirty="0" err="1">
                          <a:solidFill>
                            <a:srgbClr val="1A2A1A"/>
                          </a:solidFill>
                          <a:latin typeface="Calibri" pitchFamily="34" charset="0"/>
                          <a:ea typeface="Calibri" pitchFamily="34" charset="-122"/>
                          <a:cs typeface="Calibri" pitchFamily="34" charset="-120"/>
                        </a:rPr>
                        <a:t>ease_business</a:t>
                      </a:r>
                      <a:endParaRPr lang="fr-FR" sz="1000" noProof="0" dirty="0">
                        <a:latin typeface="Calibri" charset="0"/>
                        <a:ea typeface="Calibri" charset="0"/>
                        <a:cs typeface="Calibri" charset="0"/>
                      </a:endParaRPr>
                    </a:p>
                  </a:txBody>
                  <a:tcPr>
                    <a:lnL w="3810" cap="flat" cmpd="sng" algn="ctr">
                      <a:solidFill>
                        <a:srgbClr val="D0D8D0"/>
                      </a:solidFill>
                      <a:prstDash val="solid"/>
                      <a:round/>
                      <a:headEnd type="none" w="med" len="med"/>
                      <a:tailEnd type="none" w="med" len="med"/>
                    </a:lnL>
                    <a:lnR w="3810" cap="flat" cmpd="sng" algn="ctr">
                      <a:solidFill>
                        <a:srgbClr val="D0D8D0"/>
                      </a:solidFill>
                      <a:prstDash val="solid"/>
                      <a:round/>
                      <a:headEnd type="none" w="med" len="med"/>
                      <a:tailEnd type="none" w="med" len="med"/>
                    </a:lnR>
                    <a:lnT w="3810" cap="flat" cmpd="sng" algn="ctr">
                      <a:solidFill>
                        <a:srgbClr val="D0D8D0"/>
                      </a:solidFill>
                      <a:prstDash val="solid"/>
                      <a:round/>
                      <a:headEnd type="none" w="med" len="med"/>
                      <a:tailEnd type="none" w="med" len="med"/>
                    </a:lnT>
                    <a:lnB w="3810" cap="flat" cmpd="sng" algn="ctr">
                      <a:solidFill>
                        <a:srgbClr val="D0D8D0"/>
                      </a:solidFill>
                      <a:prstDash val="solid"/>
                      <a:round/>
                      <a:headEnd type="none" w="med" len="med"/>
                      <a:tailEnd type="none" w="med" len="med"/>
                    </a:lnB>
                    <a:solidFill>
                      <a:srgbClr val="F5F5F5"/>
                    </a:solidFill>
                  </a:tcPr>
                </a:tc>
                <a:tc>
                  <a:txBody>
                    <a:bodyPr/>
                    <a:lstStyle/>
                    <a:p>
                      <a:pPr marL="0" indent="0">
                        <a:buNone/>
                      </a:pPr>
                      <a:r>
                        <a:rPr lang="fr-FR" sz="1000" noProof="0" dirty="0">
                          <a:solidFill>
                            <a:srgbClr val="1A2A1A"/>
                          </a:solidFill>
                          <a:latin typeface="Calibri" pitchFamily="34" charset="0"/>
                          <a:ea typeface="Calibri" pitchFamily="34" charset="-122"/>
                          <a:cs typeface="Calibri" pitchFamily="34" charset="-120"/>
                        </a:rPr>
                        <a:t>Score de facilité à faire des affaires</a:t>
                      </a:r>
                      <a:endParaRPr lang="fr-FR" sz="1000" noProof="0" dirty="0">
                        <a:latin typeface="Calibri" charset="0"/>
                        <a:ea typeface="Calibri" charset="0"/>
                        <a:cs typeface="Calibri" charset="0"/>
                      </a:endParaRPr>
                    </a:p>
                  </a:txBody>
                  <a:tcPr>
                    <a:lnL w="3810" cap="flat" cmpd="sng" algn="ctr">
                      <a:solidFill>
                        <a:srgbClr val="D0D8D0"/>
                      </a:solidFill>
                      <a:prstDash val="solid"/>
                      <a:round/>
                      <a:headEnd type="none" w="med" len="med"/>
                      <a:tailEnd type="none" w="med" len="med"/>
                    </a:lnL>
                    <a:lnR w="3810" cap="flat" cmpd="sng" algn="ctr">
                      <a:solidFill>
                        <a:srgbClr val="D0D8D0"/>
                      </a:solidFill>
                      <a:prstDash val="solid"/>
                      <a:round/>
                      <a:headEnd type="none" w="med" len="med"/>
                      <a:tailEnd type="none" w="med" len="med"/>
                    </a:lnR>
                    <a:lnT w="3810" cap="flat" cmpd="sng" algn="ctr">
                      <a:solidFill>
                        <a:srgbClr val="D0D8D0"/>
                      </a:solidFill>
                      <a:prstDash val="solid"/>
                      <a:round/>
                      <a:headEnd type="none" w="med" len="med"/>
                      <a:tailEnd type="none" w="med" len="med"/>
                    </a:lnT>
                    <a:lnB w="3810" cap="flat" cmpd="sng" algn="ctr">
                      <a:solidFill>
                        <a:srgbClr val="D0D8D0"/>
                      </a:solidFill>
                      <a:prstDash val="solid"/>
                      <a:round/>
                      <a:headEnd type="none" w="med" len="med"/>
                      <a:tailEnd type="none" w="med" len="med"/>
                    </a:lnB>
                    <a:solidFill>
                      <a:srgbClr val="F5F5F5"/>
                    </a:solidFill>
                  </a:tcPr>
                </a:tc>
                <a:tc>
                  <a:txBody>
                    <a:bodyPr/>
                    <a:lstStyle/>
                    <a:p>
                      <a:pPr marL="0" indent="0">
                        <a:buNone/>
                      </a:pPr>
                      <a:r>
                        <a:rPr lang="fr-FR" sz="1000" noProof="0" dirty="0">
                          <a:solidFill>
                            <a:srgbClr val="1A2A1A"/>
                          </a:solidFill>
                          <a:latin typeface="Calibri" pitchFamily="34" charset="0"/>
                          <a:ea typeface="Calibri" pitchFamily="34" charset="-122"/>
                          <a:cs typeface="Calibri" pitchFamily="34" charset="-120"/>
                        </a:rPr>
                        <a:t>0–100</a:t>
                      </a:r>
                      <a:endParaRPr lang="fr-FR" sz="1000" noProof="0" dirty="0">
                        <a:latin typeface="Calibri" charset="0"/>
                        <a:ea typeface="Calibri" charset="0"/>
                        <a:cs typeface="Calibri" charset="0"/>
                      </a:endParaRPr>
                    </a:p>
                  </a:txBody>
                  <a:tcPr>
                    <a:lnL w="3810" cap="flat" cmpd="sng" algn="ctr">
                      <a:solidFill>
                        <a:srgbClr val="D0D8D0"/>
                      </a:solidFill>
                      <a:prstDash val="solid"/>
                      <a:round/>
                      <a:headEnd type="none" w="med" len="med"/>
                      <a:tailEnd type="none" w="med" len="med"/>
                    </a:lnL>
                    <a:lnR w="3810" cap="flat" cmpd="sng" algn="ctr">
                      <a:solidFill>
                        <a:srgbClr val="D0D8D0"/>
                      </a:solidFill>
                      <a:prstDash val="solid"/>
                      <a:round/>
                      <a:headEnd type="none" w="med" len="med"/>
                      <a:tailEnd type="none" w="med" len="med"/>
                    </a:lnR>
                    <a:lnT w="3810" cap="flat" cmpd="sng" algn="ctr">
                      <a:solidFill>
                        <a:srgbClr val="D0D8D0"/>
                      </a:solidFill>
                      <a:prstDash val="solid"/>
                      <a:round/>
                      <a:headEnd type="none" w="med" len="med"/>
                      <a:tailEnd type="none" w="med" len="med"/>
                    </a:lnT>
                    <a:lnB w="3810" cap="flat" cmpd="sng" algn="ctr">
                      <a:solidFill>
                        <a:srgbClr val="D0D8D0"/>
                      </a:solidFill>
                      <a:prstDash val="solid"/>
                      <a:round/>
                      <a:headEnd type="none" w="med" len="med"/>
                      <a:tailEnd type="none" w="med" len="med"/>
                    </a:lnB>
                    <a:solidFill>
                      <a:srgbClr val="F5F5F5"/>
                    </a:solidFill>
                  </a:tcPr>
                </a:tc>
                <a:tc>
                  <a:txBody>
                    <a:bodyPr/>
                    <a:lstStyle/>
                    <a:p>
                      <a:pPr marL="0" indent="0">
                        <a:buNone/>
                      </a:pPr>
                      <a:r>
                        <a:rPr lang="fr-FR" sz="1000" noProof="0" dirty="0">
                          <a:solidFill>
                            <a:srgbClr val="1A2A1A"/>
                          </a:solidFill>
                          <a:latin typeface="Calibri" pitchFamily="34" charset="0"/>
                          <a:ea typeface="Calibri" pitchFamily="34" charset="-122"/>
                          <a:cs typeface="Calibri" pitchFamily="34" charset="-120"/>
                        </a:rPr>
                        <a:t>Banque Mondiale</a:t>
                      </a:r>
                      <a:endParaRPr lang="fr-FR" sz="1000" noProof="0" dirty="0">
                        <a:latin typeface="Calibri" charset="0"/>
                        <a:ea typeface="Calibri" charset="0"/>
                        <a:cs typeface="Calibri" charset="0"/>
                      </a:endParaRPr>
                    </a:p>
                  </a:txBody>
                  <a:tcPr>
                    <a:lnL w="3810" cap="flat" cmpd="sng" algn="ctr">
                      <a:solidFill>
                        <a:srgbClr val="D0D8D0"/>
                      </a:solidFill>
                      <a:prstDash val="solid"/>
                      <a:round/>
                      <a:headEnd type="none" w="med" len="med"/>
                      <a:tailEnd type="none" w="med" len="med"/>
                    </a:lnL>
                    <a:lnR w="3810" cap="flat" cmpd="sng" algn="ctr">
                      <a:solidFill>
                        <a:srgbClr val="D0D8D0"/>
                      </a:solidFill>
                      <a:prstDash val="solid"/>
                      <a:round/>
                      <a:headEnd type="none" w="med" len="med"/>
                      <a:tailEnd type="none" w="med" len="med"/>
                    </a:lnR>
                    <a:lnT w="3810" cap="flat" cmpd="sng" algn="ctr">
                      <a:solidFill>
                        <a:srgbClr val="D0D8D0"/>
                      </a:solidFill>
                      <a:prstDash val="solid"/>
                      <a:round/>
                      <a:headEnd type="none" w="med" len="med"/>
                      <a:tailEnd type="none" w="med" len="med"/>
                    </a:lnT>
                    <a:lnB w="3810" cap="flat" cmpd="sng" algn="ctr">
                      <a:solidFill>
                        <a:srgbClr val="D0D8D0"/>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320040">
                <a:tc>
                  <a:txBody>
                    <a:bodyPr/>
                    <a:lstStyle/>
                    <a:p>
                      <a:pPr marL="0" indent="0">
                        <a:buNone/>
                      </a:pPr>
                      <a:r>
                        <a:rPr lang="fr-FR" sz="1000" noProof="0" dirty="0" err="1">
                          <a:solidFill>
                            <a:srgbClr val="1A2A1A"/>
                          </a:solidFill>
                          <a:latin typeface="Calibri" pitchFamily="34" charset="0"/>
                          <a:ea typeface="Calibri" pitchFamily="34" charset="-122"/>
                          <a:cs typeface="Calibri" pitchFamily="34" charset="-120"/>
                        </a:rPr>
                        <a:t>pib_par_hab</a:t>
                      </a:r>
                      <a:endParaRPr lang="fr-FR" sz="1000" noProof="0" dirty="0">
                        <a:latin typeface="Calibri" charset="0"/>
                        <a:ea typeface="Calibri" charset="0"/>
                        <a:cs typeface="Calibri" charset="0"/>
                      </a:endParaRPr>
                    </a:p>
                  </a:txBody>
                  <a:tcPr>
                    <a:lnL w="3810" cap="flat" cmpd="sng" algn="ctr">
                      <a:solidFill>
                        <a:srgbClr val="D0D8D0"/>
                      </a:solidFill>
                      <a:prstDash val="solid"/>
                      <a:round/>
                      <a:headEnd type="none" w="med" len="med"/>
                      <a:tailEnd type="none" w="med" len="med"/>
                    </a:lnL>
                    <a:lnR w="3810" cap="flat" cmpd="sng" algn="ctr">
                      <a:solidFill>
                        <a:srgbClr val="D0D8D0"/>
                      </a:solidFill>
                      <a:prstDash val="solid"/>
                      <a:round/>
                      <a:headEnd type="none" w="med" len="med"/>
                      <a:tailEnd type="none" w="med" len="med"/>
                    </a:lnR>
                    <a:lnT w="3810" cap="flat" cmpd="sng" algn="ctr">
                      <a:solidFill>
                        <a:srgbClr val="D0D8D0"/>
                      </a:solidFill>
                      <a:prstDash val="solid"/>
                      <a:round/>
                      <a:headEnd type="none" w="med" len="med"/>
                      <a:tailEnd type="none" w="med" len="med"/>
                    </a:lnT>
                    <a:lnB w="3810" cap="flat" cmpd="sng" algn="ctr">
                      <a:solidFill>
                        <a:srgbClr val="D0D8D0"/>
                      </a:solidFill>
                      <a:prstDash val="solid"/>
                      <a:round/>
                      <a:headEnd type="none" w="med" len="med"/>
                      <a:tailEnd type="none" w="med" len="med"/>
                    </a:lnB>
                    <a:solidFill>
                      <a:srgbClr val="FFFFFF"/>
                    </a:solidFill>
                  </a:tcPr>
                </a:tc>
                <a:tc>
                  <a:txBody>
                    <a:bodyPr/>
                    <a:lstStyle/>
                    <a:p>
                      <a:pPr marL="0" indent="0">
                        <a:buNone/>
                      </a:pPr>
                      <a:r>
                        <a:rPr lang="fr-FR" sz="1000" noProof="0" dirty="0">
                          <a:solidFill>
                            <a:srgbClr val="1A2A1A"/>
                          </a:solidFill>
                          <a:latin typeface="Calibri" pitchFamily="34" charset="0"/>
                          <a:ea typeface="Calibri" pitchFamily="34" charset="-122"/>
                          <a:cs typeface="Calibri" pitchFamily="34" charset="-120"/>
                        </a:rPr>
                        <a:t>PIB par habitant</a:t>
                      </a:r>
                      <a:endParaRPr lang="fr-FR" sz="1000" noProof="0" dirty="0">
                        <a:latin typeface="Calibri" charset="0"/>
                        <a:ea typeface="Calibri" charset="0"/>
                        <a:cs typeface="Calibri" charset="0"/>
                      </a:endParaRPr>
                    </a:p>
                  </a:txBody>
                  <a:tcPr>
                    <a:lnL w="3810" cap="flat" cmpd="sng" algn="ctr">
                      <a:solidFill>
                        <a:srgbClr val="D0D8D0"/>
                      </a:solidFill>
                      <a:prstDash val="solid"/>
                      <a:round/>
                      <a:headEnd type="none" w="med" len="med"/>
                      <a:tailEnd type="none" w="med" len="med"/>
                    </a:lnL>
                    <a:lnR w="3810" cap="flat" cmpd="sng" algn="ctr">
                      <a:solidFill>
                        <a:srgbClr val="D0D8D0"/>
                      </a:solidFill>
                      <a:prstDash val="solid"/>
                      <a:round/>
                      <a:headEnd type="none" w="med" len="med"/>
                      <a:tailEnd type="none" w="med" len="med"/>
                    </a:lnR>
                    <a:lnT w="3810" cap="flat" cmpd="sng" algn="ctr">
                      <a:solidFill>
                        <a:srgbClr val="D0D8D0"/>
                      </a:solidFill>
                      <a:prstDash val="solid"/>
                      <a:round/>
                      <a:headEnd type="none" w="med" len="med"/>
                      <a:tailEnd type="none" w="med" len="med"/>
                    </a:lnT>
                    <a:lnB w="3810" cap="flat" cmpd="sng" algn="ctr">
                      <a:solidFill>
                        <a:srgbClr val="D0D8D0"/>
                      </a:solidFill>
                      <a:prstDash val="solid"/>
                      <a:round/>
                      <a:headEnd type="none" w="med" len="med"/>
                      <a:tailEnd type="none" w="med" len="med"/>
                    </a:lnB>
                    <a:solidFill>
                      <a:srgbClr val="FFFFFF"/>
                    </a:solidFill>
                  </a:tcPr>
                </a:tc>
                <a:tc>
                  <a:txBody>
                    <a:bodyPr/>
                    <a:lstStyle/>
                    <a:p>
                      <a:pPr marL="0" indent="0">
                        <a:buNone/>
                      </a:pPr>
                      <a:r>
                        <a:rPr lang="fr-FR" sz="1000" noProof="0" dirty="0">
                          <a:solidFill>
                            <a:srgbClr val="1A2A1A"/>
                          </a:solidFill>
                          <a:latin typeface="Calibri" pitchFamily="34" charset="0"/>
                          <a:ea typeface="Calibri" pitchFamily="34" charset="-122"/>
                          <a:cs typeface="Calibri" pitchFamily="34" charset="-120"/>
                        </a:rPr>
                        <a:t>USD</a:t>
                      </a:r>
                      <a:endParaRPr lang="fr-FR" sz="1000" noProof="0" dirty="0">
                        <a:latin typeface="Calibri" charset="0"/>
                        <a:ea typeface="Calibri" charset="0"/>
                        <a:cs typeface="Calibri" charset="0"/>
                      </a:endParaRPr>
                    </a:p>
                  </a:txBody>
                  <a:tcPr>
                    <a:lnL w="3810" cap="flat" cmpd="sng" algn="ctr">
                      <a:solidFill>
                        <a:srgbClr val="D0D8D0"/>
                      </a:solidFill>
                      <a:prstDash val="solid"/>
                      <a:round/>
                      <a:headEnd type="none" w="med" len="med"/>
                      <a:tailEnd type="none" w="med" len="med"/>
                    </a:lnL>
                    <a:lnR w="3810" cap="flat" cmpd="sng" algn="ctr">
                      <a:solidFill>
                        <a:srgbClr val="D0D8D0"/>
                      </a:solidFill>
                      <a:prstDash val="solid"/>
                      <a:round/>
                      <a:headEnd type="none" w="med" len="med"/>
                      <a:tailEnd type="none" w="med" len="med"/>
                    </a:lnR>
                    <a:lnT w="3810" cap="flat" cmpd="sng" algn="ctr">
                      <a:solidFill>
                        <a:srgbClr val="D0D8D0"/>
                      </a:solidFill>
                      <a:prstDash val="solid"/>
                      <a:round/>
                      <a:headEnd type="none" w="med" len="med"/>
                      <a:tailEnd type="none" w="med" len="med"/>
                    </a:lnT>
                    <a:lnB w="3810" cap="flat" cmpd="sng" algn="ctr">
                      <a:solidFill>
                        <a:srgbClr val="D0D8D0"/>
                      </a:solidFill>
                      <a:prstDash val="solid"/>
                      <a:round/>
                      <a:headEnd type="none" w="med" len="med"/>
                      <a:tailEnd type="none" w="med" len="med"/>
                    </a:lnB>
                    <a:solidFill>
                      <a:srgbClr val="FFFFFF"/>
                    </a:solidFill>
                  </a:tcPr>
                </a:tc>
                <a:tc>
                  <a:txBody>
                    <a:bodyPr/>
                    <a:lstStyle/>
                    <a:p>
                      <a:pPr marL="0" indent="0">
                        <a:buNone/>
                      </a:pPr>
                      <a:r>
                        <a:rPr lang="fr-FR" sz="1000" noProof="0" dirty="0">
                          <a:solidFill>
                            <a:srgbClr val="1A2A1A"/>
                          </a:solidFill>
                          <a:latin typeface="Calibri" pitchFamily="34" charset="0"/>
                          <a:ea typeface="Calibri" pitchFamily="34" charset="-122"/>
                          <a:cs typeface="Calibri" pitchFamily="34" charset="-120"/>
                        </a:rPr>
                        <a:t>Banque Mondiale</a:t>
                      </a:r>
                      <a:endParaRPr lang="fr-FR" sz="1000" noProof="0" dirty="0">
                        <a:latin typeface="Calibri" charset="0"/>
                        <a:ea typeface="Calibri" charset="0"/>
                        <a:cs typeface="Calibri" charset="0"/>
                      </a:endParaRPr>
                    </a:p>
                  </a:txBody>
                  <a:tcPr>
                    <a:lnL w="3810" cap="flat" cmpd="sng" algn="ctr">
                      <a:solidFill>
                        <a:srgbClr val="D0D8D0"/>
                      </a:solidFill>
                      <a:prstDash val="solid"/>
                      <a:round/>
                      <a:headEnd type="none" w="med" len="med"/>
                      <a:tailEnd type="none" w="med" len="med"/>
                    </a:lnL>
                    <a:lnR w="3810" cap="flat" cmpd="sng" algn="ctr">
                      <a:solidFill>
                        <a:srgbClr val="D0D8D0"/>
                      </a:solidFill>
                      <a:prstDash val="solid"/>
                      <a:round/>
                      <a:headEnd type="none" w="med" len="med"/>
                      <a:tailEnd type="none" w="med" len="med"/>
                    </a:lnR>
                    <a:lnT w="3810" cap="flat" cmpd="sng" algn="ctr">
                      <a:solidFill>
                        <a:srgbClr val="D0D8D0"/>
                      </a:solidFill>
                      <a:prstDash val="solid"/>
                      <a:round/>
                      <a:headEnd type="none" w="med" len="med"/>
                      <a:tailEnd type="none" w="med" len="med"/>
                    </a:lnT>
                    <a:lnB w="3810" cap="flat" cmpd="sng" algn="ctr">
                      <a:solidFill>
                        <a:srgbClr val="D0D8D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0040">
                <a:tc>
                  <a:txBody>
                    <a:bodyPr/>
                    <a:lstStyle/>
                    <a:p>
                      <a:pPr marL="0" indent="0">
                        <a:buNone/>
                      </a:pPr>
                      <a:r>
                        <a:rPr lang="fr-FR" sz="1000" noProof="0" dirty="0" err="1">
                          <a:solidFill>
                            <a:srgbClr val="1A2A1A"/>
                          </a:solidFill>
                          <a:latin typeface="Calibri" pitchFamily="34" charset="0"/>
                          <a:ea typeface="Calibri" pitchFamily="34" charset="-122"/>
                          <a:cs typeface="Calibri" pitchFamily="34" charset="-120"/>
                        </a:rPr>
                        <a:t>stab_politique</a:t>
                      </a:r>
                      <a:endParaRPr lang="fr-FR" sz="1000" noProof="0" dirty="0">
                        <a:latin typeface="Calibri" charset="0"/>
                        <a:ea typeface="Calibri" charset="0"/>
                        <a:cs typeface="Calibri" charset="0"/>
                      </a:endParaRPr>
                    </a:p>
                  </a:txBody>
                  <a:tcPr>
                    <a:lnL w="3810" cap="flat" cmpd="sng" algn="ctr">
                      <a:solidFill>
                        <a:srgbClr val="D0D8D0"/>
                      </a:solidFill>
                      <a:prstDash val="solid"/>
                      <a:round/>
                      <a:headEnd type="none" w="med" len="med"/>
                      <a:tailEnd type="none" w="med" len="med"/>
                    </a:lnL>
                    <a:lnR w="3810" cap="flat" cmpd="sng" algn="ctr">
                      <a:solidFill>
                        <a:srgbClr val="D0D8D0"/>
                      </a:solidFill>
                      <a:prstDash val="solid"/>
                      <a:round/>
                      <a:headEnd type="none" w="med" len="med"/>
                      <a:tailEnd type="none" w="med" len="med"/>
                    </a:lnR>
                    <a:lnT w="3810" cap="flat" cmpd="sng" algn="ctr">
                      <a:solidFill>
                        <a:srgbClr val="D0D8D0"/>
                      </a:solidFill>
                      <a:prstDash val="solid"/>
                      <a:round/>
                      <a:headEnd type="none" w="med" len="med"/>
                      <a:tailEnd type="none" w="med" len="med"/>
                    </a:lnT>
                    <a:lnB w="3810" cap="flat" cmpd="sng" algn="ctr">
                      <a:solidFill>
                        <a:srgbClr val="D0D8D0"/>
                      </a:solidFill>
                      <a:prstDash val="solid"/>
                      <a:round/>
                      <a:headEnd type="none" w="med" len="med"/>
                      <a:tailEnd type="none" w="med" len="med"/>
                    </a:lnB>
                    <a:solidFill>
                      <a:srgbClr val="F5F5F5"/>
                    </a:solidFill>
                  </a:tcPr>
                </a:tc>
                <a:tc>
                  <a:txBody>
                    <a:bodyPr/>
                    <a:lstStyle/>
                    <a:p>
                      <a:pPr marL="0" indent="0">
                        <a:buNone/>
                      </a:pPr>
                      <a:r>
                        <a:rPr lang="fr-FR" sz="1000" noProof="0" dirty="0">
                          <a:solidFill>
                            <a:srgbClr val="1A2A1A"/>
                          </a:solidFill>
                          <a:latin typeface="Calibri" pitchFamily="34" charset="0"/>
                          <a:ea typeface="Calibri" pitchFamily="34" charset="-122"/>
                          <a:cs typeface="Calibri" pitchFamily="34" charset="-120"/>
                        </a:rPr>
                        <a:t>Stabilité politique et absence de violence</a:t>
                      </a:r>
                      <a:endParaRPr lang="fr-FR" sz="1000" noProof="0" dirty="0">
                        <a:latin typeface="Calibri" charset="0"/>
                        <a:ea typeface="Calibri" charset="0"/>
                        <a:cs typeface="Calibri" charset="0"/>
                      </a:endParaRPr>
                    </a:p>
                  </a:txBody>
                  <a:tcPr>
                    <a:lnL w="3810" cap="flat" cmpd="sng" algn="ctr">
                      <a:solidFill>
                        <a:srgbClr val="D0D8D0"/>
                      </a:solidFill>
                      <a:prstDash val="solid"/>
                      <a:round/>
                      <a:headEnd type="none" w="med" len="med"/>
                      <a:tailEnd type="none" w="med" len="med"/>
                    </a:lnL>
                    <a:lnR w="3810" cap="flat" cmpd="sng" algn="ctr">
                      <a:solidFill>
                        <a:srgbClr val="D0D8D0"/>
                      </a:solidFill>
                      <a:prstDash val="solid"/>
                      <a:round/>
                      <a:headEnd type="none" w="med" len="med"/>
                      <a:tailEnd type="none" w="med" len="med"/>
                    </a:lnR>
                    <a:lnT w="3810" cap="flat" cmpd="sng" algn="ctr">
                      <a:solidFill>
                        <a:srgbClr val="D0D8D0"/>
                      </a:solidFill>
                      <a:prstDash val="solid"/>
                      <a:round/>
                      <a:headEnd type="none" w="med" len="med"/>
                      <a:tailEnd type="none" w="med" len="med"/>
                    </a:lnT>
                    <a:lnB w="3810" cap="flat" cmpd="sng" algn="ctr">
                      <a:solidFill>
                        <a:srgbClr val="D0D8D0"/>
                      </a:solidFill>
                      <a:prstDash val="solid"/>
                      <a:round/>
                      <a:headEnd type="none" w="med" len="med"/>
                      <a:tailEnd type="none" w="med" len="med"/>
                    </a:lnB>
                    <a:solidFill>
                      <a:srgbClr val="F5F5F5"/>
                    </a:solidFill>
                  </a:tcPr>
                </a:tc>
                <a:tc>
                  <a:txBody>
                    <a:bodyPr/>
                    <a:lstStyle/>
                    <a:p>
                      <a:pPr marL="0" indent="0">
                        <a:buNone/>
                      </a:pPr>
                      <a:r>
                        <a:rPr lang="fr-FR" sz="1000" noProof="0" dirty="0">
                          <a:solidFill>
                            <a:srgbClr val="1A2A1A"/>
                          </a:solidFill>
                          <a:latin typeface="Calibri" pitchFamily="34" charset="0"/>
                          <a:ea typeface="Calibri" pitchFamily="34" charset="-122"/>
                          <a:cs typeface="Calibri" pitchFamily="34" charset="-120"/>
                        </a:rPr>
                        <a:t>–2.5 à +2.5</a:t>
                      </a:r>
                      <a:endParaRPr lang="fr-FR" sz="1000" noProof="0" dirty="0">
                        <a:latin typeface="Calibri" charset="0"/>
                        <a:ea typeface="Calibri" charset="0"/>
                        <a:cs typeface="Calibri" charset="0"/>
                      </a:endParaRPr>
                    </a:p>
                  </a:txBody>
                  <a:tcPr>
                    <a:lnL w="3810" cap="flat" cmpd="sng" algn="ctr">
                      <a:solidFill>
                        <a:srgbClr val="D0D8D0"/>
                      </a:solidFill>
                      <a:prstDash val="solid"/>
                      <a:round/>
                      <a:headEnd type="none" w="med" len="med"/>
                      <a:tailEnd type="none" w="med" len="med"/>
                    </a:lnL>
                    <a:lnR w="3810" cap="flat" cmpd="sng" algn="ctr">
                      <a:solidFill>
                        <a:srgbClr val="D0D8D0"/>
                      </a:solidFill>
                      <a:prstDash val="solid"/>
                      <a:round/>
                      <a:headEnd type="none" w="med" len="med"/>
                      <a:tailEnd type="none" w="med" len="med"/>
                    </a:lnR>
                    <a:lnT w="3810" cap="flat" cmpd="sng" algn="ctr">
                      <a:solidFill>
                        <a:srgbClr val="D0D8D0"/>
                      </a:solidFill>
                      <a:prstDash val="solid"/>
                      <a:round/>
                      <a:headEnd type="none" w="med" len="med"/>
                      <a:tailEnd type="none" w="med" len="med"/>
                    </a:lnT>
                    <a:lnB w="3810" cap="flat" cmpd="sng" algn="ctr">
                      <a:solidFill>
                        <a:srgbClr val="D0D8D0"/>
                      </a:solidFill>
                      <a:prstDash val="solid"/>
                      <a:round/>
                      <a:headEnd type="none" w="med" len="med"/>
                      <a:tailEnd type="none" w="med" len="med"/>
                    </a:lnB>
                    <a:solidFill>
                      <a:srgbClr val="F5F5F5"/>
                    </a:solidFill>
                  </a:tcPr>
                </a:tc>
                <a:tc>
                  <a:txBody>
                    <a:bodyPr/>
                    <a:lstStyle/>
                    <a:p>
                      <a:pPr marL="0" indent="0">
                        <a:buNone/>
                      </a:pPr>
                      <a:r>
                        <a:rPr lang="fr-FR" sz="1000" noProof="0" dirty="0">
                          <a:solidFill>
                            <a:srgbClr val="1A2A1A"/>
                          </a:solidFill>
                          <a:latin typeface="Calibri" pitchFamily="34" charset="0"/>
                          <a:ea typeface="Calibri" pitchFamily="34" charset="-122"/>
                          <a:cs typeface="Calibri" pitchFamily="34" charset="-120"/>
                        </a:rPr>
                        <a:t>Banque Mondiale</a:t>
                      </a:r>
                      <a:endParaRPr lang="fr-FR" sz="1000" noProof="0" dirty="0">
                        <a:latin typeface="Calibri" charset="0"/>
                        <a:ea typeface="Calibri" charset="0"/>
                        <a:cs typeface="Calibri" charset="0"/>
                      </a:endParaRPr>
                    </a:p>
                  </a:txBody>
                  <a:tcPr>
                    <a:lnL w="3810" cap="flat" cmpd="sng" algn="ctr">
                      <a:solidFill>
                        <a:srgbClr val="D0D8D0"/>
                      </a:solidFill>
                      <a:prstDash val="solid"/>
                      <a:round/>
                      <a:headEnd type="none" w="med" len="med"/>
                      <a:tailEnd type="none" w="med" len="med"/>
                    </a:lnL>
                    <a:lnR w="3810" cap="flat" cmpd="sng" algn="ctr">
                      <a:solidFill>
                        <a:srgbClr val="D0D8D0"/>
                      </a:solidFill>
                      <a:prstDash val="solid"/>
                      <a:round/>
                      <a:headEnd type="none" w="med" len="med"/>
                      <a:tailEnd type="none" w="med" len="med"/>
                    </a:lnR>
                    <a:lnT w="3810" cap="flat" cmpd="sng" algn="ctr">
                      <a:solidFill>
                        <a:srgbClr val="D0D8D0"/>
                      </a:solidFill>
                      <a:prstDash val="solid"/>
                      <a:round/>
                      <a:headEnd type="none" w="med" len="med"/>
                      <a:tailEnd type="none" w="med" len="med"/>
                    </a:lnT>
                    <a:lnB w="3810" cap="flat" cmpd="sng" algn="ctr">
                      <a:solidFill>
                        <a:srgbClr val="D0D8D0"/>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320040">
                <a:tc>
                  <a:txBody>
                    <a:bodyPr/>
                    <a:lstStyle/>
                    <a:p>
                      <a:pPr marL="0" indent="0">
                        <a:buNone/>
                      </a:pPr>
                      <a:r>
                        <a:rPr lang="fr-FR" sz="1000" noProof="0" dirty="0">
                          <a:solidFill>
                            <a:srgbClr val="1A2A1A"/>
                          </a:solidFill>
                          <a:latin typeface="Calibri" pitchFamily="34" charset="0"/>
                          <a:ea typeface="Calibri" pitchFamily="34" charset="-122"/>
                          <a:cs typeface="Calibri" pitchFamily="34" charset="-120"/>
                        </a:rPr>
                        <a:t>population</a:t>
                      </a:r>
                      <a:endParaRPr lang="fr-FR" sz="1000" noProof="0" dirty="0">
                        <a:latin typeface="Calibri" charset="0"/>
                        <a:ea typeface="Calibri" charset="0"/>
                        <a:cs typeface="Calibri" charset="0"/>
                      </a:endParaRPr>
                    </a:p>
                  </a:txBody>
                  <a:tcPr>
                    <a:lnL w="3810" cap="flat" cmpd="sng" algn="ctr">
                      <a:solidFill>
                        <a:srgbClr val="D0D8D0"/>
                      </a:solidFill>
                      <a:prstDash val="solid"/>
                      <a:round/>
                      <a:headEnd type="none" w="med" len="med"/>
                      <a:tailEnd type="none" w="med" len="med"/>
                    </a:lnL>
                    <a:lnR w="3810" cap="flat" cmpd="sng" algn="ctr">
                      <a:solidFill>
                        <a:srgbClr val="D0D8D0"/>
                      </a:solidFill>
                      <a:prstDash val="solid"/>
                      <a:round/>
                      <a:headEnd type="none" w="med" len="med"/>
                      <a:tailEnd type="none" w="med" len="med"/>
                    </a:lnR>
                    <a:lnT w="3810" cap="flat" cmpd="sng" algn="ctr">
                      <a:solidFill>
                        <a:srgbClr val="D0D8D0"/>
                      </a:solidFill>
                      <a:prstDash val="solid"/>
                      <a:round/>
                      <a:headEnd type="none" w="med" len="med"/>
                      <a:tailEnd type="none" w="med" len="med"/>
                    </a:lnT>
                    <a:lnB w="3810" cap="flat" cmpd="sng" algn="ctr">
                      <a:solidFill>
                        <a:srgbClr val="D0D8D0"/>
                      </a:solidFill>
                      <a:prstDash val="solid"/>
                      <a:round/>
                      <a:headEnd type="none" w="med" len="med"/>
                      <a:tailEnd type="none" w="med" len="med"/>
                    </a:lnB>
                    <a:solidFill>
                      <a:srgbClr val="FFFFFF"/>
                    </a:solidFill>
                  </a:tcPr>
                </a:tc>
                <a:tc>
                  <a:txBody>
                    <a:bodyPr/>
                    <a:lstStyle/>
                    <a:p>
                      <a:pPr marL="0" indent="0">
                        <a:buNone/>
                      </a:pPr>
                      <a:r>
                        <a:rPr lang="fr-FR" sz="1000" noProof="0" dirty="0">
                          <a:solidFill>
                            <a:srgbClr val="1A2A1A"/>
                          </a:solidFill>
                          <a:latin typeface="Calibri" pitchFamily="34" charset="0"/>
                          <a:ea typeface="Calibri" pitchFamily="34" charset="-122"/>
                          <a:cs typeface="Calibri" pitchFamily="34" charset="-120"/>
                        </a:rPr>
                        <a:t>Population totale</a:t>
                      </a:r>
                      <a:endParaRPr lang="fr-FR" sz="1000" noProof="0" dirty="0">
                        <a:latin typeface="Calibri" charset="0"/>
                        <a:ea typeface="Calibri" charset="0"/>
                        <a:cs typeface="Calibri" charset="0"/>
                      </a:endParaRPr>
                    </a:p>
                  </a:txBody>
                  <a:tcPr>
                    <a:lnL w="3810" cap="flat" cmpd="sng" algn="ctr">
                      <a:solidFill>
                        <a:srgbClr val="D0D8D0"/>
                      </a:solidFill>
                      <a:prstDash val="solid"/>
                      <a:round/>
                      <a:headEnd type="none" w="med" len="med"/>
                      <a:tailEnd type="none" w="med" len="med"/>
                    </a:lnL>
                    <a:lnR w="3810" cap="flat" cmpd="sng" algn="ctr">
                      <a:solidFill>
                        <a:srgbClr val="D0D8D0"/>
                      </a:solidFill>
                      <a:prstDash val="solid"/>
                      <a:round/>
                      <a:headEnd type="none" w="med" len="med"/>
                      <a:tailEnd type="none" w="med" len="med"/>
                    </a:lnR>
                    <a:lnT w="3810" cap="flat" cmpd="sng" algn="ctr">
                      <a:solidFill>
                        <a:srgbClr val="D0D8D0"/>
                      </a:solidFill>
                      <a:prstDash val="solid"/>
                      <a:round/>
                      <a:headEnd type="none" w="med" len="med"/>
                      <a:tailEnd type="none" w="med" len="med"/>
                    </a:lnT>
                    <a:lnB w="3810" cap="flat" cmpd="sng" algn="ctr">
                      <a:solidFill>
                        <a:srgbClr val="D0D8D0"/>
                      </a:solidFill>
                      <a:prstDash val="solid"/>
                      <a:round/>
                      <a:headEnd type="none" w="med" len="med"/>
                      <a:tailEnd type="none" w="med" len="med"/>
                    </a:lnB>
                    <a:solidFill>
                      <a:srgbClr val="FFFFFF"/>
                    </a:solidFill>
                  </a:tcPr>
                </a:tc>
                <a:tc>
                  <a:txBody>
                    <a:bodyPr/>
                    <a:lstStyle/>
                    <a:p>
                      <a:pPr marL="0" indent="0">
                        <a:buNone/>
                      </a:pPr>
                      <a:r>
                        <a:rPr lang="fr-FR" sz="1000" noProof="0" dirty="0">
                          <a:solidFill>
                            <a:srgbClr val="1A2A1A"/>
                          </a:solidFill>
                          <a:latin typeface="Calibri" pitchFamily="34" charset="0"/>
                          <a:ea typeface="Calibri" pitchFamily="34" charset="-122"/>
                          <a:cs typeface="Calibri" pitchFamily="34" charset="-120"/>
                        </a:rPr>
                        <a:t>milliers hab.</a:t>
                      </a:r>
                      <a:endParaRPr lang="fr-FR" sz="1000" noProof="0" dirty="0">
                        <a:latin typeface="Calibri" charset="0"/>
                        <a:ea typeface="Calibri" charset="0"/>
                        <a:cs typeface="Calibri" charset="0"/>
                      </a:endParaRPr>
                    </a:p>
                  </a:txBody>
                  <a:tcPr>
                    <a:lnL w="3810" cap="flat" cmpd="sng" algn="ctr">
                      <a:solidFill>
                        <a:srgbClr val="D0D8D0"/>
                      </a:solidFill>
                      <a:prstDash val="solid"/>
                      <a:round/>
                      <a:headEnd type="none" w="med" len="med"/>
                      <a:tailEnd type="none" w="med" len="med"/>
                    </a:lnL>
                    <a:lnR w="3810" cap="flat" cmpd="sng" algn="ctr">
                      <a:solidFill>
                        <a:srgbClr val="D0D8D0"/>
                      </a:solidFill>
                      <a:prstDash val="solid"/>
                      <a:round/>
                      <a:headEnd type="none" w="med" len="med"/>
                      <a:tailEnd type="none" w="med" len="med"/>
                    </a:lnR>
                    <a:lnT w="3810" cap="flat" cmpd="sng" algn="ctr">
                      <a:solidFill>
                        <a:srgbClr val="D0D8D0"/>
                      </a:solidFill>
                      <a:prstDash val="solid"/>
                      <a:round/>
                      <a:headEnd type="none" w="med" len="med"/>
                      <a:tailEnd type="none" w="med" len="med"/>
                    </a:lnT>
                    <a:lnB w="3810" cap="flat" cmpd="sng" algn="ctr">
                      <a:solidFill>
                        <a:srgbClr val="D0D8D0"/>
                      </a:solidFill>
                      <a:prstDash val="solid"/>
                      <a:round/>
                      <a:headEnd type="none" w="med" len="med"/>
                      <a:tailEnd type="none" w="med" len="med"/>
                    </a:lnB>
                    <a:solidFill>
                      <a:srgbClr val="FFFFFF"/>
                    </a:solidFill>
                  </a:tcPr>
                </a:tc>
                <a:tc>
                  <a:txBody>
                    <a:bodyPr/>
                    <a:lstStyle/>
                    <a:p>
                      <a:pPr marL="0" indent="0">
                        <a:buNone/>
                      </a:pPr>
                      <a:r>
                        <a:rPr lang="fr-FR" sz="1000" noProof="0" dirty="0">
                          <a:solidFill>
                            <a:srgbClr val="1A2A1A"/>
                          </a:solidFill>
                          <a:latin typeface="Calibri" pitchFamily="34" charset="0"/>
                          <a:ea typeface="Calibri" pitchFamily="34" charset="-122"/>
                          <a:cs typeface="Calibri" pitchFamily="34" charset="-120"/>
                        </a:rPr>
                        <a:t>Banque Mondiale</a:t>
                      </a:r>
                      <a:endParaRPr lang="fr-FR" sz="1000" noProof="0" dirty="0">
                        <a:latin typeface="Calibri" charset="0"/>
                        <a:ea typeface="Calibri" charset="0"/>
                        <a:cs typeface="Calibri" charset="0"/>
                      </a:endParaRPr>
                    </a:p>
                  </a:txBody>
                  <a:tcPr>
                    <a:lnL w="3810" cap="flat" cmpd="sng" algn="ctr">
                      <a:solidFill>
                        <a:srgbClr val="D0D8D0"/>
                      </a:solidFill>
                      <a:prstDash val="solid"/>
                      <a:round/>
                      <a:headEnd type="none" w="med" len="med"/>
                      <a:tailEnd type="none" w="med" len="med"/>
                    </a:lnL>
                    <a:lnR w="3810" cap="flat" cmpd="sng" algn="ctr">
                      <a:solidFill>
                        <a:srgbClr val="D0D8D0"/>
                      </a:solidFill>
                      <a:prstDash val="solid"/>
                      <a:round/>
                      <a:headEnd type="none" w="med" len="med"/>
                      <a:tailEnd type="none" w="med" len="med"/>
                    </a:lnR>
                    <a:lnT w="3810" cap="flat" cmpd="sng" algn="ctr">
                      <a:solidFill>
                        <a:srgbClr val="D0D8D0"/>
                      </a:solidFill>
                      <a:prstDash val="solid"/>
                      <a:round/>
                      <a:headEnd type="none" w="med" len="med"/>
                      <a:tailEnd type="none" w="med" len="med"/>
                    </a:lnT>
                    <a:lnB w="3810" cap="flat" cmpd="sng" algn="ctr">
                      <a:solidFill>
                        <a:srgbClr val="D0D8D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0040">
                <a:tc>
                  <a:txBody>
                    <a:bodyPr/>
                    <a:lstStyle/>
                    <a:p>
                      <a:pPr marL="0" indent="0">
                        <a:buNone/>
                      </a:pPr>
                      <a:r>
                        <a:rPr lang="fr-FR" sz="1000" noProof="0" dirty="0" err="1">
                          <a:solidFill>
                            <a:srgbClr val="1A2A1A"/>
                          </a:solidFill>
                          <a:latin typeface="Calibri" pitchFamily="34" charset="0"/>
                          <a:ea typeface="Calibri" pitchFamily="34" charset="-122"/>
                          <a:cs typeface="Calibri" pitchFamily="34" charset="-120"/>
                        </a:rPr>
                        <a:t>tx_urbanisation</a:t>
                      </a:r>
                      <a:endParaRPr lang="fr-FR" sz="1000" noProof="0" dirty="0">
                        <a:latin typeface="Calibri" charset="0"/>
                        <a:ea typeface="Calibri" charset="0"/>
                        <a:cs typeface="Calibri" charset="0"/>
                      </a:endParaRPr>
                    </a:p>
                  </a:txBody>
                  <a:tcPr>
                    <a:lnL w="3810" cap="flat" cmpd="sng" algn="ctr">
                      <a:solidFill>
                        <a:srgbClr val="D0D8D0"/>
                      </a:solidFill>
                      <a:prstDash val="solid"/>
                      <a:round/>
                      <a:headEnd type="none" w="med" len="med"/>
                      <a:tailEnd type="none" w="med" len="med"/>
                    </a:lnL>
                    <a:lnR w="3810" cap="flat" cmpd="sng" algn="ctr">
                      <a:solidFill>
                        <a:srgbClr val="D0D8D0"/>
                      </a:solidFill>
                      <a:prstDash val="solid"/>
                      <a:round/>
                      <a:headEnd type="none" w="med" len="med"/>
                      <a:tailEnd type="none" w="med" len="med"/>
                    </a:lnR>
                    <a:lnT w="3810" cap="flat" cmpd="sng" algn="ctr">
                      <a:solidFill>
                        <a:srgbClr val="D0D8D0"/>
                      </a:solidFill>
                      <a:prstDash val="solid"/>
                      <a:round/>
                      <a:headEnd type="none" w="med" len="med"/>
                      <a:tailEnd type="none" w="med" len="med"/>
                    </a:lnT>
                    <a:lnB w="3810" cap="flat" cmpd="sng" algn="ctr">
                      <a:solidFill>
                        <a:srgbClr val="D0D8D0"/>
                      </a:solidFill>
                      <a:prstDash val="solid"/>
                      <a:round/>
                      <a:headEnd type="none" w="med" len="med"/>
                      <a:tailEnd type="none" w="med" len="med"/>
                    </a:lnB>
                    <a:solidFill>
                      <a:srgbClr val="F5F5F5"/>
                    </a:solidFill>
                  </a:tcPr>
                </a:tc>
                <a:tc>
                  <a:txBody>
                    <a:bodyPr/>
                    <a:lstStyle/>
                    <a:p>
                      <a:pPr marL="0" indent="0">
                        <a:buNone/>
                      </a:pPr>
                      <a:r>
                        <a:rPr lang="fr-FR" sz="1000" noProof="0" dirty="0">
                          <a:solidFill>
                            <a:srgbClr val="1A2A1A"/>
                          </a:solidFill>
                          <a:latin typeface="Calibri" pitchFamily="34" charset="0"/>
                          <a:ea typeface="Calibri" pitchFamily="34" charset="-122"/>
                          <a:cs typeface="Calibri" pitchFamily="34" charset="-120"/>
                        </a:rPr>
                        <a:t>Part de la population urbaine</a:t>
                      </a:r>
                      <a:endParaRPr lang="fr-FR" sz="1000" noProof="0" dirty="0">
                        <a:latin typeface="Calibri" charset="0"/>
                        <a:ea typeface="Calibri" charset="0"/>
                        <a:cs typeface="Calibri" charset="0"/>
                      </a:endParaRPr>
                    </a:p>
                  </a:txBody>
                  <a:tcPr>
                    <a:lnL w="3810" cap="flat" cmpd="sng" algn="ctr">
                      <a:solidFill>
                        <a:srgbClr val="D0D8D0"/>
                      </a:solidFill>
                      <a:prstDash val="solid"/>
                      <a:round/>
                      <a:headEnd type="none" w="med" len="med"/>
                      <a:tailEnd type="none" w="med" len="med"/>
                    </a:lnL>
                    <a:lnR w="3810" cap="flat" cmpd="sng" algn="ctr">
                      <a:solidFill>
                        <a:srgbClr val="D0D8D0"/>
                      </a:solidFill>
                      <a:prstDash val="solid"/>
                      <a:round/>
                      <a:headEnd type="none" w="med" len="med"/>
                      <a:tailEnd type="none" w="med" len="med"/>
                    </a:lnR>
                    <a:lnT w="3810" cap="flat" cmpd="sng" algn="ctr">
                      <a:solidFill>
                        <a:srgbClr val="D0D8D0"/>
                      </a:solidFill>
                      <a:prstDash val="solid"/>
                      <a:round/>
                      <a:headEnd type="none" w="med" len="med"/>
                      <a:tailEnd type="none" w="med" len="med"/>
                    </a:lnT>
                    <a:lnB w="3810" cap="flat" cmpd="sng" algn="ctr">
                      <a:solidFill>
                        <a:srgbClr val="D0D8D0"/>
                      </a:solidFill>
                      <a:prstDash val="solid"/>
                      <a:round/>
                      <a:headEnd type="none" w="med" len="med"/>
                      <a:tailEnd type="none" w="med" len="med"/>
                    </a:lnB>
                    <a:solidFill>
                      <a:srgbClr val="F5F5F5"/>
                    </a:solidFill>
                  </a:tcPr>
                </a:tc>
                <a:tc>
                  <a:txBody>
                    <a:bodyPr/>
                    <a:lstStyle/>
                    <a:p>
                      <a:pPr marL="0" indent="0">
                        <a:buNone/>
                      </a:pPr>
                      <a:r>
                        <a:rPr lang="fr-FR" sz="1000" noProof="0" dirty="0">
                          <a:solidFill>
                            <a:srgbClr val="1A2A1A"/>
                          </a:solidFill>
                          <a:latin typeface="Calibri" pitchFamily="34" charset="0"/>
                          <a:ea typeface="Calibri" pitchFamily="34" charset="-122"/>
                          <a:cs typeface="Calibri" pitchFamily="34" charset="-120"/>
                        </a:rPr>
                        <a:t>%</a:t>
                      </a:r>
                      <a:endParaRPr lang="fr-FR" sz="1000" noProof="0" dirty="0">
                        <a:latin typeface="Calibri" charset="0"/>
                        <a:ea typeface="Calibri" charset="0"/>
                        <a:cs typeface="Calibri" charset="0"/>
                      </a:endParaRPr>
                    </a:p>
                  </a:txBody>
                  <a:tcPr>
                    <a:lnL w="3810" cap="flat" cmpd="sng" algn="ctr">
                      <a:solidFill>
                        <a:srgbClr val="D0D8D0"/>
                      </a:solidFill>
                      <a:prstDash val="solid"/>
                      <a:round/>
                      <a:headEnd type="none" w="med" len="med"/>
                      <a:tailEnd type="none" w="med" len="med"/>
                    </a:lnL>
                    <a:lnR w="3810" cap="flat" cmpd="sng" algn="ctr">
                      <a:solidFill>
                        <a:srgbClr val="D0D8D0"/>
                      </a:solidFill>
                      <a:prstDash val="solid"/>
                      <a:round/>
                      <a:headEnd type="none" w="med" len="med"/>
                      <a:tailEnd type="none" w="med" len="med"/>
                    </a:lnR>
                    <a:lnT w="3810" cap="flat" cmpd="sng" algn="ctr">
                      <a:solidFill>
                        <a:srgbClr val="D0D8D0"/>
                      </a:solidFill>
                      <a:prstDash val="solid"/>
                      <a:round/>
                      <a:headEnd type="none" w="med" len="med"/>
                      <a:tailEnd type="none" w="med" len="med"/>
                    </a:lnT>
                    <a:lnB w="3810" cap="flat" cmpd="sng" algn="ctr">
                      <a:solidFill>
                        <a:srgbClr val="D0D8D0"/>
                      </a:solidFill>
                      <a:prstDash val="solid"/>
                      <a:round/>
                      <a:headEnd type="none" w="med" len="med"/>
                      <a:tailEnd type="none" w="med" len="med"/>
                    </a:lnB>
                    <a:solidFill>
                      <a:srgbClr val="F5F5F5"/>
                    </a:solidFill>
                  </a:tcPr>
                </a:tc>
                <a:tc>
                  <a:txBody>
                    <a:bodyPr/>
                    <a:lstStyle/>
                    <a:p>
                      <a:pPr marL="0" indent="0">
                        <a:buNone/>
                      </a:pPr>
                      <a:r>
                        <a:rPr lang="fr-FR" sz="1000" noProof="0" dirty="0">
                          <a:solidFill>
                            <a:srgbClr val="1A2A1A"/>
                          </a:solidFill>
                          <a:latin typeface="Calibri" pitchFamily="34" charset="0"/>
                          <a:ea typeface="Calibri" pitchFamily="34" charset="-122"/>
                          <a:cs typeface="Calibri" pitchFamily="34" charset="-120"/>
                        </a:rPr>
                        <a:t>Banque Mondiale</a:t>
                      </a:r>
                      <a:endParaRPr lang="fr-FR" sz="1000" noProof="0" dirty="0">
                        <a:latin typeface="Calibri" charset="0"/>
                        <a:ea typeface="Calibri" charset="0"/>
                        <a:cs typeface="Calibri" charset="0"/>
                      </a:endParaRPr>
                    </a:p>
                  </a:txBody>
                  <a:tcPr>
                    <a:lnL w="3810" cap="flat" cmpd="sng" algn="ctr">
                      <a:solidFill>
                        <a:srgbClr val="D0D8D0"/>
                      </a:solidFill>
                      <a:prstDash val="solid"/>
                      <a:round/>
                      <a:headEnd type="none" w="med" len="med"/>
                      <a:tailEnd type="none" w="med" len="med"/>
                    </a:lnL>
                    <a:lnR w="3810" cap="flat" cmpd="sng" algn="ctr">
                      <a:solidFill>
                        <a:srgbClr val="D0D8D0"/>
                      </a:solidFill>
                      <a:prstDash val="solid"/>
                      <a:round/>
                      <a:headEnd type="none" w="med" len="med"/>
                      <a:tailEnd type="none" w="med" len="med"/>
                    </a:lnR>
                    <a:lnT w="3810" cap="flat" cmpd="sng" algn="ctr">
                      <a:solidFill>
                        <a:srgbClr val="D0D8D0"/>
                      </a:solidFill>
                      <a:prstDash val="solid"/>
                      <a:round/>
                      <a:headEnd type="none" w="med" len="med"/>
                      <a:tailEnd type="none" w="med" len="med"/>
                    </a:lnT>
                    <a:lnB w="3810" cap="flat" cmpd="sng" algn="ctr">
                      <a:solidFill>
                        <a:srgbClr val="D0D8D0"/>
                      </a:solidFill>
                      <a:prstDash val="solid"/>
                      <a:round/>
                      <a:headEnd type="none" w="med" len="med"/>
                      <a:tailEnd type="none" w="med" len="med"/>
                    </a:lnB>
                    <a:solidFill>
                      <a:srgbClr val="F5F5F5"/>
                    </a:solidFill>
                  </a:tcPr>
                </a:tc>
                <a:extLst>
                  <a:ext uri="{0D108BD9-81ED-4DB2-BD59-A6C34878D82A}">
                    <a16:rowId xmlns:a16="http://schemas.microsoft.com/office/drawing/2014/main" val="10006"/>
                  </a:ext>
                </a:extLst>
              </a:tr>
              <a:tr h="320040">
                <a:tc>
                  <a:txBody>
                    <a:bodyPr/>
                    <a:lstStyle/>
                    <a:p>
                      <a:pPr marL="0" indent="0">
                        <a:buNone/>
                      </a:pPr>
                      <a:r>
                        <a:rPr lang="fr-FR" sz="1000" noProof="0" dirty="0" err="1">
                          <a:solidFill>
                            <a:srgbClr val="1A2A1A"/>
                          </a:solidFill>
                          <a:latin typeface="Calibri" pitchFamily="34" charset="0"/>
                          <a:ea typeface="Calibri" pitchFamily="34" charset="-122"/>
                          <a:cs typeface="Calibri" pitchFamily="34" charset="-120"/>
                        </a:rPr>
                        <a:t>affordability</a:t>
                      </a:r>
                      <a:endParaRPr lang="fr-FR" sz="1000" noProof="0" dirty="0">
                        <a:latin typeface="Calibri" charset="0"/>
                        <a:ea typeface="Calibri" charset="0"/>
                        <a:cs typeface="Calibri" charset="0"/>
                      </a:endParaRPr>
                    </a:p>
                  </a:txBody>
                  <a:tcPr>
                    <a:lnL w="3810" cap="flat" cmpd="sng" algn="ctr">
                      <a:solidFill>
                        <a:srgbClr val="D0D8D0"/>
                      </a:solidFill>
                      <a:prstDash val="solid"/>
                      <a:round/>
                      <a:headEnd type="none" w="med" len="med"/>
                      <a:tailEnd type="none" w="med" len="med"/>
                    </a:lnL>
                    <a:lnR w="3810" cap="flat" cmpd="sng" algn="ctr">
                      <a:solidFill>
                        <a:srgbClr val="D0D8D0"/>
                      </a:solidFill>
                      <a:prstDash val="solid"/>
                      <a:round/>
                      <a:headEnd type="none" w="med" len="med"/>
                      <a:tailEnd type="none" w="med" len="med"/>
                    </a:lnR>
                    <a:lnT w="3810" cap="flat" cmpd="sng" algn="ctr">
                      <a:solidFill>
                        <a:srgbClr val="D0D8D0"/>
                      </a:solidFill>
                      <a:prstDash val="solid"/>
                      <a:round/>
                      <a:headEnd type="none" w="med" len="med"/>
                      <a:tailEnd type="none" w="med" len="med"/>
                    </a:lnT>
                    <a:lnB w="3810" cap="flat" cmpd="sng" algn="ctr">
                      <a:solidFill>
                        <a:srgbClr val="D0D8D0"/>
                      </a:solidFill>
                      <a:prstDash val="solid"/>
                      <a:round/>
                      <a:headEnd type="none" w="med" len="med"/>
                      <a:tailEnd type="none" w="med" len="med"/>
                    </a:lnB>
                    <a:solidFill>
                      <a:srgbClr val="FFFFFF"/>
                    </a:solidFill>
                  </a:tcPr>
                </a:tc>
                <a:tc>
                  <a:txBody>
                    <a:bodyPr/>
                    <a:lstStyle/>
                    <a:p>
                      <a:pPr marL="0" indent="0">
                        <a:buNone/>
                      </a:pPr>
                      <a:r>
                        <a:rPr lang="fr-FR" sz="1000" noProof="0" dirty="0">
                          <a:solidFill>
                            <a:srgbClr val="1A2A1A"/>
                          </a:solidFill>
                          <a:latin typeface="Calibri" pitchFamily="34" charset="0"/>
                          <a:ea typeface="Calibri" pitchFamily="34" charset="-122"/>
                          <a:cs typeface="Calibri" pitchFamily="34" charset="-120"/>
                        </a:rPr>
                        <a:t>Accès financier à l'alimentation</a:t>
                      </a:r>
                      <a:endParaRPr lang="fr-FR" sz="1000" noProof="0" dirty="0">
                        <a:latin typeface="Calibri" charset="0"/>
                        <a:ea typeface="Calibri" charset="0"/>
                        <a:cs typeface="Calibri" charset="0"/>
                      </a:endParaRPr>
                    </a:p>
                  </a:txBody>
                  <a:tcPr>
                    <a:lnL w="3810" cap="flat" cmpd="sng" algn="ctr">
                      <a:solidFill>
                        <a:srgbClr val="D0D8D0"/>
                      </a:solidFill>
                      <a:prstDash val="solid"/>
                      <a:round/>
                      <a:headEnd type="none" w="med" len="med"/>
                      <a:tailEnd type="none" w="med" len="med"/>
                    </a:lnL>
                    <a:lnR w="3810" cap="flat" cmpd="sng" algn="ctr">
                      <a:solidFill>
                        <a:srgbClr val="D0D8D0"/>
                      </a:solidFill>
                      <a:prstDash val="solid"/>
                      <a:round/>
                      <a:headEnd type="none" w="med" len="med"/>
                      <a:tailEnd type="none" w="med" len="med"/>
                    </a:lnR>
                    <a:lnT w="3810" cap="flat" cmpd="sng" algn="ctr">
                      <a:solidFill>
                        <a:srgbClr val="D0D8D0"/>
                      </a:solidFill>
                      <a:prstDash val="solid"/>
                      <a:round/>
                      <a:headEnd type="none" w="med" len="med"/>
                      <a:tailEnd type="none" w="med" len="med"/>
                    </a:lnT>
                    <a:lnB w="3810" cap="flat" cmpd="sng" algn="ctr">
                      <a:solidFill>
                        <a:srgbClr val="D0D8D0"/>
                      </a:solidFill>
                      <a:prstDash val="solid"/>
                      <a:round/>
                      <a:headEnd type="none" w="med" len="med"/>
                      <a:tailEnd type="none" w="med" len="med"/>
                    </a:lnB>
                    <a:solidFill>
                      <a:srgbClr val="FFFFFF"/>
                    </a:solidFill>
                  </a:tcPr>
                </a:tc>
                <a:tc>
                  <a:txBody>
                    <a:bodyPr/>
                    <a:lstStyle/>
                    <a:p>
                      <a:pPr marL="0" indent="0">
                        <a:buNone/>
                      </a:pPr>
                      <a:r>
                        <a:rPr lang="fr-FR" sz="1000" noProof="0" dirty="0">
                          <a:solidFill>
                            <a:srgbClr val="1A2A1A"/>
                          </a:solidFill>
                          <a:latin typeface="Calibri" pitchFamily="34" charset="0"/>
                          <a:ea typeface="Calibri" pitchFamily="34" charset="-122"/>
                          <a:cs typeface="Calibri" pitchFamily="34" charset="-120"/>
                        </a:rPr>
                        <a:t>0–100</a:t>
                      </a:r>
                      <a:endParaRPr lang="fr-FR" sz="1000" noProof="0" dirty="0">
                        <a:latin typeface="Calibri" charset="0"/>
                        <a:ea typeface="Calibri" charset="0"/>
                        <a:cs typeface="Calibri" charset="0"/>
                      </a:endParaRPr>
                    </a:p>
                  </a:txBody>
                  <a:tcPr>
                    <a:lnL w="3810" cap="flat" cmpd="sng" algn="ctr">
                      <a:solidFill>
                        <a:srgbClr val="D0D8D0"/>
                      </a:solidFill>
                      <a:prstDash val="solid"/>
                      <a:round/>
                      <a:headEnd type="none" w="med" len="med"/>
                      <a:tailEnd type="none" w="med" len="med"/>
                    </a:lnL>
                    <a:lnR w="3810" cap="flat" cmpd="sng" algn="ctr">
                      <a:solidFill>
                        <a:srgbClr val="D0D8D0"/>
                      </a:solidFill>
                      <a:prstDash val="solid"/>
                      <a:round/>
                      <a:headEnd type="none" w="med" len="med"/>
                      <a:tailEnd type="none" w="med" len="med"/>
                    </a:lnR>
                    <a:lnT w="3810" cap="flat" cmpd="sng" algn="ctr">
                      <a:solidFill>
                        <a:srgbClr val="D0D8D0"/>
                      </a:solidFill>
                      <a:prstDash val="solid"/>
                      <a:round/>
                      <a:headEnd type="none" w="med" len="med"/>
                      <a:tailEnd type="none" w="med" len="med"/>
                    </a:lnT>
                    <a:lnB w="3810" cap="flat" cmpd="sng" algn="ctr">
                      <a:solidFill>
                        <a:srgbClr val="D0D8D0"/>
                      </a:solidFill>
                      <a:prstDash val="solid"/>
                      <a:round/>
                      <a:headEnd type="none" w="med" len="med"/>
                      <a:tailEnd type="none" w="med" len="med"/>
                    </a:lnB>
                    <a:solidFill>
                      <a:srgbClr val="FFFFFF"/>
                    </a:solidFill>
                  </a:tcPr>
                </a:tc>
                <a:tc>
                  <a:txBody>
                    <a:bodyPr/>
                    <a:lstStyle/>
                    <a:p>
                      <a:pPr marL="0" indent="0">
                        <a:buNone/>
                      </a:pPr>
                      <a:r>
                        <a:rPr lang="fr-FR" sz="1000" noProof="0" dirty="0">
                          <a:solidFill>
                            <a:srgbClr val="1A2A1A"/>
                          </a:solidFill>
                          <a:latin typeface="Calibri" pitchFamily="34" charset="0"/>
                          <a:ea typeface="Calibri" pitchFamily="34" charset="-122"/>
                          <a:cs typeface="Calibri" pitchFamily="34" charset="-120"/>
                        </a:rPr>
                        <a:t>FAO (prog. FIES)</a:t>
                      </a:r>
                      <a:endParaRPr lang="fr-FR" sz="1000" noProof="0" dirty="0">
                        <a:latin typeface="Calibri" charset="0"/>
                        <a:ea typeface="Calibri" charset="0"/>
                        <a:cs typeface="Calibri" charset="0"/>
                      </a:endParaRPr>
                    </a:p>
                  </a:txBody>
                  <a:tcPr>
                    <a:lnL w="3810" cap="flat" cmpd="sng" algn="ctr">
                      <a:solidFill>
                        <a:srgbClr val="D0D8D0"/>
                      </a:solidFill>
                      <a:prstDash val="solid"/>
                      <a:round/>
                      <a:headEnd type="none" w="med" len="med"/>
                      <a:tailEnd type="none" w="med" len="med"/>
                    </a:lnL>
                    <a:lnR w="3810" cap="flat" cmpd="sng" algn="ctr">
                      <a:solidFill>
                        <a:srgbClr val="D0D8D0"/>
                      </a:solidFill>
                      <a:prstDash val="solid"/>
                      <a:round/>
                      <a:headEnd type="none" w="med" len="med"/>
                      <a:tailEnd type="none" w="med" len="med"/>
                    </a:lnR>
                    <a:lnT w="3810" cap="flat" cmpd="sng" algn="ctr">
                      <a:solidFill>
                        <a:srgbClr val="D0D8D0"/>
                      </a:solidFill>
                      <a:prstDash val="solid"/>
                      <a:round/>
                      <a:headEnd type="none" w="med" len="med"/>
                      <a:tailEnd type="none" w="med" len="med"/>
                    </a:lnT>
                    <a:lnB w="3810" cap="flat" cmpd="sng" algn="ctr">
                      <a:solidFill>
                        <a:srgbClr val="D0D8D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0040">
                <a:tc>
                  <a:txBody>
                    <a:bodyPr/>
                    <a:lstStyle/>
                    <a:p>
                      <a:pPr marL="0" indent="0">
                        <a:buNone/>
                      </a:pPr>
                      <a:r>
                        <a:rPr lang="fr-FR" sz="1000" noProof="0" dirty="0" err="1">
                          <a:solidFill>
                            <a:srgbClr val="1A2A1A"/>
                          </a:solidFill>
                          <a:latin typeface="Calibri" pitchFamily="34" charset="0"/>
                          <a:ea typeface="Calibri" pitchFamily="34" charset="-122"/>
                          <a:cs typeface="Calibri" pitchFamily="34" charset="-120"/>
                        </a:rPr>
                        <a:t>prod_par_hab</a:t>
                      </a:r>
                      <a:endParaRPr lang="fr-FR" sz="1000" noProof="0" dirty="0">
                        <a:latin typeface="Calibri" charset="0"/>
                        <a:ea typeface="Calibri" charset="0"/>
                        <a:cs typeface="Calibri" charset="0"/>
                      </a:endParaRPr>
                    </a:p>
                  </a:txBody>
                  <a:tcPr>
                    <a:lnL w="3810" cap="flat" cmpd="sng" algn="ctr">
                      <a:solidFill>
                        <a:srgbClr val="D0D8D0"/>
                      </a:solidFill>
                      <a:prstDash val="solid"/>
                      <a:round/>
                      <a:headEnd type="none" w="med" len="med"/>
                      <a:tailEnd type="none" w="med" len="med"/>
                    </a:lnL>
                    <a:lnR w="3810" cap="flat" cmpd="sng" algn="ctr">
                      <a:solidFill>
                        <a:srgbClr val="D0D8D0"/>
                      </a:solidFill>
                      <a:prstDash val="solid"/>
                      <a:round/>
                      <a:headEnd type="none" w="med" len="med"/>
                      <a:tailEnd type="none" w="med" len="med"/>
                    </a:lnR>
                    <a:lnT w="3810" cap="flat" cmpd="sng" algn="ctr">
                      <a:solidFill>
                        <a:srgbClr val="D0D8D0"/>
                      </a:solidFill>
                      <a:prstDash val="solid"/>
                      <a:round/>
                      <a:headEnd type="none" w="med" len="med"/>
                      <a:tailEnd type="none" w="med" len="med"/>
                    </a:lnT>
                    <a:lnB w="3810" cap="flat" cmpd="sng" algn="ctr">
                      <a:solidFill>
                        <a:srgbClr val="D0D8D0"/>
                      </a:solidFill>
                      <a:prstDash val="solid"/>
                      <a:round/>
                      <a:headEnd type="none" w="med" len="med"/>
                      <a:tailEnd type="none" w="med" len="med"/>
                    </a:lnB>
                    <a:solidFill>
                      <a:srgbClr val="F5F5F5"/>
                    </a:solidFill>
                  </a:tcPr>
                </a:tc>
                <a:tc>
                  <a:txBody>
                    <a:bodyPr/>
                    <a:lstStyle/>
                    <a:p>
                      <a:pPr marL="0" indent="0">
                        <a:buNone/>
                      </a:pPr>
                      <a:r>
                        <a:rPr lang="fr-FR" sz="1000" noProof="0" dirty="0">
                          <a:solidFill>
                            <a:srgbClr val="1A2A1A"/>
                          </a:solidFill>
                          <a:latin typeface="Calibri" pitchFamily="34" charset="0"/>
                          <a:ea typeface="Calibri" pitchFamily="34" charset="-122"/>
                          <a:cs typeface="Calibri" pitchFamily="34" charset="-120"/>
                        </a:rPr>
                        <a:t>Production de volaille par habitant</a:t>
                      </a:r>
                      <a:endParaRPr lang="fr-FR" sz="1000" noProof="0" dirty="0">
                        <a:latin typeface="Calibri" charset="0"/>
                        <a:ea typeface="Calibri" charset="0"/>
                        <a:cs typeface="Calibri" charset="0"/>
                      </a:endParaRPr>
                    </a:p>
                  </a:txBody>
                  <a:tcPr>
                    <a:lnL w="3810" cap="flat" cmpd="sng" algn="ctr">
                      <a:solidFill>
                        <a:srgbClr val="D0D8D0"/>
                      </a:solidFill>
                      <a:prstDash val="solid"/>
                      <a:round/>
                      <a:headEnd type="none" w="med" len="med"/>
                      <a:tailEnd type="none" w="med" len="med"/>
                    </a:lnL>
                    <a:lnR w="3810" cap="flat" cmpd="sng" algn="ctr">
                      <a:solidFill>
                        <a:srgbClr val="D0D8D0"/>
                      </a:solidFill>
                      <a:prstDash val="solid"/>
                      <a:round/>
                      <a:headEnd type="none" w="med" len="med"/>
                      <a:tailEnd type="none" w="med" len="med"/>
                    </a:lnR>
                    <a:lnT w="3810" cap="flat" cmpd="sng" algn="ctr">
                      <a:solidFill>
                        <a:srgbClr val="D0D8D0"/>
                      </a:solidFill>
                      <a:prstDash val="solid"/>
                      <a:round/>
                      <a:headEnd type="none" w="med" len="med"/>
                      <a:tailEnd type="none" w="med" len="med"/>
                    </a:lnT>
                    <a:lnB w="3810" cap="flat" cmpd="sng" algn="ctr">
                      <a:solidFill>
                        <a:srgbClr val="D0D8D0"/>
                      </a:solidFill>
                      <a:prstDash val="solid"/>
                      <a:round/>
                      <a:headEnd type="none" w="med" len="med"/>
                      <a:tailEnd type="none" w="med" len="med"/>
                    </a:lnB>
                    <a:solidFill>
                      <a:srgbClr val="F5F5F5"/>
                    </a:solidFill>
                  </a:tcPr>
                </a:tc>
                <a:tc>
                  <a:txBody>
                    <a:bodyPr/>
                    <a:lstStyle/>
                    <a:p>
                      <a:pPr marL="0" indent="0">
                        <a:buNone/>
                      </a:pPr>
                      <a:r>
                        <a:rPr lang="fr-FR" sz="1000" noProof="0" dirty="0">
                          <a:solidFill>
                            <a:srgbClr val="1A2A1A"/>
                          </a:solidFill>
                          <a:latin typeface="Calibri" pitchFamily="34" charset="0"/>
                          <a:ea typeface="Calibri" pitchFamily="34" charset="-122"/>
                          <a:cs typeface="Calibri" pitchFamily="34" charset="-120"/>
                        </a:rPr>
                        <a:t>kg/</a:t>
                      </a:r>
                      <a:r>
                        <a:rPr lang="fr-FR" sz="1000" noProof="0" dirty="0" err="1">
                          <a:solidFill>
                            <a:srgbClr val="1A2A1A"/>
                          </a:solidFill>
                          <a:latin typeface="Calibri" pitchFamily="34" charset="0"/>
                          <a:ea typeface="Calibri" pitchFamily="34" charset="-122"/>
                          <a:cs typeface="Calibri" pitchFamily="34" charset="-120"/>
                        </a:rPr>
                        <a:t>hab</a:t>
                      </a:r>
                      <a:endParaRPr lang="fr-FR" sz="1000" noProof="0" dirty="0">
                        <a:latin typeface="Calibri" charset="0"/>
                        <a:ea typeface="Calibri" charset="0"/>
                        <a:cs typeface="Calibri" charset="0"/>
                      </a:endParaRPr>
                    </a:p>
                  </a:txBody>
                  <a:tcPr>
                    <a:lnL w="3810" cap="flat" cmpd="sng" algn="ctr">
                      <a:solidFill>
                        <a:srgbClr val="D0D8D0"/>
                      </a:solidFill>
                      <a:prstDash val="solid"/>
                      <a:round/>
                      <a:headEnd type="none" w="med" len="med"/>
                      <a:tailEnd type="none" w="med" len="med"/>
                    </a:lnL>
                    <a:lnR w="3810" cap="flat" cmpd="sng" algn="ctr">
                      <a:solidFill>
                        <a:srgbClr val="D0D8D0"/>
                      </a:solidFill>
                      <a:prstDash val="solid"/>
                      <a:round/>
                      <a:headEnd type="none" w="med" len="med"/>
                      <a:tailEnd type="none" w="med" len="med"/>
                    </a:lnR>
                    <a:lnT w="3810" cap="flat" cmpd="sng" algn="ctr">
                      <a:solidFill>
                        <a:srgbClr val="D0D8D0"/>
                      </a:solidFill>
                      <a:prstDash val="solid"/>
                      <a:round/>
                      <a:headEnd type="none" w="med" len="med"/>
                      <a:tailEnd type="none" w="med" len="med"/>
                    </a:lnT>
                    <a:lnB w="3810" cap="flat" cmpd="sng" algn="ctr">
                      <a:solidFill>
                        <a:srgbClr val="D0D8D0"/>
                      </a:solidFill>
                      <a:prstDash val="solid"/>
                      <a:round/>
                      <a:headEnd type="none" w="med" len="med"/>
                      <a:tailEnd type="none" w="med" len="med"/>
                    </a:lnB>
                    <a:solidFill>
                      <a:srgbClr val="F5F5F5"/>
                    </a:solidFill>
                  </a:tcPr>
                </a:tc>
                <a:tc>
                  <a:txBody>
                    <a:bodyPr/>
                    <a:lstStyle/>
                    <a:p>
                      <a:pPr marL="0" indent="0">
                        <a:buNone/>
                      </a:pPr>
                      <a:r>
                        <a:rPr lang="fr-FR" sz="1000" noProof="0" dirty="0">
                          <a:solidFill>
                            <a:srgbClr val="1A2A1A"/>
                          </a:solidFill>
                          <a:latin typeface="Calibri" pitchFamily="34" charset="0"/>
                          <a:ea typeface="Calibri" pitchFamily="34" charset="-122"/>
                          <a:cs typeface="Calibri" pitchFamily="34" charset="-120"/>
                        </a:rPr>
                        <a:t>Calculé FAO</a:t>
                      </a:r>
                      <a:endParaRPr lang="fr-FR" sz="1000" noProof="0" dirty="0">
                        <a:latin typeface="Calibri" charset="0"/>
                        <a:ea typeface="Calibri" charset="0"/>
                        <a:cs typeface="Calibri" charset="0"/>
                      </a:endParaRPr>
                    </a:p>
                  </a:txBody>
                  <a:tcPr>
                    <a:lnL w="3810" cap="flat" cmpd="sng" algn="ctr">
                      <a:solidFill>
                        <a:srgbClr val="D0D8D0"/>
                      </a:solidFill>
                      <a:prstDash val="solid"/>
                      <a:round/>
                      <a:headEnd type="none" w="med" len="med"/>
                      <a:tailEnd type="none" w="med" len="med"/>
                    </a:lnL>
                    <a:lnR w="3810" cap="flat" cmpd="sng" algn="ctr">
                      <a:solidFill>
                        <a:srgbClr val="D0D8D0"/>
                      </a:solidFill>
                      <a:prstDash val="solid"/>
                      <a:round/>
                      <a:headEnd type="none" w="med" len="med"/>
                      <a:tailEnd type="none" w="med" len="med"/>
                    </a:lnR>
                    <a:lnT w="3810" cap="flat" cmpd="sng" algn="ctr">
                      <a:solidFill>
                        <a:srgbClr val="D0D8D0"/>
                      </a:solidFill>
                      <a:prstDash val="solid"/>
                      <a:round/>
                      <a:headEnd type="none" w="med" len="med"/>
                      <a:tailEnd type="none" w="med" len="med"/>
                    </a:lnT>
                    <a:lnB w="3810" cap="flat" cmpd="sng" algn="ctr">
                      <a:solidFill>
                        <a:srgbClr val="D0D8D0"/>
                      </a:solidFill>
                      <a:prstDash val="solid"/>
                      <a:round/>
                      <a:headEnd type="none" w="med" len="med"/>
                      <a:tailEnd type="none" w="med" len="med"/>
                    </a:lnB>
                    <a:solidFill>
                      <a:srgbClr val="F5F5F5"/>
                    </a:solidFill>
                  </a:tcPr>
                </a:tc>
                <a:extLst>
                  <a:ext uri="{0D108BD9-81ED-4DB2-BD59-A6C34878D82A}">
                    <a16:rowId xmlns:a16="http://schemas.microsoft.com/office/drawing/2014/main" val="10008"/>
                  </a:ext>
                </a:extLst>
              </a:tr>
              <a:tr h="320040">
                <a:tc>
                  <a:txBody>
                    <a:bodyPr/>
                    <a:lstStyle/>
                    <a:p>
                      <a:pPr marL="0" indent="0">
                        <a:buNone/>
                      </a:pPr>
                      <a:r>
                        <a:rPr lang="fr-FR" sz="1000" noProof="0" dirty="0" err="1">
                          <a:solidFill>
                            <a:srgbClr val="1A2A1A"/>
                          </a:solidFill>
                          <a:latin typeface="Calibri" pitchFamily="34" charset="0"/>
                          <a:ea typeface="Calibri" pitchFamily="34" charset="-122"/>
                          <a:cs typeface="Calibri" pitchFamily="34" charset="-120"/>
                        </a:rPr>
                        <a:t>import_par_hab</a:t>
                      </a:r>
                      <a:endParaRPr lang="fr-FR" sz="1000" noProof="0" dirty="0">
                        <a:latin typeface="Calibri" charset="0"/>
                        <a:ea typeface="Calibri" charset="0"/>
                        <a:cs typeface="Calibri" charset="0"/>
                      </a:endParaRPr>
                    </a:p>
                  </a:txBody>
                  <a:tcPr>
                    <a:lnL w="3810" cap="flat" cmpd="sng" algn="ctr">
                      <a:solidFill>
                        <a:srgbClr val="D0D8D0"/>
                      </a:solidFill>
                      <a:prstDash val="solid"/>
                      <a:round/>
                      <a:headEnd type="none" w="med" len="med"/>
                      <a:tailEnd type="none" w="med" len="med"/>
                    </a:lnL>
                    <a:lnR w="3810" cap="flat" cmpd="sng" algn="ctr">
                      <a:solidFill>
                        <a:srgbClr val="D0D8D0"/>
                      </a:solidFill>
                      <a:prstDash val="solid"/>
                      <a:round/>
                      <a:headEnd type="none" w="med" len="med"/>
                      <a:tailEnd type="none" w="med" len="med"/>
                    </a:lnR>
                    <a:lnT w="3810" cap="flat" cmpd="sng" algn="ctr">
                      <a:solidFill>
                        <a:srgbClr val="D0D8D0"/>
                      </a:solidFill>
                      <a:prstDash val="solid"/>
                      <a:round/>
                      <a:headEnd type="none" w="med" len="med"/>
                      <a:tailEnd type="none" w="med" len="med"/>
                    </a:lnT>
                    <a:lnB w="3810" cap="flat" cmpd="sng" algn="ctr">
                      <a:solidFill>
                        <a:srgbClr val="D0D8D0"/>
                      </a:solidFill>
                      <a:prstDash val="solid"/>
                      <a:round/>
                      <a:headEnd type="none" w="med" len="med"/>
                      <a:tailEnd type="none" w="med" len="med"/>
                    </a:lnB>
                    <a:solidFill>
                      <a:srgbClr val="FFFFFF"/>
                    </a:solidFill>
                  </a:tcPr>
                </a:tc>
                <a:tc>
                  <a:txBody>
                    <a:bodyPr/>
                    <a:lstStyle/>
                    <a:p>
                      <a:pPr marL="0" indent="0">
                        <a:buNone/>
                      </a:pPr>
                      <a:r>
                        <a:rPr lang="fr-FR" sz="1000" noProof="0" dirty="0">
                          <a:solidFill>
                            <a:srgbClr val="1A2A1A"/>
                          </a:solidFill>
                          <a:latin typeface="Calibri" pitchFamily="34" charset="0"/>
                          <a:ea typeface="Calibri" pitchFamily="34" charset="-122"/>
                          <a:cs typeface="Calibri" pitchFamily="34" charset="-120"/>
                        </a:rPr>
                        <a:t>Imports de volaille par habitant</a:t>
                      </a:r>
                      <a:endParaRPr lang="fr-FR" sz="1000" noProof="0" dirty="0">
                        <a:latin typeface="Calibri" charset="0"/>
                        <a:ea typeface="Calibri" charset="0"/>
                        <a:cs typeface="Calibri" charset="0"/>
                      </a:endParaRPr>
                    </a:p>
                  </a:txBody>
                  <a:tcPr>
                    <a:lnL w="3810" cap="flat" cmpd="sng" algn="ctr">
                      <a:solidFill>
                        <a:srgbClr val="D0D8D0"/>
                      </a:solidFill>
                      <a:prstDash val="solid"/>
                      <a:round/>
                      <a:headEnd type="none" w="med" len="med"/>
                      <a:tailEnd type="none" w="med" len="med"/>
                    </a:lnL>
                    <a:lnR w="3810" cap="flat" cmpd="sng" algn="ctr">
                      <a:solidFill>
                        <a:srgbClr val="D0D8D0"/>
                      </a:solidFill>
                      <a:prstDash val="solid"/>
                      <a:round/>
                      <a:headEnd type="none" w="med" len="med"/>
                      <a:tailEnd type="none" w="med" len="med"/>
                    </a:lnR>
                    <a:lnT w="3810" cap="flat" cmpd="sng" algn="ctr">
                      <a:solidFill>
                        <a:srgbClr val="D0D8D0"/>
                      </a:solidFill>
                      <a:prstDash val="solid"/>
                      <a:round/>
                      <a:headEnd type="none" w="med" len="med"/>
                      <a:tailEnd type="none" w="med" len="med"/>
                    </a:lnT>
                    <a:lnB w="3810" cap="flat" cmpd="sng" algn="ctr">
                      <a:solidFill>
                        <a:srgbClr val="D0D8D0"/>
                      </a:solidFill>
                      <a:prstDash val="solid"/>
                      <a:round/>
                      <a:headEnd type="none" w="med" len="med"/>
                      <a:tailEnd type="none" w="med" len="med"/>
                    </a:lnB>
                    <a:solidFill>
                      <a:srgbClr val="FFFFFF"/>
                    </a:solidFill>
                  </a:tcPr>
                </a:tc>
                <a:tc>
                  <a:txBody>
                    <a:bodyPr/>
                    <a:lstStyle/>
                    <a:p>
                      <a:pPr marL="0" indent="0">
                        <a:buNone/>
                      </a:pPr>
                      <a:r>
                        <a:rPr lang="fr-FR" sz="1000" noProof="0" dirty="0">
                          <a:solidFill>
                            <a:srgbClr val="1A2A1A"/>
                          </a:solidFill>
                          <a:latin typeface="Calibri" pitchFamily="34" charset="0"/>
                          <a:ea typeface="Calibri" pitchFamily="34" charset="-122"/>
                          <a:cs typeface="Calibri" pitchFamily="34" charset="-120"/>
                        </a:rPr>
                        <a:t>kg/</a:t>
                      </a:r>
                      <a:r>
                        <a:rPr lang="fr-FR" sz="1000" noProof="0" dirty="0" err="1">
                          <a:solidFill>
                            <a:srgbClr val="1A2A1A"/>
                          </a:solidFill>
                          <a:latin typeface="Calibri" pitchFamily="34" charset="0"/>
                          <a:ea typeface="Calibri" pitchFamily="34" charset="-122"/>
                          <a:cs typeface="Calibri" pitchFamily="34" charset="-120"/>
                        </a:rPr>
                        <a:t>hab</a:t>
                      </a:r>
                      <a:endParaRPr lang="fr-FR" sz="1000" noProof="0" dirty="0">
                        <a:latin typeface="Calibri" charset="0"/>
                        <a:ea typeface="Calibri" charset="0"/>
                        <a:cs typeface="Calibri" charset="0"/>
                      </a:endParaRPr>
                    </a:p>
                  </a:txBody>
                  <a:tcPr>
                    <a:lnL w="3810" cap="flat" cmpd="sng" algn="ctr">
                      <a:solidFill>
                        <a:srgbClr val="D0D8D0"/>
                      </a:solidFill>
                      <a:prstDash val="solid"/>
                      <a:round/>
                      <a:headEnd type="none" w="med" len="med"/>
                      <a:tailEnd type="none" w="med" len="med"/>
                    </a:lnL>
                    <a:lnR w="3810" cap="flat" cmpd="sng" algn="ctr">
                      <a:solidFill>
                        <a:srgbClr val="D0D8D0"/>
                      </a:solidFill>
                      <a:prstDash val="solid"/>
                      <a:round/>
                      <a:headEnd type="none" w="med" len="med"/>
                      <a:tailEnd type="none" w="med" len="med"/>
                    </a:lnR>
                    <a:lnT w="3810" cap="flat" cmpd="sng" algn="ctr">
                      <a:solidFill>
                        <a:srgbClr val="D0D8D0"/>
                      </a:solidFill>
                      <a:prstDash val="solid"/>
                      <a:round/>
                      <a:headEnd type="none" w="med" len="med"/>
                      <a:tailEnd type="none" w="med" len="med"/>
                    </a:lnT>
                    <a:lnB w="3810" cap="flat" cmpd="sng" algn="ctr">
                      <a:solidFill>
                        <a:srgbClr val="D0D8D0"/>
                      </a:solidFill>
                      <a:prstDash val="solid"/>
                      <a:round/>
                      <a:headEnd type="none" w="med" len="med"/>
                      <a:tailEnd type="none" w="med" len="med"/>
                    </a:lnB>
                    <a:solidFill>
                      <a:srgbClr val="FFFFFF"/>
                    </a:solidFill>
                  </a:tcPr>
                </a:tc>
                <a:tc>
                  <a:txBody>
                    <a:bodyPr/>
                    <a:lstStyle/>
                    <a:p>
                      <a:pPr marL="0" indent="0">
                        <a:buNone/>
                      </a:pPr>
                      <a:r>
                        <a:rPr lang="fr-FR" sz="1000" noProof="0" dirty="0">
                          <a:solidFill>
                            <a:srgbClr val="1A2A1A"/>
                          </a:solidFill>
                          <a:latin typeface="Calibri" pitchFamily="34" charset="0"/>
                          <a:ea typeface="Calibri" pitchFamily="34" charset="-122"/>
                          <a:cs typeface="Calibri" pitchFamily="34" charset="-120"/>
                        </a:rPr>
                        <a:t>Calculé FAO</a:t>
                      </a:r>
                      <a:endParaRPr lang="fr-FR" sz="1000" noProof="0" dirty="0">
                        <a:latin typeface="Calibri" charset="0"/>
                        <a:ea typeface="Calibri" charset="0"/>
                        <a:cs typeface="Calibri" charset="0"/>
                      </a:endParaRPr>
                    </a:p>
                  </a:txBody>
                  <a:tcPr>
                    <a:lnL w="3810" cap="flat" cmpd="sng" algn="ctr">
                      <a:solidFill>
                        <a:srgbClr val="D0D8D0"/>
                      </a:solidFill>
                      <a:prstDash val="solid"/>
                      <a:round/>
                      <a:headEnd type="none" w="med" len="med"/>
                      <a:tailEnd type="none" w="med" len="med"/>
                    </a:lnL>
                    <a:lnR w="3810" cap="flat" cmpd="sng" algn="ctr">
                      <a:solidFill>
                        <a:srgbClr val="D0D8D0"/>
                      </a:solidFill>
                      <a:prstDash val="solid"/>
                      <a:round/>
                      <a:headEnd type="none" w="med" len="med"/>
                      <a:tailEnd type="none" w="med" len="med"/>
                    </a:lnR>
                    <a:lnT w="3810" cap="flat" cmpd="sng" algn="ctr">
                      <a:solidFill>
                        <a:srgbClr val="D0D8D0"/>
                      </a:solidFill>
                      <a:prstDash val="solid"/>
                      <a:round/>
                      <a:headEnd type="none" w="med" len="med"/>
                      <a:tailEnd type="none" w="med" len="med"/>
                    </a:lnT>
                    <a:lnB w="3810" cap="flat" cmpd="sng" algn="ctr">
                      <a:solidFill>
                        <a:srgbClr val="D0D8D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20040">
                <a:tc>
                  <a:txBody>
                    <a:bodyPr/>
                    <a:lstStyle/>
                    <a:p>
                      <a:pPr marL="0" indent="0">
                        <a:buNone/>
                      </a:pPr>
                      <a:r>
                        <a:rPr lang="fr-FR" sz="1000" noProof="0" dirty="0" err="1">
                          <a:solidFill>
                            <a:srgbClr val="1A2A1A"/>
                          </a:solidFill>
                          <a:latin typeface="Calibri" pitchFamily="34" charset="0"/>
                          <a:ea typeface="Calibri" pitchFamily="34" charset="-122"/>
                          <a:cs typeface="Calibri" pitchFamily="34" charset="-120"/>
                        </a:rPr>
                        <a:t>tdi</a:t>
                      </a:r>
                      <a:endParaRPr lang="fr-FR" sz="1000" noProof="0" dirty="0">
                        <a:latin typeface="Calibri" charset="0"/>
                        <a:ea typeface="Calibri" charset="0"/>
                        <a:cs typeface="Calibri" charset="0"/>
                      </a:endParaRPr>
                    </a:p>
                  </a:txBody>
                  <a:tcPr>
                    <a:lnL w="3810" cap="flat" cmpd="sng" algn="ctr">
                      <a:solidFill>
                        <a:srgbClr val="D0D8D0"/>
                      </a:solidFill>
                      <a:prstDash val="solid"/>
                      <a:round/>
                      <a:headEnd type="none" w="med" len="med"/>
                      <a:tailEnd type="none" w="med" len="med"/>
                    </a:lnL>
                    <a:lnR w="3810" cap="flat" cmpd="sng" algn="ctr">
                      <a:solidFill>
                        <a:srgbClr val="D0D8D0"/>
                      </a:solidFill>
                      <a:prstDash val="solid"/>
                      <a:round/>
                      <a:headEnd type="none" w="med" len="med"/>
                      <a:tailEnd type="none" w="med" len="med"/>
                    </a:lnR>
                    <a:lnT w="3810" cap="flat" cmpd="sng" algn="ctr">
                      <a:solidFill>
                        <a:srgbClr val="D0D8D0"/>
                      </a:solidFill>
                      <a:prstDash val="solid"/>
                      <a:round/>
                      <a:headEnd type="none" w="med" len="med"/>
                      <a:tailEnd type="none" w="med" len="med"/>
                    </a:lnT>
                    <a:lnB w="3810" cap="flat" cmpd="sng" algn="ctr">
                      <a:solidFill>
                        <a:srgbClr val="D0D8D0"/>
                      </a:solidFill>
                      <a:prstDash val="solid"/>
                      <a:round/>
                      <a:headEnd type="none" w="med" len="med"/>
                      <a:tailEnd type="none" w="med" len="med"/>
                    </a:lnB>
                    <a:solidFill>
                      <a:srgbClr val="F5F5F5"/>
                    </a:solidFill>
                  </a:tcPr>
                </a:tc>
                <a:tc>
                  <a:txBody>
                    <a:bodyPr/>
                    <a:lstStyle/>
                    <a:p>
                      <a:pPr marL="0" indent="0">
                        <a:buNone/>
                      </a:pPr>
                      <a:r>
                        <a:rPr lang="fr-FR" sz="1000" noProof="0" dirty="0">
                          <a:solidFill>
                            <a:srgbClr val="1A2A1A"/>
                          </a:solidFill>
                          <a:latin typeface="Calibri" pitchFamily="34" charset="0"/>
                          <a:ea typeface="Calibri" pitchFamily="34" charset="-122"/>
                          <a:cs typeface="Calibri" pitchFamily="34" charset="-120"/>
                        </a:rPr>
                        <a:t>Trade </a:t>
                      </a:r>
                      <a:r>
                        <a:rPr lang="fr-FR" sz="1000" noProof="0" dirty="0" err="1">
                          <a:solidFill>
                            <a:srgbClr val="1A2A1A"/>
                          </a:solidFill>
                          <a:latin typeface="Calibri" pitchFamily="34" charset="0"/>
                          <a:ea typeface="Calibri" pitchFamily="34" charset="-122"/>
                          <a:cs typeface="Calibri" pitchFamily="34" charset="-120"/>
                        </a:rPr>
                        <a:t>Dependency</a:t>
                      </a:r>
                      <a:r>
                        <a:rPr lang="fr-FR" sz="1000" noProof="0" dirty="0">
                          <a:solidFill>
                            <a:srgbClr val="1A2A1A"/>
                          </a:solidFill>
                          <a:latin typeface="Calibri" pitchFamily="34" charset="0"/>
                          <a:ea typeface="Calibri" pitchFamily="34" charset="-122"/>
                          <a:cs typeface="Calibri" pitchFamily="34" charset="-120"/>
                        </a:rPr>
                        <a:t> Index (imports/dispo)</a:t>
                      </a:r>
                      <a:endParaRPr lang="fr-FR" sz="1000" noProof="0" dirty="0">
                        <a:latin typeface="Calibri" charset="0"/>
                        <a:ea typeface="Calibri" charset="0"/>
                        <a:cs typeface="Calibri" charset="0"/>
                      </a:endParaRPr>
                    </a:p>
                  </a:txBody>
                  <a:tcPr>
                    <a:lnL w="3810" cap="flat" cmpd="sng" algn="ctr">
                      <a:solidFill>
                        <a:srgbClr val="D0D8D0"/>
                      </a:solidFill>
                      <a:prstDash val="solid"/>
                      <a:round/>
                      <a:headEnd type="none" w="med" len="med"/>
                      <a:tailEnd type="none" w="med" len="med"/>
                    </a:lnL>
                    <a:lnR w="3810" cap="flat" cmpd="sng" algn="ctr">
                      <a:solidFill>
                        <a:srgbClr val="D0D8D0"/>
                      </a:solidFill>
                      <a:prstDash val="solid"/>
                      <a:round/>
                      <a:headEnd type="none" w="med" len="med"/>
                      <a:tailEnd type="none" w="med" len="med"/>
                    </a:lnR>
                    <a:lnT w="3810" cap="flat" cmpd="sng" algn="ctr">
                      <a:solidFill>
                        <a:srgbClr val="D0D8D0"/>
                      </a:solidFill>
                      <a:prstDash val="solid"/>
                      <a:round/>
                      <a:headEnd type="none" w="med" len="med"/>
                      <a:tailEnd type="none" w="med" len="med"/>
                    </a:lnT>
                    <a:lnB w="3810" cap="flat" cmpd="sng" algn="ctr">
                      <a:solidFill>
                        <a:srgbClr val="D0D8D0"/>
                      </a:solidFill>
                      <a:prstDash val="solid"/>
                      <a:round/>
                      <a:headEnd type="none" w="med" len="med"/>
                      <a:tailEnd type="none" w="med" len="med"/>
                    </a:lnB>
                    <a:solidFill>
                      <a:srgbClr val="F5F5F5"/>
                    </a:solidFill>
                  </a:tcPr>
                </a:tc>
                <a:tc>
                  <a:txBody>
                    <a:bodyPr/>
                    <a:lstStyle/>
                    <a:p>
                      <a:pPr marL="0" indent="0">
                        <a:buNone/>
                      </a:pPr>
                      <a:r>
                        <a:rPr lang="fr-FR" sz="1000" noProof="0" dirty="0">
                          <a:solidFill>
                            <a:srgbClr val="1A2A1A"/>
                          </a:solidFill>
                          <a:latin typeface="Calibri" pitchFamily="34" charset="0"/>
                          <a:ea typeface="Calibri" pitchFamily="34" charset="-122"/>
                          <a:cs typeface="Calibri" pitchFamily="34" charset="-120"/>
                        </a:rPr>
                        <a:t>%</a:t>
                      </a:r>
                      <a:endParaRPr lang="fr-FR" sz="1000" noProof="0" dirty="0">
                        <a:latin typeface="Calibri" charset="0"/>
                        <a:ea typeface="Calibri" charset="0"/>
                        <a:cs typeface="Calibri" charset="0"/>
                      </a:endParaRPr>
                    </a:p>
                  </a:txBody>
                  <a:tcPr>
                    <a:lnL w="3810" cap="flat" cmpd="sng" algn="ctr">
                      <a:solidFill>
                        <a:srgbClr val="D0D8D0"/>
                      </a:solidFill>
                      <a:prstDash val="solid"/>
                      <a:round/>
                      <a:headEnd type="none" w="med" len="med"/>
                      <a:tailEnd type="none" w="med" len="med"/>
                    </a:lnL>
                    <a:lnR w="3810" cap="flat" cmpd="sng" algn="ctr">
                      <a:solidFill>
                        <a:srgbClr val="D0D8D0"/>
                      </a:solidFill>
                      <a:prstDash val="solid"/>
                      <a:round/>
                      <a:headEnd type="none" w="med" len="med"/>
                      <a:tailEnd type="none" w="med" len="med"/>
                    </a:lnR>
                    <a:lnT w="3810" cap="flat" cmpd="sng" algn="ctr">
                      <a:solidFill>
                        <a:srgbClr val="D0D8D0"/>
                      </a:solidFill>
                      <a:prstDash val="solid"/>
                      <a:round/>
                      <a:headEnd type="none" w="med" len="med"/>
                      <a:tailEnd type="none" w="med" len="med"/>
                    </a:lnT>
                    <a:lnB w="3810" cap="flat" cmpd="sng" algn="ctr">
                      <a:solidFill>
                        <a:srgbClr val="D0D8D0"/>
                      </a:solidFill>
                      <a:prstDash val="solid"/>
                      <a:round/>
                      <a:headEnd type="none" w="med" len="med"/>
                      <a:tailEnd type="none" w="med" len="med"/>
                    </a:lnB>
                    <a:solidFill>
                      <a:srgbClr val="F5F5F5"/>
                    </a:solidFill>
                  </a:tcPr>
                </a:tc>
                <a:tc>
                  <a:txBody>
                    <a:bodyPr/>
                    <a:lstStyle/>
                    <a:p>
                      <a:pPr marL="0" indent="0">
                        <a:buNone/>
                      </a:pPr>
                      <a:r>
                        <a:rPr lang="fr-FR" sz="1000" noProof="0" dirty="0">
                          <a:solidFill>
                            <a:srgbClr val="1A2A1A"/>
                          </a:solidFill>
                          <a:latin typeface="Calibri" pitchFamily="34" charset="0"/>
                          <a:ea typeface="Calibri" pitchFamily="34" charset="-122"/>
                          <a:cs typeface="Calibri" pitchFamily="34" charset="-120"/>
                        </a:rPr>
                        <a:t>Calculé</a:t>
                      </a:r>
                      <a:endParaRPr lang="fr-FR" sz="1000" noProof="0" dirty="0">
                        <a:latin typeface="Calibri" charset="0"/>
                        <a:ea typeface="Calibri" charset="0"/>
                        <a:cs typeface="Calibri" charset="0"/>
                      </a:endParaRPr>
                    </a:p>
                  </a:txBody>
                  <a:tcPr>
                    <a:lnL w="3810" cap="flat" cmpd="sng" algn="ctr">
                      <a:solidFill>
                        <a:srgbClr val="D0D8D0"/>
                      </a:solidFill>
                      <a:prstDash val="solid"/>
                      <a:round/>
                      <a:headEnd type="none" w="med" len="med"/>
                      <a:tailEnd type="none" w="med" len="med"/>
                    </a:lnL>
                    <a:lnR w="3810" cap="flat" cmpd="sng" algn="ctr">
                      <a:solidFill>
                        <a:srgbClr val="D0D8D0"/>
                      </a:solidFill>
                      <a:prstDash val="solid"/>
                      <a:round/>
                      <a:headEnd type="none" w="med" len="med"/>
                      <a:tailEnd type="none" w="med" len="med"/>
                    </a:lnR>
                    <a:lnT w="3810" cap="flat" cmpd="sng" algn="ctr">
                      <a:solidFill>
                        <a:srgbClr val="D0D8D0"/>
                      </a:solidFill>
                      <a:prstDash val="solid"/>
                      <a:round/>
                      <a:headEnd type="none" w="med" len="med"/>
                      <a:tailEnd type="none" w="med" len="med"/>
                    </a:lnT>
                    <a:lnB w="3810" cap="flat" cmpd="sng" algn="ctr">
                      <a:solidFill>
                        <a:srgbClr val="D0D8D0"/>
                      </a:solidFill>
                      <a:prstDash val="solid"/>
                      <a:round/>
                      <a:headEnd type="none" w="med" len="med"/>
                      <a:tailEnd type="none" w="med" len="med"/>
                    </a:lnB>
                    <a:solidFill>
                      <a:srgbClr val="F5F5F5"/>
                    </a:solidFill>
                  </a:tcPr>
                </a:tc>
                <a:extLst>
                  <a:ext uri="{0D108BD9-81ED-4DB2-BD59-A6C34878D82A}">
                    <a16:rowId xmlns:a16="http://schemas.microsoft.com/office/drawing/2014/main" val="10010"/>
                  </a:ext>
                </a:extLst>
              </a:tr>
              <a:tr h="320040">
                <a:tc>
                  <a:txBody>
                    <a:bodyPr/>
                    <a:lstStyle/>
                    <a:p>
                      <a:pPr marL="0" indent="0">
                        <a:buNone/>
                      </a:pPr>
                      <a:r>
                        <a:rPr lang="fr-FR" sz="1000" noProof="0" dirty="0">
                          <a:solidFill>
                            <a:srgbClr val="1A2A1A"/>
                          </a:solidFill>
                          <a:latin typeface="Calibri" pitchFamily="34" charset="0"/>
                          <a:ea typeface="Calibri" pitchFamily="34" charset="-122"/>
                          <a:cs typeface="Calibri" pitchFamily="34" charset="-120"/>
                        </a:rPr>
                        <a:t>croissance</a:t>
                      </a:r>
                      <a:endParaRPr lang="fr-FR" sz="1000" noProof="0" dirty="0">
                        <a:latin typeface="Calibri" charset="0"/>
                        <a:ea typeface="Calibri" charset="0"/>
                        <a:cs typeface="Calibri" charset="0"/>
                      </a:endParaRPr>
                    </a:p>
                  </a:txBody>
                  <a:tcPr>
                    <a:lnL w="3810" cap="flat" cmpd="sng" algn="ctr">
                      <a:solidFill>
                        <a:srgbClr val="D0D8D0"/>
                      </a:solidFill>
                      <a:prstDash val="solid"/>
                      <a:round/>
                      <a:headEnd type="none" w="med" len="med"/>
                      <a:tailEnd type="none" w="med" len="med"/>
                    </a:lnL>
                    <a:lnR w="3810" cap="flat" cmpd="sng" algn="ctr">
                      <a:solidFill>
                        <a:srgbClr val="D0D8D0"/>
                      </a:solidFill>
                      <a:prstDash val="solid"/>
                      <a:round/>
                      <a:headEnd type="none" w="med" len="med"/>
                      <a:tailEnd type="none" w="med" len="med"/>
                    </a:lnR>
                    <a:lnT w="3810" cap="flat" cmpd="sng" algn="ctr">
                      <a:solidFill>
                        <a:srgbClr val="D0D8D0"/>
                      </a:solidFill>
                      <a:prstDash val="solid"/>
                      <a:round/>
                      <a:headEnd type="none" w="med" len="med"/>
                      <a:tailEnd type="none" w="med" len="med"/>
                    </a:lnT>
                    <a:lnB w="3810" cap="flat" cmpd="sng" algn="ctr">
                      <a:solidFill>
                        <a:srgbClr val="D0D8D0"/>
                      </a:solidFill>
                      <a:prstDash val="solid"/>
                      <a:round/>
                      <a:headEnd type="none" w="med" len="med"/>
                      <a:tailEnd type="none" w="med" len="med"/>
                    </a:lnB>
                    <a:solidFill>
                      <a:srgbClr val="FFFFFF"/>
                    </a:solidFill>
                  </a:tcPr>
                </a:tc>
                <a:tc>
                  <a:txBody>
                    <a:bodyPr/>
                    <a:lstStyle/>
                    <a:p>
                      <a:pPr marL="0" indent="0">
                        <a:buNone/>
                      </a:pPr>
                      <a:r>
                        <a:rPr lang="fr-FR" sz="1000" noProof="0" dirty="0">
                          <a:solidFill>
                            <a:srgbClr val="1A2A1A"/>
                          </a:solidFill>
                          <a:latin typeface="Calibri" pitchFamily="34" charset="0"/>
                          <a:ea typeface="Calibri" pitchFamily="34" charset="-122"/>
                          <a:cs typeface="Calibri" pitchFamily="34" charset="-120"/>
                        </a:rPr>
                        <a:t>Croissance démo. moyenne sur 5 ans</a:t>
                      </a:r>
                      <a:endParaRPr lang="fr-FR" sz="1000" noProof="0" dirty="0">
                        <a:latin typeface="Calibri" charset="0"/>
                        <a:ea typeface="Calibri" charset="0"/>
                        <a:cs typeface="Calibri" charset="0"/>
                      </a:endParaRPr>
                    </a:p>
                  </a:txBody>
                  <a:tcPr>
                    <a:lnL w="3810" cap="flat" cmpd="sng" algn="ctr">
                      <a:solidFill>
                        <a:srgbClr val="D0D8D0"/>
                      </a:solidFill>
                      <a:prstDash val="solid"/>
                      <a:round/>
                      <a:headEnd type="none" w="med" len="med"/>
                      <a:tailEnd type="none" w="med" len="med"/>
                    </a:lnL>
                    <a:lnR w="3810" cap="flat" cmpd="sng" algn="ctr">
                      <a:solidFill>
                        <a:srgbClr val="D0D8D0"/>
                      </a:solidFill>
                      <a:prstDash val="solid"/>
                      <a:round/>
                      <a:headEnd type="none" w="med" len="med"/>
                      <a:tailEnd type="none" w="med" len="med"/>
                    </a:lnR>
                    <a:lnT w="3810" cap="flat" cmpd="sng" algn="ctr">
                      <a:solidFill>
                        <a:srgbClr val="D0D8D0"/>
                      </a:solidFill>
                      <a:prstDash val="solid"/>
                      <a:round/>
                      <a:headEnd type="none" w="med" len="med"/>
                      <a:tailEnd type="none" w="med" len="med"/>
                    </a:lnT>
                    <a:lnB w="3810" cap="flat" cmpd="sng" algn="ctr">
                      <a:solidFill>
                        <a:srgbClr val="D0D8D0"/>
                      </a:solidFill>
                      <a:prstDash val="solid"/>
                      <a:round/>
                      <a:headEnd type="none" w="med" len="med"/>
                      <a:tailEnd type="none" w="med" len="med"/>
                    </a:lnB>
                    <a:solidFill>
                      <a:srgbClr val="FFFFFF"/>
                    </a:solidFill>
                  </a:tcPr>
                </a:tc>
                <a:tc>
                  <a:txBody>
                    <a:bodyPr/>
                    <a:lstStyle/>
                    <a:p>
                      <a:pPr marL="0" indent="0">
                        <a:buNone/>
                      </a:pPr>
                      <a:r>
                        <a:rPr lang="fr-FR" sz="1000" noProof="0" dirty="0">
                          <a:solidFill>
                            <a:srgbClr val="1A2A1A"/>
                          </a:solidFill>
                          <a:latin typeface="Calibri" pitchFamily="34" charset="0"/>
                          <a:ea typeface="Calibri" pitchFamily="34" charset="-122"/>
                          <a:cs typeface="Calibri" pitchFamily="34" charset="-120"/>
                        </a:rPr>
                        <a:t>%</a:t>
                      </a:r>
                      <a:endParaRPr lang="fr-FR" sz="1000" noProof="0" dirty="0">
                        <a:latin typeface="Calibri" charset="0"/>
                        <a:ea typeface="Calibri" charset="0"/>
                        <a:cs typeface="Calibri" charset="0"/>
                      </a:endParaRPr>
                    </a:p>
                  </a:txBody>
                  <a:tcPr>
                    <a:lnL w="3810" cap="flat" cmpd="sng" algn="ctr">
                      <a:solidFill>
                        <a:srgbClr val="D0D8D0"/>
                      </a:solidFill>
                      <a:prstDash val="solid"/>
                      <a:round/>
                      <a:headEnd type="none" w="med" len="med"/>
                      <a:tailEnd type="none" w="med" len="med"/>
                    </a:lnL>
                    <a:lnR w="3810" cap="flat" cmpd="sng" algn="ctr">
                      <a:solidFill>
                        <a:srgbClr val="D0D8D0"/>
                      </a:solidFill>
                      <a:prstDash val="solid"/>
                      <a:round/>
                      <a:headEnd type="none" w="med" len="med"/>
                      <a:tailEnd type="none" w="med" len="med"/>
                    </a:lnR>
                    <a:lnT w="3810" cap="flat" cmpd="sng" algn="ctr">
                      <a:solidFill>
                        <a:srgbClr val="D0D8D0"/>
                      </a:solidFill>
                      <a:prstDash val="solid"/>
                      <a:round/>
                      <a:headEnd type="none" w="med" len="med"/>
                      <a:tailEnd type="none" w="med" len="med"/>
                    </a:lnT>
                    <a:lnB w="3810" cap="flat" cmpd="sng" algn="ctr">
                      <a:solidFill>
                        <a:srgbClr val="D0D8D0"/>
                      </a:solidFill>
                      <a:prstDash val="solid"/>
                      <a:round/>
                      <a:headEnd type="none" w="med" len="med"/>
                      <a:tailEnd type="none" w="med" len="med"/>
                    </a:lnB>
                    <a:solidFill>
                      <a:srgbClr val="FFFFFF"/>
                    </a:solidFill>
                  </a:tcPr>
                </a:tc>
                <a:tc>
                  <a:txBody>
                    <a:bodyPr/>
                    <a:lstStyle/>
                    <a:p>
                      <a:pPr marL="0" indent="0">
                        <a:buNone/>
                      </a:pPr>
                      <a:r>
                        <a:rPr lang="fr-FR" sz="1000" noProof="0" dirty="0">
                          <a:solidFill>
                            <a:srgbClr val="1A2A1A"/>
                          </a:solidFill>
                          <a:latin typeface="Calibri" pitchFamily="34" charset="0"/>
                          <a:ea typeface="Calibri" pitchFamily="34" charset="-122"/>
                          <a:cs typeface="Calibri" pitchFamily="34" charset="-120"/>
                        </a:rPr>
                        <a:t>Calculé BM</a:t>
                      </a:r>
                      <a:endParaRPr lang="fr-FR" sz="1000" noProof="0" dirty="0">
                        <a:latin typeface="Calibri" charset="0"/>
                        <a:ea typeface="Calibri" charset="0"/>
                        <a:cs typeface="Calibri" charset="0"/>
                      </a:endParaRPr>
                    </a:p>
                  </a:txBody>
                  <a:tcPr>
                    <a:lnL w="3810" cap="flat" cmpd="sng" algn="ctr">
                      <a:solidFill>
                        <a:srgbClr val="D0D8D0"/>
                      </a:solidFill>
                      <a:prstDash val="solid"/>
                      <a:round/>
                      <a:headEnd type="none" w="med" len="med"/>
                      <a:tailEnd type="none" w="med" len="med"/>
                    </a:lnL>
                    <a:lnR w="3810" cap="flat" cmpd="sng" algn="ctr">
                      <a:solidFill>
                        <a:srgbClr val="D0D8D0"/>
                      </a:solidFill>
                      <a:prstDash val="solid"/>
                      <a:round/>
                      <a:headEnd type="none" w="med" len="med"/>
                      <a:tailEnd type="none" w="med" len="med"/>
                    </a:lnR>
                    <a:lnT w="3810" cap="flat" cmpd="sng" algn="ctr">
                      <a:solidFill>
                        <a:srgbClr val="D0D8D0"/>
                      </a:solidFill>
                      <a:prstDash val="solid"/>
                      <a:round/>
                      <a:headEnd type="none" w="med" len="med"/>
                      <a:tailEnd type="none" w="med" len="med"/>
                    </a:lnT>
                    <a:lnB w="3810" cap="flat" cmpd="sng" algn="ctr">
                      <a:solidFill>
                        <a:srgbClr val="D0D8D0"/>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71</TotalTime>
  <Words>3151</Words>
  <Application>Microsoft Office PowerPoint</Application>
  <PresentationFormat>Affichage à l'écran (16:9)</PresentationFormat>
  <Paragraphs>335</Paragraphs>
  <Slides>24</Slides>
  <Notes>24</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24</vt:i4>
      </vt:variant>
    </vt:vector>
  </HeadingPairs>
  <TitlesOfParts>
    <vt:vector size="28" baseType="lpstr">
      <vt:lpstr>Arial</vt:lpstr>
      <vt:lpstr>Calibri</vt:lpstr>
      <vt:lpstr>Cambria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 Poule qui Chante – Expansion Internationale</dc:title>
  <dc:subject>PptxGenJS Presentation</dc:subject>
  <dc:creator>Tristan DESPONT</dc:creator>
  <cp:lastModifiedBy>Tristan Despont</cp:lastModifiedBy>
  <cp:revision>5</cp:revision>
  <dcterms:created xsi:type="dcterms:W3CDTF">2026-06-11T14:53:22Z</dcterms:created>
  <dcterms:modified xsi:type="dcterms:W3CDTF">2026-06-11T17:26:14Z</dcterms:modified>
</cp:coreProperties>
</file>