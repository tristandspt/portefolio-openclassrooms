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57" r:id="rId4"/>
    <p:sldId id="259" r:id="rId5"/>
    <p:sldId id="260"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76E8"/>
    <a:srgbClr val="F2E93F"/>
    <a:srgbClr val="9CC7F2"/>
    <a:srgbClr val="B8CFD9"/>
    <a:srgbClr val="EA7000"/>
    <a:srgbClr val="B7E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BBF431-3C56-4573-9ACE-DF7DA3F6CDC8}" v="1" dt="2026-03-16T14:25:12.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74" autoAdjust="0"/>
    <p:restoredTop sz="95706" autoAdjust="0"/>
  </p:normalViewPr>
  <p:slideViewPr>
    <p:cSldViewPr snapToGrid="0">
      <p:cViewPr>
        <p:scale>
          <a:sx n="120" d="100"/>
          <a:sy n="120" d="100"/>
        </p:scale>
        <p:origin x="-600" y="-4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stan Despont" userId="d1a7c66da9d715b7" providerId="LiveId" clId="{25DB666C-E071-4181-B0DD-0C11C5554C67}"/>
    <pc:docChg chg="modSld">
      <pc:chgData name="Tristan Despont" userId="d1a7c66da9d715b7" providerId="LiveId" clId="{25DB666C-E071-4181-B0DD-0C11C5554C67}" dt="2026-03-16T14:25:12.989" v="0" actId="14826"/>
      <pc:docMkLst>
        <pc:docMk/>
      </pc:docMkLst>
      <pc:sldChg chg="modSp">
        <pc:chgData name="Tristan Despont" userId="d1a7c66da9d715b7" providerId="LiveId" clId="{25DB666C-E071-4181-B0DD-0C11C5554C67}" dt="2026-03-16T14:25:12.989" v="0" actId="14826"/>
        <pc:sldMkLst>
          <pc:docMk/>
          <pc:sldMk cId="1937269597" sldId="260"/>
        </pc:sldMkLst>
        <pc:picChg chg="mod">
          <ac:chgData name="Tristan Despont" userId="d1a7c66da9d715b7" providerId="LiveId" clId="{25DB666C-E071-4181-B0DD-0C11C5554C67}" dt="2026-03-16T14:25:12.989" v="0" actId="14826"/>
          <ac:picMkLst>
            <pc:docMk/>
            <pc:sldMk cId="1937269597" sldId="260"/>
            <ac:picMk id="4" creationId="{6E064667-FE7C-2EA2-2F05-9E36E94A848B}"/>
          </ac:picMkLst>
        </pc:picChg>
      </pc:sldChg>
    </pc:docChg>
  </pc:docChgLst>
  <pc:docChgLst>
    <pc:chgData name="Tristan Despont" userId="d1a7c66da9d715b7" providerId="LiveId" clId="{8D77CC59-83D2-4C48-82B8-96050E88F101}"/>
    <pc:docChg chg="undo custSel addSld delSld modSld sldOrd">
      <pc:chgData name="Tristan Despont" userId="d1a7c66da9d715b7" providerId="LiveId" clId="{8D77CC59-83D2-4C48-82B8-96050E88F101}" dt="2026-03-12T16:48:35.451" v="674" actId="255"/>
      <pc:docMkLst>
        <pc:docMk/>
      </pc:docMkLst>
      <pc:sldChg chg="addSp delSp mod modNotesTx">
        <pc:chgData name="Tristan Despont" userId="d1a7c66da9d715b7" providerId="LiveId" clId="{8D77CC59-83D2-4C48-82B8-96050E88F101}" dt="2026-03-12T15:57:53.255" v="572" actId="20577"/>
        <pc:sldMkLst>
          <pc:docMk/>
          <pc:sldMk cId="2382850548" sldId="256"/>
        </pc:sldMkLst>
      </pc:sldChg>
      <pc:sldChg chg="modNotesTx">
        <pc:chgData name="Tristan Despont" userId="d1a7c66da9d715b7" providerId="LiveId" clId="{8D77CC59-83D2-4C48-82B8-96050E88F101}" dt="2026-03-12T15:58:28.649" v="574" actId="20577"/>
        <pc:sldMkLst>
          <pc:docMk/>
          <pc:sldMk cId="3640435552" sldId="257"/>
        </pc:sldMkLst>
      </pc:sldChg>
      <pc:sldChg chg="modNotesTx">
        <pc:chgData name="Tristan Despont" userId="d1a7c66da9d715b7" providerId="LiveId" clId="{8D77CC59-83D2-4C48-82B8-96050E88F101}" dt="2026-03-12T15:58:08.084" v="573" actId="20577"/>
        <pc:sldMkLst>
          <pc:docMk/>
          <pc:sldMk cId="3007244386" sldId="258"/>
        </pc:sldMkLst>
      </pc:sldChg>
      <pc:sldChg chg="addSp delSp mod modNotesTx">
        <pc:chgData name="Tristan Despont" userId="d1a7c66da9d715b7" providerId="LiveId" clId="{8D77CC59-83D2-4C48-82B8-96050E88F101}" dt="2026-03-12T15:58:38.659" v="577" actId="20577"/>
        <pc:sldMkLst>
          <pc:docMk/>
          <pc:sldMk cId="1571737683" sldId="259"/>
        </pc:sldMkLst>
      </pc:sldChg>
      <pc:sldChg chg="modSp mod modNotesTx">
        <pc:chgData name="Tristan Despont" userId="d1a7c66da9d715b7" providerId="LiveId" clId="{8D77CC59-83D2-4C48-82B8-96050E88F101}" dt="2026-03-12T15:58:48.107" v="578" actId="20577"/>
        <pc:sldMkLst>
          <pc:docMk/>
          <pc:sldMk cId="1937269597" sldId="260"/>
        </pc:sldMkLst>
        <pc:picChg chg="mod">
          <ac:chgData name="Tristan Despont" userId="d1a7c66da9d715b7" providerId="LiveId" clId="{8D77CC59-83D2-4C48-82B8-96050E88F101}" dt="2026-03-12T12:00:46.701" v="143" actId="1440"/>
          <ac:picMkLst>
            <pc:docMk/>
            <pc:sldMk cId="1937269597" sldId="260"/>
            <ac:picMk id="4" creationId="{6E064667-FE7C-2EA2-2F05-9E36E94A848B}"/>
          </ac:picMkLst>
        </pc:picChg>
      </pc:sldChg>
      <pc:sldChg chg="addSp modSp add mod ord modNotesTx">
        <pc:chgData name="Tristan Despont" userId="d1a7c66da9d715b7" providerId="LiveId" clId="{8D77CC59-83D2-4C48-82B8-96050E88F101}" dt="2026-03-12T16:48:35.451" v="674" actId="255"/>
        <pc:sldMkLst>
          <pc:docMk/>
          <pc:sldMk cId="2382953855" sldId="262"/>
        </pc:sldMkLst>
        <pc:spChg chg="add mod">
          <ac:chgData name="Tristan Despont" userId="d1a7c66da9d715b7" providerId="LiveId" clId="{8D77CC59-83D2-4C48-82B8-96050E88F101}" dt="2026-03-12T16:48:35.451" v="674" actId="255"/>
          <ac:spMkLst>
            <pc:docMk/>
            <pc:sldMk cId="2382953855" sldId="262"/>
            <ac:spMk id="2" creationId="{73304A84-0005-B29F-ED0E-4496D667B1CA}"/>
          </ac:spMkLst>
        </pc:spChg>
        <pc:spChg chg="mod">
          <ac:chgData name="Tristan Despont" userId="d1a7c66da9d715b7" providerId="LiveId" clId="{8D77CC59-83D2-4C48-82B8-96050E88F101}" dt="2026-03-12T11:28:31.442" v="12"/>
          <ac:spMkLst>
            <pc:docMk/>
            <pc:sldMk cId="2382953855" sldId="262"/>
            <ac:spMk id="8" creationId="{BFED9046-095D-071B-CD1E-ADB0F96D3393}"/>
          </ac:spMkLst>
        </pc:spChg>
        <pc:spChg chg="mod">
          <ac:chgData name="Tristan Despont" userId="d1a7c66da9d715b7" providerId="LiveId" clId="{8D77CC59-83D2-4C48-82B8-96050E88F101}" dt="2026-03-12T16:45:49.959" v="644" actId="120"/>
          <ac:spMkLst>
            <pc:docMk/>
            <pc:sldMk cId="2382953855" sldId="262"/>
            <ac:spMk id="18" creationId="{9B3B8405-A15D-FDE6-BBBE-AA51E000A61C}"/>
          </ac:spMkLst>
        </pc:spChg>
        <pc:spChg chg="mod">
          <ac:chgData name="Tristan Despont" userId="d1a7c66da9d715b7" providerId="LiveId" clId="{8D77CC59-83D2-4C48-82B8-96050E88F101}" dt="2026-03-12T16:46:00.801" v="645" actId="120"/>
          <ac:spMkLst>
            <pc:docMk/>
            <pc:sldMk cId="2382953855" sldId="262"/>
            <ac:spMk id="28" creationId="{BB05961D-178D-8B8C-8FC5-B541FCFFE244}"/>
          </ac:spMkLst>
        </pc:spChg>
        <pc:picChg chg="mod">
          <ac:chgData name="Tristan Despont" userId="d1a7c66da9d715b7" providerId="LiveId" clId="{8D77CC59-83D2-4C48-82B8-96050E88F101}" dt="2026-03-12T16:39:32.920" v="643" actId="1076"/>
          <ac:picMkLst>
            <pc:docMk/>
            <pc:sldMk cId="2382953855" sldId="262"/>
            <ac:picMk id="32" creationId="{EA31346A-DD3E-889A-54BC-66C445FEB49C}"/>
          </ac:picMkLst>
        </pc:picChg>
        <pc:picChg chg="mod">
          <ac:chgData name="Tristan Despont" userId="d1a7c66da9d715b7" providerId="LiveId" clId="{8D77CC59-83D2-4C48-82B8-96050E88F101}" dt="2026-03-12T16:39:14.583" v="641" actId="1076"/>
          <ac:picMkLst>
            <pc:docMk/>
            <pc:sldMk cId="2382953855" sldId="262"/>
            <ac:picMk id="33" creationId="{4FDFCA87-75EC-C0F3-6A4C-D9DCCC0FD831}"/>
          </ac:picMkLst>
        </pc:picChg>
      </pc:sldChg>
      <pc:sldChg chg="modSp add mod modNotesTx">
        <pc:chgData name="Tristan Despont" userId="d1a7c66da9d715b7" providerId="LiveId" clId="{8D77CC59-83D2-4C48-82B8-96050E88F101}" dt="2026-03-12T15:59:28.940" v="586" actId="20577"/>
        <pc:sldMkLst>
          <pc:docMk/>
          <pc:sldMk cId="3115569279" sldId="263"/>
        </pc:sldMkLst>
        <pc:spChg chg="mod">
          <ac:chgData name="Tristan Despont" userId="d1a7c66da9d715b7" providerId="LiveId" clId="{8D77CC59-83D2-4C48-82B8-96050E88F101}" dt="2026-03-12T11:36:19.491" v="70"/>
          <ac:spMkLst>
            <pc:docMk/>
            <pc:sldMk cId="3115569279" sldId="263"/>
            <ac:spMk id="8" creationId="{BDE7534F-EACD-056C-787D-390DDD46DE4D}"/>
          </ac:spMkLst>
        </pc:spChg>
        <pc:spChg chg="mod">
          <ac:chgData name="Tristan Despont" userId="d1a7c66da9d715b7" providerId="LiveId" clId="{8D77CC59-83D2-4C48-82B8-96050E88F101}" dt="2026-03-12T11:48:43.476" v="115"/>
          <ac:spMkLst>
            <pc:docMk/>
            <pc:sldMk cId="3115569279" sldId="263"/>
            <ac:spMk id="18" creationId="{F31C7ABF-C44C-3E49-09B1-FB91412F3717}"/>
          </ac:spMkLst>
        </pc:spChg>
        <pc:spChg chg="mod">
          <ac:chgData name="Tristan Despont" userId="d1a7c66da9d715b7" providerId="LiveId" clId="{8D77CC59-83D2-4C48-82B8-96050E88F101}" dt="2026-03-12T11:50:03.221" v="118" actId="20577"/>
          <ac:spMkLst>
            <pc:docMk/>
            <pc:sldMk cId="3115569279" sldId="263"/>
            <ac:spMk id="28" creationId="{F3D61755-33B4-F604-CAA2-FB2AA4BB44AA}"/>
          </ac:spMkLst>
        </pc:spChg>
        <pc:picChg chg="mod">
          <ac:chgData name="Tristan Despont" userId="d1a7c66da9d715b7" providerId="LiveId" clId="{8D77CC59-83D2-4C48-82B8-96050E88F101}" dt="2026-03-12T11:48:50.382" v="116" actId="1076"/>
          <ac:picMkLst>
            <pc:docMk/>
            <pc:sldMk cId="3115569279" sldId="263"/>
            <ac:picMk id="32" creationId="{E9C07C01-EB50-F7BE-D002-C14080D7946F}"/>
          </ac:picMkLst>
        </pc:picChg>
        <pc:picChg chg="mod">
          <ac:chgData name="Tristan Despont" userId="d1a7c66da9d715b7" providerId="LiveId" clId="{8D77CC59-83D2-4C48-82B8-96050E88F101}" dt="2026-03-12T11:48:57.194" v="117" actId="1076"/>
          <ac:picMkLst>
            <pc:docMk/>
            <pc:sldMk cId="3115569279" sldId="263"/>
            <ac:picMk id="33" creationId="{FE50513E-E859-6B34-3CA6-5DC3F2DB0B8C}"/>
          </ac:picMkLst>
        </pc:picChg>
      </pc:sldChg>
      <pc:sldChg chg="addSp delSp modSp add mod modNotesTx">
        <pc:chgData name="Tristan Despont" userId="d1a7c66da9d715b7" providerId="LiveId" clId="{8D77CC59-83D2-4C48-82B8-96050E88F101}" dt="2026-03-12T16:00:17.372" v="598" actId="20577"/>
        <pc:sldMkLst>
          <pc:docMk/>
          <pc:sldMk cId="829521620" sldId="264"/>
        </pc:sldMkLst>
        <pc:spChg chg="mod">
          <ac:chgData name="Tristan Despont" userId="d1a7c66da9d715b7" providerId="LiveId" clId="{8D77CC59-83D2-4C48-82B8-96050E88F101}" dt="2026-03-12T11:52:56.007" v="121"/>
          <ac:spMkLst>
            <pc:docMk/>
            <pc:sldMk cId="829521620" sldId="264"/>
            <ac:spMk id="8" creationId="{2F1F0359-B0A5-C203-73AA-B5C83251FB11}"/>
          </ac:spMkLst>
        </pc:spChg>
        <pc:spChg chg="add mod">
          <ac:chgData name="Tristan Despont" userId="d1a7c66da9d715b7" providerId="LiveId" clId="{8D77CC59-83D2-4C48-82B8-96050E88F101}" dt="2026-03-12T12:19:14.582" v="215" actId="207"/>
          <ac:spMkLst>
            <pc:docMk/>
            <pc:sldMk cId="829521620" sldId="264"/>
            <ac:spMk id="9" creationId="{9C5742DF-AD38-0D39-C92D-35767DB198B3}"/>
          </ac:spMkLst>
        </pc:spChg>
        <pc:picChg chg="add mod">
          <ac:chgData name="Tristan Despont" userId="d1a7c66da9d715b7" providerId="LiveId" clId="{8D77CC59-83D2-4C48-82B8-96050E88F101}" dt="2026-03-12T12:00:57.101" v="144" actId="14861"/>
          <ac:picMkLst>
            <pc:docMk/>
            <pc:sldMk cId="829521620" sldId="264"/>
            <ac:picMk id="6" creationId="{F8D2F867-EF19-7EFE-D265-5A57400CDFC2}"/>
          </ac:picMkLst>
        </pc:picChg>
        <pc:picChg chg="add mod">
          <ac:chgData name="Tristan Despont" userId="d1a7c66da9d715b7" providerId="LiveId" clId="{8D77CC59-83D2-4C48-82B8-96050E88F101}" dt="2026-03-12T12:10:09.977" v="190" actId="1076"/>
          <ac:picMkLst>
            <pc:docMk/>
            <pc:sldMk cId="829521620" sldId="264"/>
            <ac:picMk id="11" creationId="{A1A1600C-D7B6-8111-E0B8-7CF62D76C106}"/>
          </ac:picMkLst>
        </pc:picChg>
      </pc:sldChg>
      <pc:sldChg chg="modSp add mod modNotesTx">
        <pc:chgData name="Tristan Despont" userId="d1a7c66da9d715b7" providerId="LiveId" clId="{8D77CC59-83D2-4C48-82B8-96050E88F101}" dt="2026-03-12T16:00:37.206" v="599" actId="20577"/>
        <pc:sldMkLst>
          <pc:docMk/>
          <pc:sldMk cId="3732695951" sldId="265"/>
        </pc:sldMkLst>
        <pc:spChg chg="mod">
          <ac:chgData name="Tristan Despont" userId="d1a7c66da9d715b7" providerId="LiveId" clId="{8D77CC59-83D2-4C48-82B8-96050E88F101}" dt="2026-03-12T12:13:26.250" v="207" actId="20577"/>
          <ac:spMkLst>
            <pc:docMk/>
            <pc:sldMk cId="3732695951" sldId="265"/>
            <ac:spMk id="8" creationId="{02C3490F-5C18-0694-3699-A45B95276EBE}"/>
          </ac:spMkLst>
        </pc:spChg>
        <pc:spChg chg="mod">
          <ac:chgData name="Tristan Despont" userId="d1a7c66da9d715b7" providerId="LiveId" clId="{8D77CC59-83D2-4C48-82B8-96050E88F101}" dt="2026-03-12T12:18:43.664" v="214" actId="2711"/>
          <ac:spMkLst>
            <pc:docMk/>
            <pc:sldMk cId="3732695951" sldId="265"/>
            <ac:spMk id="9" creationId="{AA413367-6318-3004-E93B-D1F82A37A86C}"/>
          </ac:spMkLst>
        </pc:spChg>
        <pc:picChg chg="mod">
          <ac:chgData name="Tristan Despont" userId="d1a7c66da9d715b7" providerId="LiveId" clId="{8D77CC59-83D2-4C48-82B8-96050E88F101}" dt="2026-03-12T12:13:44.354" v="208" actId="14826"/>
          <ac:picMkLst>
            <pc:docMk/>
            <pc:sldMk cId="3732695951" sldId="265"/>
            <ac:picMk id="6" creationId="{F456B2EB-6364-3F0D-196A-95A152CEBE4C}"/>
          </ac:picMkLst>
        </pc:picChg>
        <pc:picChg chg="mod">
          <ac:chgData name="Tristan Despont" userId="d1a7c66da9d715b7" providerId="LiveId" clId="{8D77CC59-83D2-4C48-82B8-96050E88F101}" dt="2026-03-12T12:14:52.743" v="209" actId="14826"/>
          <ac:picMkLst>
            <pc:docMk/>
            <pc:sldMk cId="3732695951" sldId="265"/>
            <ac:picMk id="11" creationId="{98F7EBB5-88D9-806A-3D54-7FBE62E033CF}"/>
          </ac:picMkLst>
        </pc:picChg>
      </pc:sldChg>
      <pc:sldChg chg="modSp add mod modNotesTx">
        <pc:chgData name="Tristan Despont" userId="d1a7c66da9d715b7" providerId="LiveId" clId="{8D77CC59-83D2-4C48-82B8-96050E88F101}" dt="2026-03-12T16:00:50.755" v="600" actId="20577"/>
        <pc:sldMkLst>
          <pc:docMk/>
          <pc:sldMk cId="4257779041" sldId="266"/>
        </pc:sldMkLst>
        <pc:spChg chg="mod">
          <ac:chgData name="Tristan Despont" userId="d1a7c66da9d715b7" providerId="LiveId" clId="{8D77CC59-83D2-4C48-82B8-96050E88F101}" dt="2026-03-12T12:25:41.912" v="228"/>
          <ac:spMkLst>
            <pc:docMk/>
            <pc:sldMk cId="4257779041" sldId="266"/>
            <ac:spMk id="8" creationId="{B49BFF18-26AE-ED49-2BE6-8091FAB92AFD}"/>
          </ac:spMkLst>
        </pc:spChg>
        <pc:spChg chg="mod">
          <ac:chgData name="Tristan Despont" userId="d1a7c66da9d715b7" providerId="LiveId" clId="{8D77CC59-83D2-4C48-82B8-96050E88F101}" dt="2026-03-12T12:24:07.829" v="227" actId="2710"/>
          <ac:spMkLst>
            <pc:docMk/>
            <pc:sldMk cId="4257779041" sldId="266"/>
            <ac:spMk id="9" creationId="{42EEC660-8CCB-C7A1-5CD3-9000580B4E89}"/>
          </ac:spMkLst>
        </pc:spChg>
        <pc:picChg chg="mod">
          <ac:chgData name="Tristan Despont" userId="d1a7c66da9d715b7" providerId="LiveId" clId="{8D77CC59-83D2-4C48-82B8-96050E88F101}" dt="2026-03-12T12:23:13.187" v="219" actId="14826"/>
          <ac:picMkLst>
            <pc:docMk/>
            <pc:sldMk cId="4257779041" sldId="266"/>
            <ac:picMk id="6" creationId="{40442420-E9A4-E957-8C18-E430982BE804}"/>
          </ac:picMkLst>
        </pc:picChg>
        <pc:picChg chg="mod">
          <ac:chgData name="Tristan Despont" userId="d1a7c66da9d715b7" providerId="LiveId" clId="{8D77CC59-83D2-4C48-82B8-96050E88F101}" dt="2026-03-12T12:24:01.552" v="226" actId="1076"/>
          <ac:picMkLst>
            <pc:docMk/>
            <pc:sldMk cId="4257779041" sldId="266"/>
            <ac:picMk id="11" creationId="{A490A475-39DA-F168-D4FC-B60C7182C352}"/>
          </ac:picMkLst>
        </pc:picChg>
      </pc:sldChg>
      <pc:sldChg chg="modSp add mod ord modNotesTx">
        <pc:chgData name="Tristan Despont" userId="d1a7c66da9d715b7" providerId="LiveId" clId="{8D77CC59-83D2-4C48-82B8-96050E88F101}" dt="2026-03-12T16:01:02.229" v="602" actId="20577"/>
        <pc:sldMkLst>
          <pc:docMk/>
          <pc:sldMk cId="1054041000" sldId="267"/>
        </pc:sldMkLst>
        <pc:spChg chg="mod">
          <ac:chgData name="Tristan Despont" userId="d1a7c66da9d715b7" providerId="LiveId" clId="{8D77CC59-83D2-4C48-82B8-96050E88F101}" dt="2026-03-12T12:25:59.464" v="232"/>
          <ac:spMkLst>
            <pc:docMk/>
            <pc:sldMk cId="1054041000" sldId="267"/>
            <ac:spMk id="8" creationId="{7647B55F-ACA4-BD25-3AA8-655489C07ABC}"/>
          </ac:spMkLst>
        </pc:spChg>
        <pc:spChg chg="mod">
          <ac:chgData name="Tristan Despont" userId="d1a7c66da9d715b7" providerId="LiveId" clId="{8D77CC59-83D2-4C48-82B8-96050E88F101}" dt="2026-03-12T12:34:31.448" v="239" actId="207"/>
          <ac:spMkLst>
            <pc:docMk/>
            <pc:sldMk cId="1054041000" sldId="267"/>
            <ac:spMk id="9" creationId="{06F6CC3F-5387-E228-655B-C82253301A55}"/>
          </ac:spMkLst>
        </pc:spChg>
        <pc:picChg chg="mod">
          <ac:chgData name="Tristan Despont" userId="d1a7c66da9d715b7" providerId="LiveId" clId="{8D77CC59-83D2-4C48-82B8-96050E88F101}" dt="2026-03-12T12:27:28.582" v="233" actId="14826"/>
          <ac:picMkLst>
            <pc:docMk/>
            <pc:sldMk cId="1054041000" sldId="267"/>
            <ac:picMk id="6" creationId="{204D7854-56D7-3618-A980-78305D1BB0A6}"/>
          </ac:picMkLst>
        </pc:picChg>
        <pc:picChg chg="mod">
          <ac:chgData name="Tristan Despont" userId="d1a7c66da9d715b7" providerId="LiveId" clId="{8D77CC59-83D2-4C48-82B8-96050E88F101}" dt="2026-03-12T12:28:11.253" v="236" actId="14826"/>
          <ac:picMkLst>
            <pc:docMk/>
            <pc:sldMk cId="1054041000" sldId="267"/>
            <ac:picMk id="11" creationId="{F963A3C5-B154-1A64-B393-FDBD3ADF4B5E}"/>
          </ac:picMkLst>
        </pc:picChg>
      </pc:sldChg>
      <pc:sldChg chg="addSp delSp modSp add mod ord modNotesTx">
        <pc:chgData name="Tristan Despont" userId="d1a7c66da9d715b7" providerId="LiveId" clId="{8D77CC59-83D2-4C48-82B8-96050E88F101}" dt="2026-03-12T16:01:12.592" v="603" actId="20577"/>
        <pc:sldMkLst>
          <pc:docMk/>
          <pc:sldMk cId="632550676" sldId="268"/>
        </pc:sldMkLst>
        <pc:spChg chg="add mod">
          <ac:chgData name="Tristan Despont" userId="d1a7c66da9d715b7" providerId="LiveId" clId="{8D77CC59-83D2-4C48-82B8-96050E88F101}" dt="2026-03-12T14:39:36.797" v="368" actId="1076"/>
          <ac:spMkLst>
            <pc:docMk/>
            <pc:sldMk cId="632550676" sldId="268"/>
            <ac:spMk id="4" creationId="{771FA67D-9CFE-83DB-91A2-16448222D7E7}"/>
          </ac:spMkLst>
        </pc:spChg>
        <pc:spChg chg="mod">
          <ac:chgData name="Tristan Despont" userId="d1a7c66da9d715b7" providerId="LiveId" clId="{8D77CC59-83D2-4C48-82B8-96050E88F101}" dt="2026-03-12T12:42:15.971" v="246"/>
          <ac:spMkLst>
            <pc:docMk/>
            <pc:sldMk cId="632550676" sldId="268"/>
            <ac:spMk id="8" creationId="{C7BAD1C4-560C-0295-7F6C-9AEAE4CCDECD}"/>
          </ac:spMkLst>
        </pc:spChg>
        <pc:spChg chg="add mod">
          <ac:chgData name="Tristan Despont" userId="d1a7c66da9d715b7" providerId="LiveId" clId="{8D77CC59-83D2-4C48-82B8-96050E88F101}" dt="2026-03-12T14:38:39.624" v="363" actId="1076"/>
          <ac:spMkLst>
            <pc:docMk/>
            <pc:sldMk cId="632550676" sldId="268"/>
            <ac:spMk id="13" creationId="{E1C7075D-3297-3CFD-3282-4087BA66F1F4}"/>
          </ac:spMkLst>
        </pc:spChg>
        <pc:spChg chg="add mod">
          <ac:chgData name="Tristan Despont" userId="d1a7c66da9d715b7" providerId="LiveId" clId="{8D77CC59-83D2-4C48-82B8-96050E88F101}" dt="2026-03-12T14:39:30.085" v="367" actId="1076"/>
          <ac:spMkLst>
            <pc:docMk/>
            <pc:sldMk cId="632550676" sldId="268"/>
            <ac:spMk id="14" creationId="{DEAC9F8E-DB9E-9B11-F646-6B5E428D2B07}"/>
          </ac:spMkLst>
        </pc:spChg>
        <pc:spChg chg="add mod">
          <ac:chgData name="Tristan Despont" userId="d1a7c66da9d715b7" providerId="LiveId" clId="{8D77CC59-83D2-4C48-82B8-96050E88F101}" dt="2026-03-12T14:38:42.737" v="364" actId="1076"/>
          <ac:spMkLst>
            <pc:docMk/>
            <pc:sldMk cId="632550676" sldId="268"/>
            <ac:spMk id="15" creationId="{9819A3CE-7FE4-E9C1-5BB1-0DE856A8AE35}"/>
          </ac:spMkLst>
        </pc:spChg>
        <pc:picChg chg="add mod">
          <ac:chgData name="Tristan Despont" userId="d1a7c66da9d715b7" providerId="LiveId" clId="{8D77CC59-83D2-4C48-82B8-96050E88F101}" dt="2026-03-12T14:47:28.417" v="381" actId="1076"/>
          <ac:picMkLst>
            <pc:docMk/>
            <pc:sldMk cId="632550676" sldId="268"/>
            <ac:picMk id="17" creationId="{4B16C9F1-8D11-079A-6A45-7303526C68E2}"/>
          </ac:picMkLst>
        </pc:picChg>
        <pc:picChg chg="add mod">
          <ac:chgData name="Tristan Despont" userId="d1a7c66da9d715b7" providerId="LiveId" clId="{8D77CC59-83D2-4C48-82B8-96050E88F101}" dt="2026-03-12T15:00:02.365" v="400" actId="1076"/>
          <ac:picMkLst>
            <pc:docMk/>
            <pc:sldMk cId="632550676" sldId="268"/>
            <ac:picMk id="30" creationId="{F76F62B4-DDF7-8758-929E-81C3448A126C}"/>
          </ac:picMkLst>
        </pc:picChg>
        <pc:picChg chg="add mod">
          <ac:chgData name="Tristan Despont" userId="d1a7c66da9d715b7" providerId="LiveId" clId="{8D77CC59-83D2-4C48-82B8-96050E88F101}" dt="2026-03-12T14:50:45.388" v="391" actId="14826"/>
          <ac:picMkLst>
            <pc:docMk/>
            <pc:sldMk cId="632550676" sldId="268"/>
            <ac:picMk id="31" creationId="{22435793-D64E-FA1A-E8C2-6F777DA9B0E8}"/>
          </ac:picMkLst>
        </pc:picChg>
        <pc:picChg chg="add mod">
          <ac:chgData name="Tristan Despont" userId="d1a7c66da9d715b7" providerId="LiveId" clId="{8D77CC59-83D2-4C48-82B8-96050E88F101}" dt="2026-03-12T14:59:32.315" v="398" actId="1076"/>
          <ac:picMkLst>
            <pc:docMk/>
            <pc:sldMk cId="632550676" sldId="268"/>
            <ac:picMk id="32" creationId="{2963A516-75F4-F7F0-EC5F-359F6D0E95B7}"/>
          </ac:picMkLst>
        </pc:picChg>
      </pc:sldChg>
      <pc:sldChg chg="modSp add mod modNotesTx">
        <pc:chgData name="Tristan Despont" userId="d1a7c66da9d715b7" providerId="LiveId" clId="{8D77CC59-83D2-4C48-82B8-96050E88F101}" dt="2026-03-12T16:01:20.841" v="604" actId="20577"/>
        <pc:sldMkLst>
          <pc:docMk/>
          <pc:sldMk cId="2446309134" sldId="269"/>
        </pc:sldMkLst>
        <pc:spChg chg="mod">
          <ac:chgData name="Tristan Despont" userId="d1a7c66da9d715b7" providerId="LiveId" clId="{8D77CC59-83D2-4C48-82B8-96050E88F101}" dt="2026-03-12T15:01:15.247" v="406" actId="20577"/>
          <ac:spMkLst>
            <pc:docMk/>
            <pc:sldMk cId="2446309134" sldId="269"/>
            <ac:spMk id="4" creationId="{6D97FB6E-8FB8-0475-BE78-9A3AB1FF1D8A}"/>
          </ac:spMkLst>
        </pc:spChg>
        <pc:spChg chg="mod">
          <ac:chgData name="Tristan Despont" userId="d1a7c66da9d715b7" providerId="LiveId" clId="{8D77CC59-83D2-4C48-82B8-96050E88F101}" dt="2026-03-12T14:58:36.020" v="393"/>
          <ac:spMkLst>
            <pc:docMk/>
            <pc:sldMk cId="2446309134" sldId="269"/>
            <ac:spMk id="8" creationId="{689DCC2E-87AC-7C9E-DC3B-A74572F7B7F6}"/>
          </ac:spMkLst>
        </pc:spChg>
        <pc:spChg chg="mod">
          <ac:chgData name="Tristan Despont" userId="d1a7c66da9d715b7" providerId="LiveId" clId="{8D77CC59-83D2-4C48-82B8-96050E88F101}" dt="2026-03-12T15:04:07.782" v="467" actId="20577"/>
          <ac:spMkLst>
            <pc:docMk/>
            <pc:sldMk cId="2446309134" sldId="269"/>
            <ac:spMk id="13" creationId="{D4E7A4A7-07AD-D7B8-0709-645CD0F5C40D}"/>
          </ac:spMkLst>
        </pc:spChg>
        <pc:spChg chg="mod">
          <ac:chgData name="Tristan Despont" userId="d1a7c66da9d715b7" providerId="LiveId" clId="{8D77CC59-83D2-4C48-82B8-96050E88F101}" dt="2026-03-12T15:01:59.586" v="429" actId="20577"/>
          <ac:spMkLst>
            <pc:docMk/>
            <pc:sldMk cId="2446309134" sldId="269"/>
            <ac:spMk id="14" creationId="{0F27C0DC-CBC0-CEB7-2D5B-7E7E1E992739}"/>
          </ac:spMkLst>
        </pc:spChg>
        <pc:spChg chg="mod">
          <ac:chgData name="Tristan Despont" userId="d1a7c66da9d715b7" providerId="LiveId" clId="{8D77CC59-83D2-4C48-82B8-96050E88F101}" dt="2026-03-12T15:04:44.069" v="476"/>
          <ac:spMkLst>
            <pc:docMk/>
            <pc:sldMk cId="2446309134" sldId="269"/>
            <ac:spMk id="15" creationId="{EFBE7E2A-B287-CD5D-932F-3097701CB5AC}"/>
          </ac:spMkLst>
        </pc:spChg>
        <pc:picChg chg="mod">
          <ac:chgData name="Tristan Despont" userId="d1a7c66da9d715b7" providerId="LiveId" clId="{8D77CC59-83D2-4C48-82B8-96050E88F101}" dt="2026-03-12T15:05:42.347" v="477" actId="14826"/>
          <ac:picMkLst>
            <pc:docMk/>
            <pc:sldMk cId="2446309134" sldId="269"/>
            <ac:picMk id="17" creationId="{2482A1E1-E75C-C468-99C8-F4BFFE43610E}"/>
          </ac:picMkLst>
        </pc:picChg>
        <pc:picChg chg="mod">
          <ac:chgData name="Tristan Despont" userId="d1a7c66da9d715b7" providerId="LiveId" clId="{8D77CC59-83D2-4C48-82B8-96050E88F101}" dt="2026-03-12T15:06:01.493" v="478" actId="14826"/>
          <ac:picMkLst>
            <pc:docMk/>
            <pc:sldMk cId="2446309134" sldId="269"/>
            <ac:picMk id="29" creationId="{0EC8C2F8-CC51-822E-4553-579A2C212AEF}"/>
          </ac:picMkLst>
        </pc:picChg>
        <pc:picChg chg="mod">
          <ac:chgData name="Tristan Despont" userId="d1a7c66da9d715b7" providerId="LiveId" clId="{8D77CC59-83D2-4C48-82B8-96050E88F101}" dt="2026-03-12T15:06:21.156" v="481" actId="1076"/>
          <ac:picMkLst>
            <pc:docMk/>
            <pc:sldMk cId="2446309134" sldId="269"/>
            <ac:picMk id="30" creationId="{A3964180-CA17-FF09-93B4-11D439AA399D}"/>
          </ac:picMkLst>
        </pc:picChg>
        <pc:picChg chg="mod">
          <ac:chgData name="Tristan Despont" userId="d1a7c66da9d715b7" providerId="LiveId" clId="{8D77CC59-83D2-4C48-82B8-96050E88F101}" dt="2026-03-12T15:06:54.862" v="483" actId="14826"/>
          <ac:picMkLst>
            <pc:docMk/>
            <pc:sldMk cId="2446309134" sldId="269"/>
            <ac:picMk id="31" creationId="{14BBEC54-3F89-351A-5CAC-0A56EF59E986}"/>
          </ac:picMkLst>
        </pc:picChg>
      </pc:sldChg>
      <pc:sldChg chg="addSp delSp modSp add mod modNotesTx">
        <pc:chgData name="Tristan Despont" userId="d1a7c66da9d715b7" providerId="LiveId" clId="{8D77CC59-83D2-4C48-82B8-96050E88F101}" dt="2026-03-12T16:01:29.475" v="605" actId="20577"/>
        <pc:sldMkLst>
          <pc:docMk/>
          <pc:sldMk cId="281329608" sldId="270"/>
        </pc:sldMkLst>
        <pc:spChg chg="add mod">
          <ac:chgData name="Tristan Despont" userId="d1a7c66da9d715b7" providerId="LiveId" clId="{8D77CC59-83D2-4C48-82B8-96050E88F101}" dt="2026-03-12T15:31:05.677" v="528" actId="20577"/>
          <ac:spMkLst>
            <pc:docMk/>
            <pc:sldMk cId="281329608" sldId="270"/>
            <ac:spMk id="2" creationId="{0D9B036C-244F-DB52-08D8-63E014519D24}"/>
          </ac:spMkLst>
        </pc:spChg>
        <pc:spChg chg="mod">
          <ac:chgData name="Tristan Despont" userId="d1a7c66da9d715b7" providerId="LiveId" clId="{8D77CC59-83D2-4C48-82B8-96050E88F101}" dt="2026-03-12T15:16:14.514" v="485"/>
          <ac:spMkLst>
            <pc:docMk/>
            <pc:sldMk cId="281329608" sldId="270"/>
            <ac:spMk id="8" creationId="{EC97AE8B-B20E-BC48-62B7-815A64A2BC30}"/>
          </ac:spMkLst>
        </pc:spChg>
        <pc:picChg chg="add mod">
          <ac:chgData name="Tristan Despont" userId="d1a7c66da9d715b7" providerId="LiveId" clId="{8D77CC59-83D2-4C48-82B8-96050E88F101}" dt="2026-03-12T15:30:26.291" v="507" actId="1076"/>
          <ac:picMkLst>
            <pc:docMk/>
            <pc:sldMk cId="281329608" sldId="270"/>
            <ac:picMk id="6" creationId="{564041E6-F68B-F660-354E-FE4E73F885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F6461-CE61-43C0-9E36-02F2DB601689}" type="datetimeFigureOut">
              <a:rPr lang="fr-FR" smtClean="0"/>
              <a:t>16/03/2026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145B90-A8A1-450D-B329-37D356FC7107}" type="slidenum">
              <a:rPr lang="fr-FR" smtClean="0"/>
              <a:t>‹N°›</a:t>
            </a:fld>
            <a:endParaRPr lang="fr-FR"/>
          </a:p>
        </p:txBody>
      </p:sp>
    </p:spTree>
    <p:extLst>
      <p:ext uri="{BB962C8B-B14F-4D97-AF65-F5344CB8AC3E}">
        <p14:creationId xmlns:p14="http://schemas.microsoft.com/office/powerpoint/2010/main" val="35593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1 - Titre</a:t>
            </a:r>
            <a:r>
              <a:rPr lang="fr-FR" dirty="0"/>
              <a:t> </a:t>
            </a:r>
            <a:br>
              <a:rPr lang="fr-FR" dirty="0"/>
            </a:br>
            <a:r>
              <a:rPr lang="fr-FR" dirty="0"/>
              <a:t>Je vous présente aujourd'hui mon projet P8 : une analyse sociodémographique des étudiants inscrits aux parcours Data chez OpenClassrooms sur 4 ans, de 2022 à 2025.</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1</a:t>
            </a:fld>
            <a:endParaRPr lang="fr-FR"/>
          </a:p>
        </p:txBody>
      </p:sp>
    </p:spTree>
    <p:extLst>
      <p:ext uri="{BB962C8B-B14F-4D97-AF65-F5344CB8AC3E}">
        <p14:creationId xmlns:p14="http://schemas.microsoft.com/office/powerpoint/2010/main" val="210288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2 - Contexte &amp; Objectifs</a:t>
            </a:r>
            <a:r>
              <a:rPr lang="fr-FR" dirty="0"/>
              <a:t> </a:t>
            </a:r>
            <a:br>
              <a:rPr lang="fr-FR" dirty="0"/>
            </a:br>
            <a:r>
              <a:rPr lang="fr-FR" dirty="0"/>
              <a:t>L'objectif de ce projet est de comprendre qui sont les étudiants qui choisissent les parcours Data chez OC, et de comparer leur profil à la population française grâce aux données INSEE. On cherche à identifier les écarts et les tendances sur la période 2022-2025.</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2</a:t>
            </a:fld>
            <a:endParaRPr lang="fr-FR"/>
          </a:p>
        </p:txBody>
      </p:sp>
    </p:spTree>
    <p:extLst>
      <p:ext uri="{BB962C8B-B14F-4D97-AF65-F5344CB8AC3E}">
        <p14:creationId xmlns:p14="http://schemas.microsoft.com/office/powerpoint/2010/main" val="4113034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3 - Sources</a:t>
            </a:r>
            <a:r>
              <a:rPr lang="fr-FR" dirty="0"/>
              <a:t> </a:t>
            </a:r>
          </a:p>
          <a:p>
            <a:r>
              <a:rPr lang="fr-FR" dirty="0"/>
              <a:t>Deux sources de données : les données internes OC extraites des inscriptions, et les données publiques INSEE sur la population française. Les données INSEE ont nécessité un pré-traitement Python pour passer d'un format Excel multi-index au format compatible </a:t>
            </a:r>
            <a:r>
              <a:rPr lang="fr-FR" dirty="0" err="1"/>
              <a:t>Snowflake</a:t>
            </a:r>
            <a:r>
              <a:rPr lang="fr-FR" dirty="0"/>
              <a:t>.</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3</a:t>
            </a:fld>
            <a:endParaRPr lang="fr-FR"/>
          </a:p>
        </p:txBody>
      </p:sp>
    </p:spTree>
    <p:extLst>
      <p:ext uri="{BB962C8B-B14F-4D97-AF65-F5344CB8AC3E}">
        <p14:creationId xmlns:p14="http://schemas.microsoft.com/office/powerpoint/2010/main" val="1294805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4 - Stack technique</a:t>
            </a:r>
            <a:r>
              <a:rPr lang="fr-FR" dirty="0"/>
              <a:t> </a:t>
            </a:r>
          </a:p>
          <a:p>
            <a:r>
              <a:rPr lang="fr-FR" dirty="0"/>
              <a:t>Trois outils principaux : </a:t>
            </a:r>
            <a:r>
              <a:rPr lang="fr-FR" dirty="0" err="1"/>
              <a:t>Snowflake</a:t>
            </a:r>
            <a:r>
              <a:rPr lang="fr-FR" dirty="0"/>
              <a:t> comme data </a:t>
            </a:r>
            <a:r>
              <a:rPr lang="fr-FR" dirty="0" err="1"/>
              <a:t>warehouse</a:t>
            </a:r>
            <a:r>
              <a:rPr lang="fr-FR" dirty="0"/>
              <a:t> pour stocker et requêter les données, </a:t>
            </a:r>
            <a:r>
              <a:rPr lang="fr-FR" dirty="0" err="1"/>
              <a:t>dbt</a:t>
            </a:r>
            <a:r>
              <a:rPr lang="fr-FR" dirty="0"/>
              <a:t> Cloud pour les transformations et la documentation du pipeline, et Python avec pandas et </a:t>
            </a:r>
            <a:r>
              <a:rPr lang="fr-FR" dirty="0" err="1"/>
              <a:t>seaborn</a:t>
            </a:r>
            <a:r>
              <a:rPr lang="fr-FR" dirty="0"/>
              <a:t> pour le pré-traitement INSEE et les visualisations.</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4</a:t>
            </a:fld>
            <a:endParaRPr lang="fr-FR"/>
          </a:p>
        </p:txBody>
      </p:sp>
    </p:spTree>
    <p:extLst>
      <p:ext uri="{BB962C8B-B14F-4D97-AF65-F5344CB8AC3E}">
        <p14:creationId xmlns:p14="http://schemas.microsoft.com/office/powerpoint/2010/main" val="309893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5 - Pipeline</a:t>
            </a:r>
            <a:r>
              <a:rPr lang="fr-FR" dirty="0"/>
              <a:t> </a:t>
            </a:r>
          </a:p>
          <a:p>
            <a:r>
              <a:rPr lang="fr-FR" dirty="0"/>
              <a:t>Le pipeline suit une architecture en couches : les données brutes arrivent en Raw, sont nettoyées en Staging, agrégées par dimension en </a:t>
            </a:r>
            <a:r>
              <a:rPr lang="fr-FR" dirty="0" err="1"/>
              <a:t>Intermediate</a:t>
            </a:r>
            <a:r>
              <a:rPr lang="fr-FR" dirty="0"/>
              <a:t> (région, sexe, âge, année), puis consolidées en Mart pour produire le CSV livrable final.</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5</a:t>
            </a:fld>
            <a:endParaRPr lang="fr-FR"/>
          </a:p>
        </p:txBody>
      </p:sp>
    </p:spTree>
    <p:extLst>
      <p:ext uri="{BB962C8B-B14F-4D97-AF65-F5344CB8AC3E}">
        <p14:creationId xmlns:p14="http://schemas.microsoft.com/office/powerpoint/2010/main" val="1865436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6 – Nettoyage</a:t>
            </a:r>
          </a:p>
          <a:p>
            <a:r>
              <a:rPr lang="fr-FR" dirty="0"/>
              <a:t>Deux types de nettoyage : côté OC, les valeurs nulles de genre ont été remplacées par NC pour Non Communiqué. Côté INSEE, j'ai harmonisé les noms de régions, agrégé les tranches 60+ en une seule catégorie, et reformaté les tranches d'âge pour aligner les deux sources.</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6</a:t>
            </a:fld>
            <a:endParaRPr lang="fr-FR"/>
          </a:p>
        </p:txBody>
      </p:sp>
    </p:spTree>
    <p:extLst>
      <p:ext uri="{BB962C8B-B14F-4D97-AF65-F5344CB8AC3E}">
        <p14:creationId xmlns:p14="http://schemas.microsoft.com/office/powerpoint/2010/main" val="1109952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7 - RGPD</a:t>
            </a:r>
            <a:r>
              <a:rPr lang="fr-FR" dirty="0"/>
              <a:t> </a:t>
            </a:r>
          </a:p>
          <a:p>
            <a:r>
              <a:rPr lang="fr-FR" dirty="0"/>
              <a:t>Les données étant agrégées par tranche d'âge, genre et région, il n'y a aucune donnée nominative — le risque de </a:t>
            </a:r>
            <a:r>
              <a:rPr lang="fr-FR" dirty="0" err="1"/>
              <a:t>ré-identification</a:t>
            </a:r>
            <a:r>
              <a:rPr lang="fr-FR" dirty="0"/>
              <a:t> est très faible. L'hébergement est sur </a:t>
            </a:r>
            <a:r>
              <a:rPr lang="fr-FR" dirty="0" err="1"/>
              <a:t>Snowflake</a:t>
            </a:r>
            <a:r>
              <a:rPr lang="fr-FR" dirty="0"/>
              <a:t> région EU-Paris. En contexte professionnel, on ajouterait un DPA avec </a:t>
            </a:r>
            <a:r>
              <a:rPr lang="fr-FR" dirty="0" err="1"/>
              <a:t>Snowflake</a:t>
            </a:r>
            <a:r>
              <a:rPr lang="fr-FR" dirty="0"/>
              <a:t>, du chiffrement, une gestion des accès par rôle et une anonymisation dès le staging.</a:t>
            </a:r>
            <a:br>
              <a:rPr lang="fr-FR" b="1" dirty="0"/>
            </a:br>
            <a:br>
              <a:rPr lang="fr-FR" b="1" dirty="0"/>
            </a:br>
            <a:br>
              <a:rPr lang="fr-FR" b="1" dirty="0"/>
            </a:br>
            <a:br>
              <a:rPr lang="fr-FR" b="1" dirty="0"/>
            </a:br>
            <a:r>
              <a:rPr lang="fr-FR" b="1" dirty="0"/>
              <a:t>DPA</a:t>
            </a:r>
            <a:r>
              <a:rPr lang="fr-FR" dirty="0"/>
              <a:t> (Data </a:t>
            </a:r>
            <a:r>
              <a:rPr lang="fr-FR" dirty="0" err="1"/>
              <a:t>Processing</a:t>
            </a:r>
            <a:r>
              <a:rPr lang="fr-FR" dirty="0"/>
              <a:t> Agreement) : contrat légal entre OC et </a:t>
            </a:r>
            <a:r>
              <a:rPr lang="fr-FR" dirty="0" err="1"/>
              <a:t>Snowflake</a:t>
            </a:r>
            <a:r>
              <a:rPr lang="fr-FR" dirty="0"/>
              <a:t> définissant les responsabilités sur le traitement des données</a:t>
            </a:r>
          </a:p>
          <a:p>
            <a:r>
              <a:rPr lang="fr-FR" b="1" dirty="0"/>
              <a:t>RBAC</a:t>
            </a:r>
            <a:r>
              <a:rPr lang="fr-FR" dirty="0"/>
              <a:t> (</a:t>
            </a:r>
            <a:r>
              <a:rPr lang="fr-FR" dirty="0" err="1"/>
              <a:t>Role-Based</a:t>
            </a:r>
            <a:r>
              <a:rPr lang="fr-FR" dirty="0"/>
              <a:t> Access Control) : système de droits d'accès où chaque utilisateur ne voit que ce dont il a besoin selon son rôle</a:t>
            </a:r>
          </a:p>
          <a:p>
            <a:r>
              <a:rPr lang="fr-FR" b="1" dirty="0"/>
              <a:t>Pour ta question</a:t>
            </a:r>
            <a:r>
              <a:rPr lang="fr-FR" dirty="0"/>
              <a:t> : t'as tout à fait raison ! Si en prod les données sources sont déjà agrégées comme dans ce projet, la </a:t>
            </a:r>
            <a:r>
              <a:rPr lang="fr-FR" dirty="0" err="1"/>
              <a:t>pseudonymisation</a:t>
            </a:r>
            <a:r>
              <a:rPr lang="fr-FR" dirty="0"/>
              <a:t> sert à rien. Mais en réalité en prod t'aurais probablement accès aux données brutes nominatives (nom, email, etc.) avant agrégation — c'est là que la </a:t>
            </a:r>
            <a:r>
              <a:rPr lang="fr-FR" dirty="0" err="1"/>
              <a:t>pseudonymisation</a:t>
            </a:r>
            <a:r>
              <a:rPr lang="fr-FR" dirty="0"/>
              <a:t> intervient au niveau du staging. C'est une mesure préventive sur les données brutes, pas sur l'output agrégé.</a:t>
            </a:r>
          </a:p>
          <a:p>
            <a:endParaRPr lang="fr-FR" dirty="0"/>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7</a:t>
            </a:fld>
            <a:endParaRPr lang="fr-FR"/>
          </a:p>
        </p:txBody>
      </p:sp>
    </p:spTree>
    <p:extLst>
      <p:ext uri="{BB962C8B-B14F-4D97-AF65-F5344CB8AC3E}">
        <p14:creationId xmlns:p14="http://schemas.microsoft.com/office/powerpoint/2010/main" val="1241957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090AE-DF6D-7949-6C8B-1124E1E3BF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E0DD4B-65A9-2FF4-BDA1-DB8105DF2E4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E4CBB5-C79F-9662-66ED-7E129738C8B1}"/>
              </a:ext>
            </a:extLst>
          </p:cNvPr>
          <p:cNvSpPr>
            <a:spLocks noGrp="1"/>
          </p:cNvSpPr>
          <p:nvPr>
            <p:ph type="body" idx="1"/>
          </p:nvPr>
        </p:nvSpPr>
        <p:spPr/>
        <p:txBody>
          <a:bodyPr/>
          <a:lstStyle/>
          <a:p>
            <a:r>
              <a:rPr lang="fr-FR" b="1" dirty="0"/>
              <a:t>Slide 8 - Évolution par année</a:t>
            </a:r>
            <a:r>
              <a:rPr lang="fr-FR" dirty="0"/>
              <a:t> </a:t>
            </a:r>
          </a:p>
          <a:p>
            <a:r>
              <a:rPr lang="fr-FR" dirty="0"/>
              <a:t>On observe un pic d'inscriptions en 2022 avec environ 1700 étudiants, suivi d'une baisse progressive jusqu'en 2024 soit environ 45%. L'hypothèse la plus probable est un contrecoup post-covid sur les reconversions professionnelles. La reprise en 2025 avec 950 étudiants est encourageante..</a:t>
            </a:r>
          </a:p>
          <a:p>
            <a:endParaRPr lang="fr-FR" dirty="0"/>
          </a:p>
        </p:txBody>
      </p:sp>
      <p:sp>
        <p:nvSpPr>
          <p:cNvPr id="4" name="Espace réservé du numéro de diapositive 3">
            <a:extLst>
              <a:ext uri="{FF2B5EF4-FFF2-40B4-BE49-F238E27FC236}">
                <a16:creationId xmlns:a16="http://schemas.microsoft.com/office/drawing/2014/main" id="{11832E47-D434-9D4E-D647-A0F728715ABC}"/>
              </a:ext>
            </a:extLst>
          </p:cNvPr>
          <p:cNvSpPr>
            <a:spLocks noGrp="1"/>
          </p:cNvSpPr>
          <p:nvPr>
            <p:ph type="sldNum" sz="quarter" idx="5"/>
          </p:nvPr>
        </p:nvSpPr>
        <p:spPr/>
        <p:txBody>
          <a:bodyPr/>
          <a:lstStyle/>
          <a:p>
            <a:fld id="{E0145B90-A8A1-450D-B329-37D356FC7107}" type="slidenum">
              <a:rPr lang="fr-FR" smtClean="0"/>
              <a:t>8</a:t>
            </a:fld>
            <a:endParaRPr lang="fr-FR"/>
          </a:p>
        </p:txBody>
      </p:sp>
    </p:spTree>
    <p:extLst>
      <p:ext uri="{BB962C8B-B14F-4D97-AF65-F5344CB8AC3E}">
        <p14:creationId xmlns:p14="http://schemas.microsoft.com/office/powerpoint/2010/main" val="4216595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167ED-E102-91EC-9D3B-E132938BB57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253C006-01A7-22AA-33EE-E8D2AC3D796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80B2A3-D23F-EF46-740F-C6C85C4B5547}"/>
              </a:ext>
            </a:extLst>
          </p:cNvPr>
          <p:cNvSpPr>
            <a:spLocks noGrp="1"/>
          </p:cNvSpPr>
          <p:nvPr>
            <p:ph type="body" idx="1"/>
          </p:nvPr>
        </p:nvSpPr>
        <p:spPr/>
        <p:txBody>
          <a:bodyPr/>
          <a:lstStyle/>
          <a:p>
            <a:r>
              <a:rPr lang="fr-FR" b="1" dirty="0"/>
              <a:t>Slide 9 - Répartition régionale</a:t>
            </a:r>
            <a:r>
              <a:rPr lang="fr-FR" dirty="0"/>
              <a:t> </a:t>
            </a:r>
          </a:p>
          <a:p>
            <a:r>
              <a:rPr lang="fr-FR" dirty="0"/>
              <a:t>L'Île-de-France est massivement sur-représentée avec +27,7 points d'écart vs la moyenne nationale. Toutes les autres régions sont dans le rouge entre -1 et -3 points. Hypothèse : concentration des efforts marketing sur Paris. C'est un levier de croissance potentiel important.</a:t>
            </a:r>
          </a:p>
        </p:txBody>
      </p:sp>
      <p:sp>
        <p:nvSpPr>
          <p:cNvPr id="4" name="Espace réservé du numéro de diapositive 3">
            <a:extLst>
              <a:ext uri="{FF2B5EF4-FFF2-40B4-BE49-F238E27FC236}">
                <a16:creationId xmlns:a16="http://schemas.microsoft.com/office/drawing/2014/main" id="{C5CDC05C-B011-FF2C-083E-DE41D2B449AE}"/>
              </a:ext>
            </a:extLst>
          </p:cNvPr>
          <p:cNvSpPr>
            <a:spLocks noGrp="1"/>
          </p:cNvSpPr>
          <p:nvPr>
            <p:ph type="sldNum" sz="quarter" idx="5"/>
          </p:nvPr>
        </p:nvSpPr>
        <p:spPr/>
        <p:txBody>
          <a:bodyPr/>
          <a:lstStyle/>
          <a:p>
            <a:fld id="{E0145B90-A8A1-450D-B329-37D356FC7107}" type="slidenum">
              <a:rPr lang="fr-FR" smtClean="0"/>
              <a:t>9</a:t>
            </a:fld>
            <a:endParaRPr lang="fr-FR"/>
          </a:p>
        </p:txBody>
      </p:sp>
    </p:spTree>
    <p:extLst>
      <p:ext uri="{BB962C8B-B14F-4D97-AF65-F5344CB8AC3E}">
        <p14:creationId xmlns:p14="http://schemas.microsoft.com/office/powerpoint/2010/main" val="536527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7BD5-983E-F48C-A942-F48942CF0E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048DBF-50BD-EC89-2FFA-1AD65AB482C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9BB5392-052D-8C22-B204-562CF32CBDBF}"/>
              </a:ext>
            </a:extLst>
          </p:cNvPr>
          <p:cNvSpPr>
            <a:spLocks noGrp="1"/>
          </p:cNvSpPr>
          <p:nvPr>
            <p:ph type="body" idx="1"/>
          </p:nvPr>
        </p:nvSpPr>
        <p:spPr/>
        <p:txBody>
          <a:bodyPr/>
          <a:lstStyle/>
          <a:p>
            <a:r>
              <a:rPr lang="fr-FR" b="1" dirty="0"/>
              <a:t>Slide 10 - Répartition H/F</a:t>
            </a:r>
            <a:r>
              <a:rPr lang="fr-FR" dirty="0"/>
              <a:t> </a:t>
            </a:r>
          </a:p>
          <a:p>
            <a:r>
              <a:rPr lang="fr-FR" dirty="0"/>
              <a:t>69% des étudiants OC Data sont des hommes contre 48% dans la population française, soit un écart de 20 points sur les femmes. Ce déséquilibre reflète la réalité du secteur IT historiquement masculin. C'est un levier de féminisation à travailler.</a:t>
            </a:r>
          </a:p>
        </p:txBody>
      </p:sp>
      <p:sp>
        <p:nvSpPr>
          <p:cNvPr id="4" name="Espace réservé du numéro de diapositive 3">
            <a:extLst>
              <a:ext uri="{FF2B5EF4-FFF2-40B4-BE49-F238E27FC236}">
                <a16:creationId xmlns:a16="http://schemas.microsoft.com/office/drawing/2014/main" id="{2106EE26-1C45-1A71-CB86-B1A341CB67CB}"/>
              </a:ext>
            </a:extLst>
          </p:cNvPr>
          <p:cNvSpPr>
            <a:spLocks noGrp="1"/>
          </p:cNvSpPr>
          <p:nvPr>
            <p:ph type="sldNum" sz="quarter" idx="5"/>
          </p:nvPr>
        </p:nvSpPr>
        <p:spPr/>
        <p:txBody>
          <a:bodyPr/>
          <a:lstStyle/>
          <a:p>
            <a:fld id="{E0145B90-A8A1-450D-B329-37D356FC7107}" type="slidenum">
              <a:rPr lang="fr-FR" smtClean="0"/>
              <a:t>10</a:t>
            </a:fld>
            <a:endParaRPr lang="fr-FR"/>
          </a:p>
        </p:txBody>
      </p:sp>
    </p:spTree>
    <p:extLst>
      <p:ext uri="{BB962C8B-B14F-4D97-AF65-F5344CB8AC3E}">
        <p14:creationId xmlns:p14="http://schemas.microsoft.com/office/powerpoint/2010/main" val="3416181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DC2A-14BC-5982-AD62-EF38226B02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3EF6A0-863F-3FE5-1354-6472AEE5AA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4B13D7B-189F-5DC5-D68C-8416A89F01E0}"/>
              </a:ext>
            </a:extLst>
          </p:cNvPr>
          <p:cNvSpPr>
            <a:spLocks noGrp="1"/>
          </p:cNvSpPr>
          <p:nvPr>
            <p:ph type="body" idx="1"/>
          </p:nvPr>
        </p:nvSpPr>
        <p:spPr/>
        <p:txBody>
          <a:bodyPr/>
          <a:lstStyle/>
          <a:p>
            <a:r>
              <a:rPr lang="fr-FR" b="1" dirty="0"/>
              <a:t>Slide 11 - Répartition par âge</a:t>
            </a:r>
            <a:r>
              <a:rPr lang="fr-FR" dirty="0"/>
              <a:t> </a:t>
            </a:r>
          </a:p>
          <a:p>
            <a:r>
              <a:rPr lang="fr-FR" dirty="0"/>
              <a:t>Le cœur de cible est clairement les 25-39 ans avec un pic sur les 30-34 ans à +17,7 points. Ce profil correspond au profil type de reconversion professionnelle. Les 20-24 ans sont sous-représentés, les 60+ quasi absents ce qui est logique.</a:t>
            </a:r>
          </a:p>
        </p:txBody>
      </p:sp>
      <p:sp>
        <p:nvSpPr>
          <p:cNvPr id="4" name="Espace réservé du numéro de diapositive 3">
            <a:extLst>
              <a:ext uri="{FF2B5EF4-FFF2-40B4-BE49-F238E27FC236}">
                <a16:creationId xmlns:a16="http://schemas.microsoft.com/office/drawing/2014/main" id="{DF7825DB-4B29-50B3-2418-FD6FC3C60CE7}"/>
              </a:ext>
            </a:extLst>
          </p:cNvPr>
          <p:cNvSpPr>
            <a:spLocks noGrp="1"/>
          </p:cNvSpPr>
          <p:nvPr>
            <p:ph type="sldNum" sz="quarter" idx="5"/>
          </p:nvPr>
        </p:nvSpPr>
        <p:spPr/>
        <p:txBody>
          <a:bodyPr/>
          <a:lstStyle/>
          <a:p>
            <a:fld id="{E0145B90-A8A1-450D-B329-37D356FC7107}" type="slidenum">
              <a:rPr lang="fr-FR" smtClean="0"/>
              <a:t>11</a:t>
            </a:fld>
            <a:endParaRPr lang="fr-FR"/>
          </a:p>
        </p:txBody>
      </p:sp>
    </p:spTree>
    <p:extLst>
      <p:ext uri="{BB962C8B-B14F-4D97-AF65-F5344CB8AC3E}">
        <p14:creationId xmlns:p14="http://schemas.microsoft.com/office/powerpoint/2010/main" val="2711671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12 - Recommandations</a:t>
            </a:r>
            <a:r>
              <a:rPr lang="fr-FR" dirty="0"/>
              <a:t> </a:t>
            </a:r>
          </a:p>
          <a:p>
            <a:r>
              <a:rPr lang="fr-FR" dirty="0"/>
              <a:t>Quatre pistes identifiées : actions marketing ciblées pour la féminisation, développement de l'offre en régions pour la décentralisation, exploration de la formation initiale pour les 20-24 ans même si le marché est concurrentiel, et surveillance de la tendance 2026 pour confirmer la reprise.</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12</a:t>
            </a:fld>
            <a:endParaRPr lang="fr-FR"/>
          </a:p>
        </p:txBody>
      </p:sp>
    </p:spTree>
    <p:extLst>
      <p:ext uri="{BB962C8B-B14F-4D97-AF65-F5344CB8AC3E}">
        <p14:creationId xmlns:p14="http://schemas.microsoft.com/office/powerpoint/2010/main" val="4171458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13 - Limites</a:t>
            </a:r>
            <a:r>
              <a:rPr lang="fr-FR" dirty="0"/>
              <a:t> </a:t>
            </a:r>
          </a:p>
          <a:p>
            <a:r>
              <a:rPr lang="fr-FR" dirty="0"/>
              <a:t>Quatre limites principales : absence de données qualitatives qui empêche de confirmer les hypothèses, historique de seulement 4 ans insuffisant pour distinguer tendance structurelle et effet conjoncturel, biais de comparaison car l'INSEE porte sur la population totale et non active ou diplômée, et données 2025 potentiellement partielles selon la date d'extraction.</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13</a:t>
            </a:fld>
            <a:endParaRPr lang="fr-FR"/>
          </a:p>
        </p:txBody>
      </p:sp>
    </p:spTree>
    <p:extLst>
      <p:ext uri="{BB962C8B-B14F-4D97-AF65-F5344CB8AC3E}">
        <p14:creationId xmlns:p14="http://schemas.microsoft.com/office/powerpoint/2010/main" val="1467104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Slide 14 - </a:t>
            </a:r>
            <a:r>
              <a:rPr lang="fr-FR" b="1"/>
              <a:t>Conclusion</a:t>
            </a:r>
            <a:r>
              <a:rPr lang="fr-FR"/>
              <a:t> </a:t>
            </a:r>
          </a:p>
          <a:p>
            <a:r>
              <a:rPr lang="fr-FR"/>
              <a:t>En </a:t>
            </a:r>
            <a:r>
              <a:rPr lang="fr-FR" dirty="0"/>
              <a:t>synthèse : le profil type étudiant OC Data est un homme de 30-34 ans francilien. On observe une baisse des inscriptions sur la période avec une reprise encourageante en 2025. Trois leviers ont été identifiés : féminisation, décentralisation et jeunes 20-24 ans. Je vous remercie, je suis disponible pour vos questions.</a:t>
            </a:r>
          </a:p>
        </p:txBody>
      </p:sp>
      <p:sp>
        <p:nvSpPr>
          <p:cNvPr id="4" name="Espace réservé du numéro de diapositive 3"/>
          <p:cNvSpPr>
            <a:spLocks noGrp="1"/>
          </p:cNvSpPr>
          <p:nvPr>
            <p:ph type="sldNum" sz="quarter" idx="5"/>
          </p:nvPr>
        </p:nvSpPr>
        <p:spPr/>
        <p:txBody>
          <a:bodyPr/>
          <a:lstStyle/>
          <a:p>
            <a:fld id="{E0145B90-A8A1-450D-B329-37D356FC7107}" type="slidenum">
              <a:rPr lang="fr-FR" smtClean="0"/>
              <a:t>14</a:t>
            </a:fld>
            <a:endParaRPr lang="fr-FR"/>
          </a:p>
        </p:txBody>
      </p:sp>
    </p:spTree>
    <p:extLst>
      <p:ext uri="{BB962C8B-B14F-4D97-AF65-F5344CB8AC3E}">
        <p14:creationId xmlns:p14="http://schemas.microsoft.com/office/powerpoint/2010/main" val="273695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159170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59844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787705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488263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119437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84507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150466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31847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19612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285692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708991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970071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97261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047447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Diapositive de titre">
    <p:spTree>
      <p:nvGrpSpPr>
        <p:cNvPr id="1" name=""/>
        <p:cNvGrpSpPr/>
        <p:nvPr/>
      </p:nvGrpSpPr>
      <p:grpSpPr>
        <a:xfrm>
          <a:off x="0" y="0"/>
          <a:ext cx="0" cy="0"/>
          <a:chOff x="0" y="0"/>
          <a:chExt cx="0" cy="0"/>
        </a:xfrm>
      </p:grpSpPr>
      <p:sp>
        <p:nvSpPr>
          <p:cNvPr id="7" name="Google Shape;23;p18">
            <a:extLst>
              <a:ext uri="{FF2B5EF4-FFF2-40B4-BE49-F238E27FC236}">
                <a16:creationId xmlns:a16="http://schemas.microsoft.com/office/drawing/2014/main" id="{BE69DFF3-3630-09B6-B51C-9871EE7F243A}"/>
              </a:ext>
            </a:extLst>
          </p:cNvPr>
          <p:cNvSpPr/>
          <p:nvPr userDrawn="1"/>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19050" cap="rnd" cmpd="sng">
            <a:solidFill>
              <a:srgbClr val="8A76E8"/>
            </a:solidFill>
            <a:prstDash val="solid"/>
            <a:round/>
            <a:headEnd type="none" w="sm" len="sm"/>
            <a:tailEnd type="none" w="sm" len="sm"/>
          </a:ln>
        </p:spPr>
        <p:txBody>
          <a:bodyPr/>
          <a:lstStyle/>
          <a:p>
            <a:endParaRPr lang="fr-FR"/>
          </a:p>
        </p:txBody>
      </p:sp>
      <p:pic>
        <p:nvPicPr>
          <p:cNvPr id="9" name="Image 8">
            <a:extLst>
              <a:ext uri="{FF2B5EF4-FFF2-40B4-BE49-F238E27FC236}">
                <a16:creationId xmlns:a16="http://schemas.microsoft.com/office/drawing/2014/main" id="{DA8B2C83-64F8-B5DB-AF4E-5B4A8778C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9095" y="139837"/>
            <a:ext cx="782397" cy="782397"/>
          </a:xfrm>
          <a:prstGeom prst="rect">
            <a:avLst/>
          </a:prstGeom>
        </p:spPr>
      </p:pic>
      <p:sp>
        <p:nvSpPr>
          <p:cNvPr id="10" name="ZoneTexte 9">
            <a:extLst>
              <a:ext uri="{FF2B5EF4-FFF2-40B4-BE49-F238E27FC236}">
                <a16:creationId xmlns:a16="http://schemas.microsoft.com/office/drawing/2014/main" id="{F50E251E-20C5-3490-D0FE-A9DA35B298D5}"/>
              </a:ext>
            </a:extLst>
          </p:cNvPr>
          <p:cNvSpPr txBox="1"/>
          <p:nvPr userDrawn="1"/>
        </p:nvSpPr>
        <p:spPr>
          <a:xfrm>
            <a:off x="1080587" y="139837"/>
            <a:ext cx="10962318" cy="782396"/>
          </a:xfrm>
          <a:prstGeom prst="rect">
            <a:avLst/>
          </a:prstGeom>
          <a:noFill/>
        </p:spPr>
        <p:txBody>
          <a:bodyPr wrap="square" rtlCol="0" anchor="ctr">
            <a:noAutofit/>
          </a:bodyPr>
          <a:lstStyle/>
          <a:p>
            <a:pPr algn="l"/>
            <a:r>
              <a:rPr lang="fr-FR" sz="3200" dirty="0">
                <a:solidFill>
                  <a:srgbClr val="8A76E8"/>
                </a:solidFill>
                <a:latin typeface="Lato Semibold" panose="020F0502020204030203" pitchFamily="34" charset="0"/>
                <a:cs typeface="Lato Semibold" panose="020F0502020204030203" pitchFamily="34" charset="0"/>
              </a:rPr>
              <a:t>Titre</a:t>
            </a:r>
            <a:endParaRPr lang="fr-FR" sz="2400" dirty="0">
              <a:solidFill>
                <a:srgbClr val="8A76E8"/>
              </a:solidFill>
              <a:latin typeface="Lato Semibold" panose="020F0502020204030203" pitchFamily="34" charset="0"/>
              <a:cs typeface="Lato Semibold" panose="020F0502020204030203" pitchFamily="34" charset="0"/>
            </a:endParaRPr>
          </a:p>
        </p:txBody>
      </p:sp>
      <p:sp>
        <p:nvSpPr>
          <p:cNvPr id="11" name="ZoneTexte 10">
            <a:extLst>
              <a:ext uri="{FF2B5EF4-FFF2-40B4-BE49-F238E27FC236}">
                <a16:creationId xmlns:a16="http://schemas.microsoft.com/office/drawing/2014/main" id="{E5D9FA65-0639-9ECA-668D-3FE77C244C1B}"/>
              </a:ext>
            </a:extLst>
          </p:cNvPr>
          <p:cNvSpPr txBox="1"/>
          <p:nvPr userDrawn="1"/>
        </p:nvSpPr>
        <p:spPr>
          <a:xfrm>
            <a:off x="1080587" y="1521152"/>
            <a:ext cx="10788684" cy="5037745"/>
          </a:xfrm>
          <a:prstGeom prst="rect">
            <a:avLst/>
          </a:prstGeom>
          <a:noFill/>
        </p:spPr>
        <p:txBody>
          <a:bodyPr wrap="square" rtlCol="0">
            <a:noAutofit/>
          </a:bodyPr>
          <a:lstStyle/>
          <a:p>
            <a:r>
              <a:rPr lang="fr-FR" sz="2400" dirty="0">
                <a:latin typeface="Lato" panose="020F0502020204030203" pitchFamily="34" charset="0"/>
                <a:cs typeface="Lato" panose="020F0502020204030203" pitchFamily="34" charset="0"/>
              </a:rPr>
              <a:t>Texte</a:t>
            </a:r>
          </a:p>
          <a:p>
            <a:endParaRPr lang="fr-FR"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276976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38D0EE-7DDA-2FBF-6AC4-1291E5920B83}"/>
              </a:ext>
            </a:extLst>
          </p:cNvPr>
          <p:cNvSpPr>
            <a:spLocks noGrp="1"/>
          </p:cNvSpPr>
          <p:nvPr>
            <p:ph type="title"/>
          </p:nvPr>
        </p:nvSpPr>
        <p:spPr>
          <a:xfrm>
            <a:off x="251927" y="365125"/>
            <a:ext cx="11700587" cy="1325563"/>
          </a:xfrm>
        </p:spPr>
        <p:txBody>
          <a:bodyPr/>
          <a:lstStyle/>
          <a:p>
            <a:r>
              <a:rPr lang="fr-FR" dirty="0"/>
              <a:t>Modifiez le style du titre</a:t>
            </a:r>
          </a:p>
        </p:txBody>
      </p:sp>
      <p:sp>
        <p:nvSpPr>
          <p:cNvPr id="3" name="Espace réservé du contenu 2">
            <a:extLst>
              <a:ext uri="{FF2B5EF4-FFF2-40B4-BE49-F238E27FC236}">
                <a16:creationId xmlns:a16="http://schemas.microsoft.com/office/drawing/2014/main" id="{D50FBB53-2266-0CCE-2EB5-3F675A2234BE}"/>
              </a:ext>
            </a:extLst>
          </p:cNvPr>
          <p:cNvSpPr>
            <a:spLocks noGrp="1"/>
          </p:cNvSpPr>
          <p:nvPr>
            <p:ph idx="1"/>
          </p:nvPr>
        </p:nvSpPr>
        <p:spPr>
          <a:xfrm>
            <a:off x="251927" y="1825625"/>
            <a:ext cx="11700587"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198756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144B7D-9260-392B-58A7-7AC41BE3D8F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2C81788-2B62-3880-B549-B3FFEB10E7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8B5B4B0-3561-405C-93EA-CA1B0BD16CF9}"/>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5D80E4A7-45B3-0EB1-5715-09DAF0C29D4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7A5E07-52EC-A50F-02F3-16700CBD5C67}"/>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4267494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4CD746-11A0-A911-8A0C-803C46B50E1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13173BC-3C8A-5324-906A-F685AA41F9C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2095F1F-73F1-C971-4448-997F5B057E7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6CDF8F2-EC2F-DBC8-0711-EC0587970295}"/>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FE0B2A56-0EB8-3E1C-2FE0-531BA8972D7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CCE8647-6048-7A19-D3AF-A10544C0574C}"/>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18735947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888370-F253-09DD-A96D-4661F85BFDC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09A5B17-038E-B8C7-ACF2-97AC5D4009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D5F58BF-A5CC-7E99-F03E-BCD88BBF2A1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437A1FA-0AB6-9FBE-7799-E0E3C2CA7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D4FB54A-0531-027F-81AE-858CA30ACF2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C12EF3C-11D4-444D-D381-B2713DC6683F}"/>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8" name="Espace réservé du pied de page 7">
            <a:extLst>
              <a:ext uri="{FF2B5EF4-FFF2-40B4-BE49-F238E27FC236}">
                <a16:creationId xmlns:a16="http://schemas.microsoft.com/office/drawing/2014/main" id="{4D1821BA-97FF-B30D-1222-B85B8D42EDD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A4027F9-47DA-8402-376A-76E3314740BF}"/>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3359982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01D294-00A9-1E6C-9DF4-F3345176FCA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45E0CB3-8D6E-3D4E-AA3B-D4F5873AAC25}"/>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4" name="Espace réservé du pied de page 3">
            <a:extLst>
              <a:ext uri="{FF2B5EF4-FFF2-40B4-BE49-F238E27FC236}">
                <a16:creationId xmlns:a16="http://schemas.microsoft.com/office/drawing/2014/main" id="{1D94076C-B4C8-EC63-DE93-5722B71F5C0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770347D-AD72-D990-2981-F9F160AA90D9}"/>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3531694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CF920D1-13BE-E708-142B-799B3E612960}"/>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3" name="Espace réservé du pied de page 2">
            <a:extLst>
              <a:ext uri="{FF2B5EF4-FFF2-40B4-BE49-F238E27FC236}">
                <a16:creationId xmlns:a16="http://schemas.microsoft.com/office/drawing/2014/main" id="{1D745355-040B-CBE2-3D0D-8452B18FAA8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F678FE3-76BD-9301-0234-26836B9B22DD}"/>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3466797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E3CE0E-D6D0-7B59-F68F-7E93284E6C0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D65F497-D0F6-A460-5F37-81F511AC16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63E1E1E-14B7-079C-EF34-1E268CC9CB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653108C-1512-799E-305D-0AFEBE70C5DF}"/>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AA8BB1F4-AAB1-369B-4AFB-80F8D6EEE79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A941FE5-A8FD-A962-8E58-3764F5A8EB07}"/>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12899483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84747B-C8EB-A37A-247B-7078E6E315A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781FC32-F4C7-1C33-21A6-F81564F408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4CBEBB8-3711-673B-C7B5-DED480F75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B71CD72-13FD-85EA-32A5-BD89B84F4237}"/>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444D3245-9F7A-7437-DB7D-FEE7C1943E5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AE888CC-D9AF-AFA9-C34A-D80509B5A6EB}"/>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13495812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3F7E1E-6436-8BF8-09CC-AAC00803B13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093F8C1-387B-E7C7-F08B-4734FBB694F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A70CEF-7EBD-9D07-123E-BB5DEDE6D210}"/>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DE35D449-99AF-B4D2-F2F4-93574652EB6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43A0D9-3FD7-12AE-F551-9CCAFD42E2C3}"/>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3749485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730451A-38A4-980E-E9ED-62981B07ECC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4ADCFB2-4A37-AA56-1530-86279D3C757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9F8095-B563-0BD9-07D4-E837B22D1189}"/>
              </a:ext>
            </a:extLst>
          </p:cNvPr>
          <p:cNvSpPr>
            <a:spLocks noGrp="1"/>
          </p:cNvSpPr>
          <p:nvPr>
            <p:ph type="dt" sz="half" idx="10"/>
          </p:nvPr>
        </p:nvSpPr>
        <p:spPr/>
        <p:txBody>
          <a:bodyPr/>
          <a:lstStyle/>
          <a:p>
            <a:fld id="{ED9BBCF5-54A3-45C0-B85B-C6931869388C}"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F7708DE7-029E-7A24-1B74-3550942F52D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A18C083-3A52-61D9-9AFA-D4F58051C07F}"/>
              </a:ext>
            </a:extLst>
          </p:cNvPr>
          <p:cNvSpPr>
            <a:spLocks noGrp="1"/>
          </p:cNvSpPr>
          <p:nvPr>
            <p:ph type="sldNum" sz="quarter" idx="12"/>
          </p:nvPr>
        </p:nvSpPr>
        <p:spPr/>
        <p:txBody>
          <a:bodyPr/>
          <a:lstStyle/>
          <a:p>
            <a:fld id="{C888F516-6B30-488E-99D0-91134A09E193}" type="slidenum">
              <a:rPr lang="fr-FR" smtClean="0"/>
              <a:t>‹N°›</a:t>
            </a:fld>
            <a:endParaRPr lang="fr-FR"/>
          </a:p>
        </p:txBody>
      </p:sp>
    </p:spTree>
    <p:extLst>
      <p:ext uri="{BB962C8B-B14F-4D97-AF65-F5344CB8AC3E}">
        <p14:creationId xmlns:p14="http://schemas.microsoft.com/office/powerpoint/2010/main" val="1615277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779902C-690C-B2CB-FF26-47EC81283E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215F974-AB24-124E-C4AD-BF9474EC56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0BBC27-C966-7014-0DD9-805AC85170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9BBCF5-54A3-45C0-B85B-C6931869388C}"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DF533F35-61D1-2E7D-9EF2-204A3A1A4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5A74336-A1C6-C6DE-6746-9FAA73AAD9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88F516-6B30-488E-99D0-91134A09E193}" type="slidenum">
              <a:rPr lang="fr-FR" smtClean="0"/>
              <a:t>‹N°›</a:t>
            </a:fld>
            <a:endParaRPr lang="fr-FR"/>
          </a:p>
        </p:txBody>
      </p:sp>
    </p:spTree>
    <p:extLst>
      <p:ext uri="{BB962C8B-B14F-4D97-AF65-F5344CB8AC3E}">
        <p14:creationId xmlns:p14="http://schemas.microsoft.com/office/powerpoint/2010/main" val="215772186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50" r:id="rId16"/>
    <p:sldLayoutId id="2147483651" r:id="rId17"/>
    <p:sldLayoutId id="2147483652" r:id="rId18"/>
    <p:sldLayoutId id="2147483653" r:id="rId19"/>
    <p:sldLayoutId id="2147483654" r:id="rId20"/>
    <p:sldLayoutId id="2147483655" r:id="rId21"/>
    <p:sldLayoutId id="2147483656" r:id="rId22"/>
    <p:sldLayoutId id="2147483657" r:id="rId23"/>
    <p:sldLayoutId id="2147483658" r:id="rId24"/>
    <p:sldLayoutId id="2147483659"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15.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7E2F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a:extLst>
              <a:ext uri="{FF2B5EF4-FFF2-40B4-BE49-F238E27FC236}">
                <a16:creationId xmlns:a16="http://schemas.microsoft.com/office/drawing/2014/main" id="{84773EED-1908-7983-E095-934949031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67" y="1214545"/>
            <a:ext cx="10905066" cy="2917109"/>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ZoneTexte 5">
            <a:extLst>
              <a:ext uri="{FF2B5EF4-FFF2-40B4-BE49-F238E27FC236}">
                <a16:creationId xmlns:a16="http://schemas.microsoft.com/office/drawing/2014/main" id="{8E23C233-0FD2-3183-1757-FB6C50610E24}"/>
              </a:ext>
            </a:extLst>
          </p:cNvPr>
          <p:cNvSpPr txBox="1"/>
          <p:nvPr/>
        </p:nvSpPr>
        <p:spPr>
          <a:xfrm>
            <a:off x="643467" y="3889321"/>
            <a:ext cx="10905066" cy="954107"/>
          </a:xfrm>
          <a:prstGeom prst="rect">
            <a:avLst/>
          </a:prstGeom>
          <a:noFill/>
          <a:ln w="28575">
            <a:solidFill>
              <a:srgbClr val="9CC7F2"/>
            </a:solidFill>
          </a:ln>
        </p:spPr>
        <p:txBody>
          <a:bodyPr wrap="square" rtlCol="0">
            <a:spAutoFit/>
          </a:bodyPr>
          <a:lstStyle/>
          <a:p>
            <a:pPr algn="ctr"/>
            <a:r>
              <a:rPr lang="fr-FR" sz="2800" dirty="0">
                <a:solidFill>
                  <a:srgbClr val="8A76E8"/>
                </a:solidFill>
                <a:latin typeface="Lato Semibold" panose="020F0502020204030203" pitchFamily="34" charset="0"/>
                <a:cs typeface="Lato Semibold" panose="020F0502020204030203" pitchFamily="34" charset="0"/>
              </a:rPr>
              <a:t>Comprendre l’évolution du profil sociodémographique des étudiants inscrits aux parcours Data</a:t>
            </a:r>
          </a:p>
        </p:txBody>
      </p:sp>
      <p:sp>
        <p:nvSpPr>
          <p:cNvPr id="7" name="ZoneTexte 6">
            <a:extLst>
              <a:ext uri="{FF2B5EF4-FFF2-40B4-BE49-F238E27FC236}">
                <a16:creationId xmlns:a16="http://schemas.microsoft.com/office/drawing/2014/main" id="{D0095404-8D5B-40C9-A1BD-716A65E3500A}"/>
              </a:ext>
            </a:extLst>
          </p:cNvPr>
          <p:cNvSpPr txBox="1"/>
          <p:nvPr/>
        </p:nvSpPr>
        <p:spPr>
          <a:xfrm>
            <a:off x="1670670" y="6118356"/>
            <a:ext cx="5246497" cy="400110"/>
          </a:xfrm>
          <a:prstGeom prst="rect">
            <a:avLst/>
          </a:prstGeom>
          <a:noFill/>
        </p:spPr>
        <p:txBody>
          <a:bodyPr wrap="square" rtlCol="0">
            <a:spAutoFit/>
          </a:bodyPr>
          <a:lstStyle/>
          <a:p>
            <a:r>
              <a:rPr lang="fr-FR" sz="2000" dirty="0">
                <a:solidFill>
                  <a:srgbClr val="9CC7F2"/>
                </a:solidFill>
                <a:latin typeface="Lato" panose="020F0502020204030203" pitchFamily="34" charset="0"/>
                <a:cs typeface="Lato" panose="020F0502020204030203" pitchFamily="34" charset="0"/>
              </a:rPr>
              <a:t>Tristan DESPONT		Mars 2026</a:t>
            </a:r>
          </a:p>
        </p:txBody>
      </p:sp>
    </p:spTree>
    <p:extLst>
      <p:ext uri="{BB962C8B-B14F-4D97-AF65-F5344CB8AC3E}">
        <p14:creationId xmlns:p14="http://schemas.microsoft.com/office/powerpoint/2010/main" val="2382850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A5EFA911-7E1A-5231-8BC7-169A65C55A7E}"/>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3C0ACCA4-154D-0C05-10DB-F793C86D2226}"/>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632560EC-CE59-960F-5019-BCDC8DB3DE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E463A74C-C385-31D8-8D79-3CC89A5F893F}"/>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Contexte &amp; Objectifs			</a:t>
            </a:r>
            <a:r>
              <a:rPr lang="fr-FR" sz="4000" dirty="0">
                <a:solidFill>
                  <a:srgbClr val="8A76E8"/>
                </a:solidFill>
                <a:latin typeface="Lato" panose="020F0502020204030203" pitchFamily="34" charset="0"/>
                <a:cs typeface="Lato" panose="020F0502020204030203" pitchFamily="34" charset="0"/>
              </a:rPr>
              <a:t>2022-2025</a:t>
            </a:r>
          </a:p>
        </p:txBody>
      </p:sp>
      <p:sp>
        <p:nvSpPr>
          <p:cNvPr id="9" name="ZoneTexte 8">
            <a:extLst>
              <a:ext uri="{FF2B5EF4-FFF2-40B4-BE49-F238E27FC236}">
                <a16:creationId xmlns:a16="http://schemas.microsoft.com/office/drawing/2014/main" id="{756ECB84-55BE-1875-7F9D-C4BA88DBCDE9}"/>
              </a:ext>
            </a:extLst>
          </p:cNvPr>
          <p:cNvSpPr txBox="1"/>
          <p:nvPr/>
        </p:nvSpPr>
        <p:spPr>
          <a:xfrm>
            <a:off x="517885" y="2869170"/>
            <a:ext cx="3320889" cy="3198344"/>
          </a:xfrm>
          <a:prstGeom prst="rect">
            <a:avLst/>
          </a:prstGeom>
          <a:noFill/>
          <a:ln w="28575">
            <a:solidFill>
              <a:srgbClr val="8A76E8"/>
            </a:solidFill>
          </a:ln>
        </p:spPr>
        <p:txBody>
          <a:bodyPr wrap="square" rtlCol="0" anchor="t">
            <a:noAutofit/>
          </a:bodyPr>
          <a:lstStyle/>
          <a:p>
            <a:pPr algn="ctr">
              <a:lnSpc>
                <a:spcPct val="300000"/>
              </a:lnSpc>
            </a:pPr>
            <a:r>
              <a:rPr lang="fr-FR" sz="3600" dirty="0">
                <a:solidFill>
                  <a:srgbClr val="EA7000"/>
                </a:solidFill>
                <a:latin typeface="Lato" panose="020F0502020204030203" pitchFamily="34" charset="0"/>
                <a:cs typeface="Lato" panose="020F0502020204030203" pitchFamily="34" charset="0"/>
              </a:rPr>
              <a:t>Qui ? </a:t>
            </a:r>
          </a:p>
          <a:p>
            <a:pPr algn="ctr"/>
            <a:r>
              <a:rPr lang="fr-FR" sz="2800" dirty="0">
                <a:latin typeface="Lato Light" panose="020F0502020204030203" pitchFamily="34" charset="0"/>
                <a:cs typeface="Lato Light" panose="020F0502020204030203" pitchFamily="34" charset="0"/>
              </a:rPr>
              <a:t>OpenClassrooms, parcours Data</a:t>
            </a:r>
          </a:p>
        </p:txBody>
      </p:sp>
      <p:sp>
        <p:nvSpPr>
          <p:cNvPr id="18" name="ZoneTexte 17">
            <a:extLst>
              <a:ext uri="{FF2B5EF4-FFF2-40B4-BE49-F238E27FC236}">
                <a16:creationId xmlns:a16="http://schemas.microsoft.com/office/drawing/2014/main" id="{AE01C58E-0A7C-8691-1FAD-831C5926FB52}"/>
              </a:ext>
            </a:extLst>
          </p:cNvPr>
          <p:cNvSpPr txBox="1"/>
          <p:nvPr/>
        </p:nvSpPr>
        <p:spPr>
          <a:xfrm>
            <a:off x="4374879" y="2869170"/>
            <a:ext cx="3442242" cy="3198343"/>
          </a:xfrm>
          <a:prstGeom prst="rect">
            <a:avLst/>
          </a:prstGeom>
          <a:noFill/>
          <a:ln w="28575">
            <a:solidFill>
              <a:srgbClr val="8A76E8"/>
            </a:solidFill>
          </a:ln>
        </p:spPr>
        <p:txBody>
          <a:bodyPr wrap="square" rtlCol="0" anchor="t">
            <a:noAutofit/>
          </a:bodyPr>
          <a:lstStyle/>
          <a:p>
            <a:pPr algn="ctr">
              <a:lnSpc>
                <a:spcPct val="300000"/>
              </a:lnSpc>
            </a:pPr>
            <a:r>
              <a:rPr lang="fr-FR" sz="3600" dirty="0">
                <a:solidFill>
                  <a:srgbClr val="EA7000"/>
                </a:solidFill>
                <a:latin typeface="Lato" panose="020F0502020204030203" pitchFamily="34" charset="0"/>
                <a:cs typeface="Lato" panose="020F0502020204030203" pitchFamily="34" charset="0"/>
              </a:rPr>
              <a:t>Quoi ?</a:t>
            </a:r>
          </a:p>
          <a:p>
            <a:pPr algn="ctr"/>
            <a:r>
              <a:rPr lang="fr-FR" sz="2800" dirty="0">
                <a:latin typeface="Lato Light" panose="020F0502020204030203" pitchFamily="34" charset="0"/>
                <a:cs typeface="Lato Light" panose="020F0502020204030203" pitchFamily="34" charset="0"/>
              </a:rPr>
              <a:t>Analyser le profil socio des étudiants</a:t>
            </a:r>
          </a:p>
        </p:txBody>
      </p:sp>
      <p:sp>
        <p:nvSpPr>
          <p:cNvPr id="19" name="ZoneTexte 18">
            <a:extLst>
              <a:ext uri="{FF2B5EF4-FFF2-40B4-BE49-F238E27FC236}">
                <a16:creationId xmlns:a16="http://schemas.microsoft.com/office/drawing/2014/main" id="{0ED58FEF-2152-8F17-18AA-F0F4F04D8634}"/>
              </a:ext>
            </a:extLst>
          </p:cNvPr>
          <p:cNvSpPr txBox="1"/>
          <p:nvPr/>
        </p:nvSpPr>
        <p:spPr>
          <a:xfrm>
            <a:off x="8353226" y="2869168"/>
            <a:ext cx="3442242" cy="3198345"/>
          </a:xfrm>
          <a:prstGeom prst="rect">
            <a:avLst/>
          </a:prstGeom>
          <a:noFill/>
          <a:ln w="28575">
            <a:solidFill>
              <a:srgbClr val="8A76E8"/>
            </a:solidFill>
          </a:ln>
        </p:spPr>
        <p:txBody>
          <a:bodyPr wrap="square" rtlCol="0" anchor="t">
            <a:noAutofit/>
          </a:bodyPr>
          <a:lstStyle/>
          <a:p>
            <a:pPr algn="ctr">
              <a:lnSpc>
                <a:spcPct val="200000"/>
              </a:lnSpc>
            </a:pPr>
            <a:r>
              <a:rPr lang="fr-FR" sz="3600" dirty="0">
                <a:solidFill>
                  <a:srgbClr val="EA7000"/>
                </a:solidFill>
                <a:latin typeface="Lato" panose="020F0502020204030203" pitchFamily="34" charset="0"/>
                <a:cs typeface="Lato" panose="020F0502020204030203" pitchFamily="34" charset="0"/>
              </a:rPr>
              <a:t>Pourquoi ? </a:t>
            </a:r>
          </a:p>
          <a:p>
            <a:pPr algn="ctr"/>
            <a:r>
              <a:rPr lang="fr-FR" sz="2800" dirty="0">
                <a:latin typeface="Lato Light" panose="020F0502020204030203" pitchFamily="34" charset="0"/>
                <a:cs typeface="Lato Light" panose="020F0502020204030203" pitchFamily="34" charset="0"/>
              </a:rPr>
              <a:t>Comparer à la population française pour identifier les écarts</a:t>
            </a:r>
          </a:p>
        </p:txBody>
      </p:sp>
      <p:pic>
        <p:nvPicPr>
          <p:cNvPr id="21" name="Image 20">
            <a:extLst>
              <a:ext uri="{FF2B5EF4-FFF2-40B4-BE49-F238E27FC236}">
                <a16:creationId xmlns:a16="http://schemas.microsoft.com/office/drawing/2014/main" id="{8D5F7638-32C0-866D-0D55-092753EFF5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7278" y="1494250"/>
            <a:ext cx="1090285" cy="1090285"/>
          </a:xfrm>
          <a:prstGeom prst="rect">
            <a:avLst/>
          </a:prstGeom>
        </p:spPr>
      </p:pic>
      <p:pic>
        <p:nvPicPr>
          <p:cNvPr id="24" name="Image 23">
            <a:extLst>
              <a:ext uri="{FF2B5EF4-FFF2-40B4-BE49-F238E27FC236}">
                <a16:creationId xmlns:a16="http://schemas.microsoft.com/office/drawing/2014/main" id="{839A326D-605B-8F2B-CCC0-390493F2D1E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550857" y="1494250"/>
            <a:ext cx="1090285" cy="1090285"/>
          </a:xfrm>
          <a:prstGeom prst="rect">
            <a:avLst/>
          </a:prstGeom>
        </p:spPr>
      </p:pic>
      <p:pic>
        <p:nvPicPr>
          <p:cNvPr id="25" name="Image 24">
            <a:extLst>
              <a:ext uri="{FF2B5EF4-FFF2-40B4-BE49-F238E27FC236}">
                <a16:creationId xmlns:a16="http://schemas.microsoft.com/office/drawing/2014/main" id="{2BAA35F4-C197-9FEA-401C-559E60D2D32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529204" y="1499743"/>
            <a:ext cx="1090285" cy="1090285"/>
          </a:xfrm>
          <a:prstGeom prst="rect">
            <a:avLst/>
          </a:prstGeom>
        </p:spPr>
      </p:pic>
    </p:spTree>
    <p:extLst>
      <p:ext uri="{BB962C8B-B14F-4D97-AF65-F5344CB8AC3E}">
        <p14:creationId xmlns:p14="http://schemas.microsoft.com/office/powerpoint/2010/main" val="3007244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p:cNvGrpSpPr/>
        <p:nvPr/>
      </p:nvGrpSpPr>
      <p:grpSpPr>
        <a:xfrm>
          <a:off x="0" y="0"/>
          <a:ext cx="0" cy="0"/>
          <a:chOff x="0" y="0"/>
          <a:chExt cx="0" cy="0"/>
        </a:xfrm>
      </p:grpSpPr>
      <p:sp>
        <p:nvSpPr>
          <p:cNvPr id="5" name="Google Shape;23;p18">
            <a:extLst>
              <a:ext uri="{FF2B5EF4-FFF2-40B4-BE49-F238E27FC236}">
                <a16:creationId xmlns:a16="http://schemas.microsoft.com/office/drawing/2014/main" id="{8F1BAA69-B3E2-A35E-E327-FFEA74A97E60}"/>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230ECA2E-87CF-6B5E-77DD-5BEDE3010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9F0A6C2A-FE5A-2CB6-DA2A-20F4BAC7B195}"/>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Sources de données</a:t>
            </a:r>
          </a:p>
        </p:txBody>
      </p:sp>
      <p:sp>
        <p:nvSpPr>
          <p:cNvPr id="18" name="ZoneTexte 17">
            <a:extLst>
              <a:ext uri="{FF2B5EF4-FFF2-40B4-BE49-F238E27FC236}">
                <a16:creationId xmlns:a16="http://schemas.microsoft.com/office/drawing/2014/main" id="{409F049E-8C52-6682-FE97-7BE2CC24F903}"/>
              </a:ext>
            </a:extLst>
          </p:cNvPr>
          <p:cNvSpPr txBox="1"/>
          <p:nvPr/>
        </p:nvSpPr>
        <p:spPr>
          <a:xfrm>
            <a:off x="6669741" y="2786230"/>
            <a:ext cx="4721567" cy="3281283"/>
          </a:xfrm>
          <a:prstGeom prst="rect">
            <a:avLst/>
          </a:prstGeom>
          <a:noFill/>
          <a:ln w="28575">
            <a:solidFill>
              <a:srgbClr val="8A76E8"/>
            </a:solidFill>
          </a:ln>
        </p:spPr>
        <p:txBody>
          <a:bodyPr wrap="square" rtlCol="0" anchor="ctr">
            <a:noAutofit/>
          </a:bodyPr>
          <a:lstStyle/>
          <a:p>
            <a:pPr algn="ctr">
              <a:lnSpc>
                <a:spcPct val="150000"/>
              </a:lnSpc>
            </a:pPr>
            <a:r>
              <a:rPr lang="fr-FR" sz="3600" dirty="0">
                <a:solidFill>
                  <a:srgbClr val="EA7000"/>
                </a:solidFill>
                <a:latin typeface="Lato" panose="020F0502020204030203" pitchFamily="34" charset="0"/>
                <a:cs typeface="Lato" panose="020F0502020204030203" pitchFamily="34" charset="0"/>
              </a:rPr>
              <a:t>Insee</a:t>
            </a:r>
          </a:p>
          <a:p>
            <a:pPr algn="ctr"/>
            <a:r>
              <a:rPr lang="fr-FR" sz="2800" dirty="0">
                <a:latin typeface="Lato Light" panose="020F0502020204030203" pitchFamily="34" charset="0"/>
                <a:cs typeface="Lato Light" panose="020F0502020204030203" pitchFamily="34" charset="0"/>
              </a:rPr>
              <a:t>Données sociodémographiques Françaises</a:t>
            </a:r>
          </a:p>
          <a:p>
            <a:pPr algn="ctr"/>
            <a:endParaRPr lang="fr-FR" sz="2800" dirty="0">
              <a:latin typeface="Lato Light" panose="020F0502020204030203" pitchFamily="34" charset="0"/>
              <a:cs typeface="Lato Light" panose="020F0502020204030203" pitchFamily="34" charset="0"/>
            </a:endParaRPr>
          </a:p>
          <a:p>
            <a:pPr algn="ctr"/>
            <a:r>
              <a:rPr lang="fr-FR" sz="2000" i="1" dirty="0">
                <a:latin typeface="Lato Light" panose="020F0502020204030203" pitchFamily="34" charset="0"/>
                <a:cs typeface="Lato Light" panose="020F0502020204030203" pitchFamily="34" charset="0"/>
              </a:rPr>
              <a:t>Données Publiques</a:t>
            </a:r>
          </a:p>
        </p:txBody>
      </p:sp>
      <p:sp>
        <p:nvSpPr>
          <p:cNvPr id="28" name="ZoneTexte 27">
            <a:extLst>
              <a:ext uri="{FF2B5EF4-FFF2-40B4-BE49-F238E27FC236}">
                <a16:creationId xmlns:a16="http://schemas.microsoft.com/office/drawing/2014/main" id="{14043EA2-D2EB-F501-CC21-8879EFDC5656}"/>
              </a:ext>
            </a:extLst>
          </p:cNvPr>
          <p:cNvSpPr txBox="1"/>
          <p:nvPr/>
        </p:nvSpPr>
        <p:spPr>
          <a:xfrm>
            <a:off x="800694" y="2786230"/>
            <a:ext cx="4721566" cy="3281284"/>
          </a:xfrm>
          <a:prstGeom prst="rect">
            <a:avLst/>
          </a:prstGeom>
          <a:noFill/>
          <a:ln w="28575">
            <a:solidFill>
              <a:srgbClr val="8A76E8"/>
            </a:solidFill>
          </a:ln>
        </p:spPr>
        <p:txBody>
          <a:bodyPr wrap="square" rtlCol="0" anchor="ctr">
            <a:noAutofit/>
          </a:bodyPr>
          <a:lstStyle/>
          <a:p>
            <a:pPr algn="ctr">
              <a:lnSpc>
                <a:spcPct val="200000"/>
              </a:lnSpc>
            </a:pPr>
            <a:r>
              <a:rPr lang="fr-FR" sz="3600" dirty="0">
                <a:solidFill>
                  <a:srgbClr val="EA7000"/>
                </a:solidFill>
                <a:latin typeface="Lato" panose="020F0502020204030203" pitchFamily="34" charset="0"/>
                <a:cs typeface="Lato" panose="020F0502020204030203" pitchFamily="34" charset="0"/>
              </a:rPr>
              <a:t>OpenClassrooms</a:t>
            </a:r>
          </a:p>
          <a:p>
            <a:pPr algn="ctr"/>
            <a:r>
              <a:rPr lang="fr-FR" sz="2800" dirty="0">
                <a:latin typeface="Lato Light" panose="020F0502020204030203" pitchFamily="34" charset="0"/>
                <a:cs typeface="Lato Light" panose="020F0502020204030203" pitchFamily="34" charset="0"/>
              </a:rPr>
              <a:t>Données extraites des inscriptions OC</a:t>
            </a:r>
          </a:p>
          <a:p>
            <a:pPr algn="ctr"/>
            <a:endParaRPr lang="fr-FR" sz="2800" dirty="0">
              <a:latin typeface="Lato Light" panose="020F0502020204030203" pitchFamily="34" charset="0"/>
              <a:cs typeface="Lato Light" panose="020F0502020204030203" pitchFamily="34" charset="0"/>
            </a:endParaRPr>
          </a:p>
          <a:p>
            <a:pPr algn="ctr"/>
            <a:endParaRPr lang="fr-FR" sz="2800" dirty="0">
              <a:latin typeface="Lato Light" panose="020F0502020204030203" pitchFamily="34" charset="0"/>
              <a:cs typeface="Lato Light" panose="020F0502020204030203" pitchFamily="34" charset="0"/>
            </a:endParaRPr>
          </a:p>
          <a:p>
            <a:pPr algn="ctr"/>
            <a:r>
              <a:rPr lang="fr-FR" sz="2000" i="1" dirty="0">
                <a:latin typeface="Lato Light" panose="020F0502020204030203" pitchFamily="34" charset="0"/>
                <a:cs typeface="Lato Light" panose="020F0502020204030203" pitchFamily="34" charset="0"/>
              </a:rPr>
              <a:t>Données Internes</a:t>
            </a:r>
          </a:p>
        </p:txBody>
      </p:sp>
      <p:pic>
        <p:nvPicPr>
          <p:cNvPr id="32" name="Image 31">
            <a:extLst>
              <a:ext uri="{FF2B5EF4-FFF2-40B4-BE49-F238E27FC236}">
                <a16:creationId xmlns:a16="http://schemas.microsoft.com/office/drawing/2014/main" id="{52FEDEB2-739D-124B-29F3-843522ACB2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5495" y="1429631"/>
            <a:ext cx="1071964" cy="1071964"/>
          </a:xfrm>
          <a:prstGeom prst="rect">
            <a:avLst/>
          </a:prstGeom>
        </p:spPr>
      </p:pic>
      <p:pic>
        <p:nvPicPr>
          <p:cNvPr id="33" name="Image 32">
            <a:extLst>
              <a:ext uri="{FF2B5EF4-FFF2-40B4-BE49-F238E27FC236}">
                <a16:creationId xmlns:a16="http://schemas.microsoft.com/office/drawing/2014/main" id="{FD39DC6E-C1E9-D3EA-0C6F-ACAE294BFF2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494543" y="1429631"/>
            <a:ext cx="1071964" cy="1071964"/>
          </a:xfrm>
          <a:prstGeom prst="rect">
            <a:avLst/>
          </a:prstGeom>
        </p:spPr>
      </p:pic>
    </p:spTree>
    <p:extLst>
      <p:ext uri="{BB962C8B-B14F-4D97-AF65-F5344CB8AC3E}">
        <p14:creationId xmlns:p14="http://schemas.microsoft.com/office/powerpoint/2010/main" val="3640435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8C31B7F2-78B8-528F-8563-3CD4413F1B70}"/>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58EEFD31-946B-2092-007D-F288B6601D11}"/>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39CFE059-11B9-4B3F-05CF-6B9C070D9E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9AF6F3DE-192C-BD08-63B4-CF09BB5D4F02}"/>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Stack technique</a:t>
            </a:r>
          </a:p>
        </p:txBody>
      </p:sp>
      <p:pic>
        <p:nvPicPr>
          <p:cNvPr id="3" name="Image 2">
            <a:extLst>
              <a:ext uri="{FF2B5EF4-FFF2-40B4-BE49-F238E27FC236}">
                <a16:creationId xmlns:a16="http://schemas.microsoft.com/office/drawing/2014/main" id="{BDAA0DF7-029B-11CE-A4FE-D46B653406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532" y="2435551"/>
            <a:ext cx="3532262" cy="1986897"/>
          </a:xfrm>
          <a:prstGeom prst="rect">
            <a:avLst/>
          </a:prstGeom>
        </p:spPr>
      </p:pic>
      <p:pic>
        <p:nvPicPr>
          <p:cNvPr id="6" name="Image 5">
            <a:extLst>
              <a:ext uri="{FF2B5EF4-FFF2-40B4-BE49-F238E27FC236}">
                <a16:creationId xmlns:a16="http://schemas.microsoft.com/office/drawing/2014/main" id="{9485A063-1721-04F4-1EBE-3FECD849B6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2296" y="2649794"/>
            <a:ext cx="4027407" cy="1558405"/>
          </a:xfrm>
          <a:prstGeom prst="rect">
            <a:avLst/>
          </a:prstGeom>
        </p:spPr>
      </p:pic>
      <p:pic>
        <p:nvPicPr>
          <p:cNvPr id="10" name="Image 9">
            <a:extLst>
              <a:ext uri="{FF2B5EF4-FFF2-40B4-BE49-F238E27FC236}">
                <a16:creationId xmlns:a16="http://schemas.microsoft.com/office/drawing/2014/main" id="{A706DB8B-A122-1A60-0B8B-83F663CEF3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63207" y="2435549"/>
            <a:ext cx="3532261" cy="1986897"/>
          </a:xfrm>
          <a:prstGeom prst="rect">
            <a:avLst/>
          </a:prstGeom>
        </p:spPr>
      </p:pic>
      <p:sp>
        <p:nvSpPr>
          <p:cNvPr id="11" name="ZoneTexte 10">
            <a:extLst>
              <a:ext uri="{FF2B5EF4-FFF2-40B4-BE49-F238E27FC236}">
                <a16:creationId xmlns:a16="http://schemas.microsoft.com/office/drawing/2014/main" id="{3ECF647A-4B80-D34C-5290-B5534D259952}"/>
              </a:ext>
            </a:extLst>
          </p:cNvPr>
          <p:cNvSpPr txBox="1"/>
          <p:nvPr/>
        </p:nvSpPr>
        <p:spPr>
          <a:xfrm>
            <a:off x="396530" y="4679279"/>
            <a:ext cx="3532262" cy="830997"/>
          </a:xfrm>
          <a:prstGeom prst="rect">
            <a:avLst/>
          </a:prstGeom>
          <a:noFill/>
        </p:spPr>
        <p:txBody>
          <a:bodyPr wrap="square" rtlCol="0" anchor="ctr">
            <a:noAutofit/>
          </a:bodyPr>
          <a:lstStyle/>
          <a:p>
            <a:pPr algn="ctr"/>
            <a:r>
              <a:rPr lang="fr-FR" sz="2800" dirty="0">
                <a:latin typeface="Lato Light" panose="020F0502020204030203" pitchFamily="34" charset="0"/>
                <a:cs typeface="Lato Light" panose="020F0502020204030203" pitchFamily="34" charset="0"/>
              </a:rPr>
              <a:t>Data </a:t>
            </a:r>
            <a:r>
              <a:rPr lang="fr-FR" sz="2800" dirty="0" err="1">
                <a:latin typeface="Lato Light" panose="020F0502020204030203" pitchFamily="34" charset="0"/>
                <a:cs typeface="Lato Light" panose="020F0502020204030203" pitchFamily="34" charset="0"/>
              </a:rPr>
              <a:t>warehouse</a:t>
            </a:r>
            <a:endParaRPr lang="fr-FR" sz="2800" dirty="0">
              <a:latin typeface="Lato Light" panose="020F0502020204030203" pitchFamily="34" charset="0"/>
              <a:cs typeface="Lato Light" panose="020F0502020204030203" pitchFamily="34" charset="0"/>
            </a:endParaRPr>
          </a:p>
        </p:txBody>
      </p:sp>
      <p:sp>
        <p:nvSpPr>
          <p:cNvPr id="12" name="ZoneTexte 11">
            <a:extLst>
              <a:ext uri="{FF2B5EF4-FFF2-40B4-BE49-F238E27FC236}">
                <a16:creationId xmlns:a16="http://schemas.microsoft.com/office/drawing/2014/main" id="{02E181A6-2131-8291-AA4B-2DEBBBEFCD97}"/>
              </a:ext>
            </a:extLst>
          </p:cNvPr>
          <p:cNvSpPr txBox="1"/>
          <p:nvPr/>
        </p:nvSpPr>
        <p:spPr>
          <a:xfrm>
            <a:off x="4082296" y="4681635"/>
            <a:ext cx="4027406" cy="830997"/>
          </a:xfrm>
          <a:prstGeom prst="rect">
            <a:avLst/>
          </a:prstGeom>
          <a:noFill/>
        </p:spPr>
        <p:txBody>
          <a:bodyPr wrap="square" rtlCol="0" anchor="ctr">
            <a:noAutofit/>
          </a:bodyPr>
          <a:lstStyle/>
          <a:p>
            <a:pPr algn="ctr"/>
            <a:r>
              <a:rPr lang="fr-FR" sz="2400" dirty="0">
                <a:latin typeface="Lato Light" panose="020F0502020204030203" pitchFamily="34" charset="0"/>
                <a:cs typeface="Lato Light" panose="020F0502020204030203" pitchFamily="34" charset="0"/>
              </a:rPr>
              <a:t>Transformation &amp; documentation</a:t>
            </a:r>
          </a:p>
        </p:txBody>
      </p:sp>
      <p:sp>
        <p:nvSpPr>
          <p:cNvPr id="13" name="ZoneTexte 12">
            <a:extLst>
              <a:ext uri="{FF2B5EF4-FFF2-40B4-BE49-F238E27FC236}">
                <a16:creationId xmlns:a16="http://schemas.microsoft.com/office/drawing/2014/main" id="{3D5A80E9-9973-BC05-90D3-003F3847D73D}"/>
              </a:ext>
            </a:extLst>
          </p:cNvPr>
          <p:cNvSpPr txBox="1"/>
          <p:nvPr/>
        </p:nvSpPr>
        <p:spPr>
          <a:xfrm>
            <a:off x="8263206" y="4679280"/>
            <a:ext cx="3532261" cy="830997"/>
          </a:xfrm>
          <a:prstGeom prst="rect">
            <a:avLst/>
          </a:prstGeom>
          <a:noFill/>
        </p:spPr>
        <p:txBody>
          <a:bodyPr wrap="square" rtlCol="0" anchor="ctr">
            <a:noAutofit/>
          </a:bodyPr>
          <a:lstStyle/>
          <a:p>
            <a:pPr algn="ctr"/>
            <a:r>
              <a:rPr lang="fr-FR" sz="2400" dirty="0">
                <a:latin typeface="Lato Light" panose="020F0502020204030203" pitchFamily="34" charset="0"/>
                <a:cs typeface="Lato Light" panose="020F0502020204030203" pitchFamily="34" charset="0"/>
              </a:rPr>
              <a:t>Pré-traitement &amp; visualisation</a:t>
            </a:r>
          </a:p>
        </p:txBody>
      </p:sp>
    </p:spTree>
    <p:extLst>
      <p:ext uri="{BB962C8B-B14F-4D97-AF65-F5344CB8AC3E}">
        <p14:creationId xmlns:p14="http://schemas.microsoft.com/office/powerpoint/2010/main" val="1571737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75704822-D1E6-E2A4-CDBF-443DCF293586}"/>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7933F7D0-AA94-C194-5E01-B27CA1FCBF87}"/>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DA946875-6DCA-1EA7-9131-2BDDF7781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1FD1CF68-521E-47B5-983F-AD349FEC733F}"/>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Pipeline / Méthodologie</a:t>
            </a:r>
          </a:p>
        </p:txBody>
      </p:sp>
      <p:pic>
        <p:nvPicPr>
          <p:cNvPr id="4" name="Image 3">
            <a:extLst>
              <a:ext uri="{FF2B5EF4-FFF2-40B4-BE49-F238E27FC236}">
                <a16:creationId xmlns:a16="http://schemas.microsoft.com/office/drawing/2014/main" id="{6E064667-FE7C-2EA2-2F05-9E36E94A848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777859" y="1462709"/>
            <a:ext cx="8636281" cy="3738333"/>
          </a:xfrm>
          <a:prstGeom prst="rect">
            <a:avLst/>
          </a:prstGeom>
          <a:ln w="28575">
            <a:solidFill>
              <a:srgbClr val="8A76E8"/>
            </a:solidFill>
          </a:ln>
          <a:effectLst/>
        </p:spPr>
      </p:pic>
      <p:sp>
        <p:nvSpPr>
          <p:cNvPr id="9" name="ZoneTexte 8">
            <a:extLst>
              <a:ext uri="{FF2B5EF4-FFF2-40B4-BE49-F238E27FC236}">
                <a16:creationId xmlns:a16="http://schemas.microsoft.com/office/drawing/2014/main" id="{ABDB8B48-5C46-845B-6653-824ACADB7604}"/>
              </a:ext>
            </a:extLst>
          </p:cNvPr>
          <p:cNvSpPr txBox="1"/>
          <p:nvPr/>
        </p:nvSpPr>
        <p:spPr>
          <a:xfrm>
            <a:off x="1777859" y="5506860"/>
            <a:ext cx="8636280" cy="1064856"/>
          </a:xfrm>
          <a:prstGeom prst="rect">
            <a:avLst/>
          </a:prstGeom>
          <a:noFill/>
          <a:ln w="28575">
            <a:solidFill>
              <a:srgbClr val="8A76E8"/>
            </a:solidFill>
          </a:ln>
        </p:spPr>
        <p:txBody>
          <a:bodyPr wrap="square" rtlCol="0" anchor="ctr">
            <a:noAutofit/>
          </a:bodyPr>
          <a:lstStyle/>
          <a:p>
            <a:pPr lvl="1" algn="ctr"/>
            <a:r>
              <a:rPr lang="fr-FR" sz="3200" dirty="0">
                <a:solidFill>
                  <a:srgbClr val="EA7000"/>
                </a:solidFill>
                <a:latin typeface="Lato" panose="020F0502020204030203" pitchFamily="34" charset="0"/>
                <a:cs typeface="Lato" panose="020F0502020204030203" pitchFamily="34" charset="0"/>
              </a:rPr>
              <a:t>Pipeline de données</a:t>
            </a:r>
          </a:p>
          <a:p>
            <a:pPr algn="ctr"/>
            <a:r>
              <a:rPr lang="fr-FR" sz="2800" dirty="0">
                <a:latin typeface="Lato Light" panose="020F0502020204030203" pitchFamily="34" charset="0"/>
                <a:cs typeface="Lato Light" panose="020F0502020204030203" pitchFamily="34" charset="0"/>
              </a:rPr>
              <a:t>Raw → Staging → </a:t>
            </a:r>
            <a:r>
              <a:rPr lang="fr-FR" sz="2800" dirty="0" err="1">
                <a:latin typeface="Lato Light" panose="020F0502020204030203" pitchFamily="34" charset="0"/>
                <a:cs typeface="Lato Light" panose="020F0502020204030203" pitchFamily="34" charset="0"/>
              </a:rPr>
              <a:t>Intermediate</a:t>
            </a:r>
            <a:r>
              <a:rPr lang="fr-FR" sz="2800" dirty="0">
                <a:latin typeface="Lato Light" panose="020F0502020204030203" pitchFamily="34" charset="0"/>
                <a:cs typeface="Lato Light" panose="020F0502020204030203" pitchFamily="34" charset="0"/>
              </a:rPr>
              <a:t> → Mart → CSV</a:t>
            </a:r>
          </a:p>
        </p:txBody>
      </p:sp>
    </p:spTree>
    <p:extLst>
      <p:ext uri="{BB962C8B-B14F-4D97-AF65-F5344CB8AC3E}">
        <p14:creationId xmlns:p14="http://schemas.microsoft.com/office/powerpoint/2010/main" val="1937269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FF17465E-F86A-AA58-8D5E-4522882367C0}"/>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783C5699-1EA2-D76A-4736-BA31DACAE467}"/>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FC14ED59-0394-5B8E-4249-C3F45B9B1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BFED9046-095D-071B-CD1E-ADB0F96D3393}"/>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Qualité des données &amp; nettoyage</a:t>
            </a:r>
          </a:p>
        </p:txBody>
      </p:sp>
      <p:sp>
        <p:nvSpPr>
          <p:cNvPr id="18" name="ZoneTexte 17">
            <a:extLst>
              <a:ext uri="{FF2B5EF4-FFF2-40B4-BE49-F238E27FC236}">
                <a16:creationId xmlns:a16="http://schemas.microsoft.com/office/drawing/2014/main" id="{9B3B8405-A15D-FDE6-BBBE-AA51E000A61C}"/>
              </a:ext>
            </a:extLst>
          </p:cNvPr>
          <p:cNvSpPr txBox="1"/>
          <p:nvPr/>
        </p:nvSpPr>
        <p:spPr>
          <a:xfrm>
            <a:off x="6096000" y="2514551"/>
            <a:ext cx="5455063" cy="2703400"/>
          </a:xfrm>
          <a:prstGeom prst="rect">
            <a:avLst/>
          </a:prstGeom>
          <a:noFill/>
          <a:ln w="28575">
            <a:solidFill>
              <a:srgbClr val="8A76E8"/>
            </a:solidFill>
          </a:ln>
        </p:spPr>
        <p:txBody>
          <a:bodyPr wrap="square" rtlCol="0" anchor="ctr">
            <a:noAutofit/>
          </a:bodyPr>
          <a:lstStyle/>
          <a:p>
            <a:pPr algn="ctr"/>
            <a:r>
              <a:rPr lang="fr-FR" sz="3600" dirty="0">
                <a:solidFill>
                  <a:srgbClr val="EA7000"/>
                </a:solidFill>
                <a:latin typeface="Lato" panose="020F0502020204030203" pitchFamily="34" charset="0"/>
                <a:cs typeface="Lato" panose="020F0502020204030203" pitchFamily="34" charset="0"/>
              </a:rPr>
              <a:t>Insee</a:t>
            </a:r>
          </a:p>
          <a:p>
            <a:pPr marL="342900" indent="-342900">
              <a:buFont typeface="Arial" panose="020B0604020202020204" pitchFamily="34" charset="0"/>
              <a:buChar char="•"/>
            </a:pPr>
            <a:r>
              <a:rPr lang="fr-FR" sz="2400" dirty="0">
                <a:latin typeface="Lato Light" panose="020F0502020204030203" pitchFamily="34" charset="0"/>
                <a:cs typeface="Lato Light" panose="020F0502020204030203" pitchFamily="34" charset="0"/>
              </a:rPr>
              <a:t>Harmonisation noms des régions (DOM → DROM)</a:t>
            </a:r>
          </a:p>
          <a:p>
            <a:pPr marL="342900" indent="-342900">
              <a:buFont typeface="Arial" panose="020B0604020202020204" pitchFamily="34" charset="0"/>
              <a:buChar char="•"/>
            </a:pPr>
            <a:r>
              <a:rPr lang="fr-FR" sz="2400" dirty="0">
                <a:latin typeface="Lato Light" panose="020F0502020204030203" pitchFamily="34" charset="0"/>
                <a:cs typeface="Lato Light" panose="020F0502020204030203" pitchFamily="34" charset="0"/>
              </a:rPr>
              <a:t>Agrégation 60+ en une  tranche</a:t>
            </a:r>
          </a:p>
          <a:p>
            <a:pPr marL="342900" indent="-342900">
              <a:buFont typeface="Arial" panose="020B0604020202020204" pitchFamily="34" charset="0"/>
              <a:buChar char="•"/>
            </a:pPr>
            <a:r>
              <a:rPr lang="fr-FR" sz="2400" dirty="0">
                <a:latin typeface="Lato Light" panose="020F0502020204030203" pitchFamily="34" charset="0"/>
                <a:cs typeface="Lato Light" panose="020F0502020204030203" pitchFamily="34" charset="0"/>
              </a:rPr>
              <a:t>Reformatage des tranches d'âge (25 à 29 ans → 25-29 ans)</a:t>
            </a:r>
          </a:p>
        </p:txBody>
      </p:sp>
      <p:sp>
        <p:nvSpPr>
          <p:cNvPr id="28" name="ZoneTexte 27">
            <a:extLst>
              <a:ext uri="{FF2B5EF4-FFF2-40B4-BE49-F238E27FC236}">
                <a16:creationId xmlns:a16="http://schemas.microsoft.com/office/drawing/2014/main" id="{BB05961D-178D-8B8C-8FC5-B541FCFFE244}"/>
              </a:ext>
            </a:extLst>
          </p:cNvPr>
          <p:cNvSpPr txBox="1"/>
          <p:nvPr/>
        </p:nvSpPr>
        <p:spPr>
          <a:xfrm>
            <a:off x="640934" y="2514553"/>
            <a:ext cx="4879022" cy="2703400"/>
          </a:xfrm>
          <a:prstGeom prst="rect">
            <a:avLst/>
          </a:prstGeom>
          <a:noFill/>
          <a:ln w="28575">
            <a:solidFill>
              <a:srgbClr val="8A76E8"/>
            </a:solidFill>
          </a:ln>
        </p:spPr>
        <p:txBody>
          <a:bodyPr wrap="square" rtlCol="0" anchor="ctr">
            <a:noAutofit/>
          </a:bodyPr>
          <a:lstStyle/>
          <a:p>
            <a:pPr algn="ctr">
              <a:lnSpc>
                <a:spcPct val="150000"/>
              </a:lnSpc>
            </a:pPr>
            <a:r>
              <a:rPr lang="fr-FR" sz="3600" dirty="0">
                <a:solidFill>
                  <a:srgbClr val="EA7000"/>
                </a:solidFill>
                <a:latin typeface="Lato" panose="020F0502020204030203" pitchFamily="34" charset="0"/>
                <a:cs typeface="Lato" panose="020F0502020204030203" pitchFamily="34" charset="0"/>
              </a:rPr>
              <a:t>OpenClassrooms</a:t>
            </a:r>
          </a:p>
          <a:p>
            <a:pPr marL="457200" indent="-457200">
              <a:buFont typeface="Arial" panose="020B0604020202020204" pitchFamily="34" charset="0"/>
              <a:buChar char="•"/>
            </a:pPr>
            <a:r>
              <a:rPr lang="fr-FR" sz="2400" dirty="0">
                <a:latin typeface="Lato Light" panose="020F0502020204030203" pitchFamily="34" charset="0"/>
                <a:cs typeface="Lato Light" panose="020F0502020204030203" pitchFamily="34" charset="0"/>
              </a:rPr>
              <a:t>Valeurs nulles GENDER → NC (Non-Communiqué)</a:t>
            </a:r>
          </a:p>
        </p:txBody>
      </p:sp>
      <p:pic>
        <p:nvPicPr>
          <p:cNvPr id="32" name="Image 31">
            <a:extLst>
              <a:ext uri="{FF2B5EF4-FFF2-40B4-BE49-F238E27FC236}">
                <a16:creationId xmlns:a16="http://schemas.microsoft.com/office/drawing/2014/main" id="{EA31346A-DD3E-889A-54BC-66C445FEB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1774" y="1429626"/>
            <a:ext cx="877341" cy="877341"/>
          </a:xfrm>
          <a:prstGeom prst="rect">
            <a:avLst/>
          </a:prstGeom>
        </p:spPr>
      </p:pic>
      <p:pic>
        <p:nvPicPr>
          <p:cNvPr id="33" name="Image 32">
            <a:extLst>
              <a:ext uri="{FF2B5EF4-FFF2-40B4-BE49-F238E27FC236}">
                <a16:creationId xmlns:a16="http://schemas.microsoft.com/office/drawing/2014/main" id="{4FDFCA87-75EC-C0F3-6A4C-D9DCCC0FD83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384860" y="1429627"/>
            <a:ext cx="877341" cy="877341"/>
          </a:xfrm>
          <a:prstGeom prst="rect">
            <a:avLst/>
          </a:prstGeom>
        </p:spPr>
      </p:pic>
      <p:sp>
        <p:nvSpPr>
          <p:cNvPr id="2" name="ZoneTexte 1">
            <a:extLst>
              <a:ext uri="{FF2B5EF4-FFF2-40B4-BE49-F238E27FC236}">
                <a16:creationId xmlns:a16="http://schemas.microsoft.com/office/drawing/2014/main" id="{73304A84-0005-B29F-ED0E-4496D667B1CA}"/>
              </a:ext>
            </a:extLst>
          </p:cNvPr>
          <p:cNvSpPr txBox="1"/>
          <p:nvPr/>
        </p:nvSpPr>
        <p:spPr>
          <a:xfrm>
            <a:off x="640935" y="5425534"/>
            <a:ext cx="10910129" cy="814670"/>
          </a:xfrm>
          <a:prstGeom prst="rect">
            <a:avLst/>
          </a:prstGeom>
          <a:noFill/>
          <a:ln w="28575">
            <a:solidFill>
              <a:srgbClr val="8A76E8"/>
            </a:solidFill>
          </a:ln>
        </p:spPr>
        <p:txBody>
          <a:bodyPr wrap="square" rtlCol="0" anchor="ctr">
            <a:noAutofit/>
          </a:bodyPr>
          <a:lstStyle/>
          <a:p>
            <a:pPr algn="ctr"/>
            <a:r>
              <a:rPr lang="fr-FR" sz="2700" dirty="0">
                <a:solidFill>
                  <a:srgbClr val="EA7000"/>
                </a:solidFill>
                <a:latin typeface="Lato" panose="020F0502020204030203" pitchFamily="34" charset="0"/>
                <a:cs typeface="Lato" panose="020F0502020204030203" pitchFamily="34" charset="0"/>
              </a:rPr>
              <a:t>Tests automatisés </a:t>
            </a:r>
            <a:r>
              <a:rPr lang="fr-FR" sz="2700" dirty="0" err="1">
                <a:solidFill>
                  <a:srgbClr val="EA7000"/>
                </a:solidFill>
                <a:latin typeface="Lato" panose="020F0502020204030203" pitchFamily="34" charset="0"/>
                <a:cs typeface="Lato" panose="020F0502020204030203" pitchFamily="34" charset="0"/>
              </a:rPr>
              <a:t>dbt</a:t>
            </a:r>
            <a:r>
              <a:rPr lang="fr-FR" sz="2700" dirty="0">
                <a:solidFill>
                  <a:srgbClr val="EA7000"/>
                </a:solidFill>
                <a:latin typeface="Lato" panose="020F0502020204030203" pitchFamily="34" charset="0"/>
                <a:cs typeface="Lato" panose="020F0502020204030203" pitchFamily="34" charset="0"/>
              </a:rPr>
              <a:t> : </a:t>
            </a:r>
            <a:r>
              <a:rPr lang="fr-FR" sz="2700" dirty="0" err="1">
                <a:latin typeface="Lato Light" panose="020F0502020204030203" pitchFamily="34" charset="0"/>
                <a:cs typeface="Lato Light" panose="020F0502020204030203" pitchFamily="34" charset="0"/>
              </a:rPr>
              <a:t>not_null</a:t>
            </a:r>
            <a:r>
              <a:rPr lang="fr-FR" sz="2700" dirty="0">
                <a:latin typeface="Lato Light" panose="020F0502020204030203" pitchFamily="34" charset="0"/>
                <a:cs typeface="Lato Light" panose="020F0502020204030203" pitchFamily="34" charset="0"/>
              </a:rPr>
              <a:t> + </a:t>
            </a:r>
            <a:r>
              <a:rPr lang="fr-FR" sz="2700" dirty="0" err="1">
                <a:latin typeface="Lato Light" panose="020F0502020204030203" pitchFamily="34" charset="0"/>
                <a:cs typeface="Lato Light" panose="020F0502020204030203" pitchFamily="34" charset="0"/>
              </a:rPr>
              <a:t>accepted_values</a:t>
            </a:r>
            <a:r>
              <a:rPr lang="fr-FR" sz="2700" dirty="0">
                <a:latin typeface="Lato Light" panose="020F0502020204030203" pitchFamily="34" charset="0"/>
                <a:cs typeface="Lato Light" panose="020F0502020204030203" pitchFamily="34" charset="0"/>
              </a:rPr>
              <a:t> sur toutes les tables</a:t>
            </a:r>
          </a:p>
        </p:txBody>
      </p:sp>
    </p:spTree>
    <p:extLst>
      <p:ext uri="{BB962C8B-B14F-4D97-AF65-F5344CB8AC3E}">
        <p14:creationId xmlns:p14="http://schemas.microsoft.com/office/powerpoint/2010/main" val="2382953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7795B486-CC0E-FD37-7F6A-32AE3A511814}"/>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FEE26CDF-EEDD-A05B-3ED8-A56112032723}"/>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A60B1228-80AB-129E-1D2D-3593096A5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BDE7534F-EACD-056C-787D-390DDD46DE4D}"/>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RGPD</a:t>
            </a:r>
          </a:p>
        </p:txBody>
      </p:sp>
      <p:sp>
        <p:nvSpPr>
          <p:cNvPr id="18" name="ZoneTexte 17">
            <a:extLst>
              <a:ext uri="{FF2B5EF4-FFF2-40B4-BE49-F238E27FC236}">
                <a16:creationId xmlns:a16="http://schemas.microsoft.com/office/drawing/2014/main" id="{F31C7ABF-C44C-3E49-09B1-FB91412F3717}"/>
              </a:ext>
            </a:extLst>
          </p:cNvPr>
          <p:cNvSpPr txBox="1"/>
          <p:nvPr/>
        </p:nvSpPr>
        <p:spPr>
          <a:xfrm>
            <a:off x="6303948" y="2606467"/>
            <a:ext cx="5491519" cy="3700330"/>
          </a:xfrm>
          <a:prstGeom prst="rect">
            <a:avLst/>
          </a:prstGeom>
          <a:noFill/>
          <a:ln w="28575">
            <a:solidFill>
              <a:srgbClr val="8A76E8"/>
            </a:solidFill>
          </a:ln>
        </p:spPr>
        <p:txBody>
          <a:bodyPr wrap="square" rtlCol="0" anchor="ctr">
            <a:noAutofit/>
          </a:bodyPr>
          <a:lstStyle/>
          <a:p>
            <a:pPr algn="ctr">
              <a:lnSpc>
                <a:spcPct val="150000"/>
              </a:lnSpc>
            </a:pPr>
            <a:r>
              <a:rPr lang="fr-FR" sz="3200" dirty="0">
                <a:solidFill>
                  <a:srgbClr val="EA7000"/>
                </a:solidFill>
                <a:latin typeface="Lato" panose="020F0502020204030203" pitchFamily="34" charset="0"/>
                <a:cs typeface="Lato" panose="020F0502020204030203" pitchFamily="34" charset="0"/>
              </a:rPr>
              <a:t>Contexte professionnel</a:t>
            </a:r>
          </a:p>
          <a:p>
            <a:pPr marL="342900" indent="-3429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Signature d'un accord de traitement des données avec </a:t>
            </a:r>
            <a:r>
              <a:rPr lang="fr-FR" sz="2200" dirty="0" err="1">
                <a:latin typeface="Lato Light" panose="020F0502020204030203" pitchFamily="34" charset="0"/>
                <a:cs typeface="Lato Light" panose="020F0502020204030203" pitchFamily="34" charset="0"/>
              </a:rPr>
              <a:t>Snowflake</a:t>
            </a:r>
            <a:endParaRPr lang="fr-FR" sz="2200" dirty="0">
              <a:latin typeface="Lato Light" panose="020F0502020204030203" pitchFamily="34" charset="0"/>
              <a:cs typeface="Lato Light" panose="020F0502020204030203" pitchFamily="34" charset="0"/>
            </a:endParaRPr>
          </a:p>
          <a:p>
            <a:pPr marL="342900" indent="-3429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Chiffrement des données stockées et en transit</a:t>
            </a:r>
          </a:p>
          <a:p>
            <a:pPr marL="342900" indent="-3429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Gestion des droits d'accès par rôle</a:t>
            </a:r>
          </a:p>
          <a:p>
            <a:pPr marL="342900" indent="-3429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Anonymisation des données dès l'étape de nettoyage</a:t>
            </a:r>
          </a:p>
        </p:txBody>
      </p:sp>
      <p:sp>
        <p:nvSpPr>
          <p:cNvPr id="28" name="ZoneTexte 27">
            <a:extLst>
              <a:ext uri="{FF2B5EF4-FFF2-40B4-BE49-F238E27FC236}">
                <a16:creationId xmlns:a16="http://schemas.microsoft.com/office/drawing/2014/main" id="{F3D61755-33B4-F604-CAA2-FB2AA4BB44AA}"/>
              </a:ext>
            </a:extLst>
          </p:cNvPr>
          <p:cNvSpPr txBox="1"/>
          <p:nvPr/>
        </p:nvSpPr>
        <p:spPr>
          <a:xfrm>
            <a:off x="396533" y="2606467"/>
            <a:ext cx="5491520" cy="3700329"/>
          </a:xfrm>
          <a:prstGeom prst="rect">
            <a:avLst/>
          </a:prstGeom>
          <a:noFill/>
          <a:ln w="28575">
            <a:solidFill>
              <a:srgbClr val="8A76E8"/>
            </a:solidFill>
          </a:ln>
        </p:spPr>
        <p:txBody>
          <a:bodyPr wrap="square" rtlCol="0" anchor="ctr">
            <a:noAutofit/>
          </a:bodyPr>
          <a:lstStyle/>
          <a:p>
            <a:pPr algn="ctr">
              <a:lnSpc>
                <a:spcPct val="150000"/>
              </a:lnSpc>
            </a:pPr>
            <a:r>
              <a:rPr lang="fr-FR" sz="3200" dirty="0">
                <a:solidFill>
                  <a:srgbClr val="EA7000"/>
                </a:solidFill>
                <a:latin typeface="Lato" panose="020F0502020204030203" pitchFamily="34" charset="0"/>
                <a:cs typeface="Lato" panose="020F0502020204030203" pitchFamily="34" charset="0"/>
              </a:rPr>
              <a:t>Projet académique</a:t>
            </a:r>
          </a:p>
          <a:p>
            <a:pPr marL="457200" indent="-4572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Données agrégées par tranche d'âge, genre et région</a:t>
            </a:r>
          </a:p>
          <a:p>
            <a:pPr marL="457200" indent="-4572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Aucune donnée nominative ou identifiante</a:t>
            </a:r>
          </a:p>
          <a:p>
            <a:pPr marL="457200" indent="-4572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Risque de </a:t>
            </a:r>
            <a:r>
              <a:rPr lang="fr-FR" sz="2200" dirty="0" err="1">
                <a:latin typeface="Lato Light" panose="020F0502020204030203" pitchFamily="34" charset="0"/>
                <a:cs typeface="Lato Light" panose="020F0502020204030203" pitchFamily="34" charset="0"/>
              </a:rPr>
              <a:t>ré-identification</a:t>
            </a:r>
            <a:r>
              <a:rPr lang="fr-FR" sz="2200" dirty="0">
                <a:latin typeface="Lato Light" panose="020F0502020204030203" pitchFamily="34" charset="0"/>
                <a:cs typeface="Lato Light" panose="020F0502020204030203" pitchFamily="34" charset="0"/>
              </a:rPr>
              <a:t> très faible</a:t>
            </a:r>
          </a:p>
          <a:p>
            <a:pPr marL="457200" indent="-457200">
              <a:buFont typeface="Arial" panose="020B0604020202020204" pitchFamily="34" charset="0"/>
              <a:buChar char="•"/>
            </a:pPr>
            <a:r>
              <a:rPr lang="fr-FR" sz="2200" dirty="0">
                <a:latin typeface="Lato Light" panose="020F0502020204030203" pitchFamily="34" charset="0"/>
                <a:cs typeface="Lato Light" panose="020F0502020204030203" pitchFamily="34" charset="0"/>
              </a:rPr>
              <a:t>Hébergement </a:t>
            </a:r>
            <a:r>
              <a:rPr lang="fr-FR" sz="2200" dirty="0" err="1">
                <a:latin typeface="Lato Light" panose="020F0502020204030203" pitchFamily="34" charset="0"/>
                <a:cs typeface="Lato Light" panose="020F0502020204030203" pitchFamily="34" charset="0"/>
              </a:rPr>
              <a:t>Snowflake</a:t>
            </a:r>
            <a:r>
              <a:rPr lang="fr-FR" sz="2200" dirty="0">
                <a:latin typeface="Lato Light" panose="020F0502020204030203" pitchFamily="34" charset="0"/>
                <a:cs typeface="Lato Light" panose="020F0502020204030203" pitchFamily="34" charset="0"/>
              </a:rPr>
              <a:t> région EU-Paris</a:t>
            </a:r>
          </a:p>
        </p:txBody>
      </p:sp>
      <p:pic>
        <p:nvPicPr>
          <p:cNvPr id="32" name="Image 31">
            <a:extLst>
              <a:ext uri="{FF2B5EF4-FFF2-40B4-BE49-F238E27FC236}">
                <a16:creationId xmlns:a16="http://schemas.microsoft.com/office/drawing/2014/main" id="{E9C07C01-EB50-F7BE-D002-C14080D7946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606311" y="1378276"/>
            <a:ext cx="1071964" cy="1071964"/>
          </a:xfrm>
          <a:prstGeom prst="rect">
            <a:avLst/>
          </a:prstGeom>
        </p:spPr>
      </p:pic>
      <p:pic>
        <p:nvPicPr>
          <p:cNvPr id="33" name="Image 32">
            <a:extLst>
              <a:ext uri="{FF2B5EF4-FFF2-40B4-BE49-F238E27FC236}">
                <a16:creationId xmlns:a16="http://schemas.microsoft.com/office/drawing/2014/main" id="{FE50513E-E859-6B34-3CA6-5DC3F2DB0B8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13727" y="1378276"/>
            <a:ext cx="1071964" cy="1071964"/>
          </a:xfrm>
          <a:prstGeom prst="rect">
            <a:avLst/>
          </a:prstGeom>
        </p:spPr>
      </p:pic>
    </p:spTree>
    <p:extLst>
      <p:ext uri="{BB962C8B-B14F-4D97-AF65-F5344CB8AC3E}">
        <p14:creationId xmlns:p14="http://schemas.microsoft.com/office/powerpoint/2010/main" val="311556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EEB095A4-FFA7-FFE9-7D16-A67A2FF1795A}"/>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2C0C9DD2-2072-1847-445F-90D7D0BF68F4}"/>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AE91B56A-9A46-7286-B9A8-E047AF29E8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2F1F0359-B0A5-C203-73AA-B5C83251FB11}"/>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Évolution par année</a:t>
            </a:r>
          </a:p>
        </p:txBody>
      </p:sp>
      <p:pic>
        <p:nvPicPr>
          <p:cNvPr id="6" name="Image 5">
            <a:extLst>
              <a:ext uri="{FF2B5EF4-FFF2-40B4-BE49-F238E27FC236}">
                <a16:creationId xmlns:a16="http://schemas.microsoft.com/office/drawing/2014/main" id="{F8D2F867-EF19-7EFE-D265-5A57400CDF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532" y="1504060"/>
            <a:ext cx="6693964" cy="4999290"/>
          </a:xfrm>
          <a:prstGeom prst="rect">
            <a:avLst/>
          </a:prstGeom>
          <a:ln w="28575">
            <a:solidFill>
              <a:srgbClr val="8A76E8"/>
            </a:solidFill>
          </a:ln>
          <a:effectLst/>
        </p:spPr>
      </p:pic>
      <p:sp>
        <p:nvSpPr>
          <p:cNvPr id="9" name="ZoneTexte 8">
            <a:extLst>
              <a:ext uri="{FF2B5EF4-FFF2-40B4-BE49-F238E27FC236}">
                <a16:creationId xmlns:a16="http://schemas.microsoft.com/office/drawing/2014/main" id="{9C5742DF-AD38-0D39-C92D-35767DB198B3}"/>
              </a:ext>
            </a:extLst>
          </p:cNvPr>
          <p:cNvSpPr txBox="1"/>
          <p:nvPr/>
        </p:nvSpPr>
        <p:spPr>
          <a:xfrm>
            <a:off x="7625593" y="1504060"/>
            <a:ext cx="4169875" cy="4999290"/>
          </a:xfrm>
          <a:prstGeom prst="rect">
            <a:avLst/>
          </a:prstGeom>
          <a:noFill/>
          <a:ln w="28575">
            <a:solidFill>
              <a:srgbClr val="8A76E8"/>
            </a:solidFill>
          </a:ln>
        </p:spPr>
        <p:txBody>
          <a:bodyPr wrap="square" rtlCol="0" anchor="ctr">
            <a:noAutofit/>
          </a:bodyPr>
          <a:lstStyle/>
          <a:p>
            <a:pPr algn="ctr">
              <a:lnSpc>
                <a:spcPct val="250000"/>
              </a:lnSpc>
            </a:pPr>
            <a:r>
              <a:rPr lang="fr-FR" sz="3200" dirty="0">
                <a:solidFill>
                  <a:srgbClr val="EA7000"/>
                </a:solidFill>
                <a:latin typeface="Lato" panose="020F0502020204030203" pitchFamily="34" charset="0"/>
                <a:cs typeface="Lato" panose="020F0502020204030203" pitchFamily="34" charset="0"/>
              </a:rPr>
              <a:t>Observations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Pic d'inscriptions en 2022 (~1700 étudiants)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Baisse progressive 2022 → 2024 (-44%)</a:t>
            </a:r>
          </a:p>
          <a:p>
            <a:pPr marL="342900" indent="-342900">
              <a:buFont typeface="Arial" panose="020B0604020202020204" pitchFamily="34" charset="0"/>
              <a:buChar char="•"/>
            </a:pPr>
            <a:r>
              <a:rPr lang="fr-FR" sz="2000" i="1" dirty="0">
                <a:latin typeface="Lato Light" panose="020F0502020204030203" pitchFamily="34" charset="0"/>
                <a:cs typeface="Lato Light" panose="020F0502020204030203" pitchFamily="34" charset="0"/>
              </a:rPr>
              <a:t>Hypothèse : contrecoup post-covid sur les reconversions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Légère reprise en 2025 (~950 étudiants) — </a:t>
            </a:r>
            <a:r>
              <a:rPr lang="fr-FR" sz="2000" dirty="0">
                <a:solidFill>
                  <a:srgbClr val="8A76E8"/>
                </a:solidFill>
                <a:latin typeface="Lato" panose="020F0502020204030203" pitchFamily="34" charset="0"/>
                <a:cs typeface="Lato" panose="020F0502020204030203" pitchFamily="34" charset="0"/>
              </a:rPr>
              <a:t>tendance encourageante</a:t>
            </a:r>
          </a:p>
        </p:txBody>
      </p:sp>
      <p:pic>
        <p:nvPicPr>
          <p:cNvPr id="11" name="Image 10">
            <a:extLst>
              <a:ext uri="{FF2B5EF4-FFF2-40B4-BE49-F238E27FC236}">
                <a16:creationId xmlns:a16="http://schemas.microsoft.com/office/drawing/2014/main" id="{A1A1600C-D7B6-8111-E0B8-7CF62D76C1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6368" y="1653636"/>
            <a:ext cx="808323" cy="808323"/>
          </a:xfrm>
          <a:prstGeom prst="rect">
            <a:avLst/>
          </a:prstGeom>
        </p:spPr>
      </p:pic>
    </p:spTree>
    <p:extLst>
      <p:ext uri="{BB962C8B-B14F-4D97-AF65-F5344CB8AC3E}">
        <p14:creationId xmlns:p14="http://schemas.microsoft.com/office/powerpoint/2010/main" val="829521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CA6563A6-82C1-E2C2-2B5E-41CF23024FC5}"/>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D5134C91-FDD7-C6EC-3AB0-86C712293DAD}"/>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C80E1F67-F8D6-F035-7A8B-E1B84104F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02C3490F-5C18-0694-3699-A45B95276EBE}"/>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Répartition régionale</a:t>
            </a:r>
          </a:p>
        </p:txBody>
      </p:sp>
      <p:pic>
        <p:nvPicPr>
          <p:cNvPr id="6" name="Image 5">
            <a:extLst>
              <a:ext uri="{FF2B5EF4-FFF2-40B4-BE49-F238E27FC236}">
                <a16:creationId xmlns:a16="http://schemas.microsoft.com/office/drawing/2014/main" id="{F456B2EB-6364-3F0D-196A-95A152CEBE4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00769" y="1504060"/>
            <a:ext cx="6685490" cy="4999290"/>
          </a:xfrm>
          <a:prstGeom prst="rect">
            <a:avLst/>
          </a:prstGeom>
          <a:ln w="28575">
            <a:solidFill>
              <a:srgbClr val="8A76E8"/>
            </a:solidFill>
          </a:ln>
          <a:effectLst/>
        </p:spPr>
      </p:pic>
      <p:sp>
        <p:nvSpPr>
          <p:cNvPr id="9" name="ZoneTexte 8">
            <a:extLst>
              <a:ext uri="{FF2B5EF4-FFF2-40B4-BE49-F238E27FC236}">
                <a16:creationId xmlns:a16="http://schemas.microsoft.com/office/drawing/2014/main" id="{AA413367-6318-3004-E93B-D1F82A37A86C}"/>
              </a:ext>
            </a:extLst>
          </p:cNvPr>
          <p:cNvSpPr txBox="1"/>
          <p:nvPr/>
        </p:nvSpPr>
        <p:spPr>
          <a:xfrm>
            <a:off x="7625593" y="1504060"/>
            <a:ext cx="4169875" cy="4999290"/>
          </a:xfrm>
          <a:prstGeom prst="rect">
            <a:avLst/>
          </a:prstGeom>
          <a:noFill/>
          <a:ln w="28575">
            <a:solidFill>
              <a:srgbClr val="8A76E8"/>
            </a:solidFill>
          </a:ln>
        </p:spPr>
        <p:txBody>
          <a:bodyPr wrap="square" rtlCol="0" anchor="ctr">
            <a:noAutofit/>
          </a:bodyPr>
          <a:lstStyle/>
          <a:p>
            <a:pPr algn="ctr">
              <a:lnSpc>
                <a:spcPct val="250000"/>
              </a:lnSpc>
            </a:pPr>
            <a:r>
              <a:rPr lang="fr-FR" sz="3200" dirty="0">
                <a:solidFill>
                  <a:srgbClr val="EA7000"/>
                </a:solidFill>
                <a:latin typeface="Lato" panose="020F0502020204030203" pitchFamily="34" charset="0"/>
                <a:cs typeface="Lato" panose="020F0502020204030203" pitchFamily="34" charset="0"/>
              </a:rPr>
              <a:t>Observations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Île-de-France sur-représentée : +27,7 pts vs moyenne nationale</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Toutes les autres régions sous-représentées (-1 à -3 pts)</a:t>
            </a:r>
          </a:p>
          <a:p>
            <a:pPr marL="342900" indent="-342900">
              <a:buFont typeface="Arial" panose="020B0604020202020204" pitchFamily="34" charset="0"/>
              <a:buChar char="•"/>
            </a:pPr>
            <a:r>
              <a:rPr lang="fr-FR" sz="2000" i="1" dirty="0">
                <a:latin typeface="Lato Light" panose="020F0502020204030203" pitchFamily="34" charset="0"/>
                <a:cs typeface="Lato Light" panose="020F0502020204030203" pitchFamily="34" charset="0"/>
              </a:rPr>
              <a:t>Hypothèse : concentration marketing sur Paris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Potentiel de </a:t>
            </a:r>
            <a:r>
              <a:rPr lang="fr-FR" sz="2000" dirty="0">
                <a:solidFill>
                  <a:srgbClr val="8A76E8"/>
                </a:solidFill>
                <a:latin typeface="Lato" panose="020F0502020204030203" pitchFamily="34" charset="0"/>
                <a:cs typeface="Lato" panose="020F0502020204030203" pitchFamily="34" charset="0"/>
              </a:rPr>
              <a:t>croissance important en régions</a:t>
            </a:r>
          </a:p>
        </p:txBody>
      </p:sp>
      <p:pic>
        <p:nvPicPr>
          <p:cNvPr id="11" name="Image 10">
            <a:extLst>
              <a:ext uri="{FF2B5EF4-FFF2-40B4-BE49-F238E27FC236}">
                <a16:creationId xmlns:a16="http://schemas.microsoft.com/office/drawing/2014/main" id="{98F7EBB5-88D9-806A-3D54-7FBE62E033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306368" y="1653636"/>
            <a:ext cx="808323" cy="808323"/>
          </a:xfrm>
          <a:prstGeom prst="rect">
            <a:avLst/>
          </a:prstGeom>
        </p:spPr>
      </p:pic>
    </p:spTree>
    <p:extLst>
      <p:ext uri="{BB962C8B-B14F-4D97-AF65-F5344CB8AC3E}">
        <p14:creationId xmlns:p14="http://schemas.microsoft.com/office/powerpoint/2010/main" val="3732695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C75F6630-1259-AA49-5CC2-09FFBB9ECB3B}"/>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1DE619AA-6636-3BED-BF3B-0D87A7DDED4C}"/>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70B8AFDE-706E-9655-B3BD-286F294FC6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B49BFF18-26AE-ED49-2BE6-8091FAB92AFD}"/>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Répartition H/F</a:t>
            </a:r>
          </a:p>
        </p:txBody>
      </p:sp>
      <p:pic>
        <p:nvPicPr>
          <p:cNvPr id="6" name="Image 5">
            <a:extLst>
              <a:ext uri="{FF2B5EF4-FFF2-40B4-BE49-F238E27FC236}">
                <a16:creationId xmlns:a16="http://schemas.microsoft.com/office/drawing/2014/main" id="{40442420-E9A4-E957-8C18-E430982BE80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00769" y="1930357"/>
            <a:ext cx="6685490" cy="4146696"/>
          </a:xfrm>
          <a:prstGeom prst="rect">
            <a:avLst/>
          </a:prstGeom>
          <a:ln w="28575">
            <a:solidFill>
              <a:srgbClr val="8A76E8"/>
            </a:solidFill>
          </a:ln>
          <a:effectLst/>
        </p:spPr>
      </p:pic>
      <p:sp>
        <p:nvSpPr>
          <p:cNvPr id="9" name="ZoneTexte 8">
            <a:extLst>
              <a:ext uri="{FF2B5EF4-FFF2-40B4-BE49-F238E27FC236}">
                <a16:creationId xmlns:a16="http://schemas.microsoft.com/office/drawing/2014/main" id="{42EEC660-8CCB-C7A1-5CD3-9000580B4E89}"/>
              </a:ext>
            </a:extLst>
          </p:cNvPr>
          <p:cNvSpPr txBox="1"/>
          <p:nvPr/>
        </p:nvSpPr>
        <p:spPr>
          <a:xfrm>
            <a:off x="7625593" y="1930357"/>
            <a:ext cx="4169875" cy="4146696"/>
          </a:xfrm>
          <a:prstGeom prst="rect">
            <a:avLst/>
          </a:prstGeom>
          <a:noFill/>
          <a:ln w="28575">
            <a:solidFill>
              <a:srgbClr val="8A76E8"/>
            </a:solidFill>
          </a:ln>
        </p:spPr>
        <p:txBody>
          <a:bodyPr wrap="square" rtlCol="0" anchor="ctr">
            <a:noAutofit/>
          </a:bodyPr>
          <a:lstStyle/>
          <a:p>
            <a:pPr algn="ctr">
              <a:lnSpc>
                <a:spcPct val="200000"/>
              </a:lnSpc>
            </a:pPr>
            <a:r>
              <a:rPr lang="fr-FR" sz="3200" dirty="0">
                <a:solidFill>
                  <a:srgbClr val="EA7000"/>
                </a:solidFill>
                <a:latin typeface="Lato" panose="020F0502020204030203" pitchFamily="34" charset="0"/>
                <a:cs typeface="Lato" panose="020F0502020204030203" pitchFamily="34" charset="0"/>
              </a:rPr>
              <a:t>Observations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~69% d'hommes chez OC vs 48% pop française</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Écart de ~20 pts sur les femmes</a:t>
            </a:r>
          </a:p>
          <a:p>
            <a:pPr marL="342900" indent="-342900">
              <a:buFont typeface="Arial" panose="020B0604020202020204" pitchFamily="34" charset="0"/>
              <a:buChar char="•"/>
            </a:pPr>
            <a:r>
              <a:rPr lang="fr-FR" sz="2000" i="1" dirty="0">
                <a:latin typeface="Lato Light" panose="020F0502020204030203" pitchFamily="34" charset="0"/>
                <a:cs typeface="Lato Light" panose="020F0502020204030203" pitchFamily="34" charset="0"/>
              </a:rPr>
              <a:t>Hypothèse : secteur IT historiquement masculin</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Potentiel de </a:t>
            </a:r>
            <a:r>
              <a:rPr lang="fr-FR" sz="2000" dirty="0">
                <a:solidFill>
                  <a:srgbClr val="8A76E8"/>
                </a:solidFill>
                <a:latin typeface="Lato" panose="020F0502020204030203" pitchFamily="34" charset="0"/>
                <a:cs typeface="Lato" panose="020F0502020204030203" pitchFamily="34" charset="0"/>
              </a:rPr>
              <a:t>féminisation</a:t>
            </a:r>
            <a:r>
              <a:rPr lang="fr-FR" sz="2000" dirty="0">
                <a:latin typeface="Lato Light" panose="020F0502020204030203" pitchFamily="34" charset="0"/>
                <a:cs typeface="Lato Light" panose="020F0502020204030203" pitchFamily="34" charset="0"/>
              </a:rPr>
              <a:t> à exploiter</a:t>
            </a:r>
            <a:endParaRPr lang="fr-FR" sz="2000" dirty="0">
              <a:solidFill>
                <a:srgbClr val="8A76E8"/>
              </a:solidFill>
              <a:latin typeface="Lato" panose="020F0502020204030203" pitchFamily="34" charset="0"/>
              <a:cs typeface="Lato" panose="020F0502020204030203" pitchFamily="34" charset="0"/>
            </a:endParaRPr>
          </a:p>
        </p:txBody>
      </p:sp>
      <p:pic>
        <p:nvPicPr>
          <p:cNvPr id="11" name="Image 10">
            <a:extLst>
              <a:ext uri="{FF2B5EF4-FFF2-40B4-BE49-F238E27FC236}">
                <a16:creationId xmlns:a16="http://schemas.microsoft.com/office/drawing/2014/main" id="{A490A475-39DA-F168-D4FC-B60C7182C35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306368" y="2005973"/>
            <a:ext cx="808323" cy="808323"/>
          </a:xfrm>
          <a:prstGeom prst="rect">
            <a:avLst/>
          </a:prstGeom>
        </p:spPr>
      </p:pic>
    </p:spTree>
    <p:extLst>
      <p:ext uri="{BB962C8B-B14F-4D97-AF65-F5344CB8AC3E}">
        <p14:creationId xmlns:p14="http://schemas.microsoft.com/office/powerpoint/2010/main" val="4257779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527BCBC9-8ED9-7D09-09EA-BBBE14907B82}"/>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B6291A38-39AE-7172-4E98-C8327DD5E1EC}"/>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49A20759-5A68-86EE-23C2-19017A973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7647B55F-ACA4-BD25-3AA8-655489C07ABC}"/>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Répartition par âge</a:t>
            </a:r>
          </a:p>
        </p:txBody>
      </p:sp>
      <p:pic>
        <p:nvPicPr>
          <p:cNvPr id="6" name="Image 5">
            <a:extLst>
              <a:ext uri="{FF2B5EF4-FFF2-40B4-BE49-F238E27FC236}">
                <a16:creationId xmlns:a16="http://schemas.microsoft.com/office/drawing/2014/main" id="{204D7854-56D7-3618-A980-78305D1BB0A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00769" y="1504060"/>
            <a:ext cx="6685490" cy="4999289"/>
          </a:xfrm>
          <a:prstGeom prst="rect">
            <a:avLst/>
          </a:prstGeom>
          <a:ln w="28575">
            <a:solidFill>
              <a:srgbClr val="8A76E8"/>
            </a:solidFill>
          </a:ln>
          <a:effectLst/>
        </p:spPr>
      </p:pic>
      <p:sp>
        <p:nvSpPr>
          <p:cNvPr id="9" name="ZoneTexte 8">
            <a:extLst>
              <a:ext uri="{FF2B5EF4-FFF2-40B4-BE49-F238E27FC236}">
                <a16:creationId xmlns:a16="http://schemas.microsoft.com/office/drawing/2014/main" id="{06F6CC3F-5387-E228-655B-C82253301A55}"/>
              </a:ext>
            </a:extLst>
          </p:cNvPr>
          <p:cNvSpPr txBox="1"/>
          <p:nvPr/>
        </p:nvSpPr>
        <p:spPr>
          <a:xfrm>
            <a:off x="7625593" y="1504060"/>
            <a:ext cx="4169875" cy="4999290"/>
          </a:xfrm>
          <a:prstGeom prst="rect">
            <a:avLst/>
          </a:prstGeom>
          <a:noFill/>
          <a:ln w="28575">
            <a:solidFill>
              <a:srgbClr val="8A76E8"/>
            </a:solidFill>
          </a:ln>
        </p:spPr>
        <p:txBody>
          <a:bodyPr wrap="square" rtlCol="0" anchor="ctr">
            <a:noAutofit/>
          </a:bodyPr>
          <a:lstStyle/>
          <a:p>
            <a:pPr algn="ctr">
              <a:lnSpc>
                <a:spcPct val="250000"/>
              </a:lnSpc>
            </a:pPr>
            <a:r>
              <a:rPr lang="fr-FR" sz="3200" dirty="0">
                <a:solidFill>
                  <a:srgbClr val="EA7000"/>
                </a:solidFill>
                <a:latin typeface="Lato" panose="020F0502020204030203" pitchFamily="34" charset="0"/>
                <a:cs typeface="Lato" panose="020F0502020204030203" pitchFamily="34" charset="0"/>
              </a:rPr>
              <a:t>Observations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Cœur de cible : 25-39 ans (reconversion pro)</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Pic sur 30-34 ans : +17,7 pts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20-24 ans sous-représentés (-3,4 pts)</a:t>
            </a:r>
          </a:p>
          <a:p>
            <a:pPr marL="342900" indent="-342900">
              <a:buFont typeface="Arial" panose="020B0604020202020204" pitchFamily="34" charset="0"/>
              <a:buChar char="•"/>
            </a:pPr>
            <a:r>
              <a:rPr lang="fr-FR" sz="2000" dirty="0">
                <a:latin typeface="Lato Light" panose="020F0502020204030203" pitchFamily="34" charset="0"/>
                <a:cs typeface="Lato Light" panose="020F0502020204030203" pitchFamily="34" charset="0"/>
              </a:rPr>
              <a:t>60+ quasi absents (-34,3 pts) — </a:t>
            </a:r>
            <a:r>
              <a:rPr lang="fr-FR" sz="2000" dirty="0">
                <a:solidFill>
                  <a:srgbClr val="8A76E8"/>
                </a:solidFill>
                <a:latin typeface="Lato Light" panose="020F0502020204030203" pitchFamily="34" charset="0"/>
                <a:cs typeface="Lato Light" panose="020F0502020204030203" pitchFamily="34" charset="0"/>
              </a:rPr>
              <a:t>logique</a:t>
            </a:r>
          </a:p>
          <a:p>
            <a:pPr marL="342900" indent="-342900">
              <a:buFont typeface="Arial" panose="020B0604020202020204" pitchFamily="34" charset="0"/>
              <a:buChar char="•"/>
            </a:pPr>
            <a:r>
              <a:rPr lang="fr-FR" sz="2000" i="1" dirty="0">
                <a:latin typeface="Lato Light" panose="020F0502020204030203" pitchFamily="34" charset="0"/>
                <a:cs typeface="Lato Light" panose="020F0502020204030203" pitchFamily="34" charset="0"/>
              </a:rPr>
              <a:t>Hypothèse : profil typique de reconversion professionnelle</a:t>
            </a:r>
            <a:endParaRPr lang="fr-FR" sz="2000" i="1" dirty="0">
              <a:solidFill>
                <a:srgbClr val="8A76E8"/>
              </a:solidFill>
              <a:latin typeface="Lato" panose="020F0502020204030203" pitchFamily="34" charset="0"/>
              <a:cs typeface="Lato" panose="020F0502020204030203" pitchFamily="34" charset="0"/>
            </a:endParaRPr>
          </a:p>
        </p:txBody>
      </p:sp>
      <p:pic>
        <p:nvPicPr>
          <p:cNvPr id="11" name="Image 10">
            <a:extLst>
              <a:ext uri="{FF2B5EF4-FFF2-40B4-BE49-F238E27FC236}">
                <a16:creationId xmlns:a16="http://schemas.microsoft.com/office/drawing/2014/main" id="{F963A3C5-B154-1A64-B393-FDBD3ADF4B5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306368" y="1653636"/>
            <a:ext cx="808323" cy="808323"/>
          </a:xfrm>
          <a:prstGeom prst="rect">
            <a:avLst/>
          </a:prstGeom>
        </p:spPr>
      </p:pic>
    </p:spTree>
    <p:extLst>
      <p:ext uri="{BB962C8B-B14F-4D97-AF65-F5344CB8AC3E}">
        <p14:creationId xmlns:p14="http://schemas.microsoft.com/office/powerpoint/2010/main" val="105404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9C190D61-B4E3-2399-E0E9-197062245BCA}"/>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09395F46-3A19-0088-1336-973D7828F1B6}"/>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C111DE59-3EB5-A5B7-023F-BFA2BA5F28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C7BAD1C4-560C-0295-7F6C-9AEAE4CCDECD}"/>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Recommandations</a:t>
            </a:r>
            <a:endParaRPr lang="fr-FR" sz="4000" dirty="0">
              <a:solidFill>
                <a:srgbClr val="8A76E8"/>
              </a:solidFill>
              <a:latin typeface="Lato" panose="020F0502020204030203" pitchFamily="34" charset="0"/>
              <a:cs typeface="Lato" panose="020F0502020204030203" pitchFamily="34" charset="0"/>
            </a:endParaRPr>
          </a:p>
        </p:txBody>
      </p:sp>
      <p:sp>
        <p:nvSpPr>
          <p:cNvPr id="4" name="ZoneTexte 3">
            <a:extLst>
              <a:ext uri="{FF2B5EF4-FFF2-40B4-BE49-F238E27FC236}">
                <a16:creationId xmlns:a16="http://schemas.microsoft.com/office/drawing/2014/main" id="{771FA67D-9CFE-83DB-91A2-16448222D7E7}"/>
              </a:ext>
            </a:extLst>
          </p:cNvPr>
          <p:cNvSpPr txBox="1"/>
          <p:nvPr/>
        </p:nvSpPr>
        <p:spPr>
          <a:xfrm>
            <a:off x="174766" y="2300702"/>
            <a:ext cx="5774425" cy="1543565"/>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Féminisation</a:t>
            </a:r>
            <a:endParaRPr lang="fr-FR" sz="3200" dirty="0">
              <a:solidFill>
                <a:srgbClr val="EA7000"/>
              </a:solidFill>
              <a:latin typeface="Lato" panose="020F0502020204030203" pitchFamily="34" charset="0"/>
              <a:cs typeface="Lato" panose="020F0502020204030203" pitchFamily="34" charset="0"/>
            </a:endParaRPr>
          </a:p>
          <a:p>
            <a:pPr algn="ctr"/>
            <a:r>
              <a:rPr lang="fr-FR" sz="2200" dirty="0">
                <a:latin typeface="Lato Light" panose="020F0502020204030203" pitchFamily="34" charset="0"/>
                <a:cs typeface="Lato Light" panose="020F0502020204030203" pitchFamily="34" charset="0"/>
              </a:rPr>
              <a:t>Actions marketing ciblées, partenariats avec associations femmes dans la tech</a:t>
            </a:r>
          </a:p>
        </p:txBody>
      </p:sp>
      <p:sp>
        <p:nvSpPr>
          <p:cNvPr id="13" name="ZoneTexte 12">
            <a:extLst>
              <a:ext uri="{FF2B5EF4-FFF2-40B4-BE49-F238E27FC236}">
                <a16:creationId xmlns:a16="http://schemas.microsoft.com/office/drawing/2014/main" id="{E1C7075D-3297-3CFD-3282-4087BA66F1F4}"/>
              </a:ext>
            </a:extLst>
          </p:cNvPr>
          <p:cNvSpPr txBox="1"/>
          <p:nvPr/>
        </p:nvSpPr>
        <p:spPr>
          <a:xfrm>
            <a:off x="187354" y="4940401"/>
            <a:ext cx="5774425" cy="1543564"/>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Décentralisation</a:t>
            </a:r>
            <a:endParaRPr lang="fr-FR" sz="3200" dirty="0">
              <a:solidFill>
                <a:srgbClr val="EA7000"/>
              </a:solidFill>
              <a:latin typeface="Lato" panose="020F0502020204030203" pitchFamily="34" charset="0"/>
              <a:cs typeface="Lato" panose="020F0502020204030203" pitchFamily="34" charset="0"/>
            </a:endParaRPr>
          </a:p>
          <a:p>
            <a:pPr algn="ctr"/>
            <a:r>
              <a:rPr lang="fr-FR" sz="2200" dirty="0">
                <a:latin typeface="Lato Light" panose="020F0502020204030203" pitchFamily="34" charset="0"/>
                <a:cs typeface="Lato Light" panose="020F0502020204030203" pitchFamily="34" charset="0"/>
              </a:rPr>
              <a:t>Développer l'offre en régions (</a:t>
            </a:r>
            <a:r>
              <a:rPr lang="fr-FR" sz="2200" dirty="0" err="1">
                <a:latin typeface="Lato Light" panose="020F0502020204030203" pitchFamily="34" charset="0"/>
                <a:cs typeface="Lato Light" panose="020F0502020204030203" pitchFamily="34" charset="0"/>
              </a:rPr>
              <a:t>pricing</a:t>
            </a:r>
            <a:r>
              <a:rPr lang="fr-FR" sz="2200" dirty="0">
                <a:latin typeface="Lato Light" panose="020F0502020204030203" pitchFamily="34" charset="0"/>
                <a:cs typeface="Lato Light" panose="020F0502020204030203" pitchFamily="34" charset="0"/>
              </a:rPr>
              <a:t>, formats adaptés)</a:t>
            </a:r>
          </a:p>
        </p:txBody>
      </p:sp>
      <p:sp>
        <p:nvSpPr>
          <p:cNvPr id="14" name="ZoneTexte 13">
            <a:extLst>
              <a:ext uri="{FF2B5EF4-FFF2-40B4-BE49-F238E27FC236}">
                <a16:creationId xmlns:a16="http://schemas.microsoft.com/office/drawing/2014/main" id="{DEAC9F8E-DB9E-9B11-F646-6B5E428D2B07}"/>
              </a:ext>
            </a:extLst>
          </p:cNvPr>
          <p:cNvSpPr txBox="1"/>
          <p:nvPr/>
        </p:nvSpPr>
        <p:spPr>
          <a:xfrm>
            <a:off x="6242809" y="2300703"/>
            <a:ext cx="5774425" cy="1543565"/>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Formation initiale</a:t>
            </a:r>
          </a:p>
          <a:p>
            <a:pPr algn="ctr"/>
            <a:r>
              <a:rPr lang="fr-FR" sz="2200" dirty="0">
                <a:latin typeface="Lato Light" panose="020F0502020204030203" pitchFamily="34" charset="0"/>
                <a:cs typeface="Lato Light" panose="020F0502020204030203" pitchFamily="34" charset="0"/>
              </a:rPr>
              <a:t>Explorer la formation initiale (marché concurrentiel)</a:t>
            </a:r>
          </a:p>
        </p:txBody>
      </p:sp>
      <p:sp>
        <p:nvSpPr>
          <p:cNvPr id="15" name="ZoneTexte 14">
            <a:extLst>
              <a:ext uri="{FF2B5EF4-FFF2-40B4-BE49-F238E27FC236}">
                <a16:creationId xmlns:a16="http://schemas.microsoft.com/office/drawing/2014/main" id="{9819A3CE-7FE4-E9C1-5BB1-0DE856A8AE35}"/>
              </a:ext>
            </a:extLst>
          </p:cNvPr>
          <p:cNvSpPr txBox="1"/>
          <p:nvPr/>
        </p:nvSpPr>
        <p:spPr>
          <a:xfrm>
            <a:off x="6230222" y="4939683"/>
            <a:ext cx="5774424" cy="1543565"/>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Surveiller 2026</a:t>
            </a:r>
          </a:p>
          <a:p>
            <a:pPr algn="ctr"/>
            <a:r>
              <a:rPr lang="fr-FR" sz="2200" dirty="0">
                <a:latin typeface="Lato Light" panose="020F0502020204030203" pitchFamily="34" charset="0"/>
                <a:cs typeface="Lato Light" panose="020F0502020204030203" pitchFamily="34" charset="0"/>
              </a:rPr>
              <a:t>Confirmer la reprise amorcée en 2025</a:t>
            </a:r>
          </a:p>
        </p:txBody>
      </p:sp>
      <p:pic>
        <p:nvPicPr>
          <p:cNvPr id="17" name="Image 16">
            <a:extLst>
              <a:ext uri="{FF2B5EF4-FFF2-40B4-BE49-F238E27FC236}">
                <a16:creationId xmlns:a16="http://schemas.microsoft.com/office/drawing/2014/main" id="{4B16C9F1-8D11-079A-6A45-7303526C68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9327" y="1237396"/>
            <a:ext cx="1030478" cy="1030478"/>
          </a:xfrm>
          <a:prstGeom prst="rect">
            <a:avLst/>
          </a:prstGeom>
        </p:spPr>
      </p:pic>
      <p:pic>
        <p:nvPicPr>
          <p:cNvPr id="30" name="Image 29">
            <a:extLst>
              <a:ext uri="{FF2B5EF4-FFF2-40B4-BE49-F238E27FC236}">
                <a16:creationId xmlns:a16="http://schemas.microsoft.com/office/drawing/2014/main" id="{F76F62B4-DDF7-8758-929E-81C3448A126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559327" y="3909205"/>
            <a:ext cx="982943" cy="982943"/>
          </a:xfrm>
          <a:prstGeom prst="rect">
            <a:avLst/>
          </a:prstGeom>
        </p:spPr>
      </p:pic>
      <p:pic>
        <p:nvPicPr>
          <p:cNvPr id="31" name="Image 30">
            <a:extLst>
              <a:ext uri="{FF2B5EF4-FFF2-40B4-BE49-F238E27FC236}">
                <a16:creationId xmlns:a16="http://schemas.microsoft.com/office/drawing/2014/main" id="{22435793-D64E-FA1A-E8C2-6F777DA9B0E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649730" y="3909205"/>
            <a:ext cx="1030478" cy="1030478"/>
          </a:xfrm>
          <a:prstGeom prst="rect">
            <a:avLst/>
          </a:prstGeom>
        </p:spPr>
      </p:pic>
      <p:pic>
        <p:nvPicPr>
          <p:cNvPr id="32" name="Image 31">
            <a:extLst>
              <a:ext uri="{FF2B5EF4-FFF2-40B4-BE49-F238E27FC236}">
                <a16:creationId xmlns:a16="http://schemas.microsoft.com/office/drawing/2014/main" id="{2963A516-75F4-F7F0-EC5F-359F6D0E95B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671654" y="1250829"/>
            <a:ext cx="916734" cy="916734"/>
          </a:xfrm>
          <a:prstGeom prst="rect">
            <a:avLst/>
          </a:prstGeom>
        </p:spPr>
      </p:pic>
    </p:spTree>
    <p:extLst>
      <p:ext uri="{BB962C8B-B14F-4D97-AF65-F5344CB8AC3E}">
        <p14:creationId xmlns:p14="http://schemas.microsoft.com/office/powerpoint/2010/main" val="632550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DC518A93-09DB-941D-7F8C-D93232CAF63B}"/>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92013FA9-5A16-CD86-1360-91C16CC4B7DC}"/>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519E120D-B1F7-7E0E-C23F-9FD3013182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689DCC2E-87AC-7C9E-DC3B-A74572F7B7F6}"/>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Limites &amp; perspectives</a:t>
            </a:r>
            <a:endParaRPr lang="fr-FR" sz="4000" dirty="0">
              <a:solidFill>
                <a:srgbClr val="8A76E8"/>
              </a:solidFill>
              <a:latin typeface="Lato" panose="020F0502020204030203" pitchFamily="34" charset="0"/>
              <a:cs typeface="Lato" panose="020F0502020204030203" pitchFamily="34" charset="0"/>
            </a:endParaRPr>
          </a:p>
        </p:txBody>
      </p:sp>
      <p:sp>
        <p:nvSpPr>
          <p:cNvPr id="4" name="ZoneTexte 3">
            <a:extLst>
              <a:ext uri="{FF2B5EF4-FFF2-40B4-BE49-F238E27FC236}">
                <a16:creationId xmlns:a16="http://schemas.microsoft.com/office/drawing/2014/main" id="{6D97FB6E-8FB8-0475-BE78-9A3AB1FF1D8A}"/>
              </a:ext>
            </a:extLst>
          </p:cNvPr>
          <p:cNvSpPr txBox="1"/>
          <p:nvPr/>
        </p:nvSpPr>
        <p:spPr>
          <a:xfrm>
            <a:off x="174766" y="2300702"/>
            <a:ext cx="5774425" cy="1543565"/>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Pas de données qualitatives</a:t>
            </a:r>
            <a:endParaRPr lang="fr-FR" sz="3200" dirty="0">
              <a:solidFill>
                <a:srgbClr val="EA7000"/>
              </a:solidFill>
              <a:latin typeface="Lato" panose="020F0502020204030203" pitchFamily="34" charset="0"/>
              <a:cs typeface="Lato" panose="020F0502020204030203" pitchFamily="34" charset="0"/>
            </a:endParaRPr>
          </a:p>
          <a:p>
            <a:pPr algn="ctr"/>
            <a:r>
              <a:rPr lang="fr-FR" sz="2200" dirty="0">
                <a:latin typeface="Lato Light" panose="020F0502020204030203" pitchFamily="34" charset="0"/>
                <a:cs typeface="Lato Light" panose="020F0502020204030203" pitchFamily="34" charset="0"/>
              </a:rPr>
              <a:t> Impossible de confirmer les hypothèses (post-covid, marketing Paris)</a:t>
            </a:r>
          </a:p>
        </p:txBody>
      </p:sp>
      <p:sp>
        <p:nvSpPr>
          <p:cNvPr id="13" name="ZoneTexte 12">
            <a:extLst>
              <a:ext uri="{FF2B5EF4-FFF2-40B4-BE49-F238E27FC236}">
                <a16:creationId xmlns:a16="http://schemas.microsoft.com/office/drawing/2014/main" id="{D4E7A4A7-07AD-D7B8-0709-645CD0F5C40D}"/>
              </a:ext>
            </a:extLst>
          </p:cNvPr>
          <p:cNvSpPr txBox="1"/>
          <p:nvPr/>
        </p:nvSpPr>
        <p:spPr>
          <a:xfrm>
            <a:off x="187354" y="4940401"/>
            <a:ext cx="5774425" cy="1543564"/>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Manque d’historique</a:t>
            </a:r>
          </a:p>
          <a:p>
            <a:pPr algn="ctr"/>
            <a:r>
              <a:rPr lang="fr-FR" sz="2200" dirty="0">
                <a:latin typeface="Lato Light" panose="020F0502020204030203" pitchFamily="34" charset="0"/>
                <a:cs typeface="Lato Light" panose="020F0502020204030203" pitchFamily="34" charset="0"/>
              </a:rPr>
              <a:t>Difficile de distinguer un effet conjoncturel</a:t>
            </a:r>
          </a:p>
        </p:txBody>
      </p:sp>
      <p:sp>
        <p:nvSpPr>
          <p:cNvPr id="14" name="ZoneTexte 13">
            <a:extLst>
              <a:ext uri="{FF2B5EF4-FFF2-40B4-BE49-F238E27FC236}">
                <a16:creationId xmlns:a16="http://schemas.microsoft.com/office/drawing/2014/main" id="{0F27C0DC-CBC0-CEB7-2D5B-7E7E1E992739}"/>
              </a:ext>
            </a:extLst>
          </p:cNvPr>
          <p:cNvSpPr txBox="1"/>
          <p:nvPr/>
        </p:nvSpPr>
        <p:spPr>
          <a:xfrm>
            <a:off x="6242809" y="2300703"/>
            <a:ext cx="5774425" cy="1543565"/>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Données 2025 partielles ?</a:t>
            </a:r>
          </a:p>
          <a:p>
            <a:pPr algn="ctr"/>
            <a:r>
              <a:rPr lang="fr-FR" sz="2200" dirty="0">
                <a:latin typeface="Lato Light" panose="020F0502020204030203" pitchFamily="34" charset="0"/>
                <a:cs typeface="Lato Light" panose="020F0502020204030203" pitchFamily="34" charset="0"/>
              </a:rPr>
              <a:t>Selon quand elles ont été extraites</a:t>
            </a:r>
          </a:p>
        </p:txBody>
      </p:sp>
      <p:sp>
        <p:nvSpPr>
          <p:cNvPr id="15" name="ZoneTexte 14">
            <a:extLst>
              <a:ext uri="{FF2B5EF4-FFF2-40B4-BE49-F238E27FC236}">
                <a16:creationId xmlns:a16="http://schemas.microsoft.com/office/drawing/2014/main" id="{EFBE7E2A-B287-CD5D-932F-3097701CB5AC}"/>
              </a:ext>
            </a:extLst>
          </p:cNvPr>
          <p:cNvSpPr txBox="1"/>
          <p:nvPr/>
        </p:nvSpPr>
        <p:spPr>
          <a:xfrm>
            <a:off x="6230222" y="4939683"/>
            <a:ext cx="5774424" cy="1543565"/>
          </a:xfrm>
          <a:prstGeom prst="rect">
            <a:avLst/>
          </a:prstGeom>
          <a:noFill/>
          <a:ln w="28575">
            <a:solidFill>
              <a:srgbClr val="8A76E8"/>
            </a:solidFill>
          </a:ln>
        </p:spPr>
        <p:txBody>
          <a:bodyPr wrap="square" rtlCol="0" anchor="ctr">
            <a:noAutofit/>
          </a:bodyPr>
          <a:lstStyle/>
          <a:p>
            <a:pPr algn="ctr"/>
            <a:r>
              <a:rPr lang="fr-FR" sz="2800" dirty="0">
                <a:solidFill>
                  <a:srgbClr val="EA7000"/>
                </a:solidFill>
                <a:latin typeface="Lato" panose="020F0502020204030203" pitchFamily="34" charset="0"/>
                <a:cs typeface="Lato" panose="020F0502020204030203" pitchFamily="34" charset="0"/>
              </a:rPr>
              <a:t>Biais de comparaison</a:t>
            </a:r>
          </a:p>
          <a:p>
            <a:pPr algn="ctr"/>
            <a:r>
              <a:rPr lang="fr-FR" sz="2200" dirty="0">
                <a:latin typeface="Lato Light" panose="020F0502020204030203" pitchFamily="34" charset="0"/>
                <a:cs typeface="Lato Light" panose="020F0502020204030203" pitchFamily="34" charset="0"/>
              </a:rPr>
              <a:t>Comparaison INSEE sur population totale, pas sur population active ou diplômée</a:t>
            </a:r>
          </a:p>
        </p:txBody>
      </p:sp>
      <p:pic>
        <p:nvPicPr>
          <p:cNvPr id="17" name="Image 16">
            <a:extLst>
              <a:ext uri="{FF2B5EF4-FFF2-40B4-BE49-F238E27FC236}">
                <a16:creationId xmlns:a16="http://schemas.microsoft.com/office/drawing/2014/main" id="{2482A1E1-E75C-C468-99C8-F4BFFE43610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559327" y="1237396"/>
            <a:ext cx="1030478" cy="1030478"/>
          </a:xfrm>
          <a:prstGeom prst="rect">
            <a:avLst/>
          </a:prstGeom>
        </p:spPr>
      </p:pic>
      <p:pic>
        <p:nvPicPr>
          <p:cNvPr id="29" name="Image 28">
            <a:extLst>
              <a:ext uri="{FF2B5EF4-FFF2-40B4-BE49-F238E27FC236}">
                <a16:creationId xmlns:a16="http://schemas.microsoft.com/office/drawing/2014/main" id="{0EC8C2F8-CC51-822E-4553-579A2C212AE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659067" y="1286986"/>
            <a:ext cx="916734" cy="916734"/>
          </a:xfrm>
          <a:prstGeom prst="rect">
            <a:avLst/>
          </a:prstGeom>
        </p:spPr>
      </p:pic>
      <p:pic>
        <p:nvPicPr>
          <p:cNvPr id="30" name="Image 29">
            <a:extLst>
              <a:ext uri="{FF2B5EF4-FFF2-40B4-BE49-F238E27FC236}">
                <a16:creationId xmlns:a16="http://schemas.microsoft.com/office/drawing/2014/main" id="{A3964180-CA17-FF09-93B4-11D439AA399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606187" y="3909205"/>
            <a:ext cx="936083" cy="936083"/>
          </a:xfrm>
          <a:prstGeom prst="rect">
            <a:avLst/>
          </a:prstGeom>
        </p:spPr>
      </p:pic>
      <p:pic>
        <p:nvPicPr>
          <p:cNvPr id="31" name="Image 30">
            <a:extLst>
              <a:ext uri="{FF2B5EF4-FFF2-40B4-BE49-F238E27FC236}">
                <a16:creationId xmlns:a16="http://schemas.microsoft.com/office/drawing/2014/main" id="{14BBEC54-3F89-351A-5CAC-0A56EF59E98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649730" y="3909205"/>
            <a:ext cx="936083" cy="936083"/>
          </a:xfrm>
          <a:prstGeom prst="rect">
            <a:avLst/>
          </a:prstGeom>
        </p:spPr>
      </p:pic>
    </p:spTree>
    <p:extLst>
      <p:ext uri="{BB962C8B-B14F-4D97-AF65-F5344CB8AC3E}">
        <p14:creationId xmlns:p14="http://schemas.microsoft.com/office/powerpoint/2010/main" val="2446309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8CFD9">
            <a:alpha val="80000"/>
          </a:srgbClr>
        </a:solidFill>
        <a:effectLst/>
      </p:bgPr>
    </p:bg>
    <p:spTree>
      <p:nvGrpSpPr>
        <p:cNvPr id="1" name="">
          <a:extLst>
            <a:ext uri="{FF2B5EF4-FFF2-40B4-BE49-F238E27FC236}">
              <a16:creationId xmlns:a16="http://schemas.microsoft.com/office/drawing/2014/main" id="{0A909C68-E1CD-CE98-2DD2-733C00E8400E}"/>
            </a:ext>
          </a:extLst>
        </p:cNvPr>
        <p:cNvGrpSpPr/>
        <p:nvPr/>
      </p:nvGrpSpPr>
      <p:grpSpPr>
        <a:xfrm>
          <a:off x="0" y="0"/>
          <a:ext cx="0" cy="0"/>
          <a:chOff x="0" y="0"/>
          <a:chExt cx="0" cy="0"/>
        </a:xfrm>
      </p:grpSpPr>
      <p:sp>
        <p:nvSpPr>
          <p:cNvPr id="5" name="Google Shape;23;p18">
            <a:extLst>
              <a:ext uri="{FF2B5EF4-FFF2-40B4-BE49-F238E27FC236}">
                <a16:creationId xmlns:a16="http://schemas.microsoft.com/office/drawing/2014/main" id="{39407E52-C5B6-98F1-645A-2DBFBFFADD32}"/>
              </a:ext>
            </a:extLst>
          </p:cNvPr>
          <p:cNvSpPr/>
          <p:nvPr/>
        </p:nvSpPr>
        <p:spPr>
          <a:xfrm>
            <a:off x="0" y="0"/>
            <a:ext cx="12192000" cy="1222049"/>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bg1"/>
          </a:solidFill>
          <a:ln w="38100" cap="rnd" cmpd="sng">
            <a:solidFill>
              <a:srgbClr val="8A76E8"/>
            </a:solidFill>
            <a:prstDash val="solid"/>
            <a:round/>
            <a:headEnd type="none" w="sm" len="sm"/>
            <a:tailEnd type="none" w="sm" len="sm"/>
          </a:ln>
        </p:spPr>
        <p:txBody>
          <a:bodyPr/>
          <a:lstStyle/>
          <a:p>
            <a:endParaRPr lang="fr-FR"/>
          </a:p>
        </p:txBody>
      </p:sp>
      <p:pic>
        <p:nvPicPr>
          <p:cNvPr id="7" name="Image 6">
            <a:extLst>
              <a:ext uri="{FF2B5EF4-FFF2-40B4-BE49-F238E27FC236}">
                <a16:creationId xmlns:a16="http://schemas.microsoft.com/office/drawing/2014/main" id="{C3F363F7-C7CF-7A0A-1196-038B0483D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32" y="129091"/>
            <a:ext cx="808323" cy="808323"/>
          </a:xfrm>
          <a:prstGeom prst="rect">
            <a:avLst/>
          </a:prstGeom>
        </p:spPr>
      </p:pic>
      <p:sp>
        <p:nvSpPr>
          <p:cNvPr id="8" name="ZoneTexte 7">
            <a:extLst>
              <a:ext uri="{FF2B5EF4-FFF2-40B4-BE49-F238E27FC236}">
                <a16:creationId xmlns:a16="http://schemas.microsoft.com/office/drawing/2014/main" id="{EC97AE8B-B20E-BC48-62B7-815A64A2BC30}"/>
              </a:ext>
            </a:extLst>
          </p:cNvPr>
          <p:cNvSpPr txBox="1"/>
          <p:nvPr/>
        </p:nvSpPr>
        <p:spPr>
          <a:xfrm>
            <a:off x="1538344" y="129091"/>
            <a:ext cx="10257124" cy="808323"/>
          </a:xfrm>
          <a:prstGeom prst="rect">
            <a:avLst/>
          </a:prstGeom>
          <a:noFill/>
        </p:spPr>
        <p:txBody>
          <a:bodyPr wrap="square" rtlCol="0" anchor="ctr">
            <a:noAutofit/>
          </a:bodyPr>
          <a:lstStyle/>
          <a:p>
            <a:r>
              <a:rPr lang="fr-FR" sz="4000" dirty="0">
                <a:solidFill>
                  <a:srgbClr val="8A76E8"/>
                </a:solidFill>
                <a:latin typeface="Lato Semibold" panose="020F0502020204030203" pitchFamily="34" charset="0"/>
                <a:cs typeface="Lato Semibold" panose="020F0502020204030203" pitchFamily="34" charset="0"/>
              </a:rPr>
              <a:t>Conclusion</a:t>
            </a:r>
            <a:endParaRPr lang="fr-FR" sz="4000" dirty="0">
              <a:solidFill>
                <a:srgbClr val="8A76E8"/>
              </a:solidFill>
              <a:latin typeface="Lato" panose="020F0502020204030203" pitchFamily="34" charset="0"/>
              <a:cs typeface="Lato" panose="020F0502020204030203" pitchFamily="34" charset="0"/>
            </a:endParaRPr>
          </a:p>
        </p:txBody>
      </p:sp>
      <p:sp>
        <p:nvSpPr>
          <p:cNvPr id="2" name="ZoneTexte 1">
            <a:extLst>
              <a:ext uri="{FF2B5EF4-FFF2-40B4-BE49-F238E27FC236}">
                <a16:creationId xmlns:a16="http://schemas.microsoft.com/office/drawing/2014/main" id="{0D9B036C-244F-DB52-08D8-63E014519D24}"/>
              </a:ext>
            </a:extLst>
          </p:cNvPr>
          <p:cNvSpPr txBox="1"/>
          <p:nvPr/>
        </p:nvSpPr>
        <p:spPr>
          <a:xfrm>
            <a:off x="396532" y="1996580"/>
            <a:ext cx="11398936" cy="1815882"/>
          </a:xfrm>
          <a:prstGeom prst="rect">
            <a:avLst/>
          </a:prstGeom>
          <a:noFill/>
        </p:spPr>
        <p:txBody>
          <a:bodyPr wrap="square" rtlCol="0">
            <a:spAutoFit/>
          </a:bodyPr>
          <a:lstStyle/>
          <a:p>
            <a:pPr marL="457200" indent="-457200">
              <a:buFont typeface="Arial" panose="020B0604020202020204" pitchFamily="34" charset="0"/>
              <a:buChar char="•"/>
            </a:pPr>
            <a:r>
              <a:rPr lang="fr-FR" sz="2800" dirty="0">
                <a:solidFill>
                  <a:srgbClr val="8A76E8"/>
                </a:solidFill>
                <a:latin typeface="Lato Light" panose="020F0502020204030203" pitchFamily="34" charset="0"/>
                <a:cs typeface="Lato Light" panose="020F0502020204030203" pitchFamily="34" charset="0"/>
              </a:rPr>
              <a:t>Profil étudiant OC Data : homme, 30-34 ans, francilien — écarts </a:t>
            </a:r>
            <a:r>
              <a:rPr lang="fr-FR" sz="2800">
                <a:solidFill>
                  <a:srgbClr val="8A76E8"/>
                </a:solidFill>
                <a:latin typeface="Lato Light" panose="020F0502020204030203" pitchFamily="34" charset="0"/>
                <a:cs typeface="Lato Light" panose="020F0502020204030203" pitchFamily="34" charset="0"/>
              </a:rPr>
              <a:t>significatifs vs </a:t>
            </a:r>
            <a:r>
              <a:rPr lang="fr-FR" sz="2800" dirty="0">
                <a:solidFill>
                  <a:srgbClr val="8A76E8"/>
                </a:solidFill>
                <a:latin typeface="Lato Light" panose="020F0502020204030203" pitchFamily="34" charset="0"/>
                <a:cs typeface="Lato Light" panose="020F0502020204030203" pitchFamily="34" charset="0"/>
              </a:rPr>
              <a:t>population française</a:t>
            </a:r>
          </a:p>
          <a:p>
            <a:pPr marL="457200" indent="-457200">
              <a:buFont typeface="Arial" panose="020B0604020202020204" pitchFamily="34" charset="0"/>
              <a:buChar char="•"/>
            </a:pPr>
            <a:r>
              <a:rPr lang="fr-FR" sz="2800" dirty="0">
                <a:solidFill>
                  <a:srgbClr val="8A76E8"/>
                </a:solidFill>
                <a:latin typeface="Lato Light" panose="020F0502020204030203" pitchFamily="34" charset="0"/>
                <a:cs typeface="Lato Light" panose="020F0502020204030203" pitchFamily="34" charset="0"/>
              </a:rPr>
              <a:t>Baisse des inscriptions 2022-2024, reprise encourageante en 2025</a:t>
            </a:r>
          </a:p>
          <a:p>
            <a:pPr marL="457200" indent="-457200">
              <a:buFont typeface="Arial" panose="020B0604020202020204" pitchFamily="34" charset="0"/>
              <a:buChar char="•"/>
            </a:pPr>
            <a:r>
              <a:rPr lang="fr-FR" sz="2800" dirty="0">
                <a:solidFill>
                  <a:srgbClr val="8A76E8"/>
                </a:solidFill>
                <a:latin typeface="Lato Light" panose="020F0502020204030203" pitchFamily="34" charset="0"/>
                <a:cs typeface="Lato Light" panose="020F0502020204030203" pitchFamily="34" charset="0"/>
              </a:rPr>
              <a:t>Des leviers identifiés : féminisation, décentralisation, jeunes 20-24 ans</a:t>
            </a:r>
          </a:p>
        </p:txBody>
      </p:sp>
      <p:pic>
        <p:nvPicPr>
          <p:cNvPr id="6" name="Image 5">
            <a:extLst>
              <a:ext uri="{FF2B5EF4-FFF2-40B4-BE49-F238E27FC236}">
                <a16:creationId xmlns:a16="http://schemas.microsoft.com/office/drawing/2014/main" id="{564041E6-F68B-F660-354E-FE4E73F885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467" y="3940891"/>
            <a:ext cx="10905066" cy="2917109"/>
          </a:xfrm>
          <a:prstGeom prst="rect">
            <a:avLst/>
          </a:prstGeom>
          <a:ln>
            <a:noFill/>
          </a:ln>
        </p:spPr>
      </p:pic>
    </p:spTree>
    <p:extLst>
      <p:ext uri="{BB962C8B-B14F-4D97-AF65-F5344CB8AC3E}">
        <p14:creationId xmlns:p14="http://schemas.microsoft.com/office/powerpoint/2010/main" val="28132960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459</TotalTime>
  <Words>1364</Words>
  <Application>Microsoft Office PowerPoint</Application>
  <PresentationFormat>Grand écran</PresentationFormat>
  <Paragraphs>134</Paragraphs>
  <Slides>14</Slides>
  <Notes>14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Aptos</vt:lpstr>
      <vt:lpstr>Aptos Display</vt:lpstr>
      <vt:lpstr>Arial</vt:lpstr>
      <vt:lpstr>Lato</vt:lpstr>
      <vt:lpstr>Lato Light</vt:lpstr>
      <vt:lpstr>Lato Semibold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Tristan Despont</dc:creator>
  <cp:lastModifiedBy>Tristan Despont</cp:lastModifiedBy>
  <cp:revision>1</cp:revision>
  <dcterms:created xsi:type="dcterms:W3CDTF">2026-03-12T08:58:42Z</dcterms:created>
  <dcterms:modified xsi:type="dcterms:W3CDTF">2026-03-16T14:25:23Z</dcterms:modified>
</cp:coreProperties>
</file>