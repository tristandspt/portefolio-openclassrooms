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9"/>
  </p:notesMasterIdLst>
  <p:sldIdLst>
    <p:sldId id="256" r:id="rId2"/>
    <p:sldId id="263" r:id="rId3"/>
    <p:sldId id="264" r:id="rId4"/>
    <p:sldId id="265" r:id="rId5"/>
    <p:sldId id="266" r:id="rId6"/>
    <p:sldId id="267" r:id="rId7"/>
    <p:sldId id="268" r:id="rId8"/>
    <p:sldId id="269" r:id="rId9"/>
    <p:sldId id="270" r:id="rId10"/>
    <p:sldId id="271" r:id="rId11"/>
    <p:sldId id="272" r:id="rId12"/>
    <p:sldId id="273" r:id="rId13"/>
    <p:sldId id="274" r:id="rId14"/>
    <p:sldId id="277" r:id="rId15"/>
    <p:sldId id="276" r:id="rId16"/>
    <p:sldId id="278" r:id="rId17"/>
    <p:sldId id="261" r:id="rId18"/>
  </p:sldIdLst>
  <p:sldSz cx="9144000" cy="5143500" type="screen16x9"/>
  <p:notesSz cx="6858000" cy="9144000"/>
  <p:embeddedFontLst>
    <p:embeddedFont>
      <p:font typeface="Lato" panose="020F0502020204030203" pitchFamily="34" charset="0"/>
      <p:regular r:id="rId20"/>
      <p:bold r:id="rId21"/>
      <p:italic r:id="rId22"/>
      <p:boldItalic r:id="rId23"/>
    </p:embeddedFont>
    <p:embeddedFont>
      <p:font typeface="Lato Light" panose="020F0502020204030203" pitchFamily="34" charset="0"/>
      <p:regular r:id="rId24"/>
      <p:italic r:id="rId25"/>
    </p:embeddedFont>
    <p:embeddedFont>
      <p:font typeface="Lato Semibold" panose="020F0502020204030203" pitchFamily="34" charset="0"/>
      <p:bold r:id="rId26"/>
      <p:boldItalic r:id="rId27"/>
    </p:embeddedFont>
    <p:embeddedFont>
      <p:font typeface="Montserrat" panose="00000500000000000000" pitchFamily="2"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Titre" id="{4C755B26-F74F-45AF-A957-E7CEE9A77C1F}">
          <p14:sldIdLst>
            <p14:sldId id="256"/>
          </p14:sldIdLst>
        </p14:section>
        <p14:section name="Explo" id="{58F8A47A-A180-4FF5-9D0A-3170CDC49A12}">
          <p14:sldIdLst>
            <p14:sldId id="263"/>
            <p14:sldId id="264"/>
            <p14:sldId id="265"/>
            <p14:sldId id="266"/>
            <p14:sldId id="267"/>
          </p14:sldIdLst>
        </p14:section>
        <p14:section name="Jointure" id="{E6CF0745-1B2C-453C-84D9-D20C9CA86B47}">
          <p14:sldIdLst>
            <p14:sldId id="268"/>
            <p14:sldId id="269"/>
          </p14:sldIdLst>
        </p14:section>
        <p14:section name="Prix" id="{891A1BC0-AFF3-47EB-B307-90DF592A3B19}">
          <p14:sldIdLst>
            <p14:sldId id="270"/>
            <p14:sldId id="271"/>
          </p14:sldIdLst>
        </p14:section>
        <p14:section name="Autres" id="{C2495E82-8C40-4E6C-A190-AE9AD40070FF}">
          <p14:sldIdLst>
            <p14:sldId id="272"/>
            <p14:sldId id="273"/>
            <p14:sldId id="274"/>
            <p14:sldId id="277"/>
            <p14:sldId id="276"/>
            <p14:sldId id="278"/>
          </p14:sldIdLst>
        </p14:section>
        <p14:section name="Conclusion" id="{29515FC9-E1D4-4634-BAAD-484DE106CD41}">
          <p14:sldIdLst>
            <p14:sldId id="261"/>
          </p14:sldIdLst>
        </p14:section>
      </p14:sectionLst>
    </p:ext>
    <p:ext uri="{EFAFB233-063F-42B5-8137-9DF3F51BA10A}">
      <p15:sldGuideLst xmlns:p15="http://schemas.microsoft.com/office/powerpoint/2012/main">
        <p15:guide id="1" orient="horz" pos="1077">
          <p15:clr>
            <a:srgbClr val="A4A3A4"/>
          </p15:clr>
        </p15:guide>
        <p15:guide id="2" pos="2721">
          <p15:clr>
            <a:srgbClr val="A4A3A4"/>
          </p15:clr>
        </p15:guide>
        <p15:guide id="3" pos="2438">
          <p15:clr>
            <a:srgbClr val="9AA0A6"/>
          </p15:clr>
        </p15:guide>
        <p15:guide id="4" pos="416">
          <p15:clr>
            <a:srgbClr val="9AA0A6"/>
          </p15:clr>
        </p15:guide>
        <p15:guide id="5" pos="1191">
          <p15:clr>
            <a:srgbClr val="9AA0A6"/>
          </p15:clr>
        </p15:guide>
        <p15:guide id="6" pos="638">
          <p15:clr>
            <a:srgbClr val="9AA0A6"/>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2" roundtripDataSignature="AMtx7miohyEog1akfKJRRdWquyApPmpAp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0020"/>
    <a:srgbClr val="004D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7B25FC-C211-48E4-954C-16A15ACE9D6E}" v="41" dt="2026-02-12T15:56:01.965"/>
    <p1510:client id="{B7435458-ADE1-476B-B887-DD8F70B1BC32}" v="215" dt="2026-02-13T11:55:36.7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734" autoAdjust="0"/>
    <p:restoredTop sz="79362" autoAdjust="0"/>
  </p:normalViewPr>
  <p:slideViewPr>
    <p:cSldViewPr snapToGrid="0">
      <p:cViewPr varScale="1">
        <p:scale>
          <a:sx n="150" d="100"/>
          <a:sy n="150" d="100"/>
        </p:scale>
        <p:origin x="108" y="360"/>
      </p:cViewPr>
      <p:guideLst>
        <p:guide orient="horz" pos="1077"/>
        <p:guide pos="2721"/>
        <p:guide pos="2438"/>
        <p:guide pos="416"/>
        <p:guide pos="1191"/>
        <p:guide pos="63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21" Type="http://schemas.openxmlformats.org/officeDocument/2006/relationships/font" Target="fonts/font2.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customschemas.google.com/relationships/presentationmetadata" Target="metadata"/><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istan Despont" userId="d1a7c66da9d715b7" providerId="LiveId" clId="{25DB666C-E071-4181-B0DD-0C11C5554C67}"/>
    <pc:docChg chg="undo redo custSel addSld delSld modSld sldOrd addSection modSection">
      <pc:chgData name="Tristan Despont" userId="d1a7c66da9d715b7" providerId="LiveId" clId="{25DB666C-E071-4181-B0DD-0C11C5554C67}" dt="2026-02-12T15:56:03.855" v="1677" actId="20577"/>
      <pc:docMkLst>
        <pc:docMk/>
      </pc:docMkLst>
      <pc:sldChg chg="modSp del mod">
        <pc:chgData name="Tristan Despont" userId="d1a7c66da9d715b7" providerId="LiveId" clId="{25DB666C-E071-4181-B0DD-0C11C5554C67}" dt="2026-02-12T15:43:57.456" v="1631" actId="2696"/>
        <pc:sldMkLst>
          <pc:docMk/>
          <pc:sldMk cId="0" sldId="260"/>
        </pc:sldMkLst>
        <pc:spChg chg="mod">
          <ac:chgData name="Tristan Despont" userId="d1a7c66da9d715b7" providerId="LiveId" clId="{25DB666C-E071-4181-B0DD-0C11C5554C67}" dt="2026-02-12T12:41:06.120" v="28" actId="20577"/>
          <ac:spMkLst>
            <pc:docMk/>
            <pc:sldMk cId="0" sldId="260"/>
            <ac:spMk id="88" creationId="{00000000-0000-0000-0000-000000000000}"/>
          </ac:spMkLst>
        </pc:spChg>
      </pc:sldChg>
      <pc:sldChg chg="modSp mod">
        <pc:chgData name="Tristan Despont" userId="d1a7c66da9d715b7" providerId="LiveId" clId="{25DB666C-E071-4181-B0DD-0C11C5554C67}" dt="2026-02-12T10:50:15.410" v="5" actId="207"/>
        <pc:sldMkLst>
          <pc:docMk/>
          <pc:sldMk cId="505939416" sldId="263"/>
        </pc:sldMkLst>
        <pc:picChg chg="mod">
          <ac:chgData name="Tristan Despont" userId="d1a7c66da9d715b7" providerId="LiveId" clId="{25DB666C-E071-4181-B0DD-0C11C5554C67}" dt="2026-02-12T10:50:03.519" v="3" actId="207"/>
          <ac:picMkLst>
            <pc:docMk/>
            <pc:sldMk cId="505939416" sldId="263"/>
            <ac:picMk id="3" creationId="{2DAD876A-43F5-6A71-F606-C3DA33BE6069}"/>
          </ac:picMkLst>
        </pc:picChg>
        <pc:picChg chg="mod">
          <ac:chgData name="Tristan Despont" userId="d1a7c66da9d715b7" providerId="LiveId" clId="{25DB666C-E071-4181-B0DD-0C11C5554C67}" dt="2026-02-12T10:50:15.410" v="5" actId="207"/>
          <ac:picMkLst>
            <pc:docMk/>
            <pc:sldMk cId="505939416" sldId="263"/>
            <ac:picMk id="11" creationId="{7F23F93D-8648-8C74-7827-95898A501907}"/>
          </ac:picMkLst>
        </pc:picChg>
      </pc:sldChg>
      <pc:sldChg chg="modSp mod">
        <pc:chgData name="Tristan Despont" userId="d1a7c66da9d715b7" providerId="LiveId" clId="{25DB666C-E071-4181-B0DD-0C11C5554C67}" dt="2026-02-12T10:48:01.609" v="2" actId="1035"/>
        <pc:sldMkLst>
          <pc:docMk/>
          <pc:sldMk cId="1310057201" sldId="264"/>
        </pc:sldMkLst>
        <pc:spChg chg="mod">
          <ac:chgData name="Tristan Despont" userId="d1a7c66da9d715b7" providerId="LiveId" clId="{25DB666C-E071-4181-B0DD-0C11C5554C67}" dt="2026-02-12T10:48:01.609" v="2" actId="1035"/>
          <ac:spMkLst>
            <pc:docMk/>
            <pc:sldMk cId="1310057201" sldId="264"/>
            <ac:spMk id="64" creationId="{CBEBDE05-0D8D-C2A2-D7B5-D0D2B78EADDD}"/>
          </ac:spMkLst>
        </pc:spChg>
        <pc:picChg chg="mod">
          <ac:chgData name="Tristan Despont" userId="d1a7c66da9d715b7" providerId="LiveId" clId="{25DB666C-E071-4181-B0DD-0C11C5554C67}" dt="2026-02-12T10:47:52.899" v="0" actId="1076"/>
          <ac:picMkLst>
            <pc:docMk/>
            <pc:sldMk cId="1310057201" sldId="264"/>
            <ac:picMk id="6" creationId="{ABC6B411-8F59-636C-9E29-775C499E7C86}"/>
          </ac:picMkLst>
        </pc:picChg>
      </pc:sldChg>
      <pc:sldChg chg="modSp mod">
        <pc:chgData name="Tristan Despont" userId="d1a7c66da9d715b7" providerId="LiveId" clId="{25DB666C-E071-4181-B0DD-0C11C5554C67}" dt="2026-02-12T15:54:45.639" v="1672" actId="20577"/>
        <pc:sldMkLst>
          <pc:docMk/>
          <pc:sldMk cId="1524318452" sldId="267"/>
        </pc:sldMkLst>
        <pc:spChg chg="mod">
          <ac:chgData name="Tristan Despont" userId="d1a7c66da9d715b7" providerId="LiveId" clId="{25DB666C-E071-4181-B0DD-0C11C5554C67}" dt="2026-02-12T15:54:45.639" v="1672" actId="20577"/>
          <ac:spMkLst>
            <pc:docMk/>
            <pc:sldMk cId="1524318452" sldId="267"/>
            <ac:spMk id="63" creationId="{FCACBA47-BAC8-3F94-129A-D4621B80196F}"/>
          </ac:spMkLst>
        </pc:spChg>
      </pc:sldChg>
      <pc:sldChg chg="modSp mod">
        <pc:chgData name="Tristan Despont" userId="d1a7c66da9d715b7" providerId="LiveId" clId="{25DB666C-E071-4181-B0DD-0C11C5554C67}" dt="2026-02-12T15:50:19.101" v="1641"/>
        <pc:sldMkLst>
          <pc:docMk/>
          <pc:sldMk cId="2817613134" sldId="268"/>
        </pc:sldMkLst>
        <pc:spChg chg="mod">
          <ac:chgData name="Tristan Despont" userId="d1a7c66da9d715b7" providerId="LiveId" clId="{25DB666C-E071-4181-B0DD-0C11C5554C67}" dt="2026-02-12T12:39:24.965" v="6" actId="2711"/>
          <ac:spMkLst>
            <pc:docMk/>
            <pc:sldMk cId="2817613134" sldId="268"/>
            <ac:spMk id="73" creationId="{70963862-957F-9030-4103-965CCD33EA5A}"/>
          </ac:spMkLst>
        </pc:spChg>
        <pc:picChg chg="mod">
          <ac:chgData name="Tristan Despont" userId="d1a7c66da9d715b7" providerId="LiveId" clId="{25DB666C-E071-4181-B0DD-0C11C5554C67}" dt="2026-02-12T15:50:19.101" v="1641"/>
          <ac:picMkLst>
            <pc:docMk/>
            <pc:sldMk cId="2817613134" sldId="268"/>
            <ac:picMk id="3" creationId="{6238AF51-A9CA-AC1F-4301-0231FA7F6B1F}"/>
          </ac:picMkLst>
        </pc:picChg>
      </pc:sldChg>
      <pc:sldChg chg="modSp mod">
        <pc:chgData name="Tristan Despont" userId="d1a7c66da9d715b7" providerId="LiveId" clId="{25DB666C-E071-4181-B0DD-0C11C5554C67}" dt="2026-02-12T15:56:03.855" v="1677" actId="20577"/>
        <pc:sldMkLst>
          <pc:docMk/>
          <pc:sldMk cId="1990878905" sldId="269"/>
        </pc:sldMkLst>
        <pc:spChg chg="mod">
          <ac:chgData name="Tristan Despont" userId="d1a7c66da9d715b7" providerId="LiveId" clId="{25DB666C-E071-4181-B0DD-0C11C5554C67}" dt="2026-02-12T15:56:03.855" v="1677" actId="20577"/>
          <ac:spMkLst>
            <pc:docMk/>
            <pc:sldMk cId="1990878905" sldId="269"/>
            <ac:spMk id="4" creationId="{7F41AC66-6B29-58A5-E1B0-3E40F4846E5D}"/>
          </ac:spMkLst>
        </pc:spChg>
        <pc:spChg chg="mod">
          <ac:chgData name="Tristan Despont" userId="d1a7c66da9d715b7" providerId="LiveId" clId="{25DB666C-E071-4181-B0DD-0C11C5554C67}" dt="2026-02-12T12:39:39.443" v="7" actId="2711"/>
          <ac:spMkLst>
            <pc:docMk/>
            <pc:sldMk cId="1990878905" sldId="269"/>
            <ac:spMk id="73" creationId="{4AFC2CD3-75A1-5E2B-3918-45C6F799353E}"/>
          </ac:spMkLst>
        </pc:spChg>
      </pc:sldChg>
      <pc:sldChg chg="modSp mod">
        <pc:chgData name="Tristan Despont" userId="d1a7c66da9d715b7" providerId="LiveId" clId="{25DB666C-E071-4181-B0DD-0C11C5554C67}" dt="2026-02-12T12:44:03.842" v="54" actId="14100"/>
        <pc:sldMkLst>
          <pc:docMk/>
          <pc:sldMk cId="3526492147" sldId="270"/>
        </pc:sldMkLst>
        <pc:spChg chg="mod">
          <ac:chgData name="Tristan Despont" userId="d1a7c66da9d715b7" providerId="LiveId" clId="{25DB666C-E071-4181-B0DD-0C11C5554C67}" dt="2026-02-12T12:43:30.394" v="49" actId="14100"/>
          <ac:spMkLst>
            <pc:docMk/>
            <pc:sldMk cId="3526492147" sldId="270"/>
            <ac:spMk id="2" creationId="{BA1F3B94-23B2-AA6C-4B80-C07862214788}"/>
          </ac:spMkLst>
        </pc:spChg>
        <pc:spChg chg="mod">
          <ac:chgData name="Tristan Despont" userId="d1a7c66da9d715b7" providerId="LiveId" clId="{25DB666C-E071-4181-B0DD-0C11C5554C67}" dt="2026-02-12T12:44:03.842" v="54" actId="14100"/>
          <ac:spMkLst>
            <pc:docMk/>
            <pc:sldMk cId="3526492147" sldId="270"/>
            <ac:spMk id="9" creationId="{44402DE8-8AA9-A20B-EDCA-BB47870EA8C5}"/>
          </ac:spMkLst>
        </pc:spChg>
        <pc:spChg chg="mod">
          <ac:chgData name="Tristan Despont" userId="d1a7c66da9d715b7" providerId="LiveId" clId="{25DB666C-E071-4181-B0DD-0C11C5554C67}" dt="2026-02-12T12:39:45.577" v="8" actId="2711"/>
          <ac:spMkLst>
            <pc:docMk/>
            <pc:sldMk cId="3526492147" sldId="270"/>
            <ac:spMk id="81" creationId="{891D4808-BE9B-C930-7C62-7841D5D5D88A}"/>
          </ac:spMkLst>
        </pc:spChg>
        <pc:picChg chg="mod">
          <ac:chgData name="Tristan Despont" userId="d1a7c66da9d715b7" providerId="LiveId" clId="{25DB666C-E071-4181-B0DD-0C11C5554C67}" dt="2026-02-12T12:43:44.660" v="51" actId="1076"/>
          <ac:picMkLst>
            <pc:docMk/>
            <pc:sldMk cId="3526492147" sldId="270"/>
            <ac:picMk id="6" creationId="{950F2CC5-3DB0-5E69-30CF-931B68D2A5C2}"/>
          </ac:picMkLst>
        </pc:picChg>
        <pc:picChg chg="mod">
          <ac:chgData name="Tristan Despont" userId="d1a7c66da9d715b7" providerId="LiveId" clId="{25DB666C-E071-4181-B0DD-0C11C5554C67}" dt="2026-02-12T12:43:46.846" v="52" actId="1076"/>
          <ac:picMkLst>
            <pc:docMk/>
            <pc:sldMk cId="3526492147" sldId="270"/>
            <ac:picMk id="8" creationId="{E1726A00-49E8-71BF-DD3D-9F03477A80C4}"/>
          </ac:picMkLst>
        </pc:picChg>
        <pc:picChg chg="mod">
          <ac:chgData name="Tristan Despont" userId="d1a7c66da9d715b7" providerId="LiveId" clId="{25DB666C-E071-4181-B0DD-0C11C5554C67}" dt="2026-02-12T12:43:38.992" v="50" actId="1076"/>
          <ac:picMkLst>
            <pc:docMk/>
            <pc:sldMk cId="3526492147" sldId="270"/>
            <ac:picMk id="13" creationId="{0894275D-ECB7-4530-99DF-F1373D2A8FB0}"/>
          </ac:picMkLst>
        </pc:picChg>
      </pc:sldChg>
      <pc:sldChg chg="modSp mod">
        <pc:chgData name="Tristan Despont" userId="d1a7c66da9d715b7" providerId="LiveId" clId="{25DB666C-E071-4181-B0DD-0C11C5554C67}" dt="2026-02-12T12:39:51.375" v="9" actId="2711"/>
        <pc:sldMkLst>
          <pc:docMk/>
          <pc:sldMk cId="187713796" sldId="271"/>
        </pc:sldMkLst>
        <pc:spChg chg="mod">
          <ac:chgData name="Tristan Despont" userId="d1a7c66da9d715b7" providerId="LiveId" clId="{25DB666C-E071-4181-B0DD-0C11C5554C67}" dt="2026-02-12T12:39:51.375" v="9" actId="2711"/>
          <ac:spMkLst>
            <pc:docMk/>
            <pc:sldMk cId="187713796" sldId="271"/>
            <ac:spMk id="81" creationId="{E920279F-9ADE-D3C3-DEBD-69F54BD5A608}"/>
          </ac:spMkLst>
        </pc:spChg>
      </pc:sldChg>
      <pc:sldChg chg="addSp modSp add mod">
        <pc:chgData name="Tristan Despont" userId="d1a7c66da9d715b7" providerId="LiveId" clId="{25DB666C-E071-4181-B0DD-0C11C5554C67}" dt="2026-02-12T13:40:09.941" v="842" actId="1035"/>
        <pc:sldMkLst>
          <pc:docMk/>
          <pc:sldMk cId="2557990648" sldId="272"/>
        </pc:sldMkLst>
        <pc:spChg chg="mod">
          <ac:chgData name="Tristan Despont" userId="d1a7c66da9d715b7" providerId="LiveId" clId="{25DB666C-E071-4181-B0DD-0C11C5554C67}" dt="2026-02-12T13:01:46.300" v="311" actId="14100"/>
          <ac:spMkLst>
            <pc:docMk/>
            <pc:sldMk cId="2557990648" sldId="272"/>
            <ac:spMk id="87" creationId="{15AC328E-21DA-BAAC-7BB8-7C0747E11A05}"/>
          </ac:spMkLst>
        </pc:spChg>
        <pc:spChg chg="mod">
          <ac:chgData name="Tristan Despont" userId="d1a7c66da9d715b7" providerId="LiveId" clId="{25DB666C-E071-4181-B0DD-0C11C5554C67}" dt="2026-02-12T13:01:51.482" v="312" actId="1076"/>
          <ac:spMkLst>
            <pc:docMk/>
            <pc:sldMk cId="2557990648" sldId="272"/>
            <ac:spMk id="88" creationId="{3A8ED799-714C-9724-7CFF-C940C39BCBA8}"/>
          </ac:spMkLst>
        </pc:spChg>
        <pc:spChg chg="mod">
          <ac:chgData name="Tristan Despont" userId="d1a7c66da9d715b7" providerId="LiveId" clId="{25DB666C-E071-4181-B0DD-0C11C5554C67}" dt="2026-02-12T13:27:01.477" v="704" actId="1035"/>
          <ac:spMkLst>
            <pc:docMk/>
            <pc:sldMk cId="2557990648" sldId="272"/>
            <ac:spMk id="89" creationId="{3DFD8384-6DC5-CB88-BDF5-BA7AC607891C}"/>
          </ac:spMkLst>
        </pc:spChg>
        <pc:spChg chg="mod">
          <ac:chgData name="Tristan Despont" userId="d1a7c66da9d715b7" providerId="LiveId" clId="{25DB666C-E071-4181-B0DD-0C11C5554C67}" dt="2026-02-12T13:24:34.214" v="670" actId="20577"/>
          <ac:spMkLst>
            <pc:docMk/>
            <pc:sldMk cId="2557990648" sldId="272"/>
            <ac:spMk id="90" creationId="{C8348633-7A72-9C55-7487-CDF104084AE6}"/>
          </ac:spMkLst>
        </pc:spChg>
        <pc:picChg chg="add mod">
          <ac:chgData name="Tristan Despont" userId="d1a7c66da9d715b7" providerId="LiveId" clId="{25DB666C-E071-4181-B0DD-0C11C5554C67}" dt="2026-02-12T13:06:23.725" v="606" actId="1035"/>
          <ac:picMkLst>
            <pc:docMk/>
            <pc:sldMk cId="2557990648" sldId="272"/>
            <ac:picMk id="2" creationId="{6E923F32-F6E5-B197-5CDF-2DA425CC614C}"/>
          </ac:picMkLst>
        </pc:picChg>
        <pc:picChg chg="add mod">
          <ac:chgData name="Tristan Despont" userId="d1a7c66da9d715b7" providerId="LiveId" clId="{25DB666C-E071-4181-B0DD-0C11C5554C67}" dt="2026-02-12T13:02:04.773" v="313" actId="14100"/>
          <ac:picMkLst>
            <pc:docMk/>
            <pc:sldMk cId="2557990648" sldId="272"/>
            <ac:picMk id="4" creationId="{0C75A18D-2B52-929F-AE8B-10FBADC4E45E}"/>
          </ac:picMkLst>
        </pc:picChg>
        <pc:picChg chg="add mod">
          <ac:chgData name="Tristan Despont" userId="d1a7c66da9d715b7" providerId="LiveId" clId="{25DB666C-E071-4181-B0DD-0C11C5554C67}" dt="2026-02-12T13:40:09.941" v="842" actId="1035"/>
          <ac:picMkLst>
            <pc:docMk/>
            <pc:sldMk cId="2557990648" sldId="272"/>
            <ac:picMk id="6" creationId="{35E36855-E68D-3BC8-4EED-A90C6042CD11}"/>
          </ac:picMkLst>
        </pc:picChg>
      </pc:sldChg>
      <pc:sldChg chg="modSp add mod">
        <pc:chgData name="Tristan Despont" userId="d1a7c66da9d715b7" providerId="LiveId" clId="{25DB666C-E071-4181-B0DD-0C11C5554C67}" dt="2026-02-12T13:39:45.274" v="833" actId="1035"/>
        <pc:sldMkLst>
          <pc:docMk/>
          <pc:sldMk cId="3071762458" sldId="273"/>
        </pc:sldMkLst>
        <pc:spChg chg="mod">
          <ac:chgData name="Tristan Despont" userId="d1a7c66da9d715b7" providerId="LiveId" clId="{25DB666C-E071-4181-B0DD-0C11C5554C67}" dt="2026-02-12T13:27:05.441" v="707" actId="1035"/>
          <ac:spMkLst>
            <pc:docMk/>
            <pc:sldMk cId="3071762458" sldId="273"/>
            <ac:spMk id="89" creationId="{C9799A91-9C97-2875-8E8F-2626D662C148}"/>
          </ac:spMkLst>
        </pc:spChg>
        <pc:spChg chg="mod">
          <ac:chgData name="Tristan Despont" userId="d1a7c66da9d715b7" providerId="LiveId" clId="{25DB666C-E071-4181-B0DD-0C11C5554C67}" dt="2026-02-12T13:24:58.789" v="687" actId="20577"/>
          <ac:spMkLst>
            <pc:docMk/>
            <pc:sldMk cId="3071762458" sldId="273"/>
            <ac:spMk id="90" creationId="{B5E80824-13FF-C7EB-AFF7-6F57E8AEBD02}"/>
          </ac:spMkLst>
        </pc:spChg>
        <pc:picChg chg="mod">
          <ac:chgData name="Tristan Despont" userId="d1a7c66da9d715b7" providerId="LiveId" clId="{25DB666C-E071-4181-B0DD-0C11C5554C67}" dt="2026-02-12T13:17:42.065" v="642" actId="14826"/>
          <ac:picMkLst>
            <pc:docMk/>
            <pc:sldMk cId="3071762458" sldId="273"/>
            <ac:picMk id="2" creationId="{C26AB766-5A6D-F818-D95A-4B138B26EA27}"/>
          </ac:picMkLst>
        </pc:picChg>
        <pc:picChg chg="mod">
          <ac:chgData name="Tristan Despont" userId="d1a7c66da9d715b7" providerId="LiveId" clId="{25DB666C-E071-4181-B0DD-0C11C5554C67}" dt="2026-02-12T13:17:16.295" v="630" actId="14826"/>
          <ac:picMkLst>
            <pc:docMk/>
            <pc:sldMk cId="3071762458" sldId="273"/>
            <ac:picMk id="4" creationId="{97CD00B6-4068-3186-8037-A6A033992840}"/>
          </ac:picMkLst>
        </pc:picChg>
        <pc:picChg chg="mod">
          <ac:chgData name="Tristan Despont" userId="d1a7c66da9d715b7" providerId="LiveId" clId="{25DB666C-E071-4181-B0DD-0C11C5554C67}" dt="2026-02-12T13:39:45.274" v="833" actId="1035"/>
          <ac:picMkLst>
            <pc:docMk/>
            <pc:sldMk cId="3071762458" sldId="273"/>
            <ac:picMk id="6" creationId="{710EA6EC-458A-CA6E-9CA2-A9F79EDF372A}"/>
          </ac:picMkLst>
        </pc:picChg>
      </pc:sldChg>
      <pc:sldChg chg="delSp modSp add mod">
        <pc:chgData name="Tristan Despont" userId="d1a7c66da9d715b7" providerId="LiveId" clId="{25DB666C-E071-4181-B0DD-0C11C5554C67}" dt="2026-02-12T15:44:35.822" v="1639" actId="1076"/>
        <pc:sldMkLst>
          <pc:docMk/>
          <pc:sldMk cId="2880012307" sldId="274"/>
        </pc:sldMkLst>
        <pc:spChg chg="mod">
          <ac:chgData name="Tristan Despont" userId="d1a7c66da9d715b7" providerId="LiveId" clId="{25DB666C-E071-4181-B0DD-0C11C5554C67}" dt="2026-02-12T15:44:27.294" v="1638" actId="20577"/>
          <ac:spMkLst>
            <pc:docMk/>
            <pc:sldMk cId="2880012307" sldId="274"/>
            <ac:spMk id="90" creationId="{22EED956-518E-5A7F-0865-B7CA428C0D52}"/>
          </ac:spMkLst>
        </pc:spChg>
        <pc:picChg chg="mod">
          <ac:chgData name="Tristan Despont" userId="d1a7c66da9d715b7" providerId="LiveId" clId="{25DB666C-E071-4181-B0DD-0C11C5554C67}" dt="2026-02-12T15:44:35.822" v="1639" actId="1076"/>
          <ac:picMkLst>
            <pc:docMk/>
            <pc:sldMk cId="2880012307" sldId="274"/>
            <ac:picMk id="2" creationId="{7DFE41CA-A61C-12C6-3108-749C0E565663}"/>
          </ac:picMkLst>
        </pc:picChg>
        <pc:picChg chg="mod">
          <ac:chgData name="Tristan Despont" userId="d1a7c66da9d715b7" providerId="LiveId" clId="{25DB666C-E071-4181-B0DD-0C11C5554C67}" dt="2026-02-12T13:31:37.399" v="709" actId="14826"/>
          <ac:picMkLst>
            <pc:docMk/>
            <pc:sldMk cId="2880012307" sldId="274"/>
            <ac:picMk id="4" creationId="{9847E990-6D51-AA34-DCC5-8CE4E53E9B2B}"/>
          </ac:picMkLst>
        </pc:picChg>
        <pc:picChg chg="del mod">
          <ac:chgData name="Tristan Despont" userId="d1a7c66da9d715b7" providerId="LiveId" clId="{25DB666C-E071-4181-B0DD-0C11C5554C67}" dt="2026-02-12T13:55:43.188" v="857" actId="478"/>
          <ac:picMkLst>
            <pc:docMk/>
            <pc:sldMk cId="2880012307" sldId="274"/>
            <ac:picMk id="6" creationId="{45DD9E4F-C385-8991-1981-8C532E5E477B}"/>
          </ac:picMkLst>
        </pc:picChg>
      </pc:sldChg>
      <pc:sldChg chg="modSp add del mod ord">
        <pc:chgData name="Tristan Despont" userId="d1a7c66da9d715b7" providerId="LiveId" clId="{25DB666C-E071-4181-B0DD-0C11C5554C67}" dt="2026-02-12T14:40:55.638" v="1103" actId="2696"/>
        <pc:sldMkLst>
          <pc:docMk/>
          <pc:sldMk cId="2042587390" sldId="275"/>
        </pc:sldMkLst>
        <pc:spChg chg="mod">
          <ac:chgData name="Tristan Despont" userId="d1a7c66da9d715b7" providerId="LiveId" clId="{25DB666C-E071-4181-B0DD-0C11C5554C67}" dt="2026-02-12T14:40:36.410" v="1101" actId="108"/>
          <ac:spMkLst>
            <pc:docMk/>
            <pc:sldMk cId="2042587390" sldId="275"/>
            <ac:spMk id="90" creationId="{96E19134-B533-89A9-BF7C-951FA3A8065A}"/>
          </ac:spMkLst>
        </pc:spChg>
      </pc:sldChg>
      <pc:sldChg chg="addSp modSp add mod ord">
        <pc:chgData name="Tristan Despont" userId="d1a7c66da9d715b7" providerId="LiveId" clId="{25DB666C-E071-4181-B0DD-0C11C5554C67}" dt="2026-02-12T15:43:29.704" v="1630" actId="14100"/>
        <pc:sldMkLst>
          <pc:docMk/>
          <pc:sldMk cId="3409119827" sldId="276"/>
        </pc:sldMkLst>
        <pc:spChg chg="add mod">
          <ac:chgData name="Tristan Despont" userId="d1a7c66da9d715b7" providerId="LiveId" clId="{25DB666C-E071-4181-B0DD-0C11C5554C67}" dt="2026-02-12T15:43:29.704" v="1630" actId="14100"/>
          <ac:spMkLst>
            <pc:docMk/>
            <pc:sldMk cId="3409119827" sldId="276"/>
            <ac:spMk id="3" creationId="{4B22C6F6-A3F5-2E77-FB6C-A7E340F2F191}"/>
          </ac:spMkLst>
        </pc:spChg>
        <pc:spChg chg="mod">
          <ac:chgData name="Tristan Despont" userId="d1a7c66da9d715b7" providerId="LiveId" clId="{25DB666C-E071-4181-B0DD-0C11C5554C67}" dt="2026-02-12T15:21:20.644" v="1334" actId="14100"/>
          <ac:spMkLst>
            <pc:docMk/>
            <pc:sldMk cId="3409119827" sldId="276"/>
            <ac:spMk id="90" creationId="{498CBF63-C411-6B4B-F13E-67761734D795}"/>
          </ac:spMkLst>
        </pc:spChg>
        <pc:picChg chg="mod">
          <ac:chgData name="Tristan Despont" userId="d1a7c66da9d715b7" providerId="LiveId" clId="{25DB666C-E071-4181-B0DD-0C11C5554C67}" dt="2026-02-12T15:21:27.187" v="1335" actId="1076"/>
          <ac:picMkLst>
            <pc:docMk/>
            <pc:sldMk cId="3409119827" sldId="276"/>
            <ac:picMk id="2" creationId="{82E1810D-76A3-60EB-428E-CF3207F5974F}"/>
          </ac:picMkLst>
        </pc:picChg>
        <pc:picChg chg="mod">
          <ac:chgData name="Tristan Despont" userId="d1a7c66da9d715b7" providerId="LiveId" clId="{25DB666C-E071-4181-B0DD-0C11C5554C67}" dt="2026-02-12T15:18:52.363" v="1326" actId="1076"/>
          <ac:picMkLst>
            <pc:docMk/>
            <pc:sldMk cId="3409119827" sldId="276"/>
            <ac:picMk id="4" creationId="{9BFE09F2-6AE8-071D-D015-48877500B46B}"/>
          </ac:picMkLst>
        </pc:picChg>
        <pc:picChg chg="add mod">
          <ac:chgData name="Tristan Despont" userId="d1a7c66da9d715b7" providerId="LiveId" clId="{25DB666C-E071-4181-B0DD-0C11C5554C67}" dt="2026-02-12T15:24:48.014" v="1439" actId="14826"/>
          <ac:picMkLst>
            <pc:docMk/>
            <pc:sldMk cId="3409119827" sldId="276"/>
            <ac:picMk id="6" creationId="{92139FEA-3CAB-A075-2112-56CE9FBED037}"/>
          </ac:picMkLst>
        </pc:picChg>
      </pc:sldChg>
      <pc:sldChg chg="addSp modSp add mod">
        <pc:chgData name="Tristan Despont" userId="d1a7c66da9d715b7" providerId="LiveId" clId="{25DB666C-E071-4181-B0DD-0C11C5554C67}" dt="2026-02-12T15:54:58.386" v="1674"/>
        <pc:sldMkLst>
          <pc:docMk/>
          <pc:sldMk cId="949513787" sldId="277"/>
        </pc:sldMkLst>
        <pc:spChg chg="mod">
          <ac:chgData name="Tristan Despont" userId="d1a7c66da9d715b7" providerId="LiveId" clId="{25DB666C-E071-4181-B0DD-0C11C5554C67}" dt="2026-02-12T15:26:18.094" v="1443" actId="14100"/>
          <ac:spMkLst>
            <pc:docMk/>
            <pc:sldMk cId="949513787" sldId="277"/>
            <ac:spMk id="3" creationId="{9508B2A4-69BA-F56B-15A3-93073FADF5AA}"/>
          </ac:spMkLst>
        </pc:spChg>
        <pc:spChg chg="add mod">
          <ac:chgData name="Tristan Despont" userId="d1a7c66da9d715b7" providerId="LiveId" clId="{25DB666C-E071-4181-B0DD-0C11C5554C67}" dt="2026-02-12T15:54:58.386" v="1674"/>
          <ac:spMkLst>
            <pc:docMk/>
            <pc:sldMk cId="949513787" sldId="277"/>
            <ac:spMk id="5" creationId="{A3FC92B5-EE27-6869-D5FA-7A2DDC71E1E1}"/>
          </ac:spMkLst>
        </pc:spChg>
        <pc:picChg chg="mod">
          <ac:chgData name="Tristan Despont" userId="d1a7c66da9d715b7" providerId="LiveId" clId="{25DB666C-E071-4181-B0DD-0C11C5554C67}" dt="2026-02-12T15:26:06.885" v="1441" actId="14100"/>
          <ac:picMkLst>
            <pc:docMk/>
            <pc:sldMk cId="949513787" sldId="277"/>
            <ac:picMk id="4" creationId="{77014B35-4FAC-8DF2-10C8-FD991EFA681C}"/>
          </ac:picMkLst>
        </pc:picChg>
        <pc:picChg chg="mod">
          <ac:chgData name="Tristan Despont" userId="d1a7c66da9d715b7" providerId="LiveId" clId="{25DB666C-E071-4181-B0DD-0C11C5554C67}" dt="2026-02-12T15:26:24.932" v="1444" actId="1076"/>
          <ac:picMkLst>
            <pc:docMk/>
            <pc:sldMk cId="949513787" sldId="277"/>
            <ac:picMk id="6" creationId="{78FEB2B2-E1FB-2AFE-C62C-6A28DF35D6BC}"/>
          </ac:picMkLst>
        </pc:picChg>
        <pc:picChg chg="add mod">
          <ac:chgData name="Tristan Despont" userId="d1a7c66da9d715b7" providerId="LiveId" clId="{25DB666C-E071-4181-B0DD-0C11C5554C67}" dt="2026-02-12T15:33:11.952" v="1629" actId="1036"/>
          <ac:picMkLst>
            <pc:docMk/>
            <pc:sldMk cId="949513787" sldId="277"/>
            <ac:picMk id="8" creationId="{BDBDB952-4C6E-2352-9D92-D2A6FEB95DB1}"/>
          </ac:picMkLst>
        </pc:picChg>
      </pc:sldChg>
      <pc:sldChg chg="new del">
        <pc:chgData name="Tristan Despont" userId="d1a7c66da9d715b7" providerId="LiveId" clId="{25DB666C-E071-4181-B0DD-0C11C5554C67}" dt="2026-02-12T15:53:34.122" v="1650" actId="680"/>
        <pc:sldMkLst>
          <pc:docMk/>
          <pc:sldMk cId="3777406595" sldId="278"/>
        </pc:sldMkLst>
      </pc:sldChg>
    </pc:docChg>
  </pc:docChgLst>
  <pc:docChgLst>
    <pc:chgData name="Tristan Despont" userId="d1a7c66da9d715b7" providerId="LiveId" clId="{8D77CC59-83D2-4C48-82B8-96050E88F101}"/>
    <pc:docChg chg="undo redo custSel addSld delSld modSld sldOrd addSection delSection modSection">
      <pc:chgData name="Tristan Despont" userId="d1a7c66da9d715b7" providerId="LiveId" clId="{8D77CC59-83D2-4C48-82B8-96050E88F101}" dt="2026-02-13T12:15:58.358" v="5757" actId="20577"/>
      <pc:docMkLst>
        <pc:docMk/>
      </pc:docMkLst>
      <pc:sldChg chg="addSp delSp modSp mod setBg">
        <pc:chgData name="Tristan Despont" userId="d1a7c66da9d715b7" providerId="LiveId" clId="{8D77CC59-83D2-4C48-82B8-96050E88F101}" dt="2026-02-09T14:10:58.136" v="116" actId="403"/>
        <pc:sldMkLst>
          <pc:docMk/>
          <pc:sldMk cId="0" sldId="256"/>
        </pc:sldMkLst>
        <pc:spChg chg="mod">
          <ac:chgData name="Tristan Despont" userId="d1a7c66da9d715b7" providerId="LiveId" clId="{8D77CC59-83D2-4C48-82B8-96050E88F101}" dt="2026-02-09T14:10:58.136" v="116" actId="403"/>
          <ac:spMkLst>
            <pc:docMk/>
            <pc:sldMk cId="0" sldId="256"/>
            <ac:spMk id="55" creationId="{00000000-0000-0000-0000-000000000000}"/>
          </ac:spMkLst>
        </pc:spChg>
        <pc:spChg chg="mod">
          <ac:chgData name="Tristan Despont" userId="d1a7c66da9d715b7" providerId="LiveId" clId="{8D77CC59-83D2-4C48-82B8-96050E88F101}" dt="2026-02-09T13:51:44.922" v="100" actId="2711"/>
          <ac:spMkLst>
            <pc:docMk/>
            <pc:sldMk cId="0" sldId="256"/>
            <ac:spMk id="56" creationId="{00000000-0000-0000-0000-000000000000}"/>
          </ac:spMkLst>
        </pc:spChg>
        <pc:picChg chg="add mod">
          <ac:chgData name="Tristan Despont" userId="d1a7c66da9d715b7" providerId="LiveId" clId="{8D77CC59-83D2-4C48-82B8-96050E88F101}" dt="2026-02-09T14:09:52.608" v="108" actId="1076"/>
          <ac:picMkLst>
            <pc:docMk/>
            <pc:sldMk cId="0" sldId="256"/>
            <ac:picMk id="3" creationId="{95D74771-87F3-94E2-50BB-A45225E731BF}"/>
          </ac:picMkLst>
        </pc:picChg>
      </pc:sldChg>
      <pc:sldChg chg="addSp modSp mod modNotesTx">
        <pc:chgData name="Tristan Despont" userId="d1a7c66da9d715b7" providerId="LiveId" clId="{8D77CC59-83D2-4C48-82B8-96050E88F101}" dt="2026-02-13T12:15:58.358" v="5757" actId="20577"/>
        <pc:sldMkLst>
          <pc:docMk/>
          <pc:sldMk cId="0" sldId="261"/>
        </pc:sldMkLst>
        <pc:spChg chg="mod">
          <ac:chgData name="Tristan Despont" userId="d1a7c66da9d715b7" providerId="LiveId" clId="{8D77CC59-83D2-4C48-82B8-96050E88F101}" dt="2026-02-13T11:21:44.678" v="5223" actId="2711"/>
          <ac:spMkLst>
            <pc:docMk/>
            <pc:sldMk cId="0" sldId="261"/>
            <ac:spMk id="96" creationId="{00000000-0000-0000-0000-000000000000}"/>
          </ac:spMkLst>
        </pc:spChg>
        <pc:spChg chg="mod">
          <ac:chgData name="Tristan Despont" userId="d1a7c66da9d715b7" providerId="LiveId" clId="{8D77CC59-83D2-4C48-82B8-96050E88F101}" dt="2026-02-13T11:48:26.440" v="5374" actId="20577"/>
          <ac:spMkLst>
            <pc:docMk/>
            <pc:sldMk cId="0" sldId="261"/>
            <ac:spMk id="98" creationId="{00000000-0000-0000-0000-000000000000}"/>
          </ac:spMkLst>
        </pc:spChg>
        <pc:picChg chg="add mod">
          <ac:chgData name="Tristan Despont" userId="d1a7c66da9d715b7" providerId="LiveId" clId="{8D77CC59-83D2-4C48-82B8-96050E88F101}" dt="2026-02-13T09:56:44.647" v="4305"/>
          <ac:picMkLst>
            <pc:docMk/>
            <pc:sldMk cId="0" sldId="261"/>
            <ac:picMk id="2" creationId="{7F667776-48F6-ED3F-5411-91AEFA4D941C}"/>
          </ac:picMkLst>
        </pc:picChg>
        <pc:picChg chg="add mod">
          <ac:chgData name="Tristan Despont" userId="d1a7c66da9d715b7" providerId="LiveId" clId="{8D77CC59-83D2-4C48-82B8-96050E88F101}" dt="2026-02-13T11:36:01.745" v="5336" actId="1035"/>
          <ac:picMkLst>
            <pc:docMk/>
            <pc:sldMk cId="0" sldId="261"/>
            <ac:picMk id="4" creationId="{65EC6476-49CB-75C2-4A1B-8EF7F35BC84D}"/>
          </ac:picMkLst>
        </pc:picChg>
        <pc:picChg chg="add mod">
          <ac:chgData name="Tristan Despont" userId="d1a7c66da9d715b7" providerId="LiveId" clId="{8D77CC59-83D2-4C48-82B8-96050E88F101}" dt="2026-02-13T11:34:56.339" v="5331" actId="14826"/>
          <ac:picMkLst>
            <pc:docMk/>
            <pc:sldMk cId="0" sldId="261"/>
            <ac:picMk id="6" creationId="{04312197-5715-2DE4-ABFB-D2A720C315A2}"/>
          </ac:picMkLst>
        </pc:picChg>
      </pc:sldChg>
      <pc:sldChg chg="addSp modSp del">
        <pc:chgData name="Tristan Despont" userId="d1a7c66da9d715b7" providerId="LiveId" clId="{8D77CC59-83D2-4C48-82B8-96050E88F101}" dt="2026-02-13T11:36:25.889" v="5337" actId="2696"/>
        <pc:sldMkLst>
          <pc:docMk/>
          <pc:sldMk cId="0" sldId="262"/>
        </pc:sldMkLst>
        <pc:picChg chg="add mod">
          <ac:chgData name="Tristan Despont" userId="d1a7c66da9d715b7" providerId="LiveId" clId="{8D77CC59-83D2-4C48-82B8-96050E88F101}" dt="2026-02-13T09:56:45.845" v="4306"/>
          <ac:picMkLst>
            <pc:docMk/>
            <pc:sldMk cId="0" sldId="262"/>
            <ac:picMk id="2" creationId="{CE16F25E-047D-26D8-E7B6-780C5044723C}"/>
          </ac:picMkLst>
        </pc:picChg>
      </pc:sldChg>
      <pc:sldChg chg="addSp delSp modSp add mod">
        <pc:chgData name="Tristan Despont" userId="d1a7c66da9d715b7" providerId="LiveId" clId="{8D77CC59-83D2-4C48-82B8-96050E88F101}" dt="2026-02-13T09:54:00.731" v="4236" actId="1076"/>
        <pc:sldMkLst>
          <pc:docMk/>
          <pc:sldMk cId="505939416" sldId="263"/>
        </pc:sldMkLst>
        <pc:spChg chg="mod">
          <ac:chgData name="Tristan Despont" userId="d1a7c66da9d715b7" providerId="LiveId" clId="{8D77CC59-83D2-4C48-82B8-96050E88F101}" dt="2026-02-11T16:24:56.874" v="3406" actId="207"/>
          <ac:spMkLst>
            <pc:docMk/>
            <pc:sldMk cId="505939416" sldId="263"/>
            <ac:spMk id="63" creationId="{D4E22352-6C27-723A-8630-515F09CEDF1E}"/>
          </ac:spMkLst>
        </pc:spChg>
        <pc:spChg chg="mod">
          <ac:chgData name="Tristan Despont" userId="d1a7c66da9d715b7" providerId="LiveId" clId="{8D77CC59-83D2-4C48-82B8-96050E88F101}" dt="2026-02-13T09:52:58.875" v="4062" actId="1076"/>
          <ac:spMkLst>
            <pc:docMk/>
            <pc:sldMk cId="505939416" sldId="263"/>
            <ac:spMk id="65" creationId="{356DB32E-C801-2A0F-F759-D4346BEE722A}"/>
          </ac:spMkLst>
        </pc:spChg>
        <pc:picChg chg="add del mod">
          <ac:chgData name="Tristan Despont" userId="d1a7c66da9d715b7" providerId="LiveId" clId="{8D77CC59-83D2-4C48-82B8-96050E88F101}" dt="2026-02-11T16:07:11.949" v="2777" actId="207"/>
          <ac:picMkLst>
            <pc:docMk/>
            <pc:sldMk cId="505939416" sldId="263"/>
            <ac:picMk id="3" creationId="{2DAD876A-43F5-6A71-F606-C3DA33BE6069}"/>
          </ac:picMkLst>
        </pc:picChg>
        <pc:picChg chg="add mod">
          <ac:chgData name="Tristan Despont" userId="d1a7c66da9d715b7" providerId="LiveId" clId="{8D77CC59-83D2-4C48-82B8-96050E88F101}" dt="2026-02-13T09:54:00.731" v="4236" actId="1076"/>
          <ac:picMkLst>
            <pc:docMk/>
            <pc:sldMk cId="505939416" sldId="263"/>
            <ac:picMk id="4" creationId="{225AD8F1-9CE6-23B9-2181-AC5BCD7B7AE3}"/>
          </ac:picMkLst>
        </pc:picChg>
        <pc:picChg chg="add mod">
          <ac:chgData name="Tristan Despont" userId="d1a7c66da9d715b7" providerId="LiveId" clId="{8D77CC59-83D2-4C48-82B8-96050E88F101}" dt="2026-02-11T16:07:18.411" v="2778" actId="207"/>
          <ac:picMkLst>
            <pc:docMk/>
            <pc:sldMk cId="505939416" sldId="263"/>
            <ac:picMk id="11" creationId="{7F23F93D-8648-8C74-7827-95898A501907}"/>
          </ac:picMkLst>
        </pc:picChg>
      </pc:sldChg>
      <pc:sldChg chg="addSp delSp modSp add mod">
        <pc:chgData name="Tristan Despont" userId="d1a7c66da9d715b7" providerId="LiveId" clId="{8D77CC59-83D2-4C48-82B8-96050E88F101}" dt="2026-02-13T11:58:38.940" v="5461" actId="1076"/>
        <pc:sldMkLst>
          <pc:docMk/>
          <pc:sldMk cId="1310057201" sldId="264"/>
        </pc:sldMkLst>
        <pc:spChg chg="add mod">
          <ac:chgData name="Tristan Despont" userId="d1a7c66da9d715b7" providerId="LiveId" clId="{8D77CC59-83D2-4C48-82B8-96050E88F101}" dt="2026-02-11T16:25:09.285" v="3408" actId="207"/>
          <ac:spMkLst>
            <pc:docMk/>
            <pc:sldMk cId="1310057201" sldId="264"/>
            <ac:spMk id="2" creationId="{24C10544-1686-E99B-3D5D-FE874355C6C2}"/>
          </ac:spMkLst>
        </pc:spChg>
        <pc:spChg chg="add mod">
          <ac:chgData name="Tristan Despont" userId="d1a7c66da9d715b7" providerId="LiveId" clId="{8D77CC59-83D2-4C48-82B8-96050E88F101}" dt="2026-02-13T11:58:38.940" v="5461" actId="1076"/>
          <ac:spMkLst>
            <pc:docMk/>
            <pc:sldMk cId="1310057201" sldId="264"/>
            <ac:spMk id="4" creationId="{D5D4C35D-E390-C752-D502-1AC589C0DF41}"/>
          </ac:spMkLst>
        </pc:spChg>
        <pc:spChg chg="add mod">
          <ac:chgData name="Tristan Despont" userId="d1a7c66da9d715b7" providerId="LiveId" clId="{8D77CC59-83D2-4C48-82B8-96050E88F101}" dt="2026-02-11T16:25:09.285" v="3408" actId="207"/>
          <ac:spMkLst>
            <pc:docMk/>
            <pc:sldMk cId="1310057201" sldId="264"/>
            <ac:spMk id="5" creationId="{534F47B5-F8BF-12D0-B30C-C03BB5420645}"/>
          </ac:spMkLst>
        </pc:spChg>
        <pc:spChg chg="mod">
          <ac:chgData name="Tristan Despont" userId="d1a7c66da9d715b7" providerId="LiveId" clId="{8D77CC59-83D2-4C48-82B8-96050E88F101}" dt="2026-02-11T16:25:02.741" v="3407" actId="207"/>
          <ac:spMkLst>
            <pc:docMk/>
            <pc:sldMk cId="1310057201" sldId="264"/>
            <ac:spMk id="63" creationId="{FD8462B5-DD1C-2CF7-6C3C-12C59B5A0CCA}"/>
          </ac:spMkLst>
        </pc:spChg>
        <pc:spChg chg="mod">
          <ac:chgData name="Tristan Despont" userId="d1a7c66da9d715b7" providerId="LiveId" clId="{8D77CC59-83D2-4C48-82B8-96050E88F101}" dt="2026-02-09T15:36:12.725" v="446" actId="2711"/>
          <ac:spMkLst>
            <pc:docMk/>
            <pc:sldMk cId="1310057201" sldId="264"/>
            <ac:spMk id="65" creationId="{B2329E74-5ACD-0F2D-E32D-32A0F6C1C878}"/>
          </ac:spMkLst>
        </pc:spChg>
        <pc:picChg chg="add mod">
          <ac:chgData name="Tristan Despont" userId="d1a7c66da9d715b7" providerId="LiveId" clId="{8D77CC59-83D2-4C48-82B8-96050E88F101}" dt="2026-02-13T09:54:05.473" v="4237"/>
          <ac:picMkLst>
            <pc:docMk/>
            <pc:sldMk cId="1310057201" sldId="264"/>
            <ac:picMk id="3" creationId="{5FA8A6AA-B6C1-F641-1D70-5D450AF25E0D}"/>
          </ac:picMkLst>
        </pc:picChg>
        <pc:picChg chg="add mod">
          <ac:chgData name="Tristan Despont" userId="d1a7c66da9d715b7" providerId="LiveId" clId="{8D77CC59-83D2-4C48-82B8-96050E88F101}" dt="2026-02-11T16:07:06.345" v="2776" actId="207"/>
          <ac:picMkLst>
            <pc:docMk/>
            <pc:sldMk cId="1310057201" sldId="264"/>
            <ac:picMk id="6" creationId="{ABC6B411-8F59-636C-9E29-775C499E7C86}"/>
          </ac:picMkLst>
        </pc:picChg>
        <pc:picChg chg="add mod">
          <ac:chgData name="Tristan Despont" userId="d1a7c66da9d715b7" providerId="LiveId" clId="{8D77CC59-83D2-4C48-82B8-96050E88F101}" dt="2026-02-13T09:54:09.003" v="4238"/>
          <ac:picMkLst>
            <pc:docMk/>
            <pc:sldMk cId="1310057201" sldId="264"/>
            <ac:picMk id="7" creationId="{740736B3-A571-9C3D-5622-6B85838BCD4E}"/>
          </ac:picMkLst>
        </pc:picChg>
      </pc:sldChg>
      <pc:sldChg chg="addSp delSp modSp add mod ord modNotesTx">
        <pc:chgData name="Tristan Despont" userId="d1a7c66da9d715b7" providerId="LiveId" clId="{8D77CC59-83D2-4C48-82B8-96050E88F101}" dt="2026-02-13T11:59:26.424" v="5475" actId="20577"/>
        <pc:sldMkLst>
          <pc:docMk/>
          <pc:sldMk cId="716349675" sldId="265"/>
        </pc:sldMkLst>
        <pc:spChg chg="mod">
          <ac:chgData name="Tristan Despont" userId="d1a7c66da9d715b7" providerId="LiveId" clId="{8D77CC59-83D2-4C48-82B8-96050E88F101}" dt="2026-02-13T11:11:45.381" v="5214" actId="2710"/>
          <ac:spMkLst>
            <pc:docMk/>
            <pc:sldMk cId="716349675" sldId="265"/>
            <ac:spMk id="63" creationId="{C41FDEA3-426C-4AA1-87D8-1DA50603F3FF}"/>
          </ac:spMkLst>
        </pc:spChg>
        <pc:picChg chg="add mod">
          <ac:chgData name="Tristan Despont" userId="d1a7c66da9d715b7" providerId="LiveId" clId="{8D77CC59-83D2-4C48-82B8-96050E88F101}" dt="2026-02-13T09:54:11.764" v="4239"/>
          <ac:picMkLst>
            <pc:docMk/>
            <pc:sldMk cId="716349675" sldId="265"/>
            <ac:picMk id="2" creationId="{91D51282-0865-DDBB-BAAB-DD50C4EA2C14}"/>
          </ac:picMkLst>
        </pc:picChg>
        <pc:picChg chg="add mod">
          <ac:chgData name="Tristan Despont" userId="d1a7c66da9d715b7" providerId="LiveId" clId="{8D77CC59-83D2-4C48-82B8-96050E88F101}" dt="2026-02-11T16:06:59.331" v="2775" actId="207"/>
          <ac:picMkLst>
            <pc:docMk/>
            <pc:sldMk cId="716349675" sldId="265"/>
            <ac:picMk id="5" creationId="{C78A8801-A937-9F54-2093-582BF7032442}"/>
          </ac:picMkLst>
        </pc:picChg>
      </pc:sldChg>
      <pc:sldChg chg="addSp modSp add mod modNotesTx">
        <pc:chgData name="Tristan Despont" userId="d1a7c66da9d715b7" providerId="LiveId" clId="{8D77CC59-83D2-4C48-82B8-96050E88F101}" dt="2026-02-13T11:11:38.185" v="5213" actId="2710"/>
        <pc:sldMkLst>
          <pc:docMk/>
          <pc:sldMk cId="758372532" sldId="266"/>
        </pc:sldMkLst>
        <pc:spChg chg="mod">
          <ac:chgData name="Tristan Despont" userId="d1a7c66da9d715b7" providerId="LiveId" clId="{8D77CC59-83D2-4C48-82B8-96050E88F101}" dt="2026-02-13T11:11:38.185" v="5213" actId="2710"/>
          <ac:spMkLst>
            <pc:docMk/>
            <pc:sldMk cId="758372532" sldId="266"/>
            <ac:spMk id="63" creationId="{8A2C0CF2-3F29-AB7C-C250-29E470D53EA9}"/>
          </ac:spMkLst>
        </pc:spChg>
        <pc:picChg chg="add mod">
          <ac:chgData name="Tristan Despont" userId="d1a7c66da9d715b7" providerId="LiveId" clId="{8D77CC59-83D2-4C48-82B8-96050E88F101}" dt="2026-02-13T09:54:18.545" v="4240"/>
          <ac:picMkLst>
            <pc:docMk/>
            <pc:sldMk cId="758372532" sldId="266"/>
            <ac:picMk id="2" creationId="{B16ECCF8-2E16-54DA-3CC4-EC18B4F83435}"/>
          </ac:picMkLst>
        </pc:picChg>
        <pc:picChg chg="mod">
          <ac:chgData name="Tristan Despont" userId="d1a7c66da9d715b7" providerId="LiveId" clId="{8D77CC59-83D2-4C48-82B8-96050E88F101}" dt="2026-02-11T16:06:52.055" v="2774" actId="207"/>
          <ac:picMkLst>
            <pc:docMk/>
            <pc:sldMk cId="758372532" sldId="266"/>
            <ac:picMk id="5" creationId="{402C4C8E-B920-BA00-F432-0955DC004785}"/>
          </ac:picMkLst>
        </pc:picChg>
      </pc:sldChg>
      <pc:sldChg chg="addSp modSp add mod modNotesTx">
        <pc:chgData name="Tristan Despont" userId="d1a7c66da9d715b7" providerId="LiveId" clId="{8D77CC59-83D2-4C48-82B8-96050E88F101}" dt="2026-02-13T12:02:11.480" v="5496" actId="20577"/>
        <pc:sldMkLst>
          <pc:docMk/>
          <pc:sldMk cId="1524318452" sldId="267"/>
        </pc:sldMkLst>
        <pc:spChg chg="mod">
          <ac:chgData name="Tristan Despont" userId="d1a7c66da9d715b7" providerId="LiveId" clId="{8D77CC59-83D2-4C48-82B8-96050E88F101}" dt="2026-02-13T11:11:32.026" v="5212" actId="2710"/>
          <ac:spMkLst>
            <pc:docMk/>
            <pc:sldMk cId="1524318452" sldId="267"/>
            <ac:spMk id="63" creationId="{FCACBA47-BAC8-3F94-129A-D4621B80196F}"/>
          </ac:spMkLst>
        </pc:spChg>
        <pc:picChg chg="add mod">
          <ac:chgData name="Tristan Despont" userId="d1a7c66da9d715b7" providerId="LiveId" clId="{8D77CC59-83D2-4C48-82B8-96050E88F101}" dt="2026-02-13T09:54:20.092" v="4241"/>
          <ac:picMkLst>
            <pc:docMk/>
            <pc:sldMk cId="1524318452" sldId="267"/>
            <ac:picMk id="2" creationId="{890FEB42-8D6A-7DCA-108B-A40164B1037A}"/>
          </ac:picMkLst>
        </pc:picChg>
        <pc:picChg chg="mod">
          <ac:chgData name="Tristan Despont" userId="d1a7c66da9d715b7" providerId="LiveId" clId="{8D77CC59-83D2-4C48-82B8-96050E88F101}" dt="2026-02-11T16:15:43.882" v="3218" actId="1076"/>
          <ac:picMkLst>
            <pc:docMk/>
            <pc:sldMk cId="1524318452" sldId="267"/>
            <ac:picMk id="5" creationId="{0D45CA03-F6DB-C14E-7389-3FF0C11685BB}"/>
          </ac:picMkLst>
        </pc:picChg>
      </pc:sldChg>
      <pc:sldChg chg="addSp delSp modSp add mod modNotesTx">
        <pc:chgData name="Tristan Despont" userId="d1a7c66da9d715b7" providerId="LiveId" clId="{8D77CC59-83D2-4C48-82B8-96050E88F101}" dt="2026-02-13T12:03:17.880" v="5595" actId="20577"/>
        <pc:sldMkLst>
          <pc:docMk/>
          <pc:sldMk cId="2817613134" sldId="268"/>
        </pc:sldMkLst>
        <pc:spChg chg="mod">
          <ac:chgData name="Tristan Despont" userId="d1a7c66da9d715b7" providerId="LiveId" clId="{8D77CC59-83D2-4C48-82B8-96050E88F101}" dt="2026-02-11T15:52:28.087" v="2656" actId="207"/>
          <ac:spMkLst>
            <pc:docMk/>
            <pc:sldMk cId="2817613134" sldId="268"/>
            <ac:spMk id="72" creationId="{9704C367-0B71-C161-865A-903884ECA825}"/>
          </ac:spMkLst>
        </pc:spChg>
        <pc:picChg chg="add mod">
          <ac:chgData name="Tristan Despont" userId="d1a7c66da9d715b7" providerId="LiveId" clId="{8D77CC59-83D2-4C48-82B8-96050E88F101}" dt="2026-02-13T09:54:21.490" v="4242"/>
          <ac:picMkLst>
            <pc:docMk/>
            <pc:sldMk cId="2817613134" sldId="268"/>
            <ac:picMk id="2" creationId="{AFED5F7E-DE85-C6BA-2608-E64159B6C543}"/>
          </ac:picMkLst>
        </pc:picChg>
        <pc:picChg chg="add mod">
          <ac:chgData name="Tristan Despont" userId="d1a7c66da9d715b7" providerId="LiveId" clId="{8D77CC59-83D2-4C48-82B8-96050E88F101}" dt="2026-02-11T16:06:13.663" v="2772" actId="692"/>
          <ac:picMkLst>
            <pc:docMk/>
            <pc:sldMk cId="2817613134" sldId="268"/>
            <ac:picMk id="3" creationId="{6238AF51-A9CA-AC1F-4301-0231FA7F6B1F}"/>
          </ac:picMkLst>
        </pc:picChg>
      </pc:sldChg>
      <pc:sldChg chg="addSp delSp modSp add mod ord">
        <pc:chgData name="Tristan Despont" userId="d1a7c66da9d715b7" providerId="LiveId" clId="{8D77CC59-83D2-4C48-82B8-96050E88F101}" dt="2026-02-13T11:38:11.721" v="5366" actId="1035"/>
        <pc:sldMkLst>
          <pc:docMk/>
          <pc:sldMk cId="1990878905" sldId="269"/>
        </pc:sldMkLst>
        <pc:spChg chg="add mod">
          <ac:chgData name="Tristan Despont" userId="d1a7c66da9d715b7" providerId="LiveId" clId="{8D77CC59-83D2-4C48-82B8-96050E88F101}" dt="2026-02-13T11:38:05.659" v="5348" actId="14100"/>
          <ac:spMkLst>
            <pc:docMk/>
            <pc:sldMk cId="1990878905" sldId="269"/>
            <ac:spMk id="4" creationId="{7F41AC66-6B29-58A5-E1B0-3E40F4846E5D}"/>
          </ac:spMkLst>
        </pc:spChg>
        <pc:picChg chg="add mod">
          <ac:chgData name="Tristan Despont" userId="d1a7c66da9d715b7" providerId="LiveId" clId="{8D77CC59-83D2-4C48-82B8-96050E88F101}" dt="2026-02-13T09:54:22.708" v="4243"/>
          <ac:picMkLst>
            <pc:docMk/>
            <pc:sldMk cId="1990878905" sldId="269"/>
            <ac:picMk id="2" creationId="{1AF889CF-E8E1-FFED-2082-BA75C69F6735}"/>
          </ac:picMkLst>
        </pc:picChg>
        <pc:picChg chg="add del mod">
          <ac:chgData name="Tristan Despont" userId="d1a7c66da9d715b7" providerId="LiveId" clId="{8D77CC59-83D2-4C48-82B8-96050E88F101}" dt="2026-02-13T11:38:11.721" v="5366" actId="1035"/>
          <ac:picMkLst>
            <pc:docMk/>
            <pc:sldMk cId="1990878905" sldId="269"/>
            <ac:picMk id="5" creationId="{20BD8C65-9A35-969A-9F86-CB524C6A475E}"/>
          </ac:picMkLst>
        </pc:picChg>
      </pc:sldChg>
      <pc:sldChg chg="addSp delSp modSp add mod modNotesTx">
        <pc:chgData name="Tristan Despont" userId="d1a7c66da9d715b7" providerId="LiveId" clId="{8D77CC59-83D2-4C48-82B8-96050E88F101}" dt="2026-02-13T12:05:37.256" v="5607" actId="20577"/>
        <pc:sldMkLst>
          <pc:docMk/>
          <pc:sldMk cId="3526492147" sldId="270"/>
        </pc:sldMkLst>
        <pc:spChg chg="add mod">
          <ac:chgData name="Tristan Despont" userId="d1a7c66da9d715b7" providerId="LiveId" clId="{8D77CC59-83D2-4C48-82B8-96050E88F101}" dt="2026-02-11T17:08:08.940" v="3690" actId="20577"/>
          <ac:spMkLst>
            <pc:docMk/>
            <pc:sldMk cId="3526492147" sldId="270"/>
            <ac:spMk id="2" creationId="{BA1F3B94-23B2-AA6C-4B80-C07862214788}"/>
          </ac:spMkLst>
        </pc:spChg>
        <pc:spChg chg="add mod">
          <ac:chgData name="Tristan Despont" userId="d1a7c66da9d715b7" providerId="LiveId" clId="{8D77CC59-83D2-4C48-82B8-96050E88F101}" dt="2026-02-11T17:05:40.987" v="3667" actId="14100"/>
          <ac:spMkLst>
            <pc:docMk/>
            <pc:sldMk cId="3526492147" sldId="270"/>
            <ac:spMk id="9" creationId="{44402DE8-8AA9-A20B-EDCA-BB47870EA8C5}"/>
          </ac:spMkLst>
        </pc:spChg>
        <pc:picChg chg="add mod">
          <ac:chgData name="Tristan Despont" userId="d1a7c66da9d715b7" providerId="LiveId" clId="{8D77CC59-83D2-4C48-82B8-96050E88F101}" dt="2026-02-13T09:54:24.088" v="4244"/>
          <ac:picMkLst>
            <pc:docMk/>
            <pc:sldMk cId="3526492147" sldId="270"/>
            <ac:picMk id="3" creationId="{CC1B93A1-B281-DECA-EFBC-A71F05BD1BDE}"/>
          </ac:picMkLst>
        </pc:picChg>
        <pc:picChg chg="add mod">
          <ac:chgData name="Tristan Despont" userId="d1a7c66da9d715b7" providerId="LiveId" clId="{8D77CC59-83D2-4C48-82B8-96050E88F101}" dt="2026-02-11T17:07:18.811" v="3683" actId="1076"/>
          <ac:picMkLst>
            <pc:docMk/>
            <pc:sldMk cId="3526492147" sldId="270"/>
            <ac:picMk id="6" creationId="{950F2CC5-3DB0-5E69-30CF-931B68D2A5C2}"/>
          </ac:picMkLst>
        </pc:picChg>
        <pc:picChg chg="add mod">
          <ac:chgData name="Tristan Despont" userId="d1a7c66da9d715b7" providerId="LiveId" clId="{8D77CC59-83D2-4C48-82B8-96050E88F101}" dt="2026-02-11T17:06:05.132" v="3671" actId="1076"/>
          <ac:picMkLst>
            <pc:docMk/>
            <pc:sldMk cId="3526492147" sldId="270"/>
            <ac:picMk id="8" creationId="{E1726A00-49E8-71BF-DD3D-9F03477A80C4}"/>
          </ac:picMkLst>
        </pc:picChg>
        <pc:picChg chg="add mod">
          <ac:chgData name="Tristan Despont" userId="d1a7c66da9d715b7" providerId="LiveId" clId="{8D77CC59-83D2-4C48-82B8-96050E88F101}" dt="2026-02-11T17:07:56.723" v="3688" actId="1076"/>
          <ac:picMkLst>
            <pc:docMk/>
            <pc:sldMk cId="3526492147" sldId="270"/>
            <ac:picMk id="13" creationId="{0894275D-ECB7-4530-99DF-F1373D2A8FB0}"/>
          </ac:picMkLst>
        </pc:picChg>
      </pc:sldChg>
      <pc:sldChg chg="addSp modSp add mod ord modNotesTx">
        <pc:chgData name="Tristan Despont" userId="d1a7c66da9d715b7" providerId="LiveId" clId="{8D77CC59-83D2-4C48-82B8-96050E88F101}" dt="2026-02-13T12:07:50.130" v="5640" actId="20577"/>
        <pc:sldMkLst>
          <pc:docMk/>
          <pc:sldMk cId="187713796" sldId="271"/>
        </pc:sldMkLst>
        <pc:spChg chg="mod">
          <ac:chgData name="Tristan Despont" userId="d1a7c66da9d715b7" providerId="LiveId" clId="{8D77CC59-83D2-4C48-82B8-96050E88F101}" dt="2026-02-11T17:34:46.865" v="4016" actId="14100"/>
          <ac:spMkLst>
            <pc:docMk/>
            <pc:sldMk cId="187713796" sldId="271"/>
            <ac:spMk id="79" creationId="{29545795-BA3C-E4DB-423E-9A3DD57519C7}"/>
          </ac:spMkLst>
        </pc:spChg>
        <pc:picChg chg="add mod">
          <ac:chgData name="Tristan Despont" userId="d1a7c66da9d715b7" providerId="LiveId" clId="{8D77CC59-83D2-4C48-82B8-96050E88F101}" dt="2026-02-13T09:54:26.069" v="4245"/>
          <ac:picMkLst>
            <pc:docMk/>
            <pc:sldMk cId="187713796" sldId="271"/>
            <ac:picMk id="2" creationId="{49C31A55-7838-FFF6-FF02-0CB446FC5685}"/>
          </ac:picMkLst>
        </pc:picChg>
        <pc:picChg chg="add mod">
          <ac:chgData name="Tristan Despont" userId="d1a7c66da9d715b7" providerId="LiveId" clId="{8D77CC59-83D2-4C48-82B8-96050E88F101}" dt="2026-02-11T17:37:04.763" v="4038" actId="1076"/>
          <ac:picMkLst>
            <pc:docMk/>
            <pc:sldMk cId="187713796" sldId="271"/>
            <ac:picMk id="3" creationId="{227ABBC2-3F68-A9C9-B1F1-0F065AB703D2}"/>
          </ac:picMkLst>
        </pc:picChg>
        <pc:picChg chg="add mod">
          <ac:chgData name="Tristan Despont" userId="d1a7c66da9d715b7" providerId="LiveId" clId="{8D77CC59-83D2-4C48-82B8-96050E88F101}" dt="2026-02-11T17:36:27.075" v="4034" actId="14100"/>
          <ac:picMkLst>
            <pc:docMk/>
            <pc:sldMk cId="187713796" sldId="271"/>
            <ac:picMk id="5" creationId="{BAFFBAAB-F46C-2D8D-C5FD-37CF63A12291}"/>
          </ac:picMkLst>
        </pc:picChg>
        <pc:picChg chg="add mod">
          <ac:chgData name="Tristan Despont" userId="d1a7c66da9d715b7" providerId="LiveId" clId="{8D77CC59-83D2-4C48-82B8-96050E88F101}" dt="2026-02-11T17:37:17.718" v="4039" actId="1076"/>
          <ac:picMkLst>
            <pc:docMk/>
            <pc:sldMk cId="187713796" sldId="271"/>
            <ac:picMk id="6" creationId="{128F23D1-5410-2B97-6501-490F8F6A5785}"/>
          </ac:picMkLst>
        </pc:picChg>
      </pc:sldChg>
      <pc:sldChg chg="modSp mod modNotesTx">
        <pc:chgData name="Tristan Despont" userId="d1a7c66da9d715b7" providerId="LiveId" clId="{8D77CC59-83D2-4C48-82B8-96050E88F101}" dt="2026-02-13T12:08:53.345" v="5655" actId="20577"/>
        <pc:sldMkLst>
          <pc:docMk/>
          <pc:sldMk cId="2557990648" sldId="272"/>
        </pc:sldMkLst>
        <pc:spChg chg="mod">
          <ac:chgData name="Tristan Despont" userId="d1a7c66da9d715b7" providerId="LiveId" clId="{8D77CC59-83D2-4C48-82B8-96050E88F101}" dt="2026-02-13T10:24:47.455" v="4579" actId="14100"/>
          <ac:spMkLst>
            <pc:docMk/>
            <pc:sldMk cId="2557990648" sldId="272"/>
            <ac:spMk id="90" creationId="{C8348633-7A72-9C55-7487-CDF104084AE6}"/>
          </ac:spMkLst>
        </pc:spChg>
        <pc:picChg chg="mod">
          <ac:chgData name="Tristan Despont" userId="d1a7c66da9d715b7" providerId="LiveId" clId="{8D77CC59-83D2-4C48-82B8-96050E88F101}" dt="2026-02-13T10:24:58.578" v="4584" actId="1036"/>
          <ac:picMkLst>
            <pc:docMk/>
            <pc:sldMk cId="2557990648" sldId="272"/>
            <ac:picMk id="2" creationId="{6E923F32-F6E5-B197-5CDF-2DA425CC614C}"/>
          </ac:picMkLst>
        </pc:picChg>
        <pc:picChg chg="mod">
          <ac:chgData name="Tristan Despont" userId="d1a7c66da9d715b7" providerId="LiveId" clId="{8D77CC59-83D2-4C48-82B8-96050E88F101}" dt="2026-02-13T10:02:41.966" v="4492" actId="14100"/>
          <ac:picMkLst>
            <pc:docMk/>
            <pc:sldMk cId="2557990648" sldId="272"/>
            <ac:picMk id="4" creationId="{0C75A18D-2B52-929F-AE8B-10FBADC4E45E}"/>
          </ac:picMkLst>
        </pc:picChg>
        <pc:picChg chg="mod">
          <ac:chgData name="Tristan Despont" userId="d1a7c66da9d715b7" providerId="LiveId" clId="{8D77CC59-83D2-4C48-82B8-96050E88F101}" dt="2026-02-13T10:25:11.272" v="4585" actId="1076"/>
          <ac:picMkLst>
            <pc:docMk/>
            <pc:sldMk cId="2557990648" sldId="272"/>
            <ac:picMk id="6" creationId="{35E36855-E68D-3BC8-4EED-A90C6042CD11}"/>
          </ac:picMkLst>
        </pc:picChg>
      </pc:sldChg>
      <pc:sldChg chg="addSp delSp modSp mod modNotesTx">
        <pc:chgData name="Tristan Despont" userId="d1a7c66da9d715b7" providerId="LiveId" clId="{8D77CC59-83D2-4C48-82B8-96050E88F101}" dt="2026-02-13T12:15:30.809" v="5754" actId="20577"/>
        <pc:sldMkLst>
          <pc:docMk/>
          <pc:sldMk cId="3071762458" sldId="273"/>
        </pc:sldMkLst>
        <pc:spChg chg="mod">
          <ac:chgData name="Tristan Despont" userId="d1a7c66da9d715b7" providerId="LiveId" clId="{8D77CC59-83D2-4C48-82B8-96050E88F101}" dt="2026-02-13T10:27:10.063" v="4617" actId="404"/>
          <ac:spMkLst>
            <pc:docMk/>
            <pc:sldMk cId="3071762458" sldId="273"/>
            <ac:spMk id="90" creationId="{B5E80824-13FF-C7EB-AFF7-6F57E8AEBD02}"/>
          </ac:spMkLst>
        </pc:spChg>
        <pc:picChg chg="mod">
          <ac:chgData name="Tristan Despont" userId="d1a7c66da9d715b7" providerId="LiveId" clId="{8D77CC59-83D2-4C48-82B8-96050E88F101}" dt="2026-02-13T10:27:22.410" v="4665" actId="1038"/>
          <ac:picMkLst>
            <pc:docMk/>
            <pc:sldMk cId="3071762458" sldId="273"/>
            <ac:picMk id="2" creationId="{C26AB766-5A6D-F818-D95A-4B138B26EA27}"/>
          </ac:picMkLst>
        </pc:picChg>
        <pc:picChg chg="add mod">
          <ac:chgData name="Tristan Despont" userId="d1a7c66da9d715b7" providerId="LiveId" clId="{8D77CC59-83D2-4C48-82B8-96050E88F101}" dt="2026-02-13T10:26:31.054" v="4609"/>
          <ac:picMkLst>
            <pc:docMk/>
            <pc:sldMk cId="3071762458" sldId="273"/>
            <ac:picMk id="3" creationId="{278A9561-44FE-7897-EE12-DF2BED5ED396}"/>
          </ac:picMkLst>
        </pc:picChg>
        <pc:picChg chg="mod">
          <ac:chgData name="Tristan Despont" userId="d1a7c66da9d715b7" providerId="LiveId" clId="{8D77CC59-83D2-4C48-82B8-96050E88F101}" dt="2026-02-13T10:02:47.320" v="4493" actId="14100"/>
          <ac:picMkLst>
            <pc:docMk/>
            <pc:sldMk cId="3071762458" sldId="273"/>
            <ac:picMk id="4" creationId="{97CD00B6-4068-3186-8037-A6A033992840}"/>
          </ac:picMkLst>
        </pc:picChg>
        <pc:picChg chg="del">
          <ac:chgData name="Tristan Despont" userId="d1a7c66da9d715b7" providerId="LiveId" clId="{8D77CC59-83D2-4C48-82B8-96050E88F101}" dt="2026-02-13T10:26:26.482" v="4608" actId="478"/>
          <ac:picMkLst>
            <pc:docMk/>
            <pc:sldMk cId="3071762458" sldId="273"/>
            <ac:picMk id="6" creationId="{710EA6EC-458A-CA6E-9CA2-A9F79EDF372A}"/>
          </ac:picMkLst>
        </pc:picChg>
      </pc:sldChg>
      <pc:sldChg chg="addSp delSp modSp mod modNotesTx">
        <pc:chgData name="Tristan Despont" userId="d1a7c66da9d715b7" providerId="LiveId" clId="{8D77CC59-83D2-4C48-82B8-96050E88F101}" dt="2026-02-13T12:11:37.352" v="5697" actId="20577"/>
        <pc:sldMkLst>
          <pc:docMk/>
          <pc:sldMk cId="2880012307" sldId="274"/>
        </pc:sldMkLst>
        <pc:spChg chg="add del">
          <ac:chgData name="Tristan Despont" userId="d1a7c66da9d715b7" providerId="LiveId" clId="{8D77CC59-83D2-4C48-82B8-96050E88F101}" dt="2026-02-13T10:30:58.906" v="4783" actId="22"/>
          <ac:spMkLst>
            <pc:docMk/>
            <pc:sldMk cId="2880012307" sldId="274"/>
            <ac:spMk id="5" creationId="{6E853309-CACE-005C-F030-8D336342E928}"/>
          </ac:spMkLst>
        </pc:spChg>
        <pc:spChg chg="mod">
          <ac:chgData name="Tristan Despont" userId="d1a7c66da9d715b7" providerId="LiveId" clId="{8D77CC59-83D2-4C48-82B8-96050E88F101}" dt="2026-02-13T10:36:32.729" v="4810" actId="20577"/>
          <ac:spMkLst>
            <pc:docMk/>
            <pc:sldMk cId="2880012307" sldId="274"/>
            <ac:spMk id="90" creationId="{22EED956-518E-5A7F-0865-B7CA428C0D52}"/>
          </ac:spMkLst>
        </pc:spChg>
        <pc:picChg chg="mod">
          <ac:chgData name="Tristan Despont" userId="d1a7c66da9d715b7" providerId="LiveId" clId="{8D77CC59-83D2-4C48-82B8-96050E88F101}" dt="2026-02-13T10:36:38.360" v="4818" actId="1036"/>
          <ac:picMkLst>
            <pc:docMk/>
            <pc:sldMk cId="2880012307" sldId="274"/>
            <ac:picMk id="2" creationId="{7DFE41CA-A61C-12C6-3108-749C0E565663}"/>
          </ac:picMkLst>
        </pc:picChg>
        <pc:picChg chg="mod">
          <ac:chgData name="Tristan Despont" userId="d1a7c66da9d715b7" providerId="LiveId" clId="{8D77CC59-83D2-4C48-82B8-96050E88F101}" dt="2026-02-13T10:02:51.574" v="4494" actId="14100"/>
          <ac:picMkLst>
            <pc:docMk/>
            <pc:sldMk cId="2880012307" sldId="274"/>
            <ac:picMk id="4" creationId="{9847E990-6D51-AA34-DCC5-8CE4E53E9B2B}"/>
          </ac:picMkLst>
        </pc:picChg>
      </pc:sldChg>
      <pc:sldChg chg="addSp modSp mod modNotesTx">
        <pc:chgData name="Tristan Despont" userId="d1a7c66da9d715b7" providerId="LiveId" clId="{8D77CC59-83D2-4C48-82B8-96050E88F101}" dt="2026-02-13T11:10:22.684" v="5203" actId="20577"/>
        <pc:sldMkLst>
          <pc:docMk/>
          <pc:sldMk cId="3409119827" sldId="276"/>
        </pc:sldMkLst>
        <pc:spChg chg="mod">
          <ac:chgData name="Tristan Despont" userId="d1a7c66da9d715b7" providerId="LiveId" clId="{8D77CC59-83D2-4C48-82B8-96050E88F101}" dt="2026-02-13T11:10:22.684" v="5203" actId="20577"/>
          <ac:spMkLst>
            <pc:docMk/>
            <pc:sldMk cId="3409119827" sldId="276"/>
            <ac:spMk id="3" creationId="{4B22C6F6-A3F5-2E77-FB6C-A7E340F2F191}"/>
          </ac:spMkLst>
        </pc:spChg>
        <pc:spChg chg="mod">
          <ac:chgData name="Tristan Despont" userId="d1a7c66da9d715b7" providerId="LiveId" clId="{8D77CC59-83D2-4C48-82B8-96050E88F101}" dt="2026-02-13T09:56:07.480" v="4301" actId="1076"/>
          <ac:spMkLst>
            <pc:docMk/>
            <pc:sldMk cId="3409119827" sldId="276"/>
            <ac:spMk id="88" creationId="{1A13F74D-289E-990D-206A-B441DE2EB0BF}"/>
          </ac:spMkLst>
        </pc:spChg>
        <pc:spChg chg="mod">
          <ac:chgData name="Tristan Despont" userId="d1a7c66da9d715b7" providerId="LiveId" clId="{8D77CC59-83D2-4C48-82B8-96050E88F101}" dt="2026-02-13T09:56:07.480" v="4301" actId="1076"/>
          <ac:spMkLst>
            <pc:docMk/>
            <pc:sldMk cId="3409119827" sldId="276"/>
            <ac:spMk id="89" creationId="{D444BE83-FACB-8C72-21A5-4DBEB1B03425}"/>
          </ac:spMkLst>
        </pc:spChg>
        <pc:spChg chg="mod">
          <ac:chgData name="Tristan Despont" userId="d1a7c66da9d715b7" providerId="LiveId" clId="{8D77CC59-83D2-4C48-82B8-96050E88F101}" dt="2026-02-13T11:05:08.852" v="5128" actId="20577"/>
          <ac:spMkLst>
            <pc:docMk/>
            <pc:sldMk cId="3409119827" sldId="276"/>
            <ac:spMk id="90" creationId="{498CBF63-C411-6B4B-F13E-67761734D795}"/>
          </ac:spMkLst>
        </pc:spChg>
        <pc:picChg chg="mod">
          <ac:chgData name="Tristan Despont" userId="d1a7c66da9d715b7" providerId="LiveId" clId="{8D77CC59-83D2-4C48-82B8-96050E88F101}" dt="2026-02-13T11:05:36.656" v="5141" actId="1036"/>
          <ac:picMkLst>
            <pc:docMk/>
            <pc:sldMk cId="3409119827" sldId="276"/>
            <ac:picMk id="2" creationId="{82E1810D-76A3-60EB-428E-CF3207F5974F}"/>
          </ac:picMkLst>
        </pc:picChg>
        <pc:picChg chg="add mod">
          <ac:chgData name="Tristan Despont" userId="d1a7c66da9d715b7" providerId="LiveId" clId="{8D77CC59-83D2-4C48-82B8-96050E88F101}" dt="2026-02-13T09:56:37.140" v="4304"/>
          <ac:picMkLst>
            <pc:docMk/>
            <pc:sldMk cId="3409119827" sldId="276"/>
            <ac:picMk id="5" creationId="{FE6F1A5F-BDF5-9F43-3B64-DC7D830F8B86}"/>
          </ac:picMkLst>
        </pc:picChg>
      </pc:sldChg>
      <pc:sldChg chg="addSp delSp modSp mod modNotesTx">
        <pc:chgData name="Tristan Despont" userId="d1a7c66da9d715b7" providerId="LiveId" clId="{8D77CC59-83D2-4C48-82B8-96050E88F101}" dt="2026-02-13T12:12:01.745" v="5700" actId="5793"/>
        <pc:sldMkLst>
          <pc:docMk/>
          <pc:sldMk cId="949513787" sldId="277"/>
        </pc:sldMkLst>
        <pc:spChg chg="mod">
          <ac:chgData name="Tristan Despont" userId="d1a7c66da9d715b7" providerId="LiveId" clId="{8D77CC59-83D2-4C48-82B8-96050E88F101}" dt="2026-02-13T11:03:50.176" v="5108" actId="403"/>
          <ac:spMkLst>
            <pc:docMk/>
            <pc:sldMk cId="949513787" sldId="277"/>
            <ac:spMk id="3" creationId="{9508B2A4-69BA-F56B-15A3-93073FADF5AA}"/>
          </ac:spMkLst>
        </pc:spChg>
        <pc:spChg chg="del">
          <ac:chgData name="Tristan Despont" userId="d1a7c66da9d715b7" providerId="LiveId" clId="{8D77CC59-83D2-4C48-82B8-96050E88F101}" dt="2026-02-13T10:48:15.065" v="4914" actId="478"/>
          <ac:spMkLst>
            <pc:docMk/>
            <pc:sldMk cId="949513787" sldId="277"/>
            <ac:spMk id="5" creationId="{A3FC92B5-EE27-6869-D5FA-7A2DDC71E1E1}"/>
          </ac:spMkLst>
        </pc:spChg>
        <pc:spChg chg="add">
          <ac:chgData name="Tristan Despont" userId="d1a7c66da9d715b7" providerId="LiveId" clId="{8D77CC59-83D2-4C48-82B8-96050E88F101}" dt="2026-02-13T10:55:01.726" v="5009"/>
          <ac:spMkLst>
            <pc:docMk/>
            <pc:sldMk cId="949513787" sldId="277"/>
            <ac:spMk id="9" creationId="{416627DB-47CB-B314-E72A-08D0393E551A}"/>
          </ac:spMkLst>
        </pc:spChg>
        <pc:spChg chg="add del mod">
          <ac:chgData name="Tristan Despont" userId="d1a7c66da9d715b7" providerId="LiveId" clId="{8D77CC59-83D2-4C48-82B8-96050E88F101}" dt="2026-02-13T11:01:29.202" v="5048" actId="478"/>
          <ac:spMkLst>
            <pc:docMk/>
            <pc:sldMk cId="949513787" sldId="277"/>
            <ac:spMk id="10" creationId="{98BC038A-547A-3F16-8094-63763A4B11E4}"/>
          </ac:spMkLst>
        </pc:spChg>
        <pc:spChg chg="mod">
          <ac:chgData name="Tristan Despont" userId="d1a7c66da9d715b7" providerId="LiveId" clId="{8D77CC59-83D2-4C48-82B8-96050E88F101}" dt="2026-02-13T09:56:26.626" v="4303" actId="1035"/>
          <ac:spMkLst>
            <pc:docMk/>
            <pc:sldMk cId="949513787" sldId="277"/>
            <ac:spMk id="88" creationId="{EBB650B9-A884-07E0-295F-6BD57CF22B9A}"/>
          </ac:spMkLst>
        </pc:spChg>
        <pc:spChg chg="mod">
          <ac:chgData name="Tristan Despont" userId="d1a7c66da9d715b7" providerId="LiveId" clId="{8D77CC59-83D2-4C48-82B8-96050E88F101}" dt="2026-02-13T09:56:26.626" v="4303" actId="1035"/>
          <ac:spMkLst>
            <pc:docMk/>
            <pc:sldMk cId="949513787" sldId="277"/>
            <ac:spMk id="89" creationId="{6DE78B0D-1953-8DF1-5F76-DA0C89ABAD35}"/>
          </ac:spMkLst>
        </pc:spChg>
        <pc:spChg chg="mod">
          <ac:chgData name="Tristan Despont" userId="d1a7c66da9d715b7" providerId="LiveId" clId="{8D77CC59-83D2-4C48-82B8-96050E88F101}" dt="2026-02-13T11:03:03.134" v="5085" actId="14100"/>
          <ac:spMkLst>
            <pc:docMk/>
            <pc:sldMk cId="949513787" sldId="277"/>
            <ac:spMk id="90" creationId="{4B6617D5-84C8-035D-5609-72AF0031B333}"/>
          </ac:spMkLst>
        </pc:spChg>
        <pc:picChg chg="mod">
          <ac:chgData name="Tristan Despont" userId="d1a7c66da9d715b7" providerId="LiveId" clId="{8D77CC59-83D2-4C48-82B8-96050E88F101}" dt="2026-02-13T11:03:07.347" v="5104" actId="1038"/>
          <ac:picMkLst>
            <pc:docMk/>
            <pc:sldMk cId="949513787" sldId="277"/>
            <ac:picMk id="2" creationId="{23384313-EA2B-E26C-6009-038A2CB4079C}"/>
          </ac:picMkLst>
        </pc:picChg>
        <pc:picChg chg="mod">
          <ac:chgData name="Tristan Despont" userId="d1a7c66da9d715b7" providerId="LiveId" clId="{8D77CC59-83D2-4C48-82B8-96050E88F101}" dt="2026-02-13T11:01:52.606" v="5051" actId="14100"/>
          <ac:picMkLst>
            <pc:docMk/>
            <pc:sldMk cId="949513787" sldId="277"/>
            <ac:picMk id="4" creationId="{77014B35-4FAC-8DF2-10C8-FD991EFA681C}"/>
          </ac:picMkLst>
        </pc:picChg>
        <pc:picChg chg="mod">
          <ac:chgData name="Tristan Despont" userId="d1a7c66da9d715b7" providerId="LiveId" clId="{8D77CC59-83D2-4C48-82B8-96050E88F101}" dt="2026-02-13T11:04:08.129" v="5109" actId="1076"/>
          <ac:picMkLst>
            <pc:docMk/>
            <pc:sldMk cId="949513787" sldId="277"/>
            <ac:picMk id="6" creationId="{78FEB2B2-E1FB-2AFE-C62C-6A28DF35D6BC}"/>
          </ac:picMkLst>
        </pc:picChg>
        <pc:picChg chg="add mod">
          <ac:chgData name="Tristan Despont" userId="d1a7c66da9d715b7" providerId="LiveId" clId="{8D77CC59-83D2-4C48-82B8-96050E88F101}" dt="2026-02-13T09:55:18.172" v="4286" actId="1035"/>
          <ac:picMkLst>
            <pc:docMk/>
            <pc:sldMk cId="949513787" sldId="277"/>
            <ac:picMk id="7" creationId="{AAB5F2E8-52ED-9974-CAC5-577BF9DA0942}"/>
          </ac:picMkLst>
        </pc:picChg>
        <pc:picChg chg="del mod">
          <ac:chgData name="Tristan Despont" userId="d1a7c66da9d715b7" providerId="LiveId" clId="{8D77CC59-83D2-4C48-82B8-96050E88F101}" dt="2026-02-13T10:48:55.600" v="4916" actId="478"/>
          <ac:picMkLst>
            <pc:docMk/>
            <pc:sldMk cId="949513787" sldId="277"/>
            <ac:picMk id="8" creationId="{BDBDB952-4C6E-2352-9D92-D2A6FEB95DB1}"/>
          </ac:picMkLst>
        </pc:picChg>
      </pc:sldChg>
      <pc:sldChg chg="addSp delSp modSp add mod ord modNotesTx">
        <pc:chgData name="Tristan Despont" userId="d1a7c66da9d715b7" providerId="LiveId" clId="{8D77CC59-83D2-4C48-82B8-96050E88F101}" dt="2026-02-13T11:22:16.698" v="5230" actId="1036"/>
        <pc:sldMkLst>
          <pc:docMk/>
          <pc:sldMk cId="2591159290" sldId="278"/>
        </pc:sldMkLst>
        <pc:spChg chg="add del mod">
          <ac:chgData name="Tristan Despont" userId="d1a7c66da9d715b7" providerId="LiveId" clId="{8D77CC59-83D2-4C48-82B8-96050E88F101}" dt="2026-02-13T10:44:34.389" v="4844" actId="478"/>
          <ac:spMkLst>
            <pc:docMk/>
            <pc:sldMk cId="2591159290" sldId="278"/>
            <ac:spMk id="5" creationId="{B1AFA15B-4417-930E-4CE6-F38BAFFBD67A}"/>
          </ac:spMkLst>
        </pc:spChg>
        <pc:spChg chg="add mod">
          <ac:chgData name="Tristan Despont" userId="d1a7c66da9d715b7" providerId="LiveId" clId="{8D77CC59-83D2-4C48-82B8-96050E88F101}" dt="2026-02-13T11:11:08.713" v="5207" actId="2710"/>
          <ac:spMkLst>
            <pc:docMk/>
            <pc:sldMk cId="2591159290" sldId="278"/>
            <ac:spMk id="6" creationId="{0E10DC45-3B5D-9C17-F5AA-3061C5A0527C}"/>
          </ac:spMkLst>
        </pc:spChg>
        <pc:spChg chg="mod">
          <ac:chgData name="Tristan Despont" userId="d1a7c66da9d715b7" providerId="LiveId" clId="{8D77CC59-83D2-4C48-82B8-96050E88F101}" dt="2026-02-13T11:22:16.698" v="5230" actId="1036"/>
          <ac:spMkLst>
            <pc:docMk/>
            <pc:sldMk cId="2591159290" sldId="278"/>
            <ac:spMk id="88" creationId="{8C337216-212D-DE54-A2F3-CDF7EA5CF0C1}"/>
          </ac:spMkLst>
        </pc:spChg>
        <pc:spChg chg="mod">
          <ac:chgData name="Tristan Despont" userId="d1a7c66da9d715b7" providerId="LiveId" clId="{8D77CC59-83D2-4C48-82B8-96050E88F101}" dt="2026-02-13T11:22:16.698" v="5230" actId="1036"/>
          <ac:spMkLst>
            <pc:docMk/>
            <pc:sldMk cId="2591159290" sldId="278"/>
            <ac:spMk id="89" creationId="{BC5FEC72-9439-070C-D310-3BBD148190AE}"/>
          </ac:spMkLst>
        </pc:spChg>
        <pc:spChg chg="del mod">
          <ac:chgData name="Tristan Despont" userId="d1a7c66da9d715b7" providerId="LiveId" clId="{8D77CC59-83D2-4C48-82B8-96050E88F101}" dt="2026-02-13T10:44:30.450" v="4843" actId="478"/>
          <ac:spMkLst>
            <pc:docMk/>
            <pc:sldMk cId="2591159290" sldId="278"/>
            <ac:spMk id="90" creationId="{13CF37B3-A44B-73C0-7825-B8C8696468B2}"/>
          </ac:spMkLst>
        </pc:spChg>
        <pc:picChg chg="del">
          <ac:chgData name="Tristan Despont" userId="d1a7c66da9d715b7" providerId="LiveId" clId="{8D77CC59-83D2-4C48-82B8-96050E88F101}" dt="2026-02-13T10:47:20.818" v="4911" actId="478"/>
          <ac:picMkLst>
            <pc:docMk/>
            <pc:sldMk cId="2591159290" sldId="278"/>
            <ac:picMk id="2" creationId="{D0C98AE6-7EFB-1C1C-3A3F-978E5BDFA668}"/>
          </ac:picMkLst>
        </pc:picChg>
        <pc:picChg chg="del">
          <ac:chgData name="Tristan Despont" userId="d1a7c66da9d715b7" providerId="LiveId" clId="{8D77CC59-83D2-4C48-82B8-96050E88F101}" dt="2026-02-13T10:44:27.911" v="4841" actId="478"/>
          <ac:picMkLst>
            <pc:docMk/>
            <pc:sldMk cId="2591159290" sldId="278"/>
            <ac:picMk id="4" creationId="{6BEFC45E-6E66-AAB5-D493-F4D289B63561}"/>
          </ac:picMkLst>
        </pc:picChg>
        <pc:picChg chg="add mod">
          <ac:chgData name="Tristan Despont" userId="d1a7c66da9d715b7" providerId="LiveId" clId="{8D77CC59-83D2-4C48-82B8-96050E88F101}" dt="2026-02-13T10:44:51.655" v="4846"/>
          <ac:picMkLst>
            <pc:docMk/>
            <pc:sldMk cId="2591159290" sldId="278"/>
            <ac:picMk id="7" creationId="{B2FAA684-9D98-F15E-7811-CDCE07293FD0}"/>
          </ac:picMkLst>
        </pc:picChg>
        <pc:picChg chg="add mod">
          <ac:chgData name="Tristan Despont" userId="d1a7c66da9d715b7" providerId="LiveId" clId="{8D77CC59-83D2-4C48-82B8-96050E88F101}" dt="2026-02-13T11:11:14.586" v="5210" actId="1035"/>
          <ac:picMkLst>
            <pc:docMk/>
            <pc:sldMk cId="2591159290" sldId="278"/>
            <ac:picMk id="8" creationId="{16F3EDD9-BAAE-59B3-3BA1-4C502CDF9C2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fr-FR"/>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fr-FR"/>
          </a:p>
        </p:txBody>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a:extLst>
            <a:ext uri="{FF2B5EF4-FFF2-40B4-BE49-F238E27FC236}">
              <a16:creationId xmlns:a16="http://schemas.microsoft.com/office/drawing/2014/main" id="{8F6C8BD0-F2C7-C51B-DD3A-3B16DC4931D1}"/>
            </a:ext>
          </a:extLst>
        </p:cNvPr>
        <p:cNvGrpSpPr/>
        <p:nvPr/>
      </p:nvGrpSpPr>
      <p:grpSpPr>
        <a:xfrm>
          <a:off x="0" y="0"/>
          <a:ext cx="0" cy="0"/>
          <a:chOff x="0" y="0"/>
          <a:chExt cx="0" cy="0"/>
        </a:xfrm>
      </p:grpSpPr>
      <p:sp>
        <p:nvSpPr>
          <p:cNvPr id="60" name="Google Shape;60;p4:notes">
            <a:extLst>
              <a:ext uri="{FF2B5EF4-FFF2-40B4-BE49-F238E27FC236}">
                <a16:creationId xmlns:a16="http://schemas.microsoft.com/office/drawing/2014/main" id="{94E155B0-B182-3C04-6432-E9CFE73B5DB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fr-FR"/>
          </a:p>
        </p:txBody>
      </p:sp>
      <p:sp>
        <p:nvSpPr>
          <p:cNvPr id="61" name="Google Shape;61;p4:notes">
            <a:extLst>
              <a:ext uri="{FF2B5EF4-FFF2-40B4-BE49-F238E27FC236}">
                <a16:creationId xmlns:a16="http://schemas.microsoft.com/office/drawing/2014/main" id="{3ABEC1B5-F18B-F086-2CDC-E924003F202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7522594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a:extLst>
            <a:ext uri="{FF2B5EF4-FFF2-40B4-BE49-F238E27FC236}">
              <a16:creationId xmlns:a16="http://schemas.microsoft.com/office/drawing/2014/main" id="{F515A504-9442-F713-0074-9C9478CB7510}"/>
            </a:ext>
          </a:extLst>
        </p:cNvPr>
        <p:cNvGrpSpPr/>
        <p:nvPr/>
      </p:nvGrpSpPr>
      <p:grpSpPr>
        <a:xfrm>
          <a:off x="0" y="0"/>
          <a:ext cx="0" cy="0"/>
          <a:chOff x="0" y="0"/>
          <a:chExt cx="0" cy="0"/>
        </a:xfrm>
      </p:grpSpPr>
      <p:sp>
        <p:nvSpPr>
          <p:cNvPr id="60" name="Google Shape;60;p4:notes">
            <a:extLst>
              <a:ext uri="{FF2B5EF4-FFF2-40B4-BE49-F238E27FC236}">
                <a16:creationId xmlns:a16="http://schemas.microsoft.com/office/drawing/2014/main" id="{AC7DEB6E-3B78-0535-7F72-180A0B4D525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fr-FR"/>
          </a:p>
        </p:txBody>
      </p:sp>
      <p:sp>
        <p:nvSpPr>
          <p:cNvPr id="61" name="Google Shape;61;p4:notes">
            <a:extLst>
              <a:ext uri="{FF2B5EF4-FFF2-40B4-BE49-F238E27FC236}">
                <a16:creationId xmlns:a16="http://schemas.microsoft.com/office/drawing/2014/main" id="{21EBFBFE-B2E3-5677-A4A4-9005EA3D5FA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601528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a:extLst>
            <a:ext uri="{FF2B5EF4-FFF2-40B4-BE49-F238E27FC236}">
              <a16:creationId xmlns:a16="http://schemas.microsoft.com/office/drawing/2014/main" id="{5EF48780-298A-A1C8-519E-36CFBF42039A}"/>
            </a:ext>
          </a:extLst>
        </p:cNvPr>
        <p:cNvGrpSpPr/>
        <p:nvPr/>
      </p:nvGrpSpPr>
      <p:grpSpPr>
        <a:xfrm>
          <a:off x="0" y="0"/>
          <a:ext cx="0" cy="0"/>
          <a:chOff x="0" y="0"/>
          <a:chExt cx="0" cy="0"/>
        </a:xfrm>
      </p:grpSpPr>
      <p:sp>
        <p:nvSpPr>
          <p:cNvPr id="60" name="Google Shape;60;p4:notes">
            <a:extLst>
              <a:ext uri="{FF2B5EF4-FFF2-40B4-BE49-F238E27FC236}">
                <a16:creationId xmlns:a16="http://schemas.microsoft.com/office/drawing/2014/main" id="{5F269E32-67E2-080F-466F-2A6D6ECBF04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fr-FR"/>
          </a:p>
        </p:txBody>
      </p:sp>
      <p:sp>
        <p:nvSpPr>
          <p:cNvPr id="61" name="Google Shape;61;p4:notes">
            <a:extLst>
              <a:ext uri="{FF2B5EF4-FFF2-40B4-BE49-F238E27FC236}">
                <a16:creationId xmlns:a16="http://schemas.microsoft.com/office/drawing/2014/main" id="{57DD998E-7664-7DB3-6B03-7182B2E5C56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fr-FR" dirty="0"/>
              <a:t>Côté ERP, j'ai surtout assaini les données pour éliminer les incohérences de prix et de stocks. </a:t>
            </a:r>
          </a:p>
          <a:p>
            <a:pPr marL="0" lvl="0" indent="0" algn="l" rtl="0">
              <a:lnSpc>
                <a:spcPct val="100000"/>
              </a:lnSpc>
              <a:spcBef>
                <a:spcPts val="0"/>
              </a:spcBef>
              <a:spcAft>
                <a:spcPts val="0"/>
              </a:spcAft>
              <a:buSzPts val="1100"/>
              <a:buNone/>
            </a:pPr>
            <a:endParaRPr lang="fr-FR" dirty="0"/>
          </a:p>
          <a:p>
            <a:pPr marL="0" lvl="0" indent="0" algn="l" rtl="0">
              <a:lnSpc>
                <a:spcPct val="100000"/>
              </a:lnSpc>
              <a:spcBef>
                <a:spcPts val="0"/>
              </a:spcBef>
              <a:spcAft>
                <a:spcPts val="0"/>
              </a:spcAft>
              <a:buSzPts val="1100"/>
              <a:buNone/>
            </a:pPr>
            <a:r>
              <a:rPr lang="fr-FR" dirty="0"/>
              <a:t>Pour le Web, le gros du travail a été de sécuriser la clé SKU pour garantir une jointure parfaite entre les deux tables.</a:t>
            </a:r>
            <a:endParaRPr dirty="0"/>
          </a:p>
        </p:txBody>
      </p:sp>
    </p:spTree>
    <p:extLst>
      <p:ext uri="{BB962C8B-B14F-4D97-AF65-F5344CB8AC3E}">
        <p14:creationId xmlns:p14="http://schemas.microsoft.com/office/powerpoint/2010/main" val="25247980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a:extLst>
            <a:ext uri="{FF2B5EF4-FFF2-40B4-BE49-F238E27FC236}">
              <a16:creationId xmlns:a16="http://schemas.microsoft.com/office/drawing/2014/main" id="{6F64C08C-FDA3-B5CE-B8FE-14EA025EEF7E}"/>
            </a:ext>
          </a:extLst>
        </p:cNvPr>
        <p:cNvGrpSpPr/>
        <p:nvPr/>
      </p:nvGrpSpPr>
      <p:grpSpPr>
        <a:xfrm>
          <a:off x="0" y="0"/>
          <a:ext cx="0" cy="0"/>
          <a:chOff x="0" y="0"/>
          <a:chExt cx="0" cy="0"/>
        </a:xfrm>
      </p:grpSpPr>
      <p:sp>
        <p:nvSpPr>
          <p:cNvPr id="60" name="Google Shape;60;p4:notes">
            <a:extLst>
              <a:ext uri="{FF2B5EF4-FFF2-40B4-BE49-F238E27FC236}">
                <a16:creationId xmlns:a16="http://schemas.microsoft.com/office/drawing/2014/main" id="{892E673F-3622-1AF8-9DED-6C8C1F98F4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fr-FR"/>
          </a:p>
        </p:txBody>
      </p:sp>
      <p:sp>
        <p:nvSpPr>
          <p:cNvPr id="61" name="Google Shape;61;p4:notes">
            <a:extLst>
              <a:ext uri="{FF2B5EF4-FFF2-40B4-BE49-F238E27FC236}">
                <a16:creationId xmlns:a16="http://schemas.microsoft.com/office/drawing/2014/main" id="{EAA236D1-4AC7-8D26-64A7-242454A8150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a:buClr>
                <a:srgbClr val="800020"/>
              </a:buClr>
              <a:buSzPct val="90000"/>
            </a:pPr>
            <a:r>
              <a:rPr lang="fr-FR" dirty="0">
                <a:solidFill>
                  <a:schemeClr val="tx1"/>
                </a:solidFill>
                <a:latin typeface="Lato Light" panose="020F0502020204030203" pitchFamily="34" charset="0"/>
                <a:ea typeface="Montserrat"/>
                <a:cs typeface="Lato Light" panose="020F0502020204030203" pitchFamily="34" charset="0"/>
                <a:sym typeface="Montserrat"/>
              </a:rPr>
              <a:t>Chiffre d'affaires = prix </a:t>
            </a:r>
            <a:r>
              <a:rPr lang="fr-FR" sz="900" dirty="0">
                <a:solidFill>
                  <a:schemeClr val="tx1"/>
                </a:solidFill>
                <a:latin typeface="Lato Light" panose="020F0502020204030203" pitchFamily="34" charset="0"/>
                <a:ea typeface="Montserrat"/>
                <a:cs typeface="Lato Light" panose="020F0502020204030203" pitchFamily="34" charset="0"/>
                <a:sym typeface="Montserrat"/>
              </a:rPr>
              <a:t>x</a:t>
            </a:r>
            <a:r>
              <a:rPr lang="fr-FR" dirty="0">
                <a:solidFill>
                  <a:schemeClr val="tx1"/>
                </a:solidFill>
                <a:latin typeface="Lato Light" panose="020F0502020204030203" pitchFamily="34" charset="0"/>
                <a:ea typeface="Montserrat"/>
                <a:cs typeface="Lato Light" panose="020F0502020204030203" pitchFamily="34" charset="0"/>
                <a:sym typeface="Montserrat"/>
              </a:rPr>
              <a:t> quantité vendue</a:t>
            </a:r>
          </a:p>
          <a:p>
            <a:pPr>
              <a:buClr>
                <a:srgbClr val="800020"/>
              </a:buClr>
              <a:buSzPct val="90000"/>
            </a:pPr>
            <a:r>
              <a:rPr lang="fr-FR" dirty="0">
                <a:solidFill>
                  <a:schemeClr val="tx1"/>
                </a:solidFill>
                <a:latin typeface="Lato Light" panose="020F0502020204030203" pitchFamily="34" charset="0"/>
                <a:ea typeface="Montserrat"/>
                <a:cs typeface="Lato Light" panose="020F0502020204030203" pitchFamily="34" charset="0"/>
                <a:sym typeface="Montserrat"/>
              </a:rPr>
              <a:t>Autonomie de stock = quantité stock / quantité vendue</a:t>
            </a:r>
          </a:p>
          <a:p>
            <a:pPr>
              <a:buClr>
                <a:srgbClr val="800020"/>
              </a:buClr>
              <a:buSzPct val="90000"/>
            </a:pPr>
            <a:r>
              <a:rPr lang="fr-FR" dirty="0">
                <a:solidFill>
                  <a:schemeClr val="tx1"/>
                </a:solidFill>
                <a:latin typeface="Lato Light" panose="020F0502020204030203" pitchFamily="34" charset="0"/>
                <a:ea typeface="Montserrat"/>
                <a:cs typeface="Lato Light" panose="020F0502020204030203" pitchFamily="34" charset="0"/>
                <a:sym typeface="Montserrat"/>
              </a:rPr>
              <a:t>Valeur du stock = quantité stock x prix d’achat</a:t>
            </a:r>
          </a:p>
          <a:p>
            <a:pPr>
              <a:buClr>
                <a:srgbClr val="800020"/>
              </a:buClr>
              <a:buSzPct val="90000"/>
            </a:pPr>
            <a:r>
              <a:rPr lang="fr-FR" dirty="0">
                <a:solidFill>
                  <a:schemeClr val="tx1"/>
                </a:solidFill>
                <a:latin typeface="Lato Light" panose="020F0502020204030203" pitchFamily="34" charset="0"/>
                <a:ea typeface="Montserrat"/>
                <a:cs typeface="Lato Light" panose="020F0502020204030203" pitchFamily="34" charset="0"/>
                <a:sym typeface="Montserrat"/>
              </a:rPr>
              <a:t>Taux de marge = (prix HT – prix d’achat) / prix d’achat x 100</a:t>
            </a:r>
          </a:p>
          <a:p>
            <a:pPr>
              <a:buClr>
                <a:srgbClr val="800020"/>
              </a:buClr>
              <a:buSzPct val="90000"/>
            </a:pPr>
            <a:r>
              <a:rPr lang="fr-FR" dirty="0">
                <a:solidFill>
                  <a:schemeClr val="tx1"/>
                </a:solidFill>
                <a:latin typeface="Lato Light" panose="020F0502020204030203" pitchFamily="34" charset="0"/>
                <a:ea typeface="Montserrat"/>
                <a:cs typeface="Lato Light" panose="020F0502020204030203" pitchFamily="34" charset="0"/>
                <a:sym typeface="Montserrat"/>
              </a:rPr>
              <a:t>Indicateur de valeurs aberrantes (Z-score) = (prix </a:t>
            </a:r>
            <a:r>
              <a:rPr lang="fr-FR" sz="1000" dirty="0">
                <a:solidFill>
                  <a:schemeClr val="tx1"/>
                </a:solidFill>
                <a:latin typeface="Lato Light" panose="020F0502020204030203" pitchFamily="34" charset="0"/>
                <a:ea typeface="Montserrat"/>
                <a:cs typeface="Lato Light" panose="020F0502020204030203" pitchFamily="34" charset="0"/>
                <a:sym typeface="Montserrat"/>
              </a:rPr>
              <a:t>–</a:t>
            </a:r>
            <a:r>
              <a:rPr lang="fr-FR" dirty="0">
                <a:solidFill>
                  <a:schemeClr val="tx1"/>
                </a:solidFill>
                <a:latin typeface="Lato Light" panose="020F0502020204030203" pitchFamily="34" charset="0"/>
                <a:ea typeface="Montserrat"/>
                <a:cs typeface="Lato Light" panose="020F0502020204030203" pitchFamily="34" charset="0"/>
                <a:sym typeface="Montserrat"/>
              </a:rPr>
              <a:t> prix moyen) </a:t>
            </a:r>
            <a:r>
              <a:rPr lang="fr-FR" sz="1000" dirty="0">
                <a:solidFill>
                  <a:schemeClr val="tx1"/>
                </a:solidFill>
                <a:latin typeface="Lato Light" panose="020F0502020204030203" pitchFamily="34" charset="0"/>
                <a:ea typeface="Montserrat"/>
                <a:cs typeface="Lato Light" panose="020F0502020204030203" pitchFamily="34" charset="0"/>
                <a:sym typeface="Montserrat"/>
              </a:rPr>
              <a:t>/</a:t>
            </a:r>
            <a:r>
              <a:rPr lang="fr-FR" dirty="0">
                <a:solidFill>
                  <a:schemeClr val="tx1"/>
                </a:solidFill>
                <a:latin typeface="Lato Light" panose="020F0502020204030203" pitchFamily="34" charset="0"/>
                <a:ea typeface="Montserrat"/>
                <a:cs typeface="Lato Light" panose="020F0502020204030203" pitchFamily="34" charset="0"/>
                <a:sym typeface="Montserrat"/>
              </a:rPr>
              <a:t> écart-type</a:t>
            </a:r>
          </a:p>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8198011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a:extLst>
            <a:ext uri="{FF2B5EF4-FFF2-40B4-BE49-F238E27FC236}">
              <a16:creationId xmlns:a16="http://schemas.microsoft.com/office/drawing/2014/main" id="{BB8EC3DD-FA71-FF5E-CAFC-52225010C551}"/>
            </a:ext>
          </a:extLst>
        </p:cNvPr>
        <p:cNvGrpSpPr/>
        <p:nvPr/>
      </p:nvGrpSpPr>
      <p:grpSpPr>
        <a:xfrm>
          <a:off x="0" y="0"/>
          <a:ext cx="0" cy="0"/>
          <a:chOff x="0" y="0"/>
          <a:chExt cx="0" cy="0"/>
        </a:xfrm>
      </p:grpSpPr>
      <p:sp>
        <p:nvSpPr>
          <p:cNvPr id="60" name="Google Shape;60;p4:notes">
            <a:extLst>
              <a:ext uri="{FF2B5EF4-FFF2-40B4-BE49-F238E27FC236}">
                <a16:creationId xmlns:a16="http://schemas.microsoft.com/office/drawing/2014/main" id="{09C5C40C-B151-5746-90C8-B712E3DA9B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fr-FR"/>
          </a:p>
        </p:txBody>
      </p:sp>
      <p:sp>
        <p:nvSpPr>
          <p:cNvPr id="61" name="Google Shape;61;p4:notes">
            <a:extLst>
              <a:ext uri="{FF2B5EF4-FFF2-40B4-BE49-F238E27FC236}">
                <a16:creationId xmlns:a16="http://schemas.microsoft.com/office/drawing/2014/main" id="{032C866E-B1B5-D5BC-07E1-F1AB0385ED9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228600" lvl="0" indent="-228600" algn="l" rtl="0">
              <a:lnSpc>
                <a:spcPct val="100000"/>
              </a:lnSpc>
              <a:spcBef>
                <a:spcPts val="0"/>
              </a:spcBef>
              <a:spcAft>
                <a:spcPts val="0"/>
              </a:spcAft>
              <a:buSzPts val="1100"/>
              <a:buAutoNum type="arabicPeriod"/>
            </a:pPr>
            <a:r>
              <a:rPr lang="fr-FR" dirty="0"/>
              <a:t>Lors de la phase d'exploration, j'ai identifié des </a:t>
            </a:r>
            <a:r>
              <a:rPr lang="fr-FR" b="1" dirty="0"/>
              <a:t>incohérences majeures</a:t>
            </a:r>
            <a:r>
              <a:rPr lang="fr-FR" dirty="0"/>
              <a:t>, notamment des prix et des stocks négatifs. Pour les prix, l'impact est nul car ce sont des produits qui ne sont plus au catalogue. En revanche, j'ai repéré </a:t>
            </a:r>
            <a:r>
              <a:rPr lang="fr-FR" b="1" dirty="0"/>
              <a:t>un produit actif</a:t>
            </a:r>
            <a:r>
              <a:rPr lang="fr-FR" dirty="0"/>
              <a:t> avec un stock négatif : c'est une alerte critique que j'ai isolée. Ma préconisation immédiate est de déclencher un </a:t>
            </a:r>
            <a:r>
              <a:rPr lang="fr-FR" b="1" dirty="0"/>
              <a:t>inventaire physique</a:t>
            </a:r>
            <a:r>
              <a:rPr lang="fr-FR" dirty="0"/>
              <a:t> pour recaler la donnée réelle avec l'ERP.</a:t>
            </a:r>
          </a:p>
          <a:p>
            <a:pPr marL="228600" lvl="0" indent="-228600" algn="l" rtl="0">
              <a:lnSpc>
                <a:spcPct val="100000"/>
              </a:lnSpc>
              <a:spcBef>
                <a:spcPts val="0"/>
              </a:spcBef>
              <a:spcAft>
                <a:spcPts val="0"/>
              </a:spcAft>
              <a:buSzPts val="1100"/>
              <a:buAutoNum type="arabicPeriod"/>
            </a:pPr>
            <a:endParaRPr lang="fr-FR" dirty="0"/>
          </a:p>
          <a:p>
            <a:pPr marL="0" lvl="0" indent="0" algn="l" rtl="0">
              <a:lnSpc>
                <a:spcPct val="100000"/>
              </a:lnSpc>
              <a:spcBef>
                <a:spcPts val="0"/>
              </a:spcBef>
              <a:spcAft>
                <a:spcPts val="0"/>
              </a:spcAft>
              <a:buSzPts val="1100"/>
              <a:buNone/>
            </a:pPr>
            <a:r>
              <a:rPr lang="fr-FR" dirty="0"/>
              <a:t>2. J'ai volontairement restreint mon périmètre aux produits commercialisés en ligne. En utilisant une jointure de type </a:t>
            </a:r>
            <a:r>
              <a:rPr lang="fr-FR" b="1" dirty="0" err="1"/>
              <a:t>Inner</a:t>
            </a:r>
            <a:r>
              <a:rPr lang="fr-FR" b="1" dirty="0"/>
              <a:t> </a:t>
            </a:r>
            <a:r>
              <a:rPr lang="fr-FR" b="1" dirty="0" err="1"/>
              <a:t>Join</a:t>
            </a:r>
            <a:r>
              <a:rPr lang="fr-FR" dirty="0"/>
              <a:t> entre l'ERP et le Web, j'évacue mécaniquement les références inactives</a:t>
            </a:r>
          </a:p>
          <a:p>
            <a:pPr marL="0" lvl="0" indent="0" algn="l" rtl="0">
              <a:lnSpc>
                <a:spcPct val="100000"/>
              </a:lnSpc>
              <a:spcBef>
                <a:spcPts val="0"/>
              </a:spcBef>
              <a:spcAft>
                <a:spcPts val="0"/>
              </a:spcAft>
              <a:buSzPts val="1100"/>
              <a:buNone/>
            </a:pPr>
            <a:endParaRPr lang="fr-FR"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dirty="0"/>
              <a:t>3. J'ai appliqué le principe de </a:t>
            </a:r>
            <a:r>
              <a:rPr lang="fr-FR" b="1" dirty="0"/>
              <a:t>minimisation</a:t>
            </a:r>
            <a:r>
              <a:rPr lang="fr-FR" dirty="0"/>
              <a:t> pour l'analyse, mais la future base de données doit garder les </a:t>
            </a:r>
            <a:r>
              <a:rPr lang="fr-FR" dirty="0" err="1"/>
              <a:t>metadonnées</a:t>
            </a:r>
            <a:r>
              <a:rPr lang="fr-FR" dirty="0"/>
              <a:t> pour la gestion technique.</a:t>
            </a:r>
          </a:p>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8142472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a:extLst>
            <a:ext uri="{FF2B5EF4-FFF2-40B4-BE49-F238E27FC236}">
              <a16:creationId xmlns:a16="http://schemas.microsoft.com/office/drawing/2014/main" id="{5CC4E9A1-2403-1750-FCD4-3F2D2485AD51}"/>
            </a:ext>
          </a:extLst>
        </p:cNvPr>
        <p:cNvGrpSpPr/>
        <p:nvPr/>
      </p:nvGrpSpPr>
      <p:grpSpPr>
        <a:xfrm>
          <a:off x="0" y="0"/>
          <a:ext cx="0" cy="0"/>
          <a:chOff x="0" y="0"/>
          <a:chExt cx="0" cy="0"/>
        </a:xfrm>
      </p:grpSpPr>
      <p:sp>
        <p:nvSpPr>
          <p:cNvPr id="68" name="Google Shape;68;p5:notes">
            <a:extLst>
              <a:ext uri="{FF2B5EF4-FFF2-40B4-BE49-F238E27FC236}">
                <a16:creationId xmlns:a16="http://schemas.microsoft.com/office/drawing/2014/main" id="{831529A4-DC27-9C3D-B71E-129DEE0F31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fr-FR"/>
          </a:p>
        </p:txBody>
      </p:sp>
      <p:sp>
        <p:nvSpPr>
          <p:cNvPr id="69" name="Google Shape;69;p5:notes">
            <a:extLst>
              <a:ext uri="{FF2B5EF4-FFF2-40B4-BE49-F238E27FC236}">
                <a16:creationId xmlns:a16="http://schemas.microsoft.com/office/drawing/2014/main" id="{6DA7A949-4926-3136-CA93-4CD1AD2C835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fr-FR" dirty="0"/>
              <a:t>Pour ce projet, l'enjeu majeur était la </a:t>
            </a:r>
            <a:r>
              <a:rPr lang="fr-FR" b="1" dirty="0"/>
              <a:t>table de liaison</a:t>
            </a:r>
            <a:r>
              <a:rPr lang="fr-FR" dirty="0"/>
              <a:t> : elle fait le pont entre le monde logistique (ERP) et le monde digital (Web).</a:t>
            </a:r>
          </a:p>
          <a:p>
            <a:pPr marL="0" lvl="0" indent="0" algn="l" rtl="0">
              <a:lnSpc>
                <a:spcPct val="100000"/>
              </a:lnSpc>
              <a:spcBef>
                <a:spcPts val="0"/>
              </a:spcBef>
              <a:spcAft>
                <a:spcPts val="0"/>
              </a:spcAft>
              <a:buSzPts val="1100"/>
              <a:buNone/>
            </a:pPr>
            <a:endParaRPr lang="fr-FR" dirty="0"/>
          </a:p>
          <a:p>
            <a:pPr marL="0" lvl="0" indent="0" algn="l" rtl="0">
              <a:lnSpc>
                <a:spcPct val="100000"/>
              </a:lnSpc>
              <a:spcBef>
                <a:spcPts val="0"/>
              </a:spcBef>
              <a:spcAft>
                <a:spcPts val="0"/>
              </a:spcAft>
              <a:buSzPts val="1100"/>
              <a:buNone/>
            </a:pPr>
            <a:r>
              <a:rPr lang="fr-FR" dirty="0"/>
              <a:t>Le MCD m'a permis d'isoler uniquement les </a:t>
            </a:r>
            <a:r>
              <a:rPr lang="fr-FR" b="1" dirty="0"/>
              <a:t>dimensions porteuses de valeur métier</a:t>
            </a:r>
            <a:r>
              <a:rPr lang="fr-FR" dirty="0"/>
              <a:t> : l'identification (SKU), l'offre commerciale (Prix), et la logistique (Stocks). Comme je disais précédemment j'ai écarté les attributs techniques du Web pour ne pas polluer l'analyse.</a:t>
            </a:r>
          </a:p>
          <a:p>
            <a:pPr marL="0" lvl="0" indent="0" algn="l" rtl="0">
              <a:lnSpc>
                <a:spcPct val="100000"/>
              </a:lnSpc>
              <a:spcBef>
                <a:spcPts val="0"/>
              </a:spcBef>
              <a:spcAft>
                <a:spcPts val="0"/>
              </a:spcAft>
              <a:buSzPts val="1100"/>
              <a:buNone/>
            </a:pPr>
            <a:endParaRPr lang="fr-FR" dirty="0"/>
          </a:p>
          <a:p>
            <a:pPr marL="0" lvl="0" indent="0" algn="l" rtl="0">
              <a:lnSpc>
                <a:spcPct val="100000"/>
              </a:lnSpc>
              <a:spcBef>
                <a:spcPts val="0"/>
              </a:spcBef>
              <a:spcAft>
                <a:spcPts val="0"/>
              </a:spcAft>
              <a:buSzPts val="1100"/>
              <a:buNone/>
            </a:pPr>
            <a:r>
              <a:rPr lang="fr-FR" dirty="0"/>
              <a:t>Le schéma montre clairement l'importance de la table de liaison. J'ai utilisé le </a:t>
            </a:r>
            <a:r>
              <a:rPr lang="fr-FR" sz="1100" b="0" i="0" u="none" strike="noStrike" cap="none" dirty="0" err="1">
                <a:solidFill>
                  <a:srgbClr val="000000"/>
                </a:solidFill>
                <a:latin typeface="Arial"/>
                <a:ea typeface="Arial"/>
                <a:cs typeface="Arial"/>
                <a:sym typeface="Arial"/>
              </a:rPr>
              <a:t>product_id</a:t>
            </a:r>
            <a:r>
              <a:rPr lang="fr-FR" dirty="0"/>
              <a:t> pour faire le pont avec l'ERP et le </a:t>
            </a:r>
            <a:r>
              <a:rPr lang="fr-FR" sz="1100" b="0" i="0" u="none" strike="noStrike" cap="none" dirty="0">
                <a:solidFill>
                  <a:srgbClr val="000000"/>
                </a:solidFill>
                <a:latin typeface="Arial"/>
                <a:ea typeface="Arial"/>
                <a:cs typeface="Arial"/>
                <a:sym typeface="Arial"/>
              </a:rPr>
              <a:t>SKU</a:t>
            </a:r>
            <a:r>
              <a:rPr lang="fr-FR" dirty="0"/>
              <a:t> (ou </a:t>
            </a:r>
            <a:r>
              <a:rPr lang="fr-FR" sz="1100" b="0" i="0" u="none" strike="noStrike" cap="none" dirty="0" err="1">
                <a:solidFill>
                  <a:srgbClr val="000000"/>
                </a:solidFill>
                <a:latin typeface="Arial"/>
                <a:ea typeface="Arial"/>
                <a:cs typeface="Arial"/>
                <a:sym typeface="Arial"/>
              </a:rPr>
              <a:t>id_web</a:t>
            </a:r>
            <a:r>
              <a:rPr lang="fr-FR" dirty="0"/>
              <a:t>) pour le catalogue en ligne. C'est cette </a:t>
            </a:r>
            <a:r>
              <a:rPr lang="fr-FR" b="1" dirty="0"/>
              <a:t>clé pivot</a:t>
            </a:r>
            <a:r>
              <a:rPr lang="fr-FR" dirty="0"/>
              <a:t> qui assure la cohérence de tout mon projet.</a:t>
            </a:r>
            <a:endParaRPr dirty="0"/>
          </a:p>
        </p:txBody>
      </p:sp>
    </p:spTree>
    <p:extLst>
      <p:ext uri="{BB962C8B-B14F-4D97-AF65-F5344CB8AC3E}">
        <p14:creationId xmlns:p14="http://schemas.microsoft.com/office/powerpoint/2010/main" val="33710735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a:extLst>
            <a:ext uri="{FF2B5EF4-FFF2-40B4-BE49-F238E27FC236}">
              <a16:creationId xmlns:a16="http://schemas.microsoft.com/office/drawing/2014/main" id="{343DFA97-F970-DD79-EEFF-96A697BCFDC2}"/>
            </a:ext>
          </a:extLst>
        </p:cNvPr>
        <p:cNvGrpSpPr/>
        <p:nvPr/>
      </p:nvGrpSpPr>
      <p:grpSpPr>
        <a:xfrm>
          <a:off x="0" y="0"/>
          <a:ext cx="0" cy="0"/>
          <a:chOff x="0" y="0"/>
          <a:chExt cx="0" cy="0"/>
        </a:xfrm>
      </p:grpSpPr>
      <p:sp>
        <p:nvSpPr>
          <p:cNvPr id="68" name="Google Shape;68;p5:notes">
            <a:extLst>
              <a:ext uri="{FF2B5EF4-FFF2-40B4-BE49-F238E27FC236}">
                <a16:creationId xmlns:a16="http://schemas.microsoft.com/office/drawing/2014/main" id="{52A3FB91-96B5-06EB-6C16-0ABD8FCD96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fr-FR"/>
          </a:p>
        </p:txBody>
      </p:sp>
      <p:sp>
        <p:nvSpPr>
          <p:cNvPr id="69" name="Google Shape;69;p5:notes">
            <a:extLst>
              <a:ext uri="{FF2B5EF4-FFF2-40B4-BE49-F238E27FC236}">
                <a16:creationId xmlns:a16="http://schemas.microsoft.com/office/drawing/2014/main" id="{1ACBAB30-7900-960C-7B6F-445F6E91E04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fr-FR" dirty="0"/>
              <a:t>Pour sécuriser mes données, j'ai effectué des </a:t>
            </a:r>
            <a:r>
              <a:rPr lang="fr-FR" b="1" dirty="0"/>
              <a:t>contrôles de volumétrie</a:t>
            </a:r>
            <a:r>
              <a:rPr lang="fr-FR" dirty="0"/>
              <a:t> à chaque étape de fusion. Entre l'ERP et la table de liaison, j'ai conservé mes </a:t>
            </a:r>
            <a:r>
              <a:rPr lang="fr-FR" b="1" dirty="0"/>
              <a:t>825 lignes</a:t>
            </a:r>
            <a:r>
              <a:rPr lang="fr-FR" dirty="0"/>
              <a:t>, preuve qu'aucune donnée n'a été perdue.</a:t>
            </a:r>
          </a:p>
          <a:p>
            <a:r>
              <a:rPr lang="fr-FR" dirty="0"/>
              <a:t>En revanche, la jointure finale avec le Web m'a fait passer à </a:t>
            </a:r>
            <a:r>
              <a:rPr lang="fr-FR" b="1" dirty="0"/>
              <a:t>714 lignes</a:t>
            </a:r>
            <a:r>
              <a:rPr lang="fr-FR" dirty="0"/>
              <a:t>. C'est une baisse attendue : j'ai utilisé un </a:t>
            </a:r>
            <a:r>
              <a:rPr lang="fr-FR" b="1" dirty="0" err="1"/>
              <a:t>Inner</a:t>
            </a:r>
            <a:r>
              <a:rPr lang="fr-FR" b="1" dirty="0"/>
              <a:t> </a:t>
            </a:r>
            <a:r>
              <a:rPr lang="fr-FR" b="1" dirty="0" err="1"/>
              <a:t>Join</a:t>
            </a:r>
            <a:r>
              <a:rPr lang="fr-FR" dirty="0"/>
              <a:t> pour me concentrer uniquement sur les produits référencés en ligne.</a:t>
            </a:r>
          </a:p>
          <a:p>
            <a:r>
              <a:rPr lang="fr-FR" dirty="0"/>
              <a:t>Enfin, un point de vigilance opérationnel : j'ai identifié le produit </a:t>
            </a:r>
            <a:r>
              <a:rPr lang="fr-FR" b="1" dirty="0"/>
              <a:t>4200</a:t>
            </a:r>
            <a:r>
              <a:rPr lang="fr-FR" dirty="0"/>
              <a:t>. Il n'est pas sur le site, mais on en a </a:t>
            </a:r>
            <a:r>
              <a:rPr lang="fr-FR" b="1" dirty="0"/>
              <a:t>33 en stock</a:t>
            </a:r>
            <a:r>
              <a:rPr lang="fr-FR" dirty="0"/>
              <a:t> qui dorment en entrepôt. C'est une immobilisation financière qu'il faudra traiter avec le service commercial.</a:t>
            </a:r>
          </a:p>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2240582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a:extLst>
            <a:ext uri="{FF2B5EF4-FFF2-40B4-BE49-F238E27FC236}">
              <a16:creationId xmlns:a16="http://schemas.microsoft.com/office/drawing/2014/main" id="{29CEC069-9729-C400-BF7F-5CB39DC364E3}"/>
            </a:ext>
          </a:extLst>
        </p:cNvPr>
        <p:cNvGrpSpPr/>
        <p:nvPr/>
      </p:nvGrpSpPr>
      <p:grpSpPr>
        <a:xfrm>
          <a:off x="0" y="0"/>
          <a:ext cx="0" cy="0"/>
          <a:chOff x="0" y="0"/>
          <a:chExt cx="0" cy="0"/>
        </a:xfrm>
      </p:grpSpPr>
      <p:sp>
        <p:nvSpPr>
          <p:cNvPr id="76" name="Google Shape;76;p6:notes">
            <a:extLst>
              <a:ext uri="{FF2B5EF4-FFF2-40B4-BE49-F238E27FC236}">
                <a16:creationId xmlns:a16="http://schemas.microsoft.com/office/drawing/2014/main" id="{87315984-B086-6F9A-DE05-DC3036EAA18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fr-FR"/>
          </a:p>
        </p:txBody>
      </p:sp>
      <p:sp>
        <p:nvSpPr>
          <p:cNvPr id="77" name="Google Shape;77;p6:notes">
            <a:extLst>
              <a:ext uri="{FF2B5EF4-FFF2-40B4-BE49-F238E27FC236}">
                <a16:creationId xmlns:a16="http://schemas.microsoft.com/office/drawing/2014/main" id="{D5B58E20-641B-B8C4-52EE-5F8BE82A257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fr-FR" dirty="0"/>
              <a:t>Ces deux graphiques valident la cohérence de notre offre commerciale. Le Boxplot met en lumière un </a:t>
            </a:r>
            <a:r>
              <a:rPr lang="fr-FR" b="1" dirty="0"/>
              <a:t>cœur de gamme</a:t>
            </a:r>
            <a:r>
              <a:rPr lang="fr-FR" dirty="0"/>
              <a:t> très accessible : la moitié de nos références se situe entre 14 € et 42 €, avec un prix pivot autour de 24 €.</a:t>
            </a:r>
          </a:p>
          <a:p>
            <a:r>
              <a:rPr lang="fr-FR" dirty="0"/>
              <a:t>On ne subit pas cette dispersion, on la pilote : l'indice de Gini de 0.40 confirme que notre distribution est </a:t>
            </a:r>
            <a:r>
              <a:rPr lang="fr-FR" b="1" dirty="0"/>
              <a:t>standard et saine</a:t>
            </a:r>
            <a:r>
              <a:rPr lang="fr-FR" dirty="0"/>
              <a:t> pour le secteur. Nous avons un socle solide de produits de volume, complété par une montée en gamme progressive vers des références 'Prestige', ce qui tire la valeur globale vers le haut sans déséquilibrer l'identité du catalogue.</a:t>
            </a:r>
          </a:p>
          <a:p>
            <a:endParaRPr lang="fr-FR" dirty="0"/>
          </a:p>
          <a:p>
            <a:endParaRPr lang="fr-FR" dirty="0"/>
          </a:p>
          <a:p>
            <a:endParaRPr lang="fr-FR" dirty="0"/>
          </a:p>
          <a:p>
            <a:pPr marL="158750" indent="0">
              <a:buNone/>
            </a:pPr>
            <a:r>
              <a:rPr lang="fr-FR" dirty="0">
                <a:sym typeface="Wingdings" panose="05000000000000000000" pitchFamily="2" charset="2"/>
              </a:rPr>
              <a:t> </a:t>
            </a:r>
            <a:r>
              <a:rPr lang="fr-FR" dirty="0"/>
              <a:t>Si question sur « </a:t>
            </a:r>
            <a:r>
              <a:rPr lang="fr-FR" sz="1100" dirty="0">
                <a:latin typeface="Lato Light" panose="020F0502020204030203" pitchFamily="34" charset="0"/>
                <a:cs typeface="Lato Light" panose="020F0502020204030203" pitchFamily="34" charset="0"/>
              </a:rPr>
              <a:t>Distribution standard et cohérente pour le secteur »</a:t>
            </a:r>
            <a:endParaRPr lang="fr-FR" dirty="0"/>
          </a:p>
          <a:p>
            <a:pPr marL="0" lvl="0" indent="0" algn="l" rtl="0">
              <a:lnSpc>
                <a:spcPct val="100000"/>
              </a:lnSpc>
              <a:spcBef>
                <a:spcPts val="0"/>
              </a:spcBef>
              <a:spcAft>
                <a:spcPts val="0"/>
              </a:spcAft>
              <a:buSzPts val="1100"/>
              <a:buNone/>
            </a:pPr>
            <a:r>
              <a:rPr lang="fr-FR" dirty="0"/>
              <a:t>Je qualifie cet indice de </a:t>
            </a:r>
            <a:r>
              <a:rPr lang="fr-FR" b="1" dirty="0"/>
              <a:t>standard</a:t>
            </a:r>
            <a:r>
              <a:rPr lang="fr-FR" dirty="0"/>
              <a:t> car il reflète une structure commerciale saine : nous avons une base de produits accessible (notre cœur de gamme) et une montée en gamme progressive. Ce n'est pas une distribution égalitaire, ce qui est logique pour un caviste, mais c'est une distribution </a:t>
            </a:r>
            <a:r>
              <a:rPr lang="fr-FR" b="1" dirty="0"/>
              <a:t>maîtrisée</a:t>
            </a:r>
            <a:r>
              <a:rPr lang="fr-FR" dirty="0"/>
              <a:t> qui suit les standards du e-commerce de spécialité.</a:t>
            </a:r>
          </a:p>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2576990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a:extLst>
            <a:ext uri="{FF2B5EF4-FFF2-40B4-BE49-F238E27FC236}">
              <a16:creationId xmlns:a16="http://schemas.microsoft.com/office/drawing/2014/main" id="{45634343-3AC0-A9A1-C536-1F54E2B5104E}"/>
            </a:ext>
          </a:extLst>
        </p:cNvPr>
        <p:cNvGrpSpPr/>
        <p:nvPr/>
      </p:nvGrpSpPr>
      <p:grpSpPr>
        <a:xfrm>
          <a:off x="0" y="0"/>
          <a:ext cx="0" cy="0"/>
          <a:chOff x="0" y="0"/>
          <a:chExt cx="0" cy="0"/>
        </a:xfrm>
      </p:grpSpPr>
      <p:sp>
        <p:nvSpPr>
          <p:cNvPr id="76" name="Google Shape;76;p6:notes">
            <a:extLst>
              <a:ext uri="{FF2B5EF4-FFF2-40B4-BE49-F238E27FC236}">
                <a16:creationId xmlns:a16="http://schemas.microsoft.com/office/drawing/2014/main" id="{22F90583-010D-BF41-DB6B-417424EF1D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fr-FR"/>
          </a:p>
        </p:txBody>
      </p:sp>
      <p:sp>
        <p:nvSpPr>
          <p:cNvPr id="77" name="Google Shape;77;p6:notes">
            <a:extLst>
              <a:ext uri="{FF2B5EF4-FFF2-40B4-BE49-F238E27FC236}">
                <a16:creationId xmlns:a16="http://schemas.microsoft.com/office/drawing/2014/main" id="{AA851F3F-EC53-E785-3FF6-FDCD2A2ECEE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fr-FR" dirty="0"/>
              <a:t>J'ai utilisé l'interquartile pour définir mon </a:t>
            </a:r>
            <a:r>
              <a:rPr lang="fr-FR" b="1" dirty="0"/>
              <a:t>cœur de gamme métier</a:t>
            </a:r>
            <a:r>
              <a:rPr lang="fr-FR" dirty="0"/>
              <a:t> et comprendre où se situait la masse de mes produits. Le Z-score, lui, m'a servi de </a:t>
            </a:r>
            <a:r>
              <a:rPr lang="fr-FR" b="1" dirty="0"/>
              <a:t>confirmation statistique</a:t>
            </a:r>
            <a:r>
              <a:rPr lang="fr-FR" dirty="0"/>
              <a:t> : il m'a permis d'isoler mathématiquement les produits 'Prestige' du reste du catalogue pour m'assurer qu'ils ne faussaient pas mes analyses de tendance globale.</a:t>
            </a:r>
          </a:p>
          <a:p>
            <a:pPr marL="0" lvl="0" indent="0" algn="l" rtl="0">
              <a:lnSpc>
                <a:spcPct val="100000"/>
              </a:lnSpc>
              <a:spcBef>
                <a:spcPts val="0"/>
              </a:spcBef>
              <a:spcAft>
                <a:spcPts val="0"/>
              </a:spcAft>
              <a:buSzPts val="1100"/>
              <a:buNone/>
            </a:pPr>
            <a:endParaRPr lang="fr-FR" dirty="0"/>
          </a:p>
          <a:p>
            <a:pPr marL="0" lvl="0" indent="0" algn="l" rtl="0">
              <a:lnSpc>
                <a:spcPct val="100000"/>
              </a:lnSpc>
              <a:spcBef>
                <a:spcPts val="0"/>
              </a:spcBef>
              <a:spcAft>
                <a:spcPts val="0"/>
              </a:spcAft>
              <a:buSzPts val="1100"/>
              <a:buNone/>
            </a:pPr>
            <a:r>
              <a:rPr lang="fr-FR" dirty="0"/>
              <a:t>Ma vérification a consisté à confronter les statistiques à la réalité du catalogue. Si le Z-score définit mathématiquement des outliers dès 115€, l'extrait du DF montre qu'il s'agit simplement de nos références de prestige. La limite de ces méthodes est qu'elles ne connaissent pas le produit : le Z-score pourrait suggérer une anomalie là où le métier voit une opportunité de marge. C'est pourquoi j'ai choisi de </a:t>
            </a:r>
            <a:r>
              <a:rPr lang="fr-FR" b="1" dirty="0"/>
              <a:t>tout maintenir</a:t>
            </a:r>
            <a:r>
              <a:rPr lang="fr-FR" dirty="0"/>
              <a:t> pour ne pas fausser le calcul du Chiffre d'Affaires total.</a:t>
            </a:r>
          </a:p>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705361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BF6217E4-6A44-FC47-BDAF-EFB8029543DA}"/>
            </a:ext>
          </a:extLst>
        </p:cNvPr>
        <p:cNvGrpSpPr/>
        <p:nvPr/>
      </p:nvGrpSpPr>
      <p:grpSpPr>
        <a:xfrm>
          <a:off x="0" y="0"/>
          <a:ext cx="0" cy="0"/>
          <a:chOff x="0" y="0"/>
          <a:chExt cx="0" cy="0"/>
        </a:xfrm>
      </p:grpSpPr>
      <p:sp>
        <p:nvSpPr>
          <p:cNvPr id="84" name="Google Shape;84;p7:notes">
            <a:extLst>
              <a:ext uri="{FF2B5EF4-FFF2-40B4-BE49-F238E27FC236}">
                <a16:creationId xmlns:a16="http://schemas.microsoft.com/office/drawing/2014/main" id="{95E0E34D-BBCF-514F-6F7D-8828B3C71C2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fr-FR"/>
          </a:p>
        </p:txBody>
      </p:sp>
      <p:sp>
        <p:nvSpPr>
          <p:cNvPr id="85" name="Google Shape;85;p7:notes">
            <a:extLst>
              <a:ext uri="{FF2B5EF4-FFF2-40B4-BE49-F238E27FC236}">
                <a16:creationId xmlns:a16="http://schemas.microsoft.com/office/drawing/2014/main" id="{F7CB1356-280D-0249-8135-66AD08C830C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fr-FR" dirty="0"/>
              <a:t>Le Chiffre d'Affaires total s'élève à 143 680 €. Ce qui est frappant, c'est l'analyse de Pareto : contrairement à la règle habituelle des 20/80, il nous faut ici </a:t>
            </a:r>
            <a:r>
              <a:rPr lang="fr-FR" b="1" dirty="0"/>
              <a:t>61% de nos références</a:t>
            </a:r>
            <a:r>
              <a:rPr lang="fr-FR" dirty="0"/>
              <a:t> pour atteindre 80% du CA.</a:t>
            </a:r>
          </a:p>
          <a:p>
            <a:r>
              <a:rPr lang="fr-FR" dirty="0"/>
              <a:t>C'est une excellente nouvelle : ça signifie que notre business est </a:t>
            </a:r>
            <a:r>
              <a:rPr lang="fr-FR" b="1" dirty="0"/>
              <a:t>résilient</a:t>
            </a:r>
            <a:r>
              <a:rPr lang="fr-FR" dirty="0"/>
              <a:t>. On ne dépend pas de 3 ou 4 bouteilles 'stars', mais bien de l'ensemble de notre catalogue. Ça valide totalement mon analyse précédente sur l'indice de Gini : notre distribution est saine, équilibrée et standard pour un caviste.</a:t>
            </a:r>
          </a:p>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3199640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AFAB77BD-3F7B-B70A-9556-AB9F391E04E6}"/>
            </a:ext>
          </a:extLst>
        </p:cNvPr>
        <p:cNvGrpSpPr/>
        <p:nvPr/>
      </p:nvGrpSpPr>
      <p:grpSpPr>
        <a:xfrm>
          <a:off x="0" y="0"/>
          <a:ext cx="0" cy="0"/>
          <a:chOff x="0" y="0"/>
          <a:chExt cx="0" cy="0"/>
        </a:xfrm>
      </p:grpSpPr>
      <p:sp>
        <p:nvSpPr>
          <p:cNvPr id="84" name="Google Shape;84;p7:notes">
            <a:extLst>
              <a:ext uri="{FF2B5EF4-FFF2-40B4-BE49-F238E27FC236}">
                <a16:creationId xmlns:a16="http://schemas.microsoft.com/office/drawing/2014/main" id="{2D770A36-68C1-6BD2-25B6-DF1C3B3ACCF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fr-FR"/>
          </a:p>
        </p:txBody>
      </p:sp>
      <p:sp>
        <p:nvSpPr>
          <p:cNvPr id="85" name="Google Shape;85;p7:notes">
            <a:extLst>
              <a:ext uri="{FF2B5EF4-FFF2-40B4-BE49-F238E27FC236}">
                <a16:creationId xmlns:a16="http://schemas.microsoft.com/office/drawing/2014/main" id="{3DB081AC-D1D5-0B16-88F0-A2EF5BFFA3D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fr-FR" dirty="0"/>
              <a:t>On change d'indicateur pour regarder les volumes : 5 751 ventes au total. On retrouve exactement la même structure que pour le Chiffre d'Affaires : 80% de nos ventes sont portées par 61% de nos produits.</a:t>
            </a:r>
          </a:p>
          <a:p>
            <a:pPr marL="158750" indent="0">
              <a:buNone/>
            </a:pPr>
            <a:r>
              <a:rPr lang="fr-FR" dirty="0"/>
              <a:t>➔ </a:t>
            </a:r>
            <a:r>
              <a:rPr lang="fr-FR" b="1" dirty="0"/>
              <a:t>Ce qu'il faut en retenir :</a:t>
            </a:r>
            <a:r>
              <a:rPr lang="fr-FR" dirty="0"/>
              <a:t> Notre catalogue est extrêmement sain. On n'est pas sur un modèle où quelques best-sellers portent tout le magasin pendant que le reste prend la poussière. Comme le montre le graphique des meilleures ventes à droite, on a une belle diversité de produits qui tournent, avec un top 1 (le Maguelonne Rosé) qui reste à un niveau raisonnable par rapport au reste de la liste.</a:t>
            </a:r>
          </a:p>
          <a:p>
            <a:pPr marL="158750" indent="0">
              <a:buNone/>
            </a:pPr>
            <a:endParaRPr lang="fr-FR" dirty="0"/>
          </a:p>
          <a:p>
            <a:endParaRPr lang="fr-FR" dirty="0"/>
          </a:p>
          <a:p>
            <a:r>
              <a:rPr lang="fr-FR" dirty="0"/>
              <a:t>Mon analyse de Pareto vient </a:t>
            </a:r>
            <a:r>
              <a:rPr lang="fr-FR" b="1" dirty="0"/>
              <a:t>appuyer la cohérence</a:t>
            </a:r>
            <a:r>
              <a:rPr lang="fr-FR" dirty="0"/>
              <a:t> du catalogue. On a vu avec Gini que l'offre de prix était bien distribuée ; on constate avec Pareto que les performances commerciales suivent cette même logique. Le Chiffre d'Affaires ne repose pas sur une poignée de références 'outliers', mais bien sur une large base du catalogue. C'est la preuve d'une offre qui rencontre son public sur l'ensemble des gammes de prix.</a:t>
            </a:r>
          </a:p>
          <a:p>
            <a:pPr marL="158750" indent="0">
              <a:buNone/>
            </a:pPr>
            <a:endParaRPr lang="fr-FR" dirty="0"/>
          </a:p>
          <a:p>
            <a:endParaRPr lang="fr-FR" dirty="0"/>
          </a:p>
          <a:p>
            <a:pPr marL="158750" indent="0">
              <a:buNone/>
            </a:pPr>
            <a:r>
              <a:rPr lang="fr-FR" b="1" dirty="0"/>
              <a:t>~ En résumé :</a:t>
            </a:r>
            <a:r>
              <a:rPr lang="fr-FR" dirty="0"/>
              <a:t> Ce n'est pas une relation de cause à effet mathématique, mais c'est une </a:t>
            </a:r>
            <a:r>
              <a:rPr lang="fr-FR" b="1" dirty="0"/>
              <a:t>convergence de résultats</a:t>
            </a:r>
            <a:r>
              <a:rPr lang="fr-FR" dirty="0"/>
              <a:t> qui montre que ton business est sain.</a:t>
            </a:r>
          </a:p>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0492854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372D867F-2D95-78D4-6000-9CEFEE603424}"/>
            </a:ext>
          </a:extLst>
        </p:cNvPr>
        <p:cNvGrpSpPr/>
        <p:nvPr/>
      </p:nvGrpSpPr>
      <p:grpSpPr>
        <a:xfrm>
          <a:off x="0" y="0"/>
          <a:ext cx="0" cy="0"/>
          <a:chOff x="0" y="0"/>
          <a:chExt cx="0" cy="0"/>
        </a:xfrm>
      </p:grpSpPr>
      <p:sp>
        <p:nvSpPr>
          <p:cNvPr id="84" name="Google Shape;84;p7:notes">
            <a:extLst>
              <a:ext uri="{FF2B5EF4-FFF2-40B4-BE49-F238E27FC236}">
                <a16:creationId xmlns:a16="http://schemas.microsoft.com/office/drawing/2014/main" id="{53E868B9-1179-6F24-6C14-30BA702B5A6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fr-FR"/>
          </a:p>
        </p:txBody>
      </p:sp>
      <p:sp>
        <p:nvSpPr>
          <p:cNvPr id="85" name="Google Shape;85;p7:notes">
            <a:extLst>
              <a:ext uri="{FF2B5EF4-FFF2-40B4-BE49-F238E27FC236}">
                <a16:creationId xmlns:a16="http://schemas.microsoft.com/office/drawing/2014/main" id="{F12F7E36-7BA4-793A-2FB6-F9B4BF8BE5E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fr-FR" dirty="0"/>
              <a:t>Le stock est le gros point d'attention. On a plus de </a:t>
            </a:r>
            <a:r>
              <a:rPr lang="fr-FR" b="1" dirty="0"/>
              <a:t>277 000 €</a:t>
            </a:r>
            <a:r>
              <a:rPr lang="fr-FR" dirty="0"/>
              <a:t> immobilisés, ce qui représente environ deux mois de chiffre d'affaires.</a:t>
            </a:r>
          </a:p>
          <a:p>
            <a:r>
              <a:rPr lang="fr-FR" dirty="0"/>
              <a:t>➔ </a:t>
            </a:r>
            <a:r>
              <a:rPr lang="fr-FR" b="1" dirty="0"/>
              <a:t>Le bémol :</a:t>
            </a:r>
            <a:r>
              <a:rPr lang="fr-FR" dirty="0"/>
              <a:t> On a des références qui dorment depuis plus de </a:t>
            </a:r>
            <a:r>
              <a:rPr lang="fr-FR" b="1" dirty="0"/>
              <a:t>25 mois</a:t>
            </a:r>
            <a:r>
              <a:rPr lang="fr-FR" dirty="0"/>
              <a:t>. C'est là que mon analyse rejoint les 'Alertes stock HAUT' que vous voyez à droite : on stocke énormément de Champagne.</a:t>
            </a:r>
          </a:p>
          <a:p>
            <a:r>
              <a:rPr lang="fr-FR" dirty="0"/>
              <a:t>➔ </a:t>
            </a:r>
            <a:r>
              <a:rPr lang="fr-FR" b="1" dirty="0"/>
              <a:t>La nuance :</a:t>
            </a:r>
            <a:r>
              <a:rPr lang="fr-FR" dirty="0"/>
              <a:t> Il ne faut pas paniquer. Comme l'indique ma note, ces données datent d’octobre. C'est cohérent pour un caviste de 'charger' son stock de Champagne juste avant les fêtes pour ne pas rater de ventes. Ce qui sera intéressant, c'est de voir si ce stock descend bien en janvier.</a:t>
            </a:r>
          </a:p>
          <a:p>
            <a:pPr marL="0" lvl="0" indent="0" algn="l" rtl="0">
              <a:lnSpc>
                <a:spcPct val="100000"/>
              </a:lnSpc>
              <a:spcBef>
                <a:spcPts val="0"/>
              </a:spcBef>
              <a:spcAft>
                <a:spcPts val="0"/>
              </a:spcAft>
              <a:buSzPts val="1100"/>
              <a:buNone/>
            </a:pPr>
            <a:endParaRPr lang="fr-FR" dirty="0"/>
          </a:p>
        </p:txBody>
      </p:sp>
    </p:spTree>
    <p:extLst>
      <p:ext uri="{BB962C8B-B14F-4D97-AF65-F5344CB8AC3E}">
        <p14:creationId xmlns:p14="http://schemas.microsoft.com/office/powerpoint/2010/main" val="38590320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C3F25D32-2268-2261-FF49-5BB16D5F0E2C}"/>
            </a:ext>
          </a:extLst>
        </p:cNvPr>
        <p:cNvGrpSpPr/>
        <p:nvPr/>
      </p:nvGrpSpPr>
      <p:grpSpPr>
        <a:xfrm>
          <a:off x="0" y="0"/>
          <a:ext cx="0" cy="0"/>
          <a:chOff x="0" y="0"/>
          <a:chExt cx="0" cy="0"/>
        </a:xfrm>
      </p:grpSpPr>
      <p:sp>
        <p:nvSpPr>
          <p:cNvPr id="84" name="Google Shape;84;p7:notes">
            <a:extLst>
              <a:ext uri="{FF2B5EF4-FFF2-40B4-BE49-F238E27FC236}">
                <a16:creationId xmlns:a16="http://schemas.microsoft.com/office/drawing/2014/main" id="{05C6006B-1A77-EC36-152A-09A268C29B2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fr-FR"/>
          </a:p>
        </p:txBody>
      </p:sp>
      <p:sp>
        <p:nvSpPr>
          <p:cNvPr id="85" name="Google Shape;85;p7:notes">
            <a:extLst>
              <a:ext uri="{FF2B5EF4-FFF2-40B4-BE49-F238E27FC236}">
                <a16:creationId xmlns:a16="http://schemas.microsoft.com/office/drawing/2014/main" id="{6EAEC710-673A-4FF0-A50B-70F80CD91BE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buNone/>
            </a:pPr>
            <a:r>
              <a:rPr lang="fr-FR" dirty="0"/>
              <a:t>On passe maintenant à la rentabilité avec le taux de marge. Globalement, l'entreprise se porte très bien avec une marge moyenne de </a:t>
            </a:r>
            <a:r>
              <a:rPr lang="fr-FR" b="1" dirty="0"/>
              <a:t>61%</a:t>
            </a:r>
            <a:r>
              <a:rPr lang="fr-FR" dirty="0"/>
              <a:t>.</a:t>
            </a:r>
          </a:p>
          <a:p>
            <a:pPr marL="158750" indent="0">
              <a:buNone/>
            </a:pPr>
            <a:r>
              <a:rPr lang="fr-FR" dirty="0"/>
              <a:t>Ce qui est intéressant, c'est la structure de ces marges :</a:t>
            </a:r>
          </a:p>
          <a:p>
            <a:r>
              <a:rPr lang="fr-FR" dirty="0"/>
              <a:t>Nos </a:t>
            </a:r>
            <a:r>
              <a:rPr lang="fr-FR" b="1" dirty="0"/>
              <a:t>spiritueux</a:t>
            </a:r>
            <a:r>
              <a:rPr lang="fr-FR" dirty="0"/>
              <a:t> (Cognac, Whisky, Gin) sont nos vraies locomotives de profit avec plus de 75% de marge.</a:t>
            </a:r>
          </a:p>
          <a:p>
            <a:r>
              <a:rPr lang="fr-FR" dirty="0"/>
              <a:t>Le </a:t>
            </a:r>
            <a:r>
              <a:rPr lang="fr-FR" b="1" dirty="0"/>
              <a:t>vin</a:t>
            </a:r>
            <a:r>
              <a:rPr lang="fr-FR" dirty="0"/>
              <a:t>, qui est notre cœur de métier, reste très stable autour de 61%.</a:t>
            </a:r>
          </a:p>
          <a:p>
            <a:r>
              <a:rPr lang="fr-FR" dirty="0"/>
              <a:t>Le Champagne affiche une marge plus faible (40%) par rapport au reste du catalogue. </a:t>
            </a:r>
          </a:p>
          <a:p>
            <a:pPr marL="158750" indent="0">
              <a:buNone/>
            </a:pPr>
            <a:r>
              <a:rPr lang="fr-FR" b="1" dirty="0">
                <a:sym typeface="Wingdings" panose="05000000000000000000" pitchFamily="2" charset="2"/>
              </a:rPr>
              <a:t> </a:t>
            </a:r>
            <a:r>
              <a:rPr lang="fr-FR" b="1" dirty="0"/>
              <a:t>Plusieurs pistes à explorer :</a:t>
            </a:r>
            <a:r>
              <a:rPr lang="fr-FR" dirty="0"/>
              <a:t> est-ce un choix délibéré pour rester compétitif sur ce segment très concurrentiel, ou est-ce que nos prix d'achat sont trop élevés ? C'est un point qu'il faudrait creuser avec le service achat.</a:t>
            </a:r>
            <a:endParaRPr dirty="0"/>
          </a:p>
        </p:txBody>
      </p:sp>
    </p:spTree>
    <p:extLst>
      <p:ext uri="{BB962C8B-B14F-4D97-AF65-F5344CB8AC3E}">
        <p14:creationId xmlns:p14="http://schemas.microsoft.com/office/powerpoint/2010/main" val="36387202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DC4BBB7B-633D-BE30-33C5-210349720B16}"/>
            </a:ext>
          </a:extLst>
        </p:cNvPr>
        <p:cNvGrpSpPr/>
        <p:nvPr/>
      </p:nvGrpSpPr>
      <p:grpSpPr>
        <a:xfrm>
          <a:off x="0" y="0"/>
          <a:ext cx="0" cy="0"/>
          <a:chOff x="0" y="0"/>
          <a:chExt cx="0" cy="0"/>
        </a:xfrm>
      </p:grpSpPr>
      <p:sp>
        <p:nvSpPr>
          <p:cNvPr id="84" name="Google Shape;84;p7:notes">
            <a:extLst>
              <a:ext uri="{FF2B5EF4-FFF2-40B4-BE49-F238E27FC236}">
                <a16:creationId xmlns:a16="http://schemas.microsoft.com/office/drawing/2014/main" id="{9E483290-0D0C-505D-2AA0-FA025B90CD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fr-FR"/>
          </a:p>
        </p:txBody>
      </p:sp>
      <p:sp>
        <p:nvSpPr>
          <p:cNvPr id="85" name="Google Shape;85;p7:notes">
            <a:extLst>
              <a:ext uri="{FF2B5EF4-FFF2-40B4-BE49-F238E27FC236}">
                <a16:creationId xmlns:a16="http://schemas.microsoft.com/office/drawing/2014/main" id="{F3DE1B23-26FD-EEF1-263B-3E51ACF2A89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buNone/>
            </a:pPr>
            <a:r>
              <a:rPr lang="fr-FR" dirty="0"/>
              <a:t>Pour finir sur les chiffres, j'ai croisé nos données pour voir comment nos variables s'influencent.</a:t>
            </a:r>
          </a:p>
          <a:p>
            <a:r>
              <a:rPr lang="fr-FR" b="1" dirty="0"/>
              <a:t>Le point critique :</a:t>
            </a:r>
            <a:r>
              <a:rPr lang="fr-FR" dirty="0"/>
              <a:t> La corrélation entre prix et ventes est de </a:t>
            </a:r>
            <a:r>
              <a:rPr lang="fr-FR" b="1" dirty="0"/>
              <a:t>-0,52</a:t>
            </a:r>
            <a:r>
              <a:rPr lang="fr-FR" dirty="0"/>
              <a:t>. C'est net : plus on monte en gamme de prix, plus les volumes chutent. Ça confirme mathématiquement ce qu'on a vu sur les outliers de prix qui ne font pas le gros de nos ventes.</a:t>
            </a:r>
          </a:p>
          <a:p>
            <a:r>
              <a:rPr lang="fr-FR" b="1" dirty="0"/>
              <a:t>Le point positif :</a:t>
            </a:r>
            <a:r>
              <a:rPr lang="fr-FR" dirty="0"/>
              <a:t> On a un score de </a:t>
            </a:r>
            <a:r>
              <a:rPr lang="fr-FR" b="1" dirty="0"/>
              <a:t>0,44</a:t>
            </a:r>
            <a:r>
              <a:rPr lang="fr-FR" dirty="0"/>
              <a:t> entre le stock et les ventes. Ça veut dire qu'on gère plutôt bien nos approvisionnements : on a tendance à stocker davantage ce qui se vend le mieux.</a:t>
            </a:r>
          </a:p>
          <a:p>
            <a:r>
              <a:rPr lang="fr-FR" b="1" dirty="0"/>
              <a:t>La surprise :</a:t>
            </a:r>
            <a:r>
              <a:rPr lang="fr-FR" dirty="0"/>
              <a:t> Il n'y a quasiment aucun lien entre le prix et le stock (-0,11). On ne stocke pas 'plus' parce que c'est cher ou 'moins' parce que c'est bon marché. La stratégie de volume de stock semble déconnectée de la valeur unitaire du produit.</a:t>
            </a:r>
          </a:p>
          <a:p>
            <a:pPr marL="0" lvl="0" indent="0" algn="l" rtl="0">
              <a:lnSpc>
                <a:spcPct val="100000"/>
              </a:lnSpc>
              <a:spcBef>
                <a:spcPts val="0"/>
              </a:spcBef>
              <a:spcAft>
                <a:spcPts val="0"/>
              </a:spcAft>
              <a:buSzPts val="1100"/>
              <a:buNone/>
            </a:pPr>
            <a:endParaRPr lang="fr-FR" dirty="0"/>
          </a:p>
        </p:txBody>
      </p:sp>
    </p:spTree>
    <p:extLst>
      <p:ext uri="{BB962C8B-B14F-4D97-AF65-F5344CB8AC3E}">
        <p14:creationId xmlns:p14="http://schemas.microsoft.com/office/powerpoint/2010/main" val="24230845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BC3D6D9A-757F-B30B-F59D-8AAAAE3E2E7E}"/>
            </a:ext>
          </a:extLst>
        </p:cNvPr>
        <p:cNvGrpSpPr/>
        <p:nvPr/>
      </p:nvGrpSpPr>
      <p:grpSpPr>
        <a:xfrm>
          <a:off x="0" y="0"/>
          <a:ext cx="0" cy="0"/>
          <a:chOff x="0" y="0"/>
          <a:chExt cx="0" cy="0"/>
        </a:xfrm>
      </p:grpSpPr>
      <p:sp>
        <p:nvSpPr>
          <p:cNvPr id="84" name="Google Shape;84;p7:notes">
            <a:extLst>
              <a:ext uri="{FF2B5EF4-FFF2-40B4-BE49-F238E27FC236}">
                <a16:creationId xmlns:a16="http://schemas.microsoft.com/office/drawing/2014/main" id="{E5091A9C-5590-6474-CDB3-865B844CD68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fr-FR"/>
          </a:p>
        </p:txBody>
      </p:sp>
      <p:sp>
        <p:nvSpPr>
          <p:cNvPr id="85" name="Google Shape;85;p7:notes">
            <a:extLst>
              <a:ext uri="{FF2B5EF4-FFF2-40B4-BE49-F238E27FC236}">
                <a16:creationId xmlns:a16="http://schemas.microsoft.com/office/drawing/2014/main" id="{43F0EAE3-70D6-92F1-BCE5-91BCFAB74B1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buNone/>
            </a:pPr>
            <a:r>
              <a:rPr lang="fr-FR" dirty="0"/>
              <a:t>Avant de conclure, je tenais à présenter un audit de la qualité de nos données.</a:t>
            </a:r>
          </a:p>
          <a:p>
            <a:r>
              <a:rPr lang="fr-FR" b="1" dirty="0"/>
              <a:t>L'erreur de </a:t>
            </a:r>
            <a:r>
              <a:rPr lang="fr-FR" b="1" dirty="0" err="1"/>
              <a:t>pricing</a:t>
            </a:r>
            <a:r>
              <a:rPr lang="fr-FR" b="1" dirty="0"/>
              <a:t> (ID 4355) :</a:t>
            </a:r>
            <a:r>
              <a:rPr lang="fr-FR" dirty="0"/>
              <a:t> J'ai isolé une vente à perte aberrante sur une référence de vin. On l'achète 77 € HT pour la revendre 10 € HT. C'est une anomalie de saisie prioritaire à corriger pour ne pas fausser les futurs rapports de marge.</a:t>
            </a:r>
          </a:p>
          <a:p>
            <a:r>
              <a:rPr lang="fr-FR" b="1" dirty="0"/>
              <a:t>La fiabilité temporelle :</a:t>
            </a:r>
            <a:r>
              <a:rPr lang="fr-FR" dirty="0"/>
              <a:t> Je rappelle que tous mes indicateurs (CA, ventes, marges) sont basés sur le seul mois d'octobre. C'est un instantané.</a:t>
            </a:r>
          </a:p>
          <a:p>
            <a:r>
              <a:rPr lang="fr-FR" b="1" dirty="0"/>
              <a:t>La saisonnalité :</a:t>
            </a:r>
            <a:r>
              <a:rPr lang="fr-FR" dirty="0"/>
              <a:t> Par exemple, nos alertes sur le surstock de Champagne (certaines à plus de 2 ans de stock théorique) sont à relativiser. En octobre, on constitue le stock pour les fêtes. Ce n'est pas forcément du stock mort, mais une anticipation stratégique.</a:t>
            </a:r>
          </a:p>
          <a:p>
            <a:pPr marL="158750" indent="0">
              <a:buNone/>
            </a:pPr>
            <a:r>
              <a:rPr lang="fr-FR" dirty="0">
                <a:sym typeface="Wingdings" panose="05000000000000000000" pitchFamily="2" charset="2"/>
              </a:rPr>
              <a:t> </a:t>
            </a:r>
            <a:r>
              <a:rPr lang="fr-FR" dirty="0"/>
              <a:t>En résumé, ces résultats donnent une excellente tendance, mais ils demandent à être validés sur un cycle complet de 12 mois pour gommer ces effets de saisonnalité.</a:t>
            </a:r>
          </a:p>
          <a:p>
            <a:pPr marL="0" lvl="0" indent="0" algn="l" rtl="0">
              <a:lnSpc>
                <a:spcPct val="100000"/>
              </a:lnSpc>
              <a:spcBef>
                <a:spcPts val="0"/>
              </a:spcBef>
              <a:spcAft>
                <a:spcPts val="0"/>
              </a:spcAft>
              <a:buSzPts val="1100"/>
              <a:buNone/>
            </a:pPr>
            <a:endParaRPr lang="fr-FR" dirty="0"/>
          </a:p>
        </p:txBody>
      </p:sp>
    </p:spTree>
    <p:extLst>
      <p:ext uri="{BB962C8B-B14F-4D97-AF65-F5344CB8AC3E}">
        <p14:creationId xmlns:p14="http://schemas.microsoft.com/office/powerpoint/2010/main" val="6865320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13f9e8f156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fr-FR"/>
          </a:p>
        </p:txBody>
      </p:sp>
      <p:sp>
        <p:nvSpPr>
          <p:cNvPr id="93" name="Google Shape;93;g13f9e8f1567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buNone/>
            </a:pPr>
            <a:r>
              <a:rPr lang="fr-FR" dirty="0"/>
              <a:t>Pour conclure, Nicolas, voici les étapes pour rendre tes données exploitables au quotidien.</a:t>
            </a:r>
          </a:p>
          <a:p>
            <a:r>
              <a:rPr lang="fr-FR" dirty="0"/>
              <a:t>L'urgence, c'est de </a:t>
            </a:r>
            <a:r>
              <a:rPr lang="fr-FR" b="1" dirty="0"/>
              <a:t>verrouiller l'ERP</a:t>
            </a:r>
            <a:r>
              <a:rPr lang="fr-FR" dirty="0"/>
              <a:t> pour qu'aucune aberration de prix ou de stock ne puisse plus entrer. Ensuite, il y a un vrai sujet sur les </a:t>
            </a:r>
            <a:r>
              <a:rPr lang="fr-FR" b="1" dirty="0"/>
              <a:t>111 références qui dorment</a:t>
            </a:r>
            <a:r>
              <a:rPr lang="fr-FR" dirty="0"/>
              <a:t> dans l'ERP sans être sur le site : il faut décider si on les vend ou si on les sort du stock physique.</a:t>
            </a:r>
          </a:p>
          <a:p>
            <a:r>
              <a:rPr lang="fr-FR" dirty="0"/>
              <a:t>Ces corrections faites, on aura une base saine pour ton futur </a:t>
            </a:r>
            <a:r>
              <a:rPr lang="fr-FR" dirty="0" err="1"/>
              <a:t>dashboard</a:t>
            </a:r>
            <a:r>
              <a:rPr lang="fr-FR" dirty="0"/>
              <a:t> et piloter tes marges et tes approvisionnements avec des chiffres fiables.</a:t>
            </a:r>
          </a:p>
          <a:p>
            <a:endParaRPr lang="fr-FR" dirty="0"/>
          </a:p>
          <a:p>
            <a:endParaRPr lang="fr-FR" dirty="0"/>
          </a:p>
          <a:p>
            <a:endParaRPr lang="fr-FR" dirty="0"/>
          </a:p>
          <a:p>
            <a:endParaRPr lang="fr-FR" dirty="0"/>
          </a:p>
          <a:p>
            <a:pPr marL="158750" indent="0">
              <a:buNone/>
            </a:pPr>
            <a:endParaRPr lang="fr-FR" dirty="0"/>
          </a:p>
          <a:p>
            <a:pPr marL="158750" indent="0">
              <a:buNone/>
            </a:pPr>
            <a:r>
              <a:rPr lang="fr-FR" dirty="0"/>
              <a:t>Réponse aux questions éventuelles : </a:t>
            </a:r>
          </a:p>
          <a:p>
            <a:pPr marL="158750" indent="0">
              <a:buNone/>
            </a:pPr>
            <a:endParaRPr lang="fr-FR" dirty="0"/>
          </a:p>
          <a:p>
            <a:pPr marL="457200" indent="-298450">
              <a:buFont typeface="Wingdings" panose="05000000000000000000" pitchFamily="2" charset="2"/>
              <a:buChar char="è"/>
            </a:pPr>
            <a:r>
              <a:rPr lang="fr-FR" sz="1100" dirty="0">
                <a:solidFill>
                  <a:schemeClr val="tx1"/>
                </a:solidFill>
                <a:latin typeface="Lato Light" panose="020F0502020204030203" pitchFamily="34" charset="0"/>
                <a:cs typeface="Lato Light" panose="020F0502020204030203" pitchFamily="34" charset="0"/>
                <a:sym typeface="Montserrat"/>
              </a:rPr>
              <a:t>Industrialiser le croisement systématique des stocks et des ventes</a:t>
            </a:r>
          </a:p>
          <a:p>
            <a:r>
              <a:rPr lang="fr-FR" b="1" dirty="0"/>
              <a:t>Éviter le surstock :</a:t>
            </a:r>
            <a:r>
              <a:rPr lang="fr-FR" dirty="0"/>
              <a:t> Tu as vu des produits avec "25 mois de stock". Industrialiser ce calcul permet de dire : "On ne recommande pas cette référence tant qu'on n'est pas descendu sous les 3 mois de stock théorique".</a:t>
            </a:r>
          </a:p>
          <a:p>
            <a:r>
              <a:rPr lang="fr-FR" b="1" dirty="0"/>
              <a:t>Ajuster selon la vitesse de vente :</a:t>
            </a:r>
            <a:r>
              <a:rPr lang="fr-FR" dirty="0"/>
              <a:t> Au lieu de commander la même quantité pour tout le monde, on commande plus pour ce qui tourne vite (forte corrélation ventes/stock à 0.44) et on réduit drastiquement pour le reste.</a:t>
            </a:r>
          </a:p>
          <a:p>
            <a:pPr marL="158750" indent="0">
              <a:buNone/>
            </a:pPr>
            <a:endParaRPr lang="fr-FR" dirty="0"/>
          </a:p>
          <a:p>
            <a:pPr marL="158750" indent="0">
              <a:buNone/>
            </a:pPr>
            <a:r>
              <a:rPr lang="fr-FR" dirty="0">
                <a:sym typeface="Wingdings" panose="05000000000000000000" pitchFamily="2" charset="2"/>
              </a:rPr>
              <a:t>  </a:t>
            </a:r>
            <a:r>
              <a:rPr lang="fr-FR" sz="1100" dirty="0">
                <a:solidFill>
                  <a:schemeClr val="tx1"/>
                </a:solidFill>
                <a:latin typeface="Lato Light" panose="020F0502020204030203" pitchFamily="34" charset="0"/>
                <a:cs typeface="Lato Light" panose="020F0502020204030203" pitchFamily="34" charset="0"/>
                <a:sym typeface="Montserrat"/>
              </a:rPr>
              <a:t>indicateurs de corrélation (Prix/Ventes) pour aider aux décisions de </a:t>
            </a:r>
            <a:r>
              <a:rPr lang="fr-FR" sz="1100" dirty="0" err="1">
                <a:solidFill>
                  <a:schemeClr val="tx1"/>
                </a:solidFill>
                <a:latin typeface="Lato Light" panose="020F0502020204030203" pitchFamily="34" charset="0"/>
                <a:cs typeface="Lato Light" panose="020F0502020204030203" pitchFamily="34" charset="0"/>
                <a:sym typeface="Montserrat"/>
              </a:rPr>
              <a:t>pricing</a:t>
            </a:r>
            <a:r>
              <a:rPr lang="fr-FR" sz="1100" dirty="0">
                <a:solidFill>
                  <a:schemeClr val="tx1"/>
                </a:solidFill>
                <a:latin typeface="Lato Light" panose="020F0502020204030203" pitchFamily="34" charset="0"/>
                <a:cs typeface="Lato Light" panose="020F0502020204030203" pitchFamily="34" charset="0"/>
                <a:sym typeface="Montserrat"/>
              </a:rPr>
              <a:t>.</a:t>
            </a:r>
            <a:endParaRPr lang="fr-FR" dirty="0"/>
          </a:p>
          <a:p>
            <a:pPr marL="158750" indent="0">
              <a:buNone/>
            </a:pPr>
            <a:r>
              <a:rPr lang="fr-FR" dirty="0"/>
              <a:t>On a trouvé une corrélation de </a:t>
            </a:r>
            <a:r>
              <a:rPr lang="fr-FR" b="1" dirty="0"/>
              <a:t>-0,52</a:t>
            </a:r>
            <a:r>
              <a:rPr lang="fr-FR" dirty="0"/>
              <a:t> entre le prix et les ventes.</a:t>
            </a:r>
          </a:p>
          <a:p>
            <a:r>
              <a:rPr lang="fr-FR" b="1" dirty="0"/>
              <a:t>L'élasticité prix est forte :</a:t>
            </a:r>
            <a:r>
              <a:rPr lang="fr-FR" dirty="0"/>
              <a:t> Dès qu'on augmente le prix, le volume de ventes chute de façon significative.</a:t>
            </a:r>
          </a:p>
          <a:p>
            <a:r>
              <a:rPr lang="fr-FR" b="1" dirty="0"/>
              <a:t>Aide à la décision :</a:t>
            </a:r>
            <a:r>
              <a:rPr lang="fr-FR" dirty="0"/>
              <a:t> Si Nicolas veut augmenter la marge sur un vin, cet indicateur l'avertit : "Attention, si tu montes de 2 €, tu risques de perdre X % de tes ventes".</a:t>
            </a:r>
          </a:p>
          <a:p>
            <a:r>
              <a:rPr lang="fr-FR" b="1" dirty="0"/>
              <a:t>Stratégie de promo :</a:t>
            </a:r>
            <a:r>
              <a:rPr lang="fr-FR" dirty="0"/>
              <a:t> À l'inverse, ça permet d'identifier les produits où une petite baisse de prix pourrait faire exploser les volumes de vente.</a:t>
            </a:r>
          </a:p>
          <a:p>
            <a:endParaRPr lang="fr-FR" dirty="0"/>
          </a:p>
          <a:p>
            <a:pPr marL="0" lvl="0" indent="0" algn="l" rtl="0">
              <a:lnSpc>
                <a:spcPct val="100000"/>
              </a:lnSpc>
              <a:spcBef>
                <a:spcPts val="0"/>
              </a:spcBef>
              <a:spcAft>
                <a:spcPts val="0"/>
              </a:spcAft>
              <a:buSzPts val="1100"/>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0"/>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0"/>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1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1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6" name="Google Shape;16;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12"/>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 name="Google Shape;1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13"/>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13"/>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1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15"/>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15"/>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16"/>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17"/>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17"/>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17"/>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17"/>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8"/>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9"/>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9"/>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11.sv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13.sv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15.svg"/></Relationships>
</file>

<file path=ppt/slides/_rels/slide7.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7.sv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15.svg"/></Relationships>
</file>

<file path=ppt/slides/_rels/slide9.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17.png"/><Relationship Id="rId7"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1.png"/><Relationship Id="rId7" Type="http://schemas.openxmlformats.org/officeDocument/2006/relationships/image" Target="../media/image25.sv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svg"/><Relationship Id="rId9" Type="http://schemas.openxmlformats.org/officeDocument/2006/relationships/image" Target="../media/image7.svg"/></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0.sv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svg"/></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0.sv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33.png"/><Relationship Id="rId4" Type="http://schemas.openxmlformats.org/officeDocument/2006/relationships/image" Target="../media/image32.svg"/></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svg"/></Relationships>
</file>

<file path=ppt/slides/_rels/slide1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7.png"/><Relationship Id="rId7" Type="http://schemas.openxmlformats.org/officeDocument/2006/relationships/image" Target="../media/image41.sv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svg"/><Relationship Id="rId9" Type="http://schemas.openxmlformats.org/officeDocument/2006/relationships/image" Target="../media/image7.svg"/></Relationships>
</file>

<file path=ppt/slides/_rels/slide1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42.png"/><Relationship Id="rId7" Type="http://schemas.openxmlformats.org/officeDocument/2006/relationships/image" Target="../media/image46.sv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svg"/><Relationship Id="rId9" Type="http://schemas.openxmlformats.org/officeDocument/2006/relationships/image" Target="../media/image7.sv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7.svg"/></Relationships>
</file>

<file path=ppt/slides/_rels/slide17.xml.rels><?xml version="1.0" encoding="UTF-8" standalone="yes"?>
<Relationships xmlns="http://schemas.openxmlformats.org/package/2006/relationships"><Relationship Id="rId8" Type="http://schemas.openxmlformats.org/officeDocument/2006/relationships/image" Target="../media/image50.svg"/><Relationship Id="rId3" Type="http://schemas.openxmlformats.org/officeDocument/2006/relationships/image" Target="../media/image6.png"/><Relationship Id="rId7" Type="http://schemas.openxmlformats.org/officeDocument/2006/relationships/image" Target="../media/image49.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48.svg"/><Relationship Id="rId5" Type="http://schemas.openxmlformats.org/officeDocument/2006/relationships/image" Target="../media/image47.png"/><Relationship Id="rId4" Type="http://schemas.openxmlformats.org/officeDocument/2006/relationships/image" Target="../media/image7.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3"/>
        <p:cNvGrpSpPr/>
        <p:nvPr/>
      </p:nvGrpSpPr>
      <p:grpSpPr>
        <a:xfrm>
          <a:off x="0" y="0"/>
          <a:ext cx="0" cy="0"/>
          <a:chOff x="0" y="0"/>
          <a:chExt cx="0" cy="0"/>
        </a:xfrm>
      </p:grpSpPr>
      <p:sp>
        <p:nvSpPr>
          <p:cNvPr id="54" name="Google Shape;54;p1"/>
          <p:cNvSpPr/>
          <p:nvPr/>
        </p:nvSpPr>
        <p:spPr>
          <a:xfrm>
            <a:off x="0" y="0"/>
            <a:ext cx="9144000" cy="5143500"/>
          </a:xfrm>
          <a:prstGeom prst="rect">
            <a:avLst/>
          </a:prstGeom>
          <a:solidFill>
            <a:srgbClr val="004D4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55;p1"/>
          <p:cNvSpPr txBox="1"/>
          <p:nvPr/>
        </p:nvSpPr>
        <p:spPr>
          <a:xfrm>
            <a:off x="0" y="2571750"/>
            <a:ext cx="9144000" cy="894000"/>
          </a:xfrm>
          <a:prstGeom prst="rect">
            <a:avLst/>
          </a:prstGeom>
          <a:noFill/>
          <a:ln>
            <a:noFill/>
          </a:ln>
        </p:spPr>
        <p:txBody>
          <a:bodyPr spcFirstLastPara="1" wrap="square" lIns="91425" tIns="91425" rIns="91425" bIns="91425" anchor="ctr" anchorCtr="0">
            <a:normAutofit/>
          </a:bodyPr>
          <a:lstStyle/>
          <a:p>
            <a:pPr marL="0" marR="0" lvl="0" indent="0" algn="ctr" rtl="0">
              <a:lnSpc>
                <a:spcPct val="100000"/>
              </a:lnSpc>
              <a:spcBef>
                <a:spcPts val="0"/>
              </a:spcBef>
              <a:spcAft>
                <a:spcPts val="0"/>
              </a:spcAft>
              <a:buClr>
                <a:srgbClr val="000000"/>
              </a:buClr>
              <a:buSzPct val="100000"/>
              <a:buFont typeface="Arial"/>
              <a:buNone/>
            </a:pPr>
            <a:r>
              <a:rPr lang="fr-FR" sz="4000" b="0" i="0" u="none" strike="noStrike" cap="none" dirty="0">
                <a:solidFill>
                  <a:schemeClr val="bg1"/>
                </a:solidFill>
                <a:latin typeface="Lato Semibold" panose="020F0502020204030203" pitchFamily="34" charset="0"/>
                <a:ea typeface="Montserrat"/>
                <a:cs typeface="Lato Semibold" panose="020F0502020204030203" pitchFamily="34" charset="0"/>
                <a:sym typeface="Montserrat"/>
              </a:rPr>
              <a:t>Optimiser la </a:t>
            </a:r>
            <a:r>
              <a:rPr lang="fr-FR" sz="4400" b="0" i="0" u="none" strike="noStrike" cap="none" dirty="0">
                <a:solidFill>
                  <a:schemeClr val="bg1"/>
                </a:solidFill>
                <a:latin typeface="Lato Semibold" panose="020F0502020204030203" pitchFamily="34" charset="0"/>
                <a:ea typeface="Montserrat"/>
                <a:cs typeface="Lato Semibold" panose="020F0502020204030203" pitchFamily="34" charset="0"/>
                <a:sym typeface="Montserrat"/>
              </a:rPr>
              <a:t>gestion</a:t>
            </a:r>
            <a:r>
              <a:rPr lang="fr-FR" sz="4000" b="0" i="0" u="none" strike="noStrike" cap="none" dirty="0">
                <a:solidFill>
                  <a:schemeClr val="bg1"/>
                </a:solidFill>
                <a:latin typeface="Lato Semibold" panose="020F0502020204030203" pitchFamily="34" charset="0"/>
                <a:ea typeface="Montserrat"/>
                <a:cs typeface="Lato Semibold" panose="020F0502020204030203" pitchFamily="34" charset="0"/>
                <a:sym typeface="Montserrat"/>
              </a:rPr>
              <a:t> des données</a:t>
            </a:r>
            <a:endParaRPr sz="4000" b="0" i="0" u="none" strike="noStrike" cap="none" dirty="0">
              <a:solidFill>
                <a:schemeClr val="bg1"/>
              </a:solidFill>
              <a:latin typeface="Lato Semibold" panose="020F0502020204030203" pitchFamily="34" charset="0"/>
              <a:ea typeface="Montserrat"/>
              <a:cs typeface="Lato Semibold" panose="020F0502020204030203" pitchFamily="34" charset="0"/>
              <a:sym typeface="Montserrat"/>
            </a:endParaRPr>
          </a:p>
        </p:txBody>
      </p:sp>
      <p:sp>
        <p:nvSpPr>
          <p:cNvPr id="56" name="Google Shape;56;p1"/>
          <p:cNvSpPr txBox="1"/>
          <p:nvPr/>
        </p:nvSpPr>
        <p:spPr>
          <a:xfrm>
            <a:off x="4427275" y="4329425"/>
            <a:ext cx="4208175" cy="534150"/>
          </a:xfrm>
          <a:prstGeom prst="rect">
            <a:avLst/>
          </a:prstGeom>
          <a:noFill/>
          <a:ln>
            <a:noFill/>
          </a:ln>
        </p:spPr>
        <p:txBody>
          <a:bodyPr spcFirstLastPara="1" wrap="square" lIns="91425" tIns="91425" rIns="91425" bIns="91425" anchor="ctr" anchorCtr="0">
            <a:normAutofit fontScale="92500" lnSpcReduction="20000"/>
          </a:bodyPr>
          <a:lstStyle/>
          <a:p>
            <a:pPr marL="360000" algn="r">
              <a:buSzPct val="100000"/>
            </a:pPr>
            <a:r>
              <a:rPr lang="fr" sz="2800" b="0" i="0" u="none" strike="noStrike" cap="none" dirty="0">
                <a:solidFill>
                  <a:schemeClr val="lt1"/>
                </a:solidFill>
                <a:latin typeface="Lato" panose="020F0502020204030203" pitchFamily="34" charset="0"/>
                <a:ea typeface="Montserrat"/>
                <a:cs typeface="Lato" panose="020F0502020204030203" pitchFamily="34" charset="0"/>
                <a:sym typeface="Montserrat"/>
              </a:rPr>
              <a:t>Tristan DESPONT</a:t>
            </a:r>
            <a:endParaRPr sz="2800" b="0" i="0" u="none" strike="noStrike" cap="none" dirty="0">
              <a:solidFill>
                <a:schemeClr val="lt1"/>
              </a:solidFill>
              <a:latin typeface="Lato" panose="020F0502020204030203" pitchFamily="34" charset="0"/>
              <a:ea typeface="Montserrat"/>
              <a:cs typeface="Lato" panose="020F0502020204030203" pitchFamily="34" charset="0"/>
              <a:sym typeface="Montserrat"/>
            </a:endParaRPr>
          </a:p>
        </p:txBody>
      </p:sp>
      <p:pic>
        <p:nvPicPr>
          <p:cNvPr id="3" name="Image 2">
            <a:extLst>
              <a:ext uri="{FF2B5EF4-FFF2-40B4-BE49-F238E27FC236}">
                <a16:creationId xmlns:a16="http://schemas.microsoft.com/office/drawing/2014/main" id="{95D74771-87F3-94E2-50BB-A45225E731BF}"/>
              </a:ext>
            </a:extLst>
          </p:cNvPr>
          <p:cNvPicPr>
            <a:picLocks noChangeAspect="1"/>
          </p:cNvPicPr>
          <p:nvPr/>
        </p:nvPicPr>
        <p:blipFill>
          <a:blip r:embed="rId3"/>
          <a:srcRect/>
          <a:stretch/>
        </p:blipFill>
        <p:spPr>
          <a:xfrm>
            <a:off x="2982798" y="458460"/>
            <a:ext cx="3178404" cy="1833365"/>
          </a:xfrm>
          <a:prstGeom prst="rect">
            <a:avLst/>
          </a:prstGeom>
          <a:effectLst>
            <a:softEdge rad="25400"/>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a:extLst>
            <a:ext uri="{FF2B5EF4-FFF2-40B4-BE49-F238E27FC236}">
              <a16:creationId xmlns:a16="http://schemas.microsoft.com/office/drawing/2014/main" id="{68D5A4D2-48F5-8A77-D7F9-2544751EB51E}"/>
            </a:ext>
          </a:extLst>
        </p:cNvPr>
        <p:cNvGrpSpPr/>
        <p:nvPr/>
      </p:nvGrpSpPr>
      <p:grpSpPr>
        <a:xfrm>
          <a:off x="0" y="0"/>
          <a:ext cx="0" cy="0"/>
          <a:chOff x="0" y="0"/>
          <a:chExt cx="0" cy="0"/>
        </a:xfrm>
      </p:grpSpPr>
      <p:sp>
        <p:nvSpPr>
          <p:cNvPr id="63" name="Google Shape;63;p4">
            <a:extLst>
              <a:ext uri="{FF2B5EF4-FFF2-40B4-BE49-F238E27FC236}">
                <a16:creationId xmlns:a16="http://schemas.microsoft.com/office/drawing/2014/main" id="{D4E22352-6C27-723A-8630-515F09CEDF1E}"/>
              </a:ext>
            </a:extLst>
          </p:cNvPr>
          <p:cNvSpPr txBox="1">
            <a:spLocks noGrp="1"/>
          </p:cNvSpPr>
          <p:nvPr>
            <p:ph type="body" idx="1"/>
          </p:nvPr>
        </p:nvSpPr>
        <p:spPr>
          <a:xfrm>
            <a:off x="914400" y="1473600"/>
            <a:ext cx="8012512" cy="3332650"/>
          </a:xfrm>
          <a:prstGeom prst="rect">
            <a:avLst/>
          </a:prstGeom>
          <a:noFill/>
          <a:ln>
            <a:noFill/>
          </a:ln>
        </p:spPr>
        <p:txBody>
          <a:bodyPr spcFirstLastPara="1" wrap="square" lIns="91425" tIns="91425" rIns="91425" bIns="91425" anchor="ctr" anchorCtr="0">
            <a:normAutofit/>
          </a:bodyPr>
          <a:lstStyle/>
          <a:p>
            <a:pPr marL="114300" marR="0" lvl="0" indent="0" algn="l" rtl="0">
              <a:lnSpc>
                <a:spcPct val="115000"/>
              </a:lnSpc>
              <a:spcBef>
                <a:spcPts val="0"/>
              </a:spcBef>
              <a:spcAft>
                <a:spcPts val="0"/>
              </a:spcAft>
              <a:buClr>
                <a:srgbClr val="999999"/>
              </a:buClr>
              <a:buSzPts val="1800"/>
              <a:buNone/>
            </a:pPr>
            <a:r>
              <a:rPr lang="fr" sz="2000" dirty="0">
                <a:solidFill>
                  <a:srgbClr val="999999"/>
                </a:solidFill>
                <a:latin typeface="Lato Light" panose="020F0502020204030203" pitchFamily="34" charset="0"/>
                <a:ea typeface="Montserrat"/>
                <a:cs typeface="Lato Light" panose="020F0502020204030203" pitchFamily="34" charset="0"/>
                <a:sym typeface="Montserrat"/>
              </a:rPr>
              <a:t>	</a:t>
            </a:r>
            <a:r>
              <a:rPr lang="fr" sz="2000" dirty="0">
                <a:solidFill>
                  <a:srgbClr val="004D40"/>
                </a:solidFill>
                <a:latin typeface="Lato" panose="020F0502020204030203" pitchFamily="34" charset="0"/>
                <a:ea typeface="Montserrat"/>
                <a:cs typeface="Lato" panose="020F0502020204030203" pitchFamily="34" charset="0"/>
                <a:sym typeface="Montserrat"/>
              </a:rPr>
              <a:t>Datasets : </a:t>
            </a:r>
          </a:p>
          <a:p>
            <a:pPr>
              <a:buClr>
                <a:srgbClr val="800020"/>
              </a:buClr>
              <a:buSzPct val="90000"/>
            </a:pPr>
            <a:r>
              <a:rPr lang="fr-FR" dirty="0">
                <a:solidFill>
                  <a:schemeClr val="tx1"/>
                </a:solidFill>
                <a:latin typeface="Lato Light" panose="020F0502020204030203" pitchFamily="34" charset="0"/>
                <a:ea typeface="Montserrat"/>
                <a:cs typeface="Lato Light" panose="020F0502020204030203" pitchFamily="34" charset="0"/>
                <a:sym typeface="Montserrat"/>
              </a:rPr>
              <a:t>ERP : Extraction depuis le logiciel de l’entreprise</a:t>
            </a:r>
          </a:p>
          <a:p>
            <a:pPr>
              <a:buClr>
                <a:srgbClr val="800020"/>
              </a:buClr>
              <a:buSzPct val="90000"/>
            </a:pPr>
            <a:r>
              <a:rPr lang="fr-FR" dirty="0">
                <a:solidFill>
                  <a:schemeClr val="tx1"/>
                </a:solidFill>
                <a:latin typeface="Lato Light" panose="020F0502020204030203" pitchFamily="34" charset="0"/>
                <a:ea typeface="Montserrat"/>
                <a:cs typeface="Lato Light" panose="020F0502020204030203" pitchFamily="34" charset="0"/>
                <a:sym typeface="Montserrat"/>
              </a:rPr>
              <a:t>WEB : Extraction depuis le site marchand</a:t>
            </a:r>
          </a:p>
          <a:p>
            <a:pPr>
              <a:buClr>
                <a:srgbClr val="800020"/>
              </a:buClr>
              <a:buSzPct val="90000"/>
            </a:pPr>
            <a:r>
              <a:rPr lang="fr-FR" dirty="0">
                <a:solidFill>
                  <a:schemeClr val="tx1"/>
                </a:solidFill>
                <a:latin typeface="Lato Light" panose="020F0502020204030203" pitchFamily="34" charset="0"/>
                <a:ea typeface="Montserrat"/>
                <a:cs typeface="Lato Light" panose="020F0502020204030203" pitchFamily="34" charset="0"/>
                <a:sym typeface="Montserrat"/>
              </a:rPr>
              <a:t>Liaison : Table de liaison construite à la main</a:t>
            </a:r>
          </a:p>
          <a:p>
            <a:pPr marL="114300" indent="0">
              <a:buClr>
                <a:srgbClr val="999999"/>
              </a:buClr>
              <a:buNone/>
            </a:pPr>
            <a:endParaRPr lang="fr-FR" dirty="0">
              <a:solidFill>
                <a:schemeClr val="tx1"/>
              </a:solidFill>
              <a:latin typeface="Lato Light" panose="020F0502020204030203" pitchFamily="34" charset="0"/>
              <a:ea typeface="Montserrat"/>
              <a:cs typeface="Lato Light" panose="020F0502020204030203" pitchFamily="34" charset="0"/>
              <a:sym typeface="Montserrat"/>
            </a:endParaRPr>
          </a:p>
          <a:p>
            <a:pPr marL="114300" indent="0">
              <a:buClr>
                <a:srgbClr val="999999"/>
              </a:buClr>
              <a:buNone/>
            </a:pPr>
            <a:r>
              <a:rPr lang="fr-FR" sz="2000" dirty="0">
                <a:solidFill>
                  <a:schemeClr val="tx1"/>
                </a:solidFill>
                <a:latin typeface="Lato" panose="020F0502020204030203" pitchFamily="34" charset="0"/>
                <a:ea typeface="Montserrat"/>
                <a:cs typeface="Lato" panose="020F0502020204030203" pitchFamily="34" charset="0"/>
                <a:sym typeface="Montserrat"/>
              </a:rPr>
              <a:t>	</a:t>
            </a:r>
            <a:r>
              <a:rPr lang="fr-FR" sz="2000" dirty="0">
                <a:solidFill>
                  <a:srgbClr val="004D40"/>
                </a:solidFill>
                <a:latin typeface="Lato" panose="020F0502020204030203" pitchFamily="34" charset="0"/>
                <a:ea typeface="Montserrat"/>
                <a:cs typeface="Lato" panose="020F0502020204030203" pitchFamily="34" charset="0"/>
                <a:sym typeface="Montserrat"/>
              </a:rPr>
              <a:t>RGPD :</a:t>
            </a:r>
          </a:p>
          <a:p>
            <a:pPr>
              <a:buClr>
                <a:srgbClr val="800020"/>
              </a:buClr>
              <a:buSzPct val="90000"/>
            </a:pPr>
            <a:r>
              <a:rPr lang="fr-FR" dirty="0">
                <a:solidFill>
                  <a:schemeClr val="tx1"/>
                </a:solidFill>
                <a:latin typeface="Lato Light" panose="020F0502020204030203" pitchFamily="34" charset="0"/>
                <a:ea typeface="Montserrat"/>
                <a:cs typeface="Lato Light" panose="020F0502020204030203" pitchFamily="34" charset="0"/>
                <a:sym typeface="Montserrat"/>
              </a:rPr>
              <a:t>Absence de données personnelles</a:t>
            </a:r>
          </a:p>
        </p:txBody>
      </p:sp>
      <p:sp>
        <p:nvSpPr>
          <p:cNvPr id="64" name="Google Shape;64;p4">
            <a:extLst>
              <a:ext uri="{FF2B5EF4-FFF2-40B4-BE49-F238E27FC236}">
                <a16:creationId xmlns:a16="http://schemas.microsoft.com/office/drawing/2014/main" id="{76C8F3BD-030F-5223-BFA5-A6FFB55EF6CF}"/>
              </a:ext>
            </a:extLst>
          </p:cNvPr>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highlight>
                <a:srgbClr val="B6D7A8"/>
              </a:highlight>
              <a:latin typeface="Arial"/>
              <a:ea typeface="Arial"/>
              <a:cs typeface="Arial"/>
              <a:sym typeface="Arial"/>
            </a:endParaRPr>
          </a:p>
        </p:txBody>
      </p:sp>
      <p:sp>
        <p:nvSpPr>
          <p:cNvPr id="65" name="Google Shape;65;p4">
            <a:extLst>
              <a:ext uri="{FF2B5EF4-FFF2-40B4-BE49-F238E27FC236}">
                <a16:creationId xmlns:a16="http://schemas.microsoft.com/office/drawing/2014/main" id="{356DB32E-C801-2A0F-F759-D4346BEE722A}"/>
              </a:ext>
            </a:extLst>
          </p:cNvPr>
          <p:cNvSpPr txBox="1"/>
          <p:nvPr/>
        </p:nvSpPr>
        <p:spPr>
          <a:xfrm>
            <a:off x="895525" y="337250"/>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dirty="0">
                <a:solidFill>
                  <a:srgbClr val="F3F3F3"/>
                </a:solidFill>
                <a:latin typeface="Lato Semibold" panose="020F0502020204030203" pitchFamily="34" charset="0"/>
                <a:ea typeface="Montserrat"/>
                <a:cs typeface="Lato Semibold" panose="020F0502020204030203" pitchFamily="34" charset="0"/>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0"/>
                  </a:ext>
                </a:extLst>
              </a:rPr>
              <a:t>Analyses </a:t>
            </a:r>
            <a:r>
              <a:rPr lang="fr" sz="2500" dirty="0">
                <a:solidFill>
                  <a:srgbClr val="F3F3F3"/>
                </a:solidFill>
                <a:latin typeface="Lato Semibold" panose="020F0502020204030203" pitchFamily="34" charset="0"/>
                <a:ea typeface="Montserrat"/>
                <a:cs typeface="Lato Semibold" panose="020F0502020204030203" pitchFamily="34" charset="0"/>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
                  </a:ext>
                </a:extLst>
              </a:rPr>
              <a:t>Exploratoires</a:t>
            </a:r>
            <a:r>
              <a:rPr lang="fr" sz="2500" b="0" i="0" u="none" strike="noStrike" cap="none" dirty="0">
                <a:solidFill>
                  <a:srgbClr val="F3F3F3"/>
                </a:solidFill>
                <a:latin typeface="Lato Semibold" panose="020F0502020204030203" pitchFamily="34" charset="0"/>
                <a:ea typeface="Montserrat"/>
                <a:cs typeface="Lato Semibold" panose="020F0502020204030203" pitchFamily="34" charset="0"/>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2"/>
                  </a:ext>
                </a:extLst>
              </a:rPr>
              <a:t> des Données </a:t>
            </a:r>
            <a:endParaRPr sz="2500" b="0" i="0" u="none" strike="noStrike" cap="none" dirty="0">
              <a:solidFill>
                <a:srgbClr val="F3F3F3"/>
              </a:solidFill>
              <a:latin typeface="Lato Semibold" panose="020F0502020204030203" pitchFamily="34" charset="0"/>
              <a:ea typeface="Montserrat"/>
              <a:cs typeface="Lato Semibold" panose="020F0502020204030203" pitchFamily="34" charset="0"/>
              <a:sym typeface="Montserrat"/>
            </a:endParaRPr>
          </a:p>
        </p:txBody>
      </p:sp>
      <p:sp>
        <p:nvSpPr>
          <p:cNvPr id="66" name="Google Shape;66;p4">
            <a:extLst>
              <a:ext uri="{FF2B5EF4-FFF2-40B4-BE49-F238E27FC236}">
                <a16:creationId xmlns:a16="http://schemas.microsoft.com/office/drawing/2014/main" id="{62C5EACF-E756-B6D9-B1AA-0FF3FF23F142}"/>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 name="Graphique 2" descr="Base de données contour">
            <a:extLst>
              <a:ext uri="{FF2B5EF4-FFF2-40B4-BE49-F238E27FC236}">
                <a16:creationId xmlns:a16="http://schemas.microsoft.com/office/drawing/2014/main" id="{2DAD876A-43F5-6A71-F606-C3DA33BE6069}"/>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51302" y="2382306"/>
            <a:ext cx="860871" cy="860871"/>
          </a:xfrm>
          <a:prstGeom prst="rect">
            <a:avLst/>
          </a:prstGeom>
        </p:spPr>
      </p:pic>
      <p:pic>
        <p:nvPicPr>
          <p:cNvPr id="11" name="Graphique 10" descr="Presse-papiers badge contour">
            <a:extLst>
              <a:ext uri="{FF2B5EF4-FFF2-40B4-BE49-F238E27FC236}">
                <a16:creationId xmlns:a16="http://schemas.microsoft.com/office/drawing/2014/main" id="{7F23F93D-8648-8C74-7827-95898A501907}"/>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151302" y="3594278"/>
            <a:ext cx="860871" cy="860871"/>
          </a:xfrm>
          <a:prstGeom prst="rect">
            <a:avLst/>
          </a:prstGeom>
        </p:spPr>
      </p:pic>
      <p:pic>
        <p:nvPicPr>
          <p:cNvPr id="4" name="Graphique 3" descr="Raisins contour">
            <a:extLst>
              <a:ext uri="{FF2B5EF4-FFF2-40B4-BE49-F238E27FC236}">
                <a16:creationId xmlns:a16="http://schemas.microsoft.com/office/drawing/2014/main" id="{225AD8F1-9CE6-23B9-2181-AC5BCD7B7AE3}"/>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7587375" y="337250"/>
            <a:ext cx="661100" cy="661100"/>
          </a:xfrm>
          <a:prstGeom prst="rect">
            <a:avLst/>
          </a:prstGeom>
        </p:spPr>
      </p:pic>
    </p:spTree>
    <p:extLst>
      <p:ext uri="{BB962C8B-B14F-4D97-AF65-F5344CB8AC3E}">
        <p14:creationId xmlns:p14="http://schemas.microsoft.com/office/powerpoint/2010/main" val="5059394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2">
          <a:extLst>
            <a:ext uri="{FF2B5EF4-FFF2-40B4-BE49-F238E27FC236}">
              <a16:creationId xmlns:a16="http://schemas.microsoft.com/office/drawing/2014/main" id="{65C585D4-B4CC-8E0C-D89E-FD365B5920C2}"/>
            </a:ext>
          </a:extLst>
        </p:cNvPr>
        <p:cNvGrpSpPr/>
        <p:nvPr/>
      </p:nvGrpSpPr>
      <p:grpSpPr>
        <a:xfrm>
          <a:off x="0" y="0"/>
          <a:ext cx="0" cy="0"/>
          <a:chOff x="0" y="0"/>
          <a:chExt cx="0" cy="0"/>
        </a:xfrm>
      </p:grpSpPr>
      <p:sp>
        <p:nvSpPr>
          <p:cNvPr id="63" name="Google Shape;63;p4">
            <a:extLst>
              <a:ext uri="{FF2B5EF4-FFF2-40B4-BE49-F238E27FC236}">
                <a16:creationId xmlns:a16="http://schemas.microsoft.com/office/drawing/2014/main" id="{FD8462B5-DD1C-2CF7-6C3C-12C59B5A0CCA}"/>
              </a:ext>
            </a:extLst>
          </p:cNvPr>
          <p:cNvSpPr txBox="1">
            <a:spLocks noGrp="1"/>
          </p:cNvSpPr>
          <p:nvPr>
            <p:ph type="body" idx="1"/>
          </p:nvPr>
        </p:nvSpPr>
        <p:spPr>
          <a:xfrm>
            <a:off x="256558" y="1473600"/>
            <a:ext cx="8670354" cy="488204"/>
          </a:xfrm>
          <a:prstGeom prst="rect">
            <a:avLst/>
          </a:prstGeom>
          <a:noFill/>
          <a:ln>
            <a:noFill/>
          </a:ln>
        </p:spPr>
        <p:txBody>
          <a:bodyPr spcFirstLastPara="1" wrap="square" lIns="91425" tIns="91425" rIns="91425" bIns="91425" anchor="t" anchorCtr="0">
            <a:normAutofit fontScale="92500" lnSpcReduction="10000"/>
          </a:bodyPr>
          <a:lstStyle/>
          <a:p>
            <a:pPr marL="114300" marR="0" lvl="0" indent="0" algn="l" rtl="0">
              <a:lnSpc>
                <a:spcPct val="115000"/>
              </a:lnSpc>
              <a:spcBef>
                <a:spcPts val="0"/>
              </a:spcBef>
              <a:spcAft>
                <a:spcPts val="0"/>
              </a:spcAft>
              <a:buClr>
                <a:srgbClr val="999999"/>
              </a:buClr>
              <a:buSzPts val="1800"/>
              <a:buNone/>
            </a:pPr>
            <a:r>
              <a:rPr lang="fr" sz="2000" dirty="0">
                <a:solidFill>
                  <a:srgbClr val="999999"/>
                </a:solidFill>
                <a:latin typeface="Lato Light" panose="020F0502020204030203" pitchFamily="34" charset="0"/>
                <a:ea typeface="Montserrat"/>
                <a:cs typeface="Lato Light" panose="020F0502020204030203" pitchFamily="34" charset="0"/>
                <a:sym typeface="Montserrat"/>
              </a:rPr>
              <a:t>	          </a:t>
            </a:r>
            <a:r>
              <a:rPr lang="fr-FR" sz="2000" dirty="0">
                <a:solidFill>
                  <a:srgbClr val="004D40"/>
                </a:solidFill>
                <a:latin typeface="Lato" panose="020F0502020204030203" pitchFamily="34" charset="0"/>
                <a:ea typeface="Montserrat"/>
                <a:cs typeface="Lato" panose="020F0502020204030203" pitchFamily="34" charset="0"/>
                <a:sym typeface="Montserrat"/>
              </a:rPr>
              <a:t>Caractéristiques des datasets :</a:t>
            </a:r>
          </a:p>
          <a:p>
            <a:pPr marL="114300" marR="0" lvl="0" indent="0" algn="l" rtl="0">
              <a:lnSpc>
                <a:spcPct val="115000"/>
              </a:lnSpc>
              <a:spcBef>
                <a:spcPts val="0"/>
              </a:spcBef>
              <a:spcAft>
                <a:spcPts val="0"/>
              </a:spcAft>
              <a:buClr>
                <a:srgbClr val="999999"/>
              </a:buClr>
              <a:buSzPts val="1800"/>
              <a:buNone/>
            </a:pPr>
            <a:endParaRPr lang="fr-FR" dirty="0">
              <a:solidFill>
                <a:schemeClr val="tx1"/>
              </a:solidFill>
              <a:latin typeface="Lato Light" panose="020F0502020204030203" pitchFamily="34" charset="0"/>
              <a:ea typeface="Montserrat"/>
              <a:cs typeface="Lato Light" panose="020F0502020204030203" pitchFamily="34" charset="0"/>
              <a:sym typeface="Montserrat"/>
            </a:endParaRPr>
          </a:p>
        </p:txBody>
      </p:sp>
      <p:sp>
        <p:nvSpPr>
          <p:cNvPr id="64" name="Google Shape;64;p4">
            <a:extLst>
              <a:ext uri="{FF2B5EF4-FFF2-40B4-BE49-F238E27FC236}">
                <a16:creationId xmlns:a16="http://schemas.microsoft.com/office/drawing/2014/main" id="{CBEBDE05-0D8D-C2A2-D7B5-D0D2B78EADDD}"/>
              </a:ext>
            </a:extLst>
          </p:cNvPr>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highlight>
                <a:srgbClr val="B6D7A8"/>
              </a:highlight>
              <a:latin typeface="Arial"/>
              <a:ea typeface="Arial"/>
              <a:cs typeface="Arial"/>
              <a:sym typeface="Arial"/>
            </a:endParaRPr>
          </a:p>
        </p:txBody>
      </p:sp>
      <p:sp>
        <p:nvSpPr>
          <p:cNvPr id="65" name="Google Shape;65;p4">
            <a:extLst>
              <a:ext uri="{FF2B5EF4-FFF2-40B4-BE49-F238E27FC236}">
                <a16:creationId xmlns:a16="http://schemas.microsoft.com/office/drawing/2014/main" id="{B2329E74-5ACD-0F2D-E32D-32A0F6C1C878}"/>
              </a:ext>
            </a:extLst>
          </p:cNvPr>
          <p:cNvSpPr txBox="1"/>
          <p:nvPr/>
        </p:nvSpPr>
        <p:spPr>
          <a:xfrm>
            <a:off x="895525" y="337250"/>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dirty="0">
                <a:solidFill>
                  <a:srgbClr val="F3F3F3"/>
                </a:solidFill>
                <a:latin typeface="Lato Semibold" panose="020F0502020204030203" pitchFamily="34" charset="0"/>
                <a:ea typeface="Montserrat"/>
                <a:cs typeface="Lato Semibold" panose="020F0502020204030203" pitchFamily="34" charset="0"/>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0"/>
                  </a:ext>
                </a:extLst>
              </a:rPr>
              <a:t>Analyses </a:t>
            </a:r>
            <a:r>
              <a:rPr lang="fr" sz="2500" dirty="0">
                <a:solidFill>
                  <a:srgbClr val="F3F3F3"/>
                </a:solidFill>
                <a:latin typeface="Lato Semibold" panose="020F0502020204030203" pitchFamily="34" charset="0"/>
                <a:ea typeface="Montserrat"/>
                <a:cs typeface="Lato Semibold" panose="020F0502020204030203" pitchFamily="34" charset="0"/>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
                  </a:ext>
                </a:extLst>
              </a:rPr>
              <a:t>Exploratoires</a:t>
            </a:r>
            <a:r>
              <a:rPr lang="fr" sz="2500" b="0" i="0" u="none" strike="noStrike" cap="none" dirty="0">
                <a:solidFill>
                  <a:srgbClr val="F3F3F3"/>
                </a:solidFill>
                <a:latin typeface="Lato Semibold" panose="020F0502020204030203" pitchFamily="34" charset="0"/>
                <a:ea typeface="Montserrat"/>
                <a:cs typeface="Lato Semibold" panose="020F0502020204030203" pitchFamily="34" charset="0"/>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2"/>
                  </a:ext>
                </a:extLst>
              </a:rPr>
              <a:t> des Données </a:t>
            </a:r>
            <a:endParaRPr sz="2500" b="0" i="0" u="none" strike="noStrike" cap="none" dirty="0">
              <a:solidFill>
                <a:srgbClr val="F3F3F3"/>
              </a:solidFill>
              <a:latin typeface="Lato Semibold" panose="020F0502020204030203" pitchFamily="34" charset="0"/>
              <a:ea typeface="Montserrat"/>
              <a:cs typeface="Lato Semibold" panose="020F0502020204030203" pitchFamily="34" charset="0"/>
              <a:sym typeface="Montserrat"/>
            </a:endParaRPr>
          </a:p>
        </p:txBody>
      </p:sp>
      <p:sp>
        <p:nvSpPr>
          <p:cNvPr id="66" name="Google Shape;66;p4">
            <a:extLst>
              <a:ext uri="{FF2B5EF4-FFF2-40B4-BE49-F238E27FC236}">
                <a16:creationId xmlns:a16="http://schemas.microsoft.com/office/drawing/2014/main" id="{B7FC8C18-CF72-A565-09B8-868736D83154}"/>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 name="ZoneTexte 1">
            <a:extLst>
              <a:ext uri="{FF2B5EF4-FFF2-40B4-BE49-F238E27FC236}">
                <a16:creationId xmlns:a16="http://schemas.microsoft.com/office/drawing/2014/main" id="{24C10544-1686-E99B-3D5D-FE874355C6C2}"/>
              </a:ext>
            </a:extLst>
          </p:cNvPr>
          <p:cNvSpPr txBox="1"/>
          <p:nvPr/>
        </p:nvSpPr>
        <p:spPr>
          <a:xfrm>
            <a:off x="256558" y="1961804"/>
            <a:ext cx="2162792" cy="2844446"/>
          </a:xfrm>
          <a:prstGeom prst="rect">
            <a:avLst/>
          </a:prstGeom>
          <a:noFill/>
        </p:spPr>
        <p:txBody>
          <a:bodyPr wrap="none" numCol="1" rtlCol="0">
            <a:noAutofit/>
          </a:bodyPr>
          <a:lstStyle/>
          <a:p>
            <a:r>
              <a:rPr lang="fr-FR" sz="1800" dirty="0">
                <a:solidFill>
                  <a:srgbClr val="004D40"/>
                </a:solidFill>
                <a:latin typeface="Lato Light" panose="020F0502020204030203" pitchFamily="34" charset="0"/>
                <a:cs typeface="Lato Light" panose="020F0502020204030203" pitchFamily="34" charset="0"/>
              </a:rPr>
              <a:t>ERP :</a:t>
            </a:r>
          </a:p>
          <a:p>
            <a:pPr marL="285750" indent="-285750">
              <a:buClr>
                <a:srgbClr val="800020"/>
              </a:buClr>
              <a:buFont typeface="Arial" panose="020B0604020202020204" pitchFamily="34" charset="0"/>
              <a:buChar char="•"/>
            </a:pPr>
            <a:r>
              <a:rPr lang="fr-FR" sz="1800" dirty="0">
                <a:latin typeface="Lato Light" panose="020F0502020204030203" pitchFamily="34" charset="0"/>
                <a:cs typeface="Lato Light" panose="020F0502020204030203" pitchFamily="34" charset="0"/>
              </a:rPr>
              <a:t>825 observations</a:t>
            </a:r>
          </a:p>
          <a:p>
            <a:pPr marL="285750" indent="-285750">
              <a:buClr>
                <a:srgbClr val="800020"/>
              </a:buClr>
              <a:buFont typeface="Arial" panose="020B0604020202020204" pitchFamily="34" charset="0"/>
              <a:buChar char="•"/>
            </a:pPr>
            <a:r>
              <a:rPr lang="fr-FR" sz="1800" dirty="0">
                <a:latin typeface="Lato Light" panose="020F0502020204030203" pitchFamily="34" charset="0"/>
                <a:cs typeface="Lato Light" panose="020F0502020204030203" pitchFamily="34" charset="0"/>
              </a:rPr>
              <a:t>6 colonnes</a:t>
            </a:r>
          </a:p>
          <a:p>
            <a:pPr marL="285750" indent="-285750">
              <a:buClr>
                <a:srgbClr val="800020"/>
              </a:buClr>
              <a:buFont typeface="Arial" panose="020B0604020202020204" pitchFamily="34" charset="0"/>
              <a:buChar char="•"/>
            </a:pPr>
            <a:r>
              <a:rPr lang="fr-FR" sz="1800" dirty="0">
                <a:latin typeface="Lato Light" panose="020F0502020204030203" pitchFamily="34" charset="0"/>
                <a:cs typeface="Lato Light" panose="020F0502020204030203" pitchFamily="34" charset="0"/>
              </a:rPr>
              <a:t>Données :</a:t>
            </a:r>
          </a:p>
          <a:p>
            <a:pPr marL="285750" lvl="7" indent="-285750">
              <a:buClr>
                <a:srgbClr val="800020"/>
              </a:buClr>
              <a:buFontTx/>
              <a:buChar char="-"/>
            </a:pPr>
            <a:r>
              <a:rPr lang="fr-FR" sz="1600" dirty="0" err="1">
                <a:latin typeface="Lato Light" panose="020F0502020204030203" pitchFamily="34" charset="0"/>
                <a:cs typeface="Lato Light" panose="020F0502020204030203" pitchFamily="34" charset="0"/>
              </a:rPr>
              <a:t>product_id</a:t>
            </a:r>
            <a:endParaRPr lang="fr-FR" sz="1600" dirty="0">
              <a:latin typeface="Lato Light" panose="020F0502020204030203" pitchFamily="34" charset="0"/>
              <a:cs typeface="Lato Light" panose="020F0502020204030203" pitchFamily="34" charset="0"/>
            </a:endParaRPr>
          </a:p>
          <a:p>
            <a:pPr marL="285750" indent="-285750">
              <a:buClr>
                <a:srgbClr val="800020"/>
              </a:buClr>
              <a:buFontTx/>
              <a:buChar char="-"/>
            </a:pPr>
            <a:r>
              <a:rPr lang="fr-FR" sz="1600" dirty="0" err="1">
                <a:latin typeface="Lato Light" panose="020F0502020204030203" pitchFamily="34" charset="0"/>
                <a:cs typeface="Lato Light" panose="020F0502020204030203" pitchFamily="34" charset="0"/>
              </a:rPr>
              <a:t>price</a:t>
            </a:r>
            <a:endParaRPr lang="fr-FR" sz="1600" dirty="0">
              <a:latin typeface="Lato Light" panose="020F0502020204030203" pitchFamily="34" charset="0"/>
              <a:cs typeface="Lato Light" panose="020F0502020204030203" pitchFamily="34" charset="0"/>
            </a:endParaRPr>
          </a:p>
          <a:p>
            <a:pPr marL="285750" indent="-285750">
              <a:buClr>
                <a:srgbClr val="800020"/>
              </a:buClr>
              <a:buFontTx/>
              <a:buChar char="-"/>
            </a:pPr>
            <a:r>
              <a:rPr lang="fr-FR" sz="1600" dirty="0" err="1">
                <a:latin typeface="Lato Light" panose="020F0502020204030203" pitchFamily="34" charset="0"/>
                <a:cs typeface="Lato Light" panose="020F0502020204030203" pitchFamily="34" charset="0"/>
              </a:rPr>
              <a:t>stock_quantity</a:t>
            </a:r>
            <a:endParaRPr lang="fr-FR" sz="1600" dirty="0">
              <a:latin typeface="Lato Light" panose="020F0502020204030203" pitchFamily="34" charset="0"/>
              <a:cs typeface="Lato Light" panose="020F0502020204030203" pitchFamily="34" charset="0"/>
            </a:endParaRPr>
          </a:p>
          <a:p>
            <a:pPr marL="285750" indent="-285750">
              <a:buClr>
                <a:srgbClr val="800020"/>
              </a:buClr>
              <a:buFontTx/>
              <a:buChar char="-"/>
            </a:pPr>
            <a:r>
              <a:rPr lang="fr-FR" sz="1600" dirty="0" err="1">
                <a:latin typeface="Lato Light" panose="020F0502020204030203" pitchFamily="34" charset="0"/>
                <a:cs typeface="Lato Light" panose="020F0502020204030203" pitchFamily="34" charset="0"/>
              </a:rPr>
              <a:t>stock_status</a:t>
            </a:r>
            <a:endParaRPr lang="fr-FR" sz="1600" dirty="0">
              <a:latin typeface="Lato Light" panose="020F0502020204030203" pitchFamily="34" charset="0"/>
              <a:cs typeface="Lato Light" panose="020F0502020204030203" pitchFamily="34" charset="0"/>
            </a:endParaRPr>
          </a:p>
          <a:p>
            <a:pPr marL="285750" lvl="1" indent="-285750">
              <a:buClr>
                <a:srgbClr val="800020"/>
              </a:buClr>
              <a:buFontTx/>
              <a:buChar char="-"/>
            </a:pPr>
            <a:r>
              <a:rPr lang="fr-FR" sz="1600" dirty="0" err="1">
                <a:latin typeface="Lato Light" panose="020F0502020204030203" pitchFamily="34" charset="0"/>
                <a:cs typeface="Lato Light" panose="020F0502020204030203" pitchFamily="34" charset="0"/>
              </a:rPr>
              <a:t>purchase_price</a:t>
            </a:r>
            <a:endParaRPr lang="fr-FR" sz="1600" dirty="0">
              <a:latin typeface="Lato Light" panose="020F0502020204030203" pitchFamily="34" charset="0"/>
              <a:cs typeface="Lato Light" panose="020F0502020204030203" pitchFamily="34" charset="0"/>
            </a:endParaRPr>
          </a:p>
          <a:p>
            <a:pPr marL="285750" indent="-285750">
              <a:buClr>
                <a:srgbClr val="800020"/>
              </a:buClr>
              <a:buFont typeface="Arial" panose="020B0604020202020204" pitchFamily="34" charset="0"/>
              <a:buChar char="•"/>
            </a:pPr>
            <a:endParaRPr lang="fr-FR" sz="1800" dirty="0">
              <a:latin typeface="Lato Light" panose="020F0502020204030203" pitchFamily="34" charset="0"/>
              <a:cs typeface="Lato Light" panose="020F0502020204030203" pitchFamily="34" charset="0"/>
            </a:endParaRPr>
          </a:p>
          <a:p>
            <a:pPr marL="285750" indent="-285750">
              <a:buClr>
                <a:srgbClr val="800020"/>
              </a:buClr>
              <a:buFont typeface="Arial" panose="020B0604020202020204" pitchFamily="34" charset="0"/>
              <a:buChar char="•"/>
            </a:pPr>
            <a:endParaRPr lang="fr-FR" sz="1800" dirty="0">
              <a:latin typeface="Lato Light" panose="020F0502020204030203" pitchFamily="34" charset="0"/>
              <a:cs typeface="Lato Light" panose="020F0502020204030203" pitchFamily="34" charset="0"/>
            </a:endParaRPr>
          </a:p>
          <a:p>
            <a:pPr marL="285750" lvl="7" indent="-285750">
              <a:buClr>
                <a:srgbClr val="800020"/>
              </a:buClr>
              <a:buFont typeface="Arial" panose="020B0604020202020204" pitchFamily="34" charset="0"/>
              <a:buChar char="•"/>
            </a:pPr>
            <a:endParaRPr lang="fr-FR" sz="1800" dirty="0">
              <a:latin typeface="Lato Light" panose="020F0502020204030203" pitchFamily="34" charset="0"/>
              <a:cs typeface="Lato Light" panose="020F0502020204030203" pitchFamily="34" charset="0"/>
            </a:endParaRPr>
          </a:p>
        </p:txBody>
      </p:sp>
      <p:sp>
        <p:nvSpPr>
          <p:cNvPr id="4" name="ZoneTexte 3">
            <a:extLst>
              <a:ext uri="{FF2B5EF4-FFF2-40B4-BE49-F238E27FC236}">
                <a16:creationId xmlns:a16="http://schemas.microsoft.com/office/drawing/2014/main" id="{D5D4C35D-E390-C752-D502-1AC589C0DF41}"/>
              </a:ext>
            </a:extLst>
          </p:cNvPr>
          <p:cNvSpPr txBox="1"/>
          <p:nvPr/>
        </p:nvSpPr>
        <p:spPr>
          <a:xfrm>
            <a:off x="3358344" y="1961804"/>
            <a:ext cx="2343955" cy="2844446"/>
          </a:xfrm>
          <a:prstGeom prst="rect">
            <a:avLst/>
          </a:prstGeom>
          <a:noFill/>
        </p:spPr>
        <p:txBody>
          <a:bodyPr wrap="none" numCol="1" rtlCol="0">
            <a:noAutofit/>
          </a:bodyPr>
          <a:lstStyle/>
          <a:p>
            <a:r>
              <a:rPr lang="fr-FR" sz="1800" dirty="0">
                <a:solidFill>
                  <a:srgbClr val="004D40"/>
                </a:solidFill>
                <a:latin typeface="Lato Light" panose="020F0502020204030203" pitchFamily="34" charset="0"/>
                <a:cs typeface="Lato Light" panose="020F0502020204030203" pitchFamily="34" charset="0"/>
              </a:rPr>
              <a:t>WEB :</a:t>
            </a:r>
          </a:p>
          <a:p>
            <a:pPr marL="285750" indent="-285750">
              <a:buClr>
                <a:srgbClr val="800020"/>
              </a:buClr>
              <a:buFont typeface="Arial" panose="020B0604020202020204" pitchFamily="34" charset="0"/>
              <a:buChar char="•"/>
            </a:pPr>
            <a:r>
              <a:rPr lang="fr-FR" sz="1800" dirty="0">
                <a:latin typeface="Lato Light" panose="020F0502020204030203" pitchFamily="34" charset="0"/>
                <a:cs typeface="Lato Light" panose="020F0502020204030203" pitchFamily="34" charset="0"/>
              </a:rPr>
              <a:t>1513 observations</a:t>
            </a:r>
          </a:p>
          <a:p>
            <a:pPr marL="285750" indent="-285750">
              <a:buClr>
                <a:srgbClr val="800020"/>
              </a:buClr>
              <a:buFont typeface="Arial" panose="020B0604020202020204" pitchFamily="34" charset="0"/>
              <a:buChar char="•"/>
            </a:pPr>
            <a:r>
              <a:rPr lang="fr-FR" sz="1800" dirty="0">
                <a:latin typeface="Lato Light" panose="020F0502020204030203" pitchFamily="34" charset="0"/>
                <a:cs typeface="Lato Light" panose="020F0502020204030203" pitchFamily="34" charset="0"/>
              </a:rPr>
              <a:t>29 colonnes</a:t>
            </a:r>
          </a:p>
          <a:p>
            <a:pPr marL="285750" indent="-285750">
              <a:buClr>
                <a:srgbClr val="800020"/>
              </a:buClr>
              <a:buFont typeface="Arial" panose="020B0604020202020204" pitchFamily="34" charset="0"/>
              <a:buChar char="•"/>
            </a:pPr>
            <a:r>
              <a:rPr lang="fr-FR" sz="1800" dirty="0">
                <a:latin typeface="Lato Light" panose="020F0502020204030203" pitchFamily="34" charset="0"/>
                <a:cs typeface="Lato Light" panose="020F0502020204030203" pitchFamily="34" charset="0"/>
              </a:rPr>
              <a:t>Données :</a:t>
            </a:r>
          </a:p>
          <a:p>
            <a:pPr marL="285750" lvl="7" indent="-285750">
              <a:buClr>
                <a:srgbClr val="800020"/>
              </a:buClr>
              <a:buFontTx/>
              <a:buChar char="-"/>
            </a:pPr>
            <a:r>
              <a:rPr lang="fr-FR" sz="1600" dirty="0" err="1">
                <a:latin typeface="Lato Light" panose="020F0502020204030203" pitchFamily="34" charset="0"/>
                <a:cs typeface="Lato Light" panose="020F0502020204030203" pitchFamily="34" charset="0"/>
              </a:rPr>
              <a:t>sku</a:t>
            </a:r>
            <a:endParaRPr lang="fr-FR" sz="1600" dirty="0">
              <a:latin typeface="Lato Light" panose="020F0502020204030203" pitchFamily="34" charset="0"/>
              <a:cs typeface="Lato Light" panose="020F0502020204030203" pitchFamily="34" charset="0"/>
            </a:endParaRPr>
          </a:p>
          <a:p>
            <a:pPr marL="285750" indent="-285750">
              <a:buClr>
                <a:srgbClr val="800020"/>
              </a:buClr>
              <a:buFontTx/>
              <a:buChar char="-"/>
            </a:pPr>
            <a:r>
              <a:rPr lang="fr-FR" sz="1600" dirty="0" err="1">
                <a:latin typeface="Lato Light" panose="020F0502020204030203" pitchFamily="34" charset="0"/>
                <a:cs typeface="Lato Light" panose="020F0502020204030203" pitchFamily="34" charset="0"/>
              </a:rPr>
              <a:t>total_sales</a:t>
            </a:r>
            <a:endParaRPr lang="fr-FR" sz="1600" dirty="0">
              <a:latin typeface="Lato Light" panose="020F0502020204030203" pitchFamily="34" charset="0"/>
              <a:cs typeface="Lato Light" panose="020F0502020204030203" pitchFamily="34" charset="0"/>
            </a:endParaRPr>
          </a:p>
          <a:p>
            <a:pPr marL="285750" indent="-285750">
              <a:buClr>
                <a:srgbClr val="800020"/>
              </a:buClr>
              <a:buFontTx/>
              <a:buChar char="-"/>
            </a:pPr>
            <a:r>
              <a:rPr lang="fr-FR" sz="1600" dirty="0" err="1">
                <a:latin typeface="Lato Light" panose="020F0502020204030203" pitchFamily="34" charset="0"/>
                <a:cs typeface="Lato Light" panose="020F0502020204030203" pitchFamily="34" charset="0"/>
              </a:rPr>
              <a:t>product_type</a:t>
            </a:r>
            <a:endParaRPr lang="fr-FR" sz="1600" dirty="0">
              <a:latin typeface="Lato Light" panose="020F0502020204030203" pitchFamily="34" charset="0"/>
              <a:cs typeface="Lato Light" panose="020F0502020204030203" pitchFamily="34" charset="0"/>
            </a:endParaRPr>
          </a:p>
          <a:p>
            <a:pPr marL="285750" indent="-285750">
              <a:buClr>
                <a:srgbClr val="800020"/>
              </a:buClr>
              <a:buFontTx/>
              <a:buChar char="-"/>
            </a:pPr>
            <a:r>
              <a:rPr lang="fr-FR" sz="1600" dirty="0" err="1">
                <a:latin typeface="Lato Light" panose="020F0502020204030203" pitchFamily="34" charset="0"/>
                <a:cs typeface="Lato Light" panose="020F0502020204030203" pitchFamily="34" charset="0"/>
              </a:rPr>
              <a:t>post_date</a:t>
            </a:r>
            <a:endParaRPr lang="fr-FR" sz="1600" dirty="0">
              <a:latin typeface="Lato Light" panose="020F0502020204030203" pitchFamily="34" charset="0"/>
              <a:cs typeface="Lato Light" panose="020F0502020204030203" pitchFamily="34" charset="0"/>
            </a:endParaRPr>
          </a:p>
          <a:p>
            <a:pPr marL="285750" lvl="1" indent="-285750">
              <a:buClr>
                <a:srgbClr val="800020"/>
              </a:buClr>
              <a:buFontTx/>
              <a:buChar char="-"/>
            </a:pPr>
            <a:r>
              <a:rPr lang="fr-FR" sz="1600" dirty="0" err="1">
                <a:latin typeface="Lato Light" panose="020F0502020204030203" pitchFamily="34" charset="0"/>
                <a:cs typeface="Lato Light" panose="020F0502020204030203" pitchFamily="34" charset="0"/>
              </a:rPr>
              <a:t>post_type</a:t>
            </a:r>
            <a:endParaRPr lang="fr-FR" sz="1600" dirty="0">
              <a:latin typeface="Lato Light" panose="020F0502020204030203" pitchFamily="34" charset="0"/>
              <a:cs typeface="Lato Light" panose="020F0502020204030203" pitchFamily="34" charset="0"/>
            </a:endParaRPr>
          </a:p>
          <a:p>
            <a:pPr marL="285750" lvl="1" indent="-285750">
              <a:buClr>
                <a:srgbClr val="800020"/>
              </a:buClr>
              <a:buFontTx/>
              <a:buChar char="-"/>
            </a:pPr>
            <a:r>
              <a:rPr lang="fr-FR" sz="1600" dirty="0" err="1">
                <a:latin typeface="Lato Light" panose="020F0502020204030203" pitchFamily="34" charset="0"/>
                <a:cs typeface="Lato Light" panose="020F0502020204030203" pitchFamily="34" charset="0"/>
              </a:rPr>
              <a:t>post_title</a:t>
            </a:r>
            <a:endParaRPr lang="fr-FR" sz="1600" dirty="0">
              <a:latin typeface="Lato Light" panose="020F0502020204030203" pitchFamily="34" charset="0"/>
              <a:cs typeface="Lato Light" panose="020F0502020204030203" pitchFamily="34" charset="0"/>
            </a:endParaRPr>
          </a:p>
          <a:p>
            <a:pPr marL="285750" indent="-285750">
              <a:buClr>
                <a:srgbClr val="800020"/>
              </a:buClr>
              <a:buFont typeface="Arial" panose="020B0604020202020204" pitchFamily="34" charset="0"/>
              <a:buChar char="•"/>
            </a:pPr>
            <a:endParaRPr lang="fr-FR" sz="1800" dirty="0">
              <a:latin typeface="Lato Light" panose="020F0502020204030203" pitchFamily="34" charset="0"/>
              <a:cs typeface="Lato Light" panose="020F0502020204030203" pitchFamily="34" charset="0"/>
            </a:endParaRPr>
          </a:p>
          <a:p>
            <a:pPr marL="285750" indent="-285750">
              <a:buClr>
                <a:srgbClr val="800020"/>
              </a:buClr>
              <a:buFont typeface="Arial" panose="020B0604020202020204" pitchFamily="34" charset="0"/>
              <a:buChar char="•"/>
            </a:pPr>
            <a:endParaRPr lang="fr-FR" sz="1800" dirty="0">
              <a:latin typeface="Lato Light" panose="020F0502020204030203" pitchFamily="34" charset="0"/>
              <a:cs typeface="Lato Light" panose="020F0502020204030203" pitchFamily="34" charset="0"/>
            </a:endParaRPr>
          </a:p>
          <a:p>
            <a:pPr marL="285750" lvl="7" indent="-285750">
              <a:buClr>
                <a:srgbClr val="800020"/>
              </a:buClr>
              <a:buFont typeface="Arial" panose="020B0604020202020204" pitchFamily="34" charset="0"/>
              <a:buChar char="•"/>
            </a:pPr>
            <a:endParaRPr lang="fr-FR" sz="1800" dirty="0">
              <a:latin typeface="Lato Light" panose="020F0502020204030203" pitchFamily="34" charset="0"/>
              <a:cs typeface="Lato Light" panose="020F0502020204030203" pitchFamily="34" charset="0"/>
            </a:endParaRPr>
          </a:p>
        </p:txBody>
      </p:sp>
      <p:sp>
        <p:nvSpPr>
          <p:cNvPr id="5" name="ZoneTexte 4">
            <a:extLst>
              <a:ext uri="{FF2B5EF4-FFF2-40B4-BE49-F238E27FC236}">
                <a16:creationId xmlns:a16="http://schemas.microsoft.com/office/drawing/2014/main" id="{534F47B5-F8BF-12D0-B30C-C03BB5420645}"/>
              </a:ext>
            </a:extLst>
          </p:cNvPr>
          <p:cNvSpPr txBox="1"/>
          <p:nvPr/>
        </p:nvSpPr>
        <p:spPr>
          <a:xfrm>
            <a:off x="6641293" y="1961804"/>
            <a:ext cx="2162792" cy="2844446"/>
          </a:xfrm>
          <a:prstGeom prst="rect">
            <a:avLst/>
          </a:prstGeom>
          <a:noFill/>
        </p:spPr>
        <p:txBody>
          <a:bodyPr wrap="none" numCol="1" rtlCol="0">
            <a:noAutofit/>
          </a:bodyPr>
          <a:lstStyle/>
          <a:p>
            <a:r>
              <a:rPr lang="fr-FR" sz="1800" dirty="0">
                <a:solidFill>
                  <a:srgbClr val="004D40"/>
                </a:solidFill>
                <a:latin typeface="Lato Light" panose="020F0502020204030203" pitchFamily="34" charset="0"/>
                <a:cs typeface="Lato Light" panose="020F0502020204030203" pitchFamily="34" charset="0"/>
              </a:rPr>
              <a:t>Liaison :</a:t>
            </a:r>
          </a:p>
          <a:p>
            <a:pPr marL="285750" indent="-285750">
              <a:buClr>
                <a:srgbClr val="800020"/>
              </a:buClr>
              <a:buFont typeface="Arial" panose="020B0604020202020204" pitchFamily="34" charset="0"/>
              <a:buChar char="•"/>
            </a:pPr>
            <a:r>
              <a:rPr lang="fr-FR" sz="1800" dirty="0">
                <a:latin typeface="Lato Light" panose="020F0502020204030203" pitchFamily="34" charset="0"/>
                <a:cs typeface="Lato Light" panose="020F0502020204030203" pitchFamily="34" charset="0"/>
              </a:rPr>
              <a:t>825 observations</a:t>
            </a:r>
          </a:p>
          <a:p>
            <a:pPr marL="285750" indent="-285750">
              <a:buClr>
                <a:srgbClr val="800020"/>
              </a:buClr>
              <a:buFont typeface="Arial" panose="020B0604020202020204" pitchFamily="34" charset="0"/>
              <a:buChar char="•"/>
            </a:pPr>
            <a:r>
              <a:rPr lang="fr-FR" sz="1800" dirty="0">
                <a:latin typeface="Lato Light" panose="020F0502020204030203" pitchFamily="34" charset="0"/>
                <a:cs typeface="Lato Light" panose="020F0502020204030203" pitchFamily="34" charset="0"/>
              </a:rPr>
              <a:t>2 colonnes</a:t>
            </a:r>
          </a:p>
          <a:p>
            <a:pPr marL="285750" indent="-285750">
              <a:buClr>
                <a:srgbClr val="800020"/>
              </a:buClr>
              <a:buFont typeface="Arial" panose="020B0604020202020204" pitchFamily="34" charset="0"/>
              <a:buChar char="•"/>
            </a:pPr>
            <a:r>
              <a:rPr lang="fr-FR" sz="1800" dirty="0">
                <a:latin typeface="Lato Light" panose="020F0502020204030203" pitchFamily="34" charset="0"/>
                <a:cs typeface="Lato Light" panose="020F0502020204030203" pitchFamily="34" charset="0"/>
              </a:rPr>
              <a:t>Données :</a:t>
            </a:r>
          </a:p>
          <a:p>
            <a:pPr marL="285750" lvl="7" indent="-285750">
              <a:buClr>
                <a:srgbClr val="800020"/>
              </a:buClr>
              <a:buFontTx/>
              <a:buChar char="-"/>
            </a:pPr>
            <a:r>
              <a:rPr lang="fr-FR" sz="1600" dirty="0" err="1">
                <a:latin typeface="Lato Light" panose="020F0502020204030203" pitchFamily="34" charset="0"/>
                <a:cs typeface="Lato Light" panose="020F0502020204030203" pitchFamily="34" charset="0"/>
              </a:rPr>
              <a:t>id_web</a:t>
            </a:r>
            <a:endParaRPr lang="fr-FR" sz="1600" dirty="0">
              <a:latin typeface="Lato Light" panose="020F0502020204030203" pitchFamily="34" charset="0"/>
              <a:cs typeface="Lato Light" panose="020F0502020204030203" pitchFamily="34" charset="0"/>
            </a:endParaRPr>
          </a:p>
          <a:p>
            <a:pPr marL="285750" indent="-285750">
              <a:buClr>
                <a:srgbClr val="800020"/>
              </a:buClr>
              <a:buFontTx/>
              <a:buChar char="-"/>
            </a:pPr>
            <a:r>
              <a:rPr lang="fr-FR" sz="1600" dirty="0" err="1">
                <a:latin typeface="Lato Light" panose="020F0502020204030203" pitchFamily="34" charset="0"/>
                <a:cs typeface="Lato Light" panose="020F0502020204030203" pitchFamily="34" charset="0"/>
              </a:rPr>
              <a:t>product_id</a:t>
            </a:r>
            <a:endParaRPr lang="fr-FR" sz="1600" dirty="0">
              <a:latin typeface="Lato Light" panose="020F0502020204030203" pitchFamily="34" charset="0"/>
              <a:cs typeface="Lato Light" panose="020F0502020204030203" pitchFamily="34" charset="0"/>
            </a:endParaRPr>
          </a:p>
          <a:p>
            <a:pPr marL="285750" indent="-285750">
              <a:buClr>
                <a:srgbClr val="800020"/>
              </a:buClr>
              <a:buFont typeface="Arial" panose="020B0604020202020204" pitchFamily="34" charset="0"/>
              <a:buChar char="•"/>
            </a:pPr>
            <a:endParaRPr lang="fr-FR" sz="1800" dirty="0">
              <a:latin typeface="Lato Light" panose="020F0502020204030203" pitchFamily="34" charset="0"/>
              <a:cs typeface="Lato Light" panose="020F0502020204030203" pitchFamily="34" charset="0"/>
            </a:endParaRPr>
          </a:p>
          <a:p>
            <a:pPr marL="285750" lvl="7" indent="-285750">
              <a:buClr>
                <a:srgbClr val="800020"/>
              </a:buClr>
              <a:buFont typeface="Arial" panose="020B0604020202020204" pitchFamily="34" charset="0"/>
              <a:buChar char="•"/>
            </a:pPr>
            <a:endParaRPr lang="fr-FR" sz="1800" dirty="0">
              <a:latin typeface="Lato Light" panose="020F0502020204030203" pitchFamily="34" charset="0"/>
              <a:cs typeface="Lato Light" panose="020F0502020204030203" pitchFamily="34" charset="0"/>
            </a:endParaRPr>
          </a:p>
        </p:txBody>
      </p:sp>
      <p:pic>
        <p:nvPicPr>
          <p:cNvPr id="6" name="Graphique 5" descr="Présentation avec liste de vérification contour">
            <a:extLst>
              <a:ext uri="{FF2B5EF4-FFF2-40B4-BE49-F238E27FC236}">
                <a16:creationId xmlns:a16="http://schemas.microsoft.com/office/drawing/2014/main" id="{ABC6B411-8F59-636C-9E29-775C499E7C86}"/>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337954" y="1524176"/>
            <a:ext cx="387052" cy="387052"/>
          </a:xfrm>
          <a:prstGeom prst="rect">
            <a:avLst/>
          </a:prstGeom>
        </p:spPr>
      </p:pic>
      <p:pic>
        <p:nvPicPr>
          <p:cNvPr id="3" name="Graphique 2" descr="Raisins contour">
            <a:extLst>
              <a:ext uri="{FF2B5EF4-FFF2-40B4-BE49-F238E27FC236}">
                <a16:creationId xmlns:a16="http://schemas.microsoft.com/office/drawing/2014/main" id="{5FA8A6AA-B6C1-F641-1D70-5D450AF25E0D}"/>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7587375" y="337250"/>
            <a:ext cx="661100" cy="661100"/>
          </a:xfrm>
          <a:prstGeom prst="rect">
            <a:avLst/>
          </a:prstGeom>
        </p:spPr>
      </p:pic>
    </p:spTree>
    <p:extLst>
      <p:ext uri="{BB962C8B-B14F-4D97-AF65-F5344CB8AC3E}">
        <p14:creationId xmlns:p14="http://schemas.microsoft.com/office/powerpoint/2010/main" val="1310057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2">
          <a:extLst>
            <a:ext uri="{FF2B5EF4-FFF2-40B4-BE49-F238E27FC236}">
              <a16:creationId xmlns:a16="http://schemas.microsoft.com/office/drawing/2014/main" id="{825DC0A0-CFC7-6FE8-131F-700D01150197}"/>
            </a:ext>
          </a:extLst>
        </p:cNvPr>
        <p:cNvGrpSpPr/>
        <p:nvPr/>
      </p:nvGrpSpPr>
      <p:grpSpPr>
        <a:xfrm>
          <a:off x="0" y="0"/>
          <a:ext cx="0" cy="0"/>
          <a:chOff x="0" y="0"/>
          <a:chExt cx="0" cy="0"/>
        </a:xfrm>
      </p:grpSpPr>
      <p:sp>
        <p:nvSpPr>
          <p:cNvPr id="63" name="Google Shape;63;p4">
            <a:extLst>
              <a:ext uri="{FF2B5EF4-FFF2-40B4-BE49-F238E27FC236}">
                <a16:creationId xmlns:a16="http://schemas.microsoft.com/office/drawing/2014/main" id="{C41FDEA3-426C-4AA1-87D8-1DA50603F3FF}"/>
              </a:ext>
            </a:extLst>
          </p:cNvPr>
          <p:cNvSpPr txBox="1">
            <a:spLocks noGrp="1"/>
          </p:cNvSpPr>
          <p:nvPr>
            <p:ph type="body" idx="1"/>
          </p:nvPr>
        </p:nvSpPr>
        <p:spPr>
          <a:xfrm>
            <a:off x="914400" y="1473600"/>
            <a:ext cx="8012512" cy="3332650"/>
          </a:xfrm>
          <a:prstGeom prst="rect">
            <a:avLst/>
          </a:prstGeom>
          <a:noFill/>
          <a:ln>
            <a:noFill/>
          </a:ln>
        </p:spPr>
        <p:txBody>
          <a:bodyPr spcFirstLastPara="1" wrap="square" lIns="91425" tIns="91425" rIns="91425" bIns="91425" anchor="ctr" anchorCtr="0">
            <a:normAutofit/>
          </a:bodyPr>
          <a:lstStyle/>
          <a:p>
            <a:pPr marL="114300" marR="0" lvl="0" indent="0" algn="l" rtl="0">
              <a:lnSpc>
                <a:spcPct val="150000"/>
              </a:lnSpc>
              <a:spcBef>
                <a:spcPts val="0"/>
              </a:spcBef>
              <a:spcAft>
                <a:spcPts val="0"/>
              </a:spcAft>
              <a:buClr>
                <a:srgbClr val="999999"/>
              </a:buClr>
              <a:buSzPts val="1800"/>
              <a:buNone/>
            </a:pPr>
            <a:r>
              <a:rPr lang="fr" sz="2000" dirty="0">
                <a:solidFill>
                  <a:srgbClr val="999999"/>
                </a:solidFill>
                <a:latin typeface="Lato Light" panose="020F0502020204030203" pitchFamily="34" charset="0"/>
                <a:ea typeface="Montserrat"/>
                <a:cs typeface="Lato Light" panose="020F0502020204030203" pitchFamily="34" charset="0"/>
                <a:sym typeface="Montserrat"/>
              </a:rPr>
              <a:t>	</a:t>
            </a:r>
            <a:r>
              <a:rPr lang="fr" sz="2000" dirty="0">
                <a:solidFill>
                  <a:srgbClr val="004D40"/>
                </a:solidFill>
                <a:latin typeface="Lato" panose="020F0502020204030203" pitchFamily="34" charset="0"/>
                <a:ea typeface="Montserrat"/>
                <a:cs typeface="Lato" panose="020F0502020204030203" pitchFamily="34" charset="0"/>
                <a:sym typeface="Montserrat"/>
              </a:rPr>
              <a:t>Nettoyage des données : </a:t>
            </a:r>
          </a:p>
          <a:p>
            <a:pPr>
              <a:lnSpc>
                <a:spcPct val="150000"/>
              </a:lnSpc>
              <a:buClr>
                <a:srgbClr val="800020"/>
              </a:buClr>
              <a:buSzPct val="90000"/>
            </a:pPr>
            <a:r>
              <a:rPr lang="fr-FR" dirty="0">
                <a:solidFill>
                  <a:schemeClr val="tx1"/>
                </a:solidFill>
                <a:latin typeface="Lato Light" panose="020F0502020204030203" pitchFamily="34" charset="0"/>
                <a:ea typeface="Montserrat"/>
                <a:cs typeface="Lato Light" panose="020F0502020204030203" pitchFamily="34" charset="0"/>
                <a:sym typeface="Montserrat"/>
              </a:rPr>
              <a:t>Source ERP :</a:t>
            </a:r>
          </a:p>
          <a:p>
            <a:pPr lvl="1">
              <a:buClr>
                <a:srgbClr val="800020"/>
              </a:buClr>
              <a:buSzPct val="90000"/>
            </a:pPr>
            <a:r>
              <a:rPr lang="fr-FR" dirty="0">
                <a:solidFill>
                  <a:schemeClr val="tx1"/>
                </a:solidFill>
                <a:latin typeface="Lato Light" panose="020F0502020204030203" pitchFamily="34" charset="0"/>
                <a:ea typeface="Montserrat"/>
                <a:cs typeface="Lato Light" panose="020F0502020204030203" pitchFamily="34" charset="0"/>
                <a:sym typeface="Montserrat"/>
              </a:rPr>
              <a:t>Valeurs aberrantes : Suppression des prix et stocks négatifs</a:t>
            </a:r>
          </a:p>
          <a:p>
            <a:pPr lvl="1">
              <a:buClr>
                <a:srgbClr val="800020"/>
              </a:buClr>
              <a:buSzPct val="90000"/>
            </a:pPr>
            <a:r>
              <a:rPr lang="fr-FR" dirty="0">
                <a:solidFill>
                  <a:schemeClr val="tx1"/>
                </a:solidFill>
                <a:latin typeface="Lato Light" panose="020F0502020204030203" pitchFamily="34" charset="0"/>
                <a:ea typeface="Montserrat"/>
                <a:cs typeface="Lato Light" panose="020F0502020204030203" pitchFamily="34" charset="0"/>
                <a:sym typeface="Montserrat"/>
              </a:rPr>
              <a:t>Intégrité : Recalage du </a:t>
            </a:r>
            <a:r>
              <a:rPr lang="fr-FR" dirty="0" err="1">
                <a:solidFill>
                  <a:schemeClr val="tx1"/>
                </a:solidFill>
                <a:latin typeface="Lato Light" panose="020F0502020204030203" pitchFamily="34" charset="0"/>
                <a:ea typeface="Montserrat"/>
                <a:cs typeface="Lato Light" panose="020F0502020204030203" pitchFamily="34" charset="0"/>
                <a:sym typeface="Montserrat"/>
              </a:rPr>
              <a:t>stock_status</a:t>
            </a:r>
            <a:r>
              <a:rPr lang="fr-FR" dirty="0">
                <a:solidFill>
                  <a:schemeClr val="tx1"/>
                </a:solidFill>
                <a:latin typeface="Lato Light" panose="020F0502020204030203" pitchFamily="34" charset="0"/>
                <a:ea typeface="Montserrat"/>
                <a:cs typeface="Lato Light" panose="020F0502020204030203" pitchFamily="34" charset="0"/>
                <a:sym typeface="Montserrat"/>
              </a:rPr>
              <a:t> selon les quantités réelles</a:t>
            </a:r>
          </a:p>
          <a:p>
            <a:pPr>
              <a:buClr>
                <a:srgbClr val="800020"/>
              </a:buClr>
              <a:buSzPct val="90000"/>
            </a:pPr>
            <a:r>
              <a:rPr lang="fr-FR" dirty="0">
                <a:solidFill>
                  <a:schemeClr val="tx1"/>
                </a:solidFill>
                <a:latin typeface="Lato Light" panose="020F0502020204030203" pitchFamily="34" charset="0"/>
                <a:ea typeface="Montserrat"/>
                <a:cs typeface="Lato Light" panose="020F0502020204030203" pitchFamily="34" charset="0"/>
                <a:sym typeface="Montserrat"/>
              </a:rPr>
              <a:t>Source WEB :</a:t>
            </a:r>
          </a:p>
          <a:p>
            <a:pPr lvl="1">
              <a:buClr>
                <a:srgbClr val="800020"/>
              </a:buClr>
              <a:buSzPct val="90000"/>
            </a:pPr>
            <a:r>
              <a:rPr lang="fr-FR" dirty="0">
                <a:solidFill>
                  <a:schemeClr val="tx1"/>
                </a:solidFill>
                <a:latin typeface="Lato Light" panose="020F0502020204030203" pitchFamily="34" charset="0"/>
                <a:ea typeface="Montserrat"/>
                <a:cs typeface="Lato Light" panose="020F0502020204030203" pitchFamily="34" charset="0"/>
                <a:sym typeface="Montserrat"/>
              </a:rPr>
              <a:t>Qualité : Suppression des doublons et des lignes sans SKU (clés de jointure)</a:t>
            </a:r>
          </a:p>
          <a:p>
            <a:pPr lvl="1">
              <a:buClr>
                <a:srgbClr val="800020"/>
              </a:buClr>
              <a:buSzPct val="90000"/>
            </a:pPr>
            <a:r>
              <a:rPr lang="fr-FR" dirty="0">
                <a:solidFill>
                  <a:schemeClr val="tx1"/>
                </a:solidFill>
                <a:latin typeface="Lato Light" panose="020F0502020204030203" pitchFamily="34" charset="0"/>
                <a:ea typeface="Montserrat"/>
                <a:cs typeface="Lato Light" panose="020F0502020204030203" pitchFamily="34" charset="0"/>
                <a:sym typeface="Montserrat"/>
              </a:rPr>
              <a:t>Optimisation : Élimination des colonnes vides, doublons temporels (GMT) et métadonnées techniques</a:t>
            </a:r>
            <a:endParaRPr lang="fr-FR" i="1" dirty="0">
              <a:solidFill>
                <a:schemeClr val="tx1"/>
              </a:solidFill>
              <a:latin typeface="Lato Light" panose="020F0502020204030203" pitchFamily="34" charset="0"/>
              <a:ea typeface="Montserrat"/>
              <a:cs typeface="Lato Light" panose="020F0502020204030203" pitchFamily="34" charset="0"/>
              <a:sym typeface="Montserrat"/>
            </a:endParaRPr>
          </a:p>
        </p:txBody>
      </p:sp>
      <p:sp>
        <p:nvSpPr>
          <p:cNvPr id="64" name="Google Shape;64;p4">
            <a:extLst>
              <a:ext uri="{FF2B5EF4-FFF2-40B4-BE49-F238E27FC236}">
                <a16:creationId xmlns:a16="http://schemas.microsoft.com/office/drawing/2014/main" id="{0DA67B5E-0F41-D265-17AA-F581F3289DE3}"/>
              </a:ext>
            </a:extLst>
          </p:cNvPr>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highlight>
                <a:srgbClr val="B6D7A8"/>
              </a:highlight>
              <a:latin typeface="Arial"/>
              <a:ea typeface="Arial"/>
              <a:cs typeface="Arial"/>
              <a:sym typeface="Arial"/>
            </a:endParaRPr>
          </a:p>
        </p:txBody>
      </p:sp>
      <p:sp>
        <p:nvSpPr>
          <p:cNvPr id="65" name="Google Shape;65;p4">
            <a:extLst>
              <a:ext uri="{FF2B5EF4-FFF2-40B4-BE49-F238E27FC236}">
                <a16:creationId xmlns:a16="http://schemas.microsoft.com/office/drawing/2014/main" id="{BB39F7C3-88EB-894A-14BC-7F8ADC6A2416}"/>
              </a:ext>
            </a:extLst>
          </p:cNvPr>
          <p:cNvSpPr txBox="1"/>
          <p:nvPr/>
        </p:nvSpPr>
        <p:spPr>
          <a:xfrm>
            <a:off x="895525" y="337250"/>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dirty="0">
                <a:solidFill>
                  <a:srgbClr val="F3F3F3"/>
                </a:solidFill>
                <a:latin typeface="Lato Semibold" panose="020F0502020204030203" pitchFamily="34" charset="0"/>
                <a:ea typeface="Montserrat"/>
                <a:cs typeface="Lato Semibold" panose="020F0502020204030203" pitchFamily="34" charset="0"/>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0"/>
                  </a:ext>
                </a:extLst>
              </a:rPr>
              <a:t>Analyses </a:t>
            </a:r>
            <a:r>
              <a:rPr lang="fr" sz="2500" dirty="0">
                <a:solidFill>
                  <a:srgbClr val="F3F3F3"/>
                </a:solidFill>
                <a:latin typeface="Lato Semibold" panose="020F0502020204030203" pitchFamily="34" charset="0"/>
                <a:ea typeface="Montserrat"/>
                <a:cs typeface="Lato Semibold" panose="020F0502020204030203" pitchFamily="34" charset="0"/>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
                  </a:ext>
                </a:extLst>
              </a:rPr>
              <a:t>Exploratoires</a:t>
            </a:r>
            <a:r>
              <a:rPr lang="fr" sz="2500" b="0" i="0" u="none" strike="noStrike" cap="none" dirty="0">
                <a:solidFill>
                  <a:srgbClr val="F3F3F3"/>
                </a:solidFill>
                <a:latin typeface="Lato Semibold" panose="020F0502020204030203" pitchFamily="34" charset="0"/>
                <a:ea typeface="Montserrat"/>
                <a:cs typeface="Lato Semibold" panose="020F0502020204030203" pitchFamily="34" charset="0"/>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2"/>
                  </a:ext>
                </a:extLst>
              </a:rPr>
              <a:t> des Données </a:t>
            </a:r>
            <a:endParaRPr sz="2500" b="0" i="0" u="none" strike="noStrike" cap="none" dirty="0">
              <a:solidFill>
                <a:srgbClr val="F3F3F3"/>
              </a:solidFill>
              <a:latin typeface="Lato Semibold" panose="020F0502020204030203" pitchFamily="34" charset="0"/>
              <a:ea typeface="Montserrat"/>
              <a:cs typeface="Lato Semibold" panose="020F0502020204030203" pitchFamily="34" charset="0"/>
              <a:sym typeface="Montserrat"/>
            </a:endParaRPr>
          </a:p>
        </p:txBody>
      </p:sp>
      <p:sp>
        <p:nvSpPr>
          <p:cNvPr id="66" name="Google Shape;66;p4">
            <a:extLst>
              <a:ext uri="{FF2B5EF4-FFF2-40B4-BE49-F238E27FC236}">
                <a16:creationId xmlns:a16="http://schemas.microsoft.com/office/drawing/2014/main" id="{4021B141-D1A3-4C35-23E5-24A25FA26A6D}"/>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 name="Graphique 4" descr="Serpillière et seau contour">
            <a:extLst>
              <a:ext uri="{FF2B5EF4-FFF2-40B4-BE49-F238E27FC236}">
                <a16:creationId xmlns:a16="http://schemas.microsoft.com/office/drawing/2014/main" id="{C78A8801-A937-9F54-2093-582BF7032442}"/>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464875" y="1955976"/>
            <a:ext cx="387052" cy="387052"/>
          </a:xfrm>
          <a:prstGeom prst="rect">
            <a:avLst/>
          </a:prstGeom>
        </p:spPr>
      </p:pic>
      <p:pic>
        <p:nvPicPr>
          <p:cNvPr id="2" name="Graphique 1" descr="Raisins contour">
            <a:extLst>
              <a:ext uri="{FF2B5EF4-FFF2-40B4-BE49-F238E27FC236}">
                <a16:creationId xmlns:a16="http://schemas.microsoft.com/office/drawing/2014/main" id="{91D51282-0865-DDBB-BAAB-DD50C4EA2C14}"/>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7587375" y="337250"/>
            <a:ext cx="661100" cy="661100"/>
          </a:xfrm>
          <a:prstGeom prst="rect">
            <a:avLst/>
          </a:prstGeom>
        </p:spPr>
      </p:pic>
    </p:spTree>
    <p:extLst>
      <p:ext uri="{BB962C8B-B14F-4D97-AF65-F5344CB8AC3E}">
        <p14:creationId xmlns:p14="http://schemas.microsoft.com/office/powerpoint/2010/main" val="7163496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2">
          <a:extLst>
            <a:ext uri="{FF2B5EF4-FFF2-40B4-BE49-F238E27FC236}">
              <a16:creationId xmlns:a16="http://schemas.microsoft.com/office/drawing/2014/main" id="{45E5C029-753F-33F7-7D77-894F41F09B54}"/>
            </a:ext>
          </a:extLst>
        </p:cNvPr>
        <p:cNvGrpSpPr/>
        <p:nvPr/>
      </p:nvGrpSpPr>
      <p:grpSpPr>
        <a:xfrm>
          <a:off x="0" y="0"/>
          <a:ext cx="0" cy="0"/>
          <a:chOff x="0" y="0"/>
          <a:chExt cx="0" cy="0"/>
        </a:xfrm>
      </p:grpSpPr>
      <p:sp>
        <p:nvSpPr>
          <p:cNvPr id="63" name="Google Shape;63;p4">
            <a:extLst>
              <a:ext uri="{FF2B5EF4-FFF2-40B4-BE49-F238E27FC236}">
                <a16:creationId xmlns:a16="http://schemas.microsoft.com/office/drawing/2014/main" id="{8A2C0CF2-3F29-AB7C-C250-29E470D53EA9}"/>
              </a:ext>
            </a:extLst>
          </p:cNvPr>
          <p:cNvSpPr txBox="1">
            <a:spLocks noGrp="1"/>
          </p:cNvSpPr>
          <p:nvPr>
            <p:ph type="body" idx="1"/>
          </p:nvPr>
        </p:nvSpPr>
        <p:spPr>
          <a:xfrm>
            <a:off x="914400" y="1473600"/>
            <a:ext cx="8012512" cy="3332650"/>
          </a:xfrm>
          <a:prstGeom prst="rect">
            <a:avLst/>
          </a:prstGeom>
          <a:noFill/>
          <a:ln>
            <a:noFill/>
          </a:ln>
        </p:spPr>
        <p:txBody>
          <a:bodyPr spcFirstLastPara="1" wrap="square" lIns="91425" tIns="91425" rIns="91425" bIns="91425" anchor="ctr" anchorCtr="0">
            <a:normAutofit/>
          </a:bodyPr>
          <a:lstStyle/>
          <a:p>
            <a:pPr marL="114300" indent="0">
              <a:lnSpc>
                <a:spcPct val="150000"/>
              </a:lnSpc>
              <a:buClr>
                <a:srgbClr val="999999"/>
              </a:buClr>
              <a:buNone/>
            </a:pPr>
            <a:r>
              <a:rPr lang="fr" sz="2000" dirty="0">
                <a:solidFill>
                  <a:srgbClr val="999999"/>
                </a:solidFill>
                <a:latin typeface="Lato Light" panose="020F0502020204030203" pitchFamily="34" charset="0"/>
                <a:ea typeface="Montserrat"/>
                <a:cs typeface="Lato Light" panose="020F0502020204030203" pitchFamily="34" charset="0"/>
                <a:sym typeface="Montserrat"/>
              </a:rPr>
              <a:t>	</a:t>
            </a:r>
            <a:r>
              <a:rPr lang="fr-FR" sz="2000" dirty="0">
                <a:solidFill>
                  <a:srgbClr val="004D40"/>
                </a:solidFill>
                <a:latin typeface="Lato" panose="020F0502020204030203" pitchFamily="34" charset="0"/>
                <a:ea typeface="Montserrat"/>
                <a:cs typeface="Lato" panose="020F0502020204030203" pitchFamily="34" charset="0"/>
                <a:sym typeface="Montserrat"/>
              </a:rPr>
              <a:t>Features engineering</a:t>
            </a:r>
            <a:r>
              <a:rPr lang="fr" sz="2000" dirty="0">
                <a:solidFill>
                  <a:srgbClr val="004D40"/>
                </a:solidFill>
                <a:latin typeface="Lato" panose="020F0502020204030203" pitchFamily="34" charset="0"/>
                <a:ea typeface="Montserrat"/>
                <a:cs typeface="Lato" panose="020F0502020204030203" pitchFamily="34" charset="0"/>
                <a:sym typeface="Montserrat"/>
              </a:rPr>
              <a:t> : </a:t>
            </a:r>
          </a:p>
          <a:p>
            <a:pPr>
              <a:lnSpc>
                <a:spcPct val="150000"/>
              </a:lnSpc>
              <a:buClr>
                <a:srgbClr val="800020"/>
              </a:buClr>
              <a:buSzPct val="90000"/>
            </a:pPr>
            <a:r>
              <a:rPr lang="fr-FR" dirty="0">
                <a:solidFill>
                  <a:schemeClr val="tx1"/>
                </a:solidFill>
                <a:latin typeface="Lato Light" panose="020F0502020204030203" pitchFamily="34" charset="0"/>
                <a:ea typeface="Montserrat"/>
                <a:cs typeface="Lato Light" panose="020F0502020204030203" pitchFamily="34" charset="0"/>
                <a:sym typeface="Montserrat"/>
              </a:rPr>
              <a:t>Chiffre d'affaires : Performance commerciale</a:t>
            </a:r>
          </a:p>
          <a:p>
            <a:pPr>
              <a:buClr>
                <a:srgbClr val="800020"/>
              </a:buClr>
              <a:buSzPct val="90000"/>
            </a:pPr>
            <a:r>
              <a:rPr lang="fr-FR" dirty="0">
                <a:solidFill>
                  <a:schemeClr val="tx1"/>
                </a:solidFill>
                <a:latin typeface="Lato Light" panose="020F0502020204030203" pitchFamily="34" charset="0"/>
                <a:ea typeface="Montserrat"/>
                <a:cs typeface="Lato Light" panose="020F0502020204030203" pitchFamily="34" charset="0"/>
                <a:sym typeface="Montserrat"/>
              </a:rPr>
              <a:t>Autonomie de stock : Risque de rupture / Surstock</a:t>
            </a:r>
          </a:p>
          <a:p>
            <a:pPr>
              <a:buClr>
                <a:srgbClr val="800020"/>
              </a:buClr>
              <a:buSzPct val="90000"/>
            </a:pPr>
            <a:r>
              <a:rPr lang="fr-FR" dirty="0">
                <a:solidFill>
                  <a:schemeClr val="tx1"/>
                </a:solidFill>
                <a:latin typeface="Lato Light" panose="020F0502020204030203" pitchFamily="34" charset="0"/>
                <a:ea typeface="Montserrat"/>
                <a:cs typeface="Lato Light" panose="020F0502020204030203" pitchFamily="34" charset="0"/>
                <a:sym typeface="Montserrat"/>
              </a:rPr>
              <a:t>Valeur du stock : Immobilisation financière</a:t>
            </a:r>
          </a:p>
          <a:p>
            <a:pPr>
              <a:buClr>
                <a:srgbClr val="800020"/>
              </a:buClr>
              <a:buSzPct val="90000"/>
            </a:pPr>
            <a:r>
              <a:rPr lang="fr-FR" dirty="0">
                <a:solidFill>
                  <a:schemeClr val="tx1"/>
                </a:solidFill>
                <a:latin typeface="Lato Light" panose="020F0502020204030203" pitchFamily="34" charset="0"/>
                <a:ea typeface="Montserrat"/>
                <a:cs typeface="Lato Light" panose="020F0502020204030203" pitchFamily="34" charset="0"/>
                <a:sym typeface="Montserrat"/>
              </a:rPr>
              <a:t>Taux de marge : Rentabilité réelle</a:t>
            </a:r>
          </a:p>
          <a:p>
            <a:pPr>
              <a:buClr>
                <a:srgbClr val="800020"/>
              </a:buClr>
              <a:buSzPct val="90000"/>
            </a:pPr>
            <a:r>
              <a:rPr lang="fr-FR" dirty="0">
                <a:solidFill>
                  <a:schemeClr val="tx1"/>
                </a:solidFill>
                <a:latin typeface="Lato Light" panose="020F0502020204030203" pitchFamily="34" charset="0"/>
                <a:ea typeface="Montserrat"/>
                <a:cs typeface="Lato Light" panose="020F0502020204030203" pitchFamily="34" charset="0"/>
                <a:sym typeface="Montserrat"/>
              </a:rPr>
              <a:t>Indicateur de valeurs aberrantes (Z-score) : Détection des anomalies</a:t>
            </a:r>
          </a:p>
        </p:txBody>
      </p:sp>
      <p:sp>
        <p:nvSpPr>
          <p:cNvPr id="64" name="Google Shape;64;p4">
            <a:extLst>
              <a:ext uri="{FF2B5EF4-FFF2-40B4-BE49-F238E27FC236}">
                <a16:creationId xmlns:a16="http://schemas.microsoft.com/office/drawing/2014/main" id="{356352D9-B77E-7D6A-84AA-A78FE14AD37E}"/>
              </a:ext>
            </a:extLst>
          </p:cNvPr>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highlight>
                <a:srgbClr val="B6D7A8"/>
              </a:highlight>
              <a:latin typeface="Arial"/>
              <a:ea typeface="Arial"/>
              <a:cs typeface="Arial"/>
              <a:sym typeface="Arial"/>
            </a:endParaRPr>
          </a:p>
        </p:txBody>
      </p:sp>
      <p:sp>
        <p:nvSpPr>
          <p:cNvPr id="65" name="Google Shape;65;p4">
            <a:extLst>
              <a:ext uri="{FF2B5EF4-FFF2-40B4-BE49-F238E27FC236}">
                <a16:creationId xmlns:a16="http://schemas.microsoft.com/office/drawing/2014/main" id="{F2A39CE7-5835-BB56-64A7-764B2B075A5C}"/>
              </a:ext>
            </a:extLst>
          </p:cNvPr>
          <p:cNvSpPr txBox="1"/>
          <p:nvPr/>
        </p:nvSpPr>
        <p:spPr>
          <a:xfrm>
            <a:off x="895525" y="337250"/>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dirty="0">
                <a:solidFill>
                  <a:srgbClr val="F3F3F3"/>
                </a:solidFill>
                <a:latin typeface="Lato Semibold" panose="020F0502020204030203" pitchFamily="34" charset="0"/>
                <a:ea typeface="Montserrat"/>
                <a:cs typeface="Lato Semibold" panose="020F0502020204030203" pitchFamily="34" charset="0"/>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0"/>
                  </a:ext>
                </a:extLst>
              </a:rPr>
              <a:t>Analyses </a:t>
            </a:r>
            <a:r>
              <a:rPr lang="fr" sz="2500" dirty="0">
                <a:solidFill>
                  <a:srgbClr val="F3F3F3"/>
                </a:solidFill>
                <a:latin typeface="Lato Semibold" panose="020F0502020204030203" pitchFamily="34" charset="0"/>
                <a:ea typeface="Montserrat"/>
                <a:cs typeface="Lato Semibold" panose="020F0502020204030203" pitchFamily="34" charset="0"/>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
                  </a:ext>
                </a:extLst>
              </a:rPr>
              <a:t>Exploratoires</a:t>
            </a:r>
            <a:r>
              <a:rPr lang="fr" sz="2500" b="0" i="0" u="none" strike="noStrike" cap="none" dirty="0">
                <a:solidFill>
                  <a:srgbClr val="F3F3F3"/>
                </a:solidFill>
                <a:latin typeface="Lato Semibold" panose="020F0502020204030203" pitchFamily="34" charset="0"/>
                <a:ea typeface="Montserrat"/>
                <a:cs typeface="Lato Semibold" panose="020F0502020204030203" pitchFamily="34" charset="0"/>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2"/>
                  </a:ext>
                </a:extLst>
              </a:rPr>
              <a:t> des Données </a:t>
            </a:r>
            <a:endParaRPr sz="2500" b="0" i="0" u="none" strike="noStrike" cap="none" dirty="0">
              <a:solidFill>
                <a:srgbClr val="F3F3F3"/>
              </a:solidFill>
              <a:latin typeface="Lato Semibold" panose="020F0502020204030203" pitchFamily="34" charset="0"/>
              <a:ea typeface="Montserrat"/>
              <a:cs typeface="Lato Semibold" panose="020F0502020204030203" pitchFamily="34" charset="0"/>
              <a:sym typeface="Montserrat"/>
            </a:endParaRPr>
          </a:p>
        </p:txBody>
      </p:sp>
      <p:sp>
        <p:nvSpPr>
          <p:cNvPr id="66" name="Google Shape;66;p4">
            <a:extLst>
              <a:ext uri="{FF2B5EF4-FFF2-40B4-BE49-F238E27FC236}">
                <a16:creationId xmlns:a16="http://schemas.microsoft.com/office/drawing/2014/main" id="{D4FD7399-7DC9-D2FE-0AC9-4DEFB3FAB638}"/>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 name="Graphique 4" descr="Interface utilisateur ou expérience utilisateur contour">
            <a:extLst>
              <a:ext uri="{FF2B5EF4-FFF2-40B4-BE49-F238E27FC236}">
                <a16:creationId xmlns:a16="http://schemas.microsoft.com/office/drawing/2014/main" id="{402C4C8E-B920-BA00-F432-0955DC004785}"/>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464875" y="2133898"/>
            <a:ext cx="387052" cy="387052"/>
          </a:xfrm>
          <a:prstGeom prst="rect">
            <a:avLst/>
          </a:prstGeom>
        </p:spPr>
      </p:pic>
      <p:pic>
        <p:nvPicPr>
          <p:cNvPr id="2" name="Graphique 1" descr="Raisins contour">
            <a:extLst>
              <a:ext uri="{FF2B5EF4-FFF2-40B4-BE49-F238E27FC236}">
                <a16:creationId xmlns:a16="http://schemas.microsoft.com/office/drawing/2014/main" id="{B16ECCF8-2E16-54DA-3CC4-EC18B4F83435}"/>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7587375" y="337250"/>
            <a:ext cx="661100" cy="661100"/>
          </a:xfrm>
          <a:prstGeom prst="rect">
            <a:avLst/>
          </a:prstGeom>
        </p:spPr>
      </p:pic>
    </p:spTree>
    <p:extLst>
      <p:ext uri="{BB962C8B-B14F-4D97-AF65-F5344CB8AC3E}">
        <p14:creationId xmlns:p14="http://schemas.microsoft.com/office/powerpoint/2010/main" val="7583725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2">
          <a:extLst>
            <a:ext uri="{FF2B5EF4-FFF2-40B4-BE49-F238E27FC236}">
              <a16:creationId xmlns:a16="http://schemas.microsoft.com/office/drawing/2014/main" id="{CA7D700F-1690-DB44-E591-A40DBE2622F1}"/>
            </a:ext>
          </a:extLst>
        </p:cNvPr>
        <p:cNvGrpSpPr/>
        <p:nvPr/>
      </p:nvGrpSpPr>
      <p:grpSpPr>
        <a:xfrm>
          <a:off x="0" y="0"/>
          <a:ext cx="0" cy="0"/>
          <a:chOff x="0" y="0"/>
          <a:chExt cx="0" cy="0"/>
        </a:xfrm>
      </p:grpSpPr>
      <p:sp>
        <p:nvSpPr>
          <p:cNvPr id="63" name="Google Shape;63;p4">
            <a:extLst>
              <a:ext uri="{FF2B5EF4-FFF2-40B4-BE49-F238E27FC236}">
                <a16:creationId xmlns:a16="http://schemas.microsoft.com/office/drawing/2014/main" id="{FCACBA47-BAC8-3F94-129A-D4621B80196F}"/>
              </a:ext>
            </a:extLst>
          </p:cNvPr>
          <p:cNvSpPr txBox="1">
            <a:spLocks noGrp="1"/>
          </p:cNvSpPr>
          <p:nvPr>
            <p:ph type="body" idx="1"/>
          </p:nvPr>
        </p:nvSpPr>
        <p:spPr>
          <a:xfrm>
            <a:off x="914400" y="1473600"/>
            <a:ext cx="8012512" cy="3332650"/>
          </a:xfrm>
          <a:prstGeom prst="rect">
            <a:avLst/>
          </a:prstGeom>
          <a:noFill/>
          <a:ln>
            <a:noFill/>
          </a:ln>
        </p:spPr>
        <p:txBody>
          <a:bodyPr spcFirstLastPara="1" wrap="square" lIns="91425" tIns="91425" rIns="91425" bIns="91425" anchor="ctr" anchorCtr="0">
            <a:normAutofit/>
          </a:bodyPr>
          <a:lstStyle/>
          <a:p>
            <a:pPr marL="114300" indent="0">
              <a:lnSpc>
                <a:spcPct val="150000"/>
              </a:lnSpc>
              <a:buClr>
                <a:srgbClr val="999999"/>
              </a:buClr>
              <a:buNone/>
            </a:pPr>
            <a:r>
              <a:rPr lang="fr" sz="2000" dirty="0">
                <a:solidFill>
                  <a:srgbClr val="999999"/>
                </a:solidFill>
                <a:latin typeface="Lato Light" panose="020F0502020204030203" pitchFamily="34" charset="0"/>
                <a:ea typeface="Montserrat"/>
                <a:cs typeface="Lato Light" panose="020F0502020204030203" pitchFamily="34" charset="0"/>
                <a:sym typeface="Montserrat"/>
              </a:rPr>
              <a:t>	</a:t>
            </a:r>
            <a:r>
              <a:rPr lang="fr-FR" sz="2000" dirty="0">
                <a:solidFill>
                  <a:srgbClr val="004D40"/>
                </a:solidFill>
                <a:latin typeface="Lato" panose="020F0502020204030203" pitchFamily="34" charset="0"/>
                <a:ea typeface="Montserrat"/>
                <a:cs typeface="Lato" panose="020F0502020204030203" pitchFamily="34" charset="0"/>
                <a:sym typeface="Montserrat"/>
              </a:rPr>
              <a:t>Remarques éventuelles, pièges ou difficultés rencontrées </a:t>
            </a:r>
            <a:r>
              <a:rPr lang="fr" sz="2000" dirty="0">
                <a:solidFill>
                  <a:srgbClr val="004D40"/>
                </a:solidFill>
                <a:latin typeface="Lato" panose="020F0502020204030203" pitchFamily="34" charset="0"/>
                <a:ea typeface="Montserrat"/>
                <a:cs typeface="Lato" panose="020F0502020204030203" pitchFamily="34" charset="0"/>
                <a:sym typeface="Montserrat"/>
              </a:rPr>
              <a:t>: </a:t>
            </a:r>
          </a:p>
          <a:p>
            <a:pPr>
              <a:lnSpc>
                <a:spcPct val="150000"/>
              </a:lnSpc>
              <a:buClr>
                <a:srgbClr val="800020"/>
              </a:buClr>
              <a:buSzPct val="90000"/>
            </a:pPr>
            <a:r>
              <a:rPr lang="fr-FR" dirty="0">
                <a:solidFill>
                  <a:schemeClr val="tx1"/>
                </a:solidFill>
                <a:latin typeface="Lato Light" panose="020F0502020204030203" pitchFamily="34" charset="0"/>
                <a:ea typeface="Montserrat"/>
                <a:cs typeface="Lato Light" panose="020F0502020204030203" pitchFamily="34" charset="0"/>
                <a:sym typeface="Montserrat"/>
              </a:rPr>
              <a:t>Exclusion des prix et stocks négatifs (données aberrantes)</a:t>
            </a:r>
          </a:p>
          <a:p>
            <a:pPr lvl="1">
              <a:buClr>
                <a:srgbClr val="800020"/>
              </a:buClr>
              <a:buSzPct val="90000"/>
            </a:pPr>
            <a:r>
              <a:rPr lang="fr-FR" dirty="0">
                <a:solidFill>
                  <a:schemeClr val="tx1"/>
                </a:solidFill>
                <a:latin typeface="Lato Light" panose="020F0502020204030203" pitchFamily="34" charset="0"/>
                <a:ea typeface="Montserrat"/>
                <a:cs typeface="Lato Light" panose="020F0502020204030203" pitchFamily="34" charset="0"/>
                <a:sym typeface="Montserrat"/>
              </a:rPr>
              <a:t>Impact prix : Aucun (produit hors catalogue)</a:t>
            </a:r>
          </a:p>
          <a:p>
            <a:pPr lvl="1">
              <a:buClr>
                <a:srgbClr val="800020"/>
              </a:buClr>
              <a:buSzPct val="90000"/>
            </a:pPr>
            <a:r>
              <a:rPr lang="fr-FR" dirty="0">
                <a:solidFill>
                  <a:schemeClr val="tx1"/>
                </a:solidFill>
                <a:latin typeface="Lato Light" panose="020F0502020204030203" pitchFamily="34" charset="0"/>
                <a:ea typeface="Montserrat"/>
                <a:cs typeface="Lato Light" panose="020F0502020204030203" pitchFamily="34" charset="0"/>
                <a:sym typeface="Montserrat"/>
              </a:rPr>
              <a:t>Alerte Stock : 1 produit actif en négatif ➜ Inventaire préconisé</a:t>
            </a:r>
          </a:p>
          <a:p>
            <a:pPr>
              <a:buClr>
                <a:srgbClr val="800020"/>
              </a:buClr>
              <a:buSzPct val="90000"/>
            </a:pPr>
            <a:r>
              <a:rPr lang="fr-FR" dirty="0">
                <a:solidFill>
                  <a:schemeClr val="tx1"/>
                </a:solidFill>
                <a:latin typeface="Lato Light" panose="020F0502020204030203" pitchFamily="34" charset="0"/>
                <a:ea typeface="Montserrat"/>
                <a:cs typeface="Lato Light" panose="020F0502020204030203" pitchFamily="34" charset="0"/>
                <a:sym typeface="Montserrat"/>
              </a:rPr>
              <a:t>Périmètre d’analyse</a:t>
            </a:r>
          </a:p>
          <a:p>
            <a:pPr lvl="1">
              <a:buClr>
                <a:srgbClr val="800020"/>
              </a:buClr>
              <a:buSzPct val="90000"/>
            </a:pPr>
            <a:r>
              <a:rPr lang="fr-FR" dirty="0">
                <a:solidFill>
                  <a:schemeClr val="tx1"/>
                </a:solidFill>
                <a:latin typeface="Lato Light" panose="020F0502020204030203" pitchFamily="34" charset="0"/>
                <a:ea typeface="Montserrat"/>
                <a:cs typeface="Lato Light" panose="020F0502020204030203" pitchFamily="34" charset="0"/>
                <a:sym typeface="Montserrat"/>
              </a:rPr>
              <a:t>Conservation exclusive des variables métiers (Prix, Stocks, Ventes)</a:t>
            </a:r>
          </a:p>
          <a:p>
            <a:pPr lvl="1">
              <a:buClr>
                <a:srgbClr val="800020"/>
              </a:buClr>
              <a:buSzPct val="90000"/>
            </a:pPr>
            <a:r>
              <a:rPr lang="fr-FR" dirty="0">
                <a:solidFill>
                  <a:schemeClr val="tx1"/>
                </a:solidFill>
                <a:latin typeface="Lato Light" panose="020F0502020204030203" pitchFamily="34" charset="0"/>
                <a:ea typeface="Montserrat"/>
                <a:cs typeface="Lato Light" panose="020F0502020204030203" pitchFamily="34" charset="0"/>
                <a:sym typeface="Montserrat"/>
              </a:rPr>
              <a:t>Les métadonnées techniques (</a:t>
            </a:r>
            <a:r>
              <a:rPr lang="fr-FR" dirty="0" err="1">
                <a:solidFill>
                  <a:schemeClr val="tx1"/>
                </a:solidFill>
                <a:latin typeface="Lato Light" panose="020F0502020204030203" pitchFamily="34" charset="0"/>
                <a:ea typeface="Montserrat"/>
                <a:cs typeface="Lato Light" panose="020F0502020204030203" pitchFamily="34" charset="0"/>
                <a:sym typeface="Montserrat"/>
              </a:rPr>
              <a:t>guid</a:t>
            </a:r>
            <a:r>
              <a:rPr lang="fr-FR" dirty="0">
                <a:solidFill>
                  <a:schemeClr val="tx1"/>
                </a:solidFill>
                <a:latin typeface="Lato Light" panose="020F0502020204030203" pitchFamily="34" charset="0"/>
                <a:ea typeface="Montserrat"/>
                <a:cs typeface="Lato Light" panose="020F0502020204030203" pitchFamily="34" charset="0"/>
                <a:sym typeface="Montserrat"/>
              </a:rPr>
              <a:t>, </a:t>
            </a:r>
            <a:r>
              <a:rPr lang="fr-FR" dirty="0" err="1">
                <a:solidFill>
                  <a:schemeClr val="tx1"/>
                </a:solidFill>
                <a:latin typeface="Lato Light" panose="020F0502020204030203" pitchFamily="34" charset="0"/>
                <a:ea typeface="Montserrat"/>
                <a:cs typeface="Lato Light" panose="020F0502020204030203" pitchFamily="34" charset="0"/>
                <a:sym typeface="Montserrat"/>
              </a:rPr>
              <a:t>post_author</a:t>
            </a:r>
            <a:r>
              <a:rPr lang="fr-FR" dirty="0">
                <a:solidFill>
                  <a:schemeClr val="tx1"/>
                </a:solidFill>
                <a:latin typeface="Lato Light" panose="020F0502020204030203" pitchFamily="34" charset="0"/>
                <a:ea typeface="Montserrat"/>
                <a:cs typeface="Lato Light" panose="020F0502020204030203" pitchFamily="34" charset="0"/>
                <a:sym typeface="Montserrat"/>
              </a:rPr>
              <a:t>, </a:t>
            </a:r>
            <a:r>
              <a:rPr lang="fr-FR" dirty="0" err="1">
                <a:solidFill>
                  <a:schemeClr val="tx1"/>
                </a:solidFill>
                <a:latin typeface="Lato Light" panose="020F0502020204030203" pitchFamily="34" charset="0"/>
                <a:ea typeface="Montserrat"/>
                <a:cs typeface="Lato Light" panose="020F0502020204030203" pitchFamily="34" charset="0"/>
                <a:sym typeface="Montserrat"/>
              </a:rPr>
              <a:t>post_modified</a:t>
            </a:r>
            <a:r>
              <a:rPr lang="fr-FR" dirty="0">
                <a:solidFill>
                  <a:schemeClr val="tx1"/>
                </a:solidFill>
                <a:latin typeface="Lato Light" panose="020F0502020204030203" pitchFamily="34" charset="0"/>
                <a:ea typeface="Montserrat"/>
                <a:cs typeface="Lato Light" panose="020F0502020204030203" pitchFamily="34" charset="0"/>
                <a:sym typeface="Montserrat"/>
              </a:rPr>
              <a:t>) conservation requise dans la future DB pour l'audit et la traçabilité</a:t>
            </a:r>
          </a:p>
          <a:p>
            <a:pPr marL="114300" indent="0">
              <a:buClr>
                <a:srgbClr val="800020"/>
              </a:buClr>
              <a:buSzPct val="90000"/>
              <a:buNone/>
            </a:pPr>
            <a:endParaRPr lang="fr-FR" dirty="0">
              <a:solidFill>
                <a:schemeClr val="tx1"/>
              </a:solidFill>
              <a:latin typeface="Lato Light" panose="020F0502020204030203" pitchFamily="34" charset="0"/>
              <a:ea typeface="Montserrat"/>
              <a:cs typeface="Lato Light" panose="020F0502020204030203" pitchFamily="34" charset="0"/>
              <a:sym typeface="Montserrat"/>
            </a:endParaRPr>
          </a:p>
        </p:txBody>
      </p:sp>
      <p:sp>
        <p:nvSpPr>
          <p:cNvPr id="64" name="Google Shape;64;p4">
            <a:extLst>
              <a:ext uri="{FF2B5EF4-FFF2-40B4-BE49-F238E27FC236}">
                <a16:creationId xmlns:a16="http://schemas.microsoft.com/office/drawing/2014/main" id="{4FB1412A-DF32-0F76-F75A-674B4A9B36B6}"/>
              </a:ext>
            </a:extLst>
          </p:cNvPr>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highlight>
                <a:srgbClr val="B6D7A8"/>
              </a:highlight>
              <a:latin typeface="Arial"/>
              <a:ea typeface="Arial"/>
              <a:cs typeface="Arial"/>
              <a:sym typeface="Arial"/>
            </a:endParaRPr>
          </a:p>
        </p:txBody>
      </p:sp>
      <p:sp>
        <p:nvSpPr>
          <p:cNvPr id="65" name="Google Shape;65;p4">
            <a:extLst>
              <a:ext uri="{FF2B5EF4-FFF2-40B4-BE49-F238E27FC236}">
                <a16:creationId xmlns:a16="http://schemas.microsoft.com/office/drawing/2014/main" id="{6A9D04F7-0F2E-1F77-86D2-87F25B9E727D}"/>
              </a:ext>
            </a:extLst>
          </p:cNvPr>
          <p:cNvSpPr txBox="1"/>
          <p:nvPr/>
        </p:nvSpPr>
        <p:spPr>
          <a:xfrm>
            <a:off x="895525" y="337250"/>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dirty="0">
                <a:solidFill>
                  <a:srgbClr val="F3F3F3"/>
                </a:solidFill>
                <a:latin typeface="Lato Semibold" panose="020F0502020204030203" pitchFamily="34" charset="0"/>
                <a:ea typeface="Montserrat"/>
                <a:cs typeface="Lato Semibold" panose="020F0502020204030203" pitchFamily="34" charset="0"/>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0"/>
                  </a:ext>
                </a:extLst>
              </a:rPr>
              <a:t>Analyses </a:t>
            </a:r>
            <a:r>
              <a:rPr lang="fr" sz="2500" dirty="0">
                <a:solidFill>
                  <a:srgbClr val="F3F3F3"/>
                </a:solidFill>
                <a:latin typeface="Lato Semibold" panose="020F0502020204030203" pitchFamily="34" charset="0"/>
                <a:ea typeface="Montserrat"/>
                <a:cs typeface="Lato Semibold" panose="020F0502020204030203" pitchFamily="34" charset="0"/>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
                  </a:ext>
                </a:extLst>
              </a:rPr>
              <a:t>Exploratoires</a:t>
            </a:r>
            <a:r>
              <a:rPr lang="fr" sz="2500" b="0" i="0" u="none" strike="noStrike" cap="none" dirty="0">
                <a:solidFill>
                  <a:srgbClr val="F3F3F3"/>
                </a:solidFill>
                <a:latin typeface="Lato Semibold" panose="020F0502020204030203" pitchFamily="34" charset="0"/>
                <a:ea typeface="Montserrat"/>
                <a:cs typeface="Lato Semibold" panose="020F0502020204030203" pitchFamily="34" charset="0"/>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2"/>
                  </a:ext>
                </a:extLst>
              </a:rPr>
              <a:t> des Données </a:t>
            </a:r>
            <a:endParaRPr sz="2500" b="0" i="0" u="none" strike="noStrike" cap="none" dirty="0">
              <a:solidFill>
                <a:srgbClr val="F3F3F3"/>
              </a:solidFill>
              <a:latin typeface="Lato Semibold" panose="020F0502020204030203" pitchFamily="34" charset="0"/>
              <a:ea typeface="Montserrat"/>
              <a:cs typeface="Lato Semibold" panose="020F0502020204030203" pitchFamily="34" charset="0"/>
              <a:sym typeface="Montserrat"/>
            </a:endParaRPr>
          </a:p>
        </p:txBody>
      </p:sp>
      <p:sp>
        <p:nvSpPr>
          <p:cNvPr id="66" name="Google Shape;66;p4">
            <a:extLst>
              <a:ext uri="{FF2B5EF4-FFF2-40B4-BE49-F238E27FC236}">
                <a16:creationId xmlns:a16="http://schemas.microsoft.com/office/drawing/2014/main" id="{075EA956-3EE3-F130-D22A-F2264E8FCC5C}"/>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 name="Graphique 4" descr="Sirène contour">
            <a:extLst>
              <a:ext uri="{FF2B5EF4-FFF2-40B4-BE49-F238E27FC236}">
                <a16:creationId xmlns:a16="http://schemas.microsoft.com/office/drawing/2014/main" id="{0D45CA03-F6DB-C14E-7389-3FF0C11685BB}"/>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464875" y="1806974"/>
            <a:ext cx="387052" cy="387052"/>
          </a:xfrm>
          <a:prstGeom prst="rect">
            <a:avLst/>
          </a:prstGeom>
        </p:spPr>
      </p:pic>
      <p:pic>
        <p:nvPicPr>
          <p:cNvPr id="2" name="Graphique 1" descr="Raisins contour">
            <a:extLst>
              <a:ext uri="{FF2B5EF4-FFF2-40B4-BE49-F238E27FC236}">
                <a16:creationId xmlns:a16="http://schemas.microsoft.com/office/drawing/2014/main" id="{890FEB42-8D6A-7DCA-108B-A40164B1037A}"/>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7587375" y="337250"/>
            <a:ext cx="661100" cy="661100"/>
          </a:xfrm>
          <a:prstGeom prst="rect">
            <a:avLst/>
          </a:prstGeom>
        </p:spPr>
      </p:pic>
    </p:spTree>
    <p:extLst>
      <p:ext uri="{BB962C8B-B14F-4D97-AF65-F5344CB8AC3E}">
        <p14:creationId xmlns:p14="http://schemas.microsoft.com/office/powerpoint/2010/main" val="15243184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0">
          <a:extLst>
            <a:ext uri="{FF2B5EF4-FFF2-40B4-BE49-F238E27FC236}">
              <a16:creationId xmlns:a16="http://schemas.microsoft.com/office/drawing/2014/main" id="{BD58B5C5-0030-B321-766C-7FCA824CE18D}"/>
            </a:ext>
          </a:extLst>
        </p:cNvPr>
        <p:cNvGrpSpPr/>
        <p:nvPr/>
      </p:nvGrpSpPr>
      <p:grpSpPr>
        <a:xfrm>
          <a:off x="0" y="0"/>
          <a:ext cx="0" cy="0"/>
          <a:chOff x="0" y="0"/>
          <a:chExt cx="0" cy="0"/>
        </a:xfrm>
      </p:grpSpPr>
      <p:sp>
        <p:nvSpPr>
          <p:cNvPr id="72" name="Google Shape;72;p5">
            <a:extLst>
              <a:ext uri="{FF2B5EF4-FFF2-40B4-BE49-F238E27FC236}">
                <a16:creationId xmlns:a16="http://schemas.microsoft.com/office/drawing/2014/main" id="{9704C367-0B71-C161-865A-903884ECA825}"/>
              </a:ext>
            </a:extLst>
          </p:cNvPr>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4D40"/>
              </a:solidFill>
              <a:latin typeface="Arial"/>
              <a:ea typeface="Arial"/>
              <a:cs typeface="Arial"/>
              <a:sym typeface="Arial"/>
            </a:endParaRPr>
          </a:p>
        </p:txBody>
      </p:sp>
      <p:sp>
        <p:nvSpPr>
          <p:cNvPr id="73" name="Google Shape;73;p5">
            <a:extLst>
              <a:ext uri="{FF2B5EF4-FFF2-40B4-BE49-F238E27FC236}">
                <a16:creationId xmlns:a16="http://schemas.microsoft.com/office/drawing/2014/main" id="{70963862-957F-9030-4103-965CCD33EA5A}"/>
              </a:ext>
            </a:extLst>
          </p:cNvPr>
          <p:cNvSpPr txBox="1"/>
          <p:nvPr/>
        </p:nvSpPr>
        <p:spPr>
          <a:xfrm>
            <a:off x="895525" y="337250"/>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dirty="0">
                <a:solidFill>
                  <a:srgbClr val="F3F3F3"/>
                </a:solidFill>
                <a:latin typeface="Lato Semibold" panose="020F0502020204030203" pitchFamily="34" charset="0"/>
                <a:ea typeface="Lato Semibold" panose="020F0502020204030203" pitchFamily="34" charset="0"/>
                <a:cs typeface="Lato Semibold" panose="020F0502020204030203" pitchFamily="34" charset="0"/>
                <a:sym typeface="Montserrat"/>
              </a:rPr>
              <a:t>Fusion ou consolidations des données</a:t>
            </a:r>
            <a:endParaRPr sz="2500" b="0" i="0" u="none" strike="noStrike" cap="none" dirty="0">
              <a:solidFill>
                <a:srgbClr val="F3F3F3"/>
              </a:solidFill>
              <a:latin typeface="Lato Semibold" panose="020F0502020204030203" pitchFamily="34" charset="0"/>
              <a:ea typeface="Lato Semibold" panose="020F0502020204030203" pitchFamily="34" charset="0"/>
              <a:cs typeface="Lato Semibold" panose="020F0502020204030203" pitchFamily="34" charset="0"/>
              <a:sym typeface="Montserrat"/>
            </a:endParaRPr>
          </a:p>
        </p:txBody>
      </p:sp>
      <p:sp>
        <p:nvSpPr>
          <p:cNvPr id="74" name="Google Shape;74;p5">
            <a:extLst>
              <a:ext uri="{FF2B5EF4-FFF2-40B4-BE49-F238E27FC236}">
                <a16:creationId xmlns:a16="http://schemas.microsoft.com/office/drawing/2014/main" id="{14E3D436-F257-7FF2-42CB-3F9D8E39EFCE}"/>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 name="Image 2">
            <a:extLst>
              <a:ext uri="{FF2B5EF4-FFF2-40B4-BE49-F238E27FC236}">
                <a16:creationId xmlns:a16="http://schemas.microsoft.com/office/drawing/2014/main" id="{6238AF51-A9CA-AC1F-4301-0231FA7F6B1F}"/>
              </a:ext>
            </a:extLst>
          </p:cNvPr>
          <p:cNvPicPr>
            <a:picLocks noChangeAspect="1"/>
          </p:cNvPicPr>
          <p:nvPr/>
        </p:nvPicPr>
        <p:blipFill>
          <a:blip r:embed="rId3"/>
          <a:srcRect/>
          <a:stretch/>
        </p:blipFill>
        <p:spPr>
          <a:xfrm>
            <a:off x="641727" y="1727450"/>
            <a:ext cx="7860547" cy="2981775"/>
          </a:xfrm>
          <a:prstGeom prst="rect">
            <a:avLst/>
          </a:prstGeom>
          <a:ln w="19050" cap="rnd" cmpd="sng">
            <a:solidFill>
              <a:srgbClr val="800020"/>
            </a:solidFill>
            <a:extLst>
              <a:ext uri="{C807C97D-BFC1-408E-A445-0C87EB9F89A2}">
                <ask:lineSketchStyleProps xmlns:ask="http://schemas.microsoft.com/office/drawing/2018/sketchyshapes" sd="1219033472">
                  <a:custGeom>
                    <a:avLst/>
                    <a:gdLst>
                      <a:gd name="csX0" fmla="*/ 0 w 7860547"/>
                      <a:gd name="csY0" fmla="*/ 0 h 2981775"/>
                      <a:gd name="csX1" fmla="*/ 812257 w 7860547"/>
                      <a:gd name="csY1" fmla="*/ 0 h 2981775"/>
                      <a:gd name="csX2" fmla="*/ 1310091 w 7860547"/>
                      <a:gd name="csY2" fmla="*/ 0 h 2981775"/>
                      <a:gd name="csX3" fmla="*/ 2043742 w 7860547"/>
                      <a:gd name="csY3" fmla="*/ 0 h 2981775"/>
                      <a:gd name="csX4" fmla="*/ 2541577 w 7860547"/>
                      <a:gd name="csY4" fmla="*/ 0 h 2981775"/>
                      <a:gd name="csX5" fmla="*/ 3196622 w 7860547"/>
                      <a:gd name="csY5" fmla="*/ 0 h 2981775"/>
                      <a:gd name="csX6" fmla="*/ 3930274 w 7860547"/>
                      <a:gd name="csY6" fmla="*/ 0 h 2981775"/>
                      <a:gd name="csX7" fmla="*/ 4349503 w 7860547"/>
                      <a:gd name="csY7" fmla="*/ 0 h 2981775"/>
                      <a:gd name="csX8" fmla="*/ 4768732 w 7860547"/>
                      <a:gd name="csY8" fmla="*/ 0 h 2981775"/>
                      <a:gd name="csX9" fmla="*/ 5580988 w 7860547"/>
                      <a:gd name="csY9" fmla="*/ 0 h 2981775"/>
                      <a:gd name="csX10" fmla="*/ 6236034 w 7860547"/>
                      <a:gd name="csY10" fmla="*/ 0 h 2981775"/>
                      <a:gd name="csX11" fmla="*/ 6655263 w 7860547"/>
                      <a:gd name="csY11" fmla="*/ 0 h 2981775"/>
                      <a:gd name="csX12" fmla="*/ 7860547 w 7860547"/>
                      <a:gd name="csY12" fmla="*/ 0 h 2981775"/>
                      <a:gd name="csX13" fmla="*/ 7860547 w 7860547"/>
                      <a:gd name="csY13" fmla="*/ 655991 h 2981775"/>
                      <a:gd name="csX14" fmla="*/ 7860547 w 7860547"/>
                      <a:gd name="csY14" fmla="*/ 1192710 h 2981775"/>
                      <a:gd name="csX15" fmla="*/ 7860547 w 7860547"/>
                      <a:gd name="csY15" fmla="*/ 1789065 h 2981775"/>
                      <a:gd name="csX16" fmla="*/ 7860547 w 7860547"/>
                      <a:gd name="csY16" fmla="*/ 2295967 h 2981775"/>
                      <a:gd name="csX17" fmla="*/ 7860547 w 7860547"/>
                      <a:gd name="csY17" fmla="*/ 2981775 h 2981775"/>
                      <a:gd name="csX18" fmla="*/ 7205501 w 7860547"/>
                      <a:gd name="csY18" fmla="*/ 2981775 h 2981775"/>
                      <a:gd name="csX19" fmla="*/ 6471850 w 7860547"/>
                      <a:gd name="csY19" fmla="*/ 2981775 h 2981775"/>
                      <a:gd name="csX20" fmla="*/ 5738199 w 7860547"/>
                      <a:gd name="csY20" fmla="*/ 2981775 h 2981775"/>
                      <a:gd name="csX21" fmla="*/ 5240365 w 7860547"/>
                      <a:gd name="csY21" fmla="*/ 2981775 h 2981775"/>
                      <a:gd name="csX22" fmla="*/ 4428108 w 7860547"/>
                      <a:gd name="csY22" fmla="*/ 2981775 h 2981775"/>
                      <a:gd name="csX23" fmla="*/ 3773063 w 7860547"/>
                      <a:gd name="csY23" fmla="*/ 2981775 h 2981775"/>
                      <a:gd name="csX24" fmla="*/ 3353833 w 7860547"/>
                      <a:gd name="csY24" fmla="*/ 2981775 h 2981775"/>
                      <a:gd name="csX25" fmla="*/ 2698788 w 7860547"/>
                      <a:gd name="csY25" fmla="*/ 2981775 h 2981775"/>
                      <a:gd name="csX26" fmla="*/ 2122348 w 7860547"/>
                      <a:gd name="csY26" fmla="*/ 2981775 h 2981775"/>
                      <a:gd name="csX27" fmla="*/ 1545908 w 7860547"/>
                      <a:gd name="csY27" fmla="*/ 2981775 h 2981775"/>
                      <a:gd name="csX28" fmla="*/ 969467 w 7860547"/>
                      <a:gd name="csY28" fmla="*/ 2981775 h 2981775"/>
                      <a:gd name="csX29" fmla="*/ 0 w 7860547"/>
                      <a:gd name="csY29" fmla="*/ 2981775 h 2981775"/>
                      <a:gd name="csX30" fmla="*/ 0 w 7860547"/>
                      <a:gd name="csY30" fmla="*/ 2355602 h 2981775"/>
                      <a:gd name="csX31" fmla="*/ 0 w 7860547"/>
                      <a:gd name="csY31" fmla="*/ 1789065 h 2981775"/>
                      <a:gd name="csX32" fmla="*/ 0 w 7860547"/>
                      <a:gd name="csY32" fmla="*/ 1282163 h 2981775"/>
                      <a:gd name="csX33" fmla="*/ 0 w 7860547"/>
                      <a:gd name="csY33" fmla="*/ 715626 h 2981775"/>
                      <a:gd name="csX34" fmla="*/ 0 w 7860547"/>
                      <a:gd name="csY34" fmla="*/ 0 h 2981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7860547" h="2981775" fill="none" extrusionOk="0">
                        <a:moveTo>
                          <a:pt x="0" y="0"/>
                        </a:moveTo>
                        <a:cubicBezTo>
                          <a:pt x="218310" y="-28391"/>
                          <a:pt x="539601" y="-36853"/>
                          <a:pt x="812257" y="0"/>
                        </a:cubicBezTo>
                        <a:cubicBezTo>
                          <a:pt x="1084913" y="36853"/>
                          <a:pt x="1163162" y="7236"/>
                          <a:pt x="1310091" y="0"/>
                        </a:cubicBezTo>
                        <a:cubicBezTo>
                          <a:pt x="1457020" y="-7236"/>
                          <a:pt x="1794316" y="-2562"/>
                          <a:pt x="2043742" y="0"/>
                        </a:cubicBezTo>
                        <a:cubicBezTo>
                          <a:pt x="2293168" y="2562"/>
                          <a:pt x="2335480" y="-13048"/>
                          <a:pt x="2541577" y="0"/>
                        </a:cubicBezTo>
                        <a:cubicBezTo>
                          <a:pt x="2747675" y="13048"/>
                          <a:pt x="3065599" y="26850"/>
                          <a:pt x="3196622" y="0"/>
                        </a:cubicBezTo>
                        <a:cubicBezTo>
                          <a:pt x="3327645" y="-26850"/>
                          <a:pt x="3657956" y="-13651"/>
                          <a:pt x="3930274" y="0"/>
                        </a:cubicBezTo>
                        <a:cubicBezTo>
                          <a:pt x="4202592" y="13651"/>
                          <a:pt x="4206833" y="125"/>
                          <a:pt x="4349503" y="0"/>
                        </a:cubicBezTo>
                        <a:cubicBezTo>
                          <a:pt x="4492173" y="-125"/>
                          <a:pt x="4620282" y="-16476"/>
                          <a:pt x="4768732" y="0"/>
                        </a:cubicBezTo>
                        <a:cubicBezTo>
                          <a:pt x="4917182" y="16476"/>
                          <a:pt x="5327705" y="35907"/>
                          <a:pt x="5580988" y="0"/>
                        </a:cubicBezTo>
                        <a:cubicBezTo>
                          <a:pt x="5834271" y="-35907"/>
                          <a:pt x="5958022" y="-14315"/>
                          <a:pt x="6236034" y="0"/>
                        </a:cubicBezTo>
                        <a:cubicBezTo>
                          <a:pt x="6514046" y="14315"/>
                          <a:pt x="6516234" y="-14409"/>
                          <a:pt x="6655263" y="0"/>
                        </a:cubicBezTo>
                        <a:cubicBezTo>
                          <a:pt x="6794292" y="14409"/>
                          <a:pt x="7469871" y="-36007"/>
                          <a:pt x="7860547" y="0"/>
                        </a:cubicBezTo>
                        <a:cubicBezTo>
                          <a:pt x="7844355" y="183235"/>
                          <a:pt x="7865252" y="355087"/>
                          <a:pt x="7860547" y="655991"/>
                        </a:cubicBezTo>
                        <a:cubicBezTo>
                          <a:pt x="7855842" y="956895"/>
                          <a:pt x="7878483" y="1078595"/>
                          <a:pt x="7860547" y="1192710"/>
                        </a:cubicBezTo>
                        <a:cubicBezTo>
                          <a:pt x="7842611" y="1306825"/>
                          <a:pt x="7856312" y="1521542"/>
                          <a:pt x="7860547" y="1789065"/>
                        </a:cubicBezTo>
                        <a:cubicBezTo>
                          <a:pt x="7864782" y="2056588"/>
                          <a:pt x="7848547" y="2062060"/>
                          <a:pt x="7860547" y="2295967"/>
                        </a:cubicBezTo>
                        <a:cubicBezTo>
                          <a:pt x="7872547" y="2529874"/>
                          <a:pt x="7843537" y="2643575"/>
                          <a:pt x="7860547" y="2981775"/>
                        </a:cubicBezTo>
                        <a:cubicBezTo>
                          <a:pt x="7612429" y="2968247"/>
                          <a:pt x="7382263" y="2997334"/>
                          <a:pt x="7205501" y="2981775"/>
                        </a:cubicBezTo>
                        <a:cubicBezTo>
                          <a:pt x="7028739" y="2966216"/>
                          <a:pt x="6793832" y="2992264"/>
                          <a:pt x="6471850" y="2981775"/>
                        </a:cubicBezTo>
                        <a:cubicBezTo>
                          <a:pt x="6149868" y="2971286"/>
                          <a:pt x="6037045" y="3008877"/>
                          <a:pt x="5738199" y="2981775"/>
                        </a:cubicBezTo>
                        <a:cubicBezTo>
                          <a:pt x="5439353" y="2954673"/>
                          <a:pt x="5447081" y="2992191"/>
                          <a:pt x="5240365" y="2981775"/>
                        </a:cubicBezTo>
                        <a:cubicBezTo>
                          <a:pt x="5033649" y="2971359"/>
                          <a:pt x="4825095" y="2998060"/>
                          <a:pt x="4428108" y="2981775"/>
                        </a:cubicBezTo>
                        <a:cubicBezTo>
                          <a:pt x="4031121" y="2965490"/>
                          <a:pt x="4051330" y="2956196"/>
                          <a:pt x="3773063" y="2981775"/>
                        </a:cubicBezTo>
                        <a:cubicBezTo>
                          <a:pt x="3494797" y="3007354"/>
                          <a:pt x="3561166" y="2964441"/>
                          <a:pt x="3353833" y="2981775"/>
                        </a:cubicBezTo>
                        <a:cubicBezTo>
                          <a:pt x="3146500" y="2999110"/>
                          <a:pt x="2925644" y="2984875"/>
                          <a:pt x="2698788" y="2981775"/>
                        </a:cubicBezTo>
                        <a:cubicBezTo>
                          <a:pt x="2471933" y="2978675"/>
                          <a:pt x="2374314" y="2961199"/>
                          <a:pt x="2122348" y="2981775"/>
                        </a:cubicBezTo>
                        <a:cubicBezTo>
                          <a:pt x="1870382" y="3002351"/>
                          <a:pt x="1684305" y="2956072"/>
                          <a:pt x="1545908" y="2981775"/>
                        </a:cubicBezTo>
                        <a:cubicBezTo>
                          <a:pt x="1407511" y="3007478"/>
                          <a:pt x="1249578" y="3008758"/>
                          <a:pt x="969467" y="2981775"/>
                        </a:cubicBezTo>
                        <a:cubicBezTo>
                          <a:pt x="689356" y="2954792"/>
                          <a:pt x="253516" y="2940445"/>
                          <a:pt x="0" y="2981775"/>
                        </a:cubicBezTo>
                        <a:cubicBezTo>
                          <a:pt x="-15025" y="2680273"/>
                          <a:pt x="-22061" y="2543762"/>
                          <a:pt x="0" y="2355602"/>
                        </a:cubicBezTo>
                        <a:cubicBezTo>
                          <a:pt x="22061" y="2167442"/>
                          <a:pt x="8717" y="2044326"/>
                          <a:pt x="0" y="1789065"/>
                        </a:cubicBezTo>
                        <a:cubicBezTo>
                          <a:pt x="-8717" y="1533804"/>
                          <a:pt x="13192" y="1449856"/>
                          <a:pt x="0" y="1282163"/>
                        </a:cubicBezTo>
                        <a:cubicBezTo>
                          <a:pt x="-13192" y="1114470"/>
                          <a:pt x="-10412" y="867230"/>
                          <a:pt x="0" y="715626"/>
                        </a:cubicBezTo>
                        <a:cubicBezTo>
                          <a:pt x="10412" y="564022"/>
                          <a:pt x="18138" y="250811"/>
                          <a:pt x="0" y="0"/>
                        </a:cubicBezTo>
                        <a:close/>
                      </a:path>
                      <a:path w="7860547" h="2981775" stroke="0" extrusionOk="0">
                        <a:moveTo>
                          <a:pt x="0" y="0"/>
                        </a:moveTo>
                        <a:cubicBezTo>
                          <a:pt x="152338" y="-16455"/>
                          <a:pt x="327218" y="2669"/>
                          <a:pt x="576440" y="0"/>
                        </a:cubicBezTo>
                        <a:cubicBezTo>
                          <a:pt x="825662" y="-2669"/>
                          <a:pt x="810733" y="-9418"/>
                          <a:pt x="995669" y="0"/>
                        </a:cubicBezTo>
                        <a:cubicBezTo>
                          <a:pt x="1180605" y="9418"/>
                          <a:pt x="1575051" y="10451"/>
                          <a:pt x="1807926" y="0"/>
                        </a:cubicBezTo>
                        <a:cubicBezTo>
                          <a:pt x="2040801" y="-10451"/>
                          <a:pt x="2262314" y="-3149"/>
                          <a:pt x="2384366" y="0"/>
                        </a:cubicBezTo>
                        <a:cubicBezTo>
                          <a:pt x="2506418" y="3149"/>
                          <a:pt x="2707808" y="5271"/>
                          <a:pt x="2960806" y="0"/>
                        </a:cubicBezTo>
                        <a:cubicBezTo>
                          <a:pt x="3213804" y="-5271"/>
                          <a:pt x="3596356" y="-22101"/>
                          <a:pt x="3773063" y="0"/>
                        </a:cubicBezTo>
                        <a:cubicBezTo>
                          <a:pt x="3949770" y="22101"/>
                          <a:pt x="4167573" y="23159"/>
                          <a:pt x="4270897" y="0"/>
                        </a:cubicBezTo>
                        <a:cubicBezTo>
                          <a:pt x="4374221" y="-23159"/>
                          <a:pt x="4832613" y="36248"/>
                          <a:pt x="5083154" y="0"/>
                        </a:cubicBezTo>
                        <a:cubicBezTo>
                          <a:pt x="5333695" y="-36248"/>
                          <a:pt x="5662063" y="-25081"/>
                          <a:pt x="5895410" y="0"/>
                        </a:cubicBezTo>
                        <a:cubicBezTo>
                          <a:pt x="6128757" y="25081"/>
                          <a:pt x="6344959" y="22125"/>
                          <a:pt x="6550456" y="0"/>
                        </a:cubicBezTo>
                        <a:cubicBezTo>
                          <a:pt x="6755953" y="-22125"/>
                          <a:pt x="7526392" y="30738"/>
                          <a:pt x="7860547" y="0"/>
                        </a:cubicBezTo>
                        <a:cubicBezTo>
                          <a:pt x="7855581" y="127077"/>
                          <a:pt x="7846238" y="423559"/>
                          <a:pt x="7860547" y="566537"/>
                        </a:cubicBezTo>
                        <a:cubicBezTo>
                          <a:pt x="7874856" y="709515"/>
                          <a:pt x="7875601" y="949003"/>
                          <a:pt x="7860547" y="1073439"/>
                        </a:cubicBezTo>
                        <a:cubicBezTo>
                          <a:pt x="7845493" y="1197875"/>
                          <a:pt x="7855791" y="1459306"/>
                          <a:pt x="7860547" y="1669794"/>
                        </a:cubicBezTo>
                        <a:cubicBezTo>
                          <a:pt x="7865303" y="1880283"/>
                          <a:pt x="7848622" y="2091793"/>
                          <a:pt x="7860547" y="2266149"/>
                        </a:cubicBezTo>
                        <a:cubicBezTo>
                          <a:pt x="7872472" y="2440506"/>
                          <a:pt x="7861762" y="2696987"/>
                          <a:pt x="7860547" y="2981775"/>
                        </a:cubicBezTo>
                        <a:cubicBezTo>
                          <a:pt x="7703235" y="2989973"/>
                          <a:pt x="7462043" y="2987747"/>
                          <a:pt x="7126896" y="2981775"/>
                        </a:cubicBezTo>
                        <a:cubicBezTo>
                          <a:pt x="6791749" y="2975803"/>
                          <a:pt x="6733402" y="2998621"/>
                          <a:pt x="6471850" y="2981775"/>
                        </a:cubicBezTo>
                        <a:cubicBezTo>
                          <a:pt x="6210298" y="2964929"/>
                          <a:pt x="6156843" y="2988956"/>
                          <a:pt x="6052621" y="2981775"/>
                        </a:cubicBezTo>
                        <a:cubicBezTo>
                          <a:pt x="5948399" y="2974594"/>
                          <a:pt x="5744367" y="2962782"/>
                          <a:pt x="5554787" y="2981775"/>
                        </a:cubicBezTo>
                        <a:cubicBezTo>
                          <a:pt x="5365207" y="3000768"/>
                          <a:pt x="5109638" y="2970010"/>
                          <a:pt x="4742530" y="2981775"/>
                        </a:cubicBezTo>
                        <a:cubicBezTo>
                          <a:pt x="4375422" y="2993540"/>
                          <a:pt x="4260865" y="2949369"/>
                          <a:pt x="4087484" y="2981775"/>
                        </a:cubicBezTo>
                        <a:cubicBezTo>
                          <a:pt x="3914103" y="3014181"/>
                          <a:pt x="3699620" y="2969263"/>
                          <a:pt x="3589650" y="2981775"/>
                        </a:cubicBezTo>
                        <a:cubicBezTo>
                          <a:pt x="3479680" y="2994287"/>
                          <a:pt x="3096147" y="3007883"/>
                          <a:pt x="2934604" y="2981775"/>
                        </a:cubicBezTo>
                        <a:cubicBezTo>
                          <a:pt x="2773061" y="2955667"/>
                          <a:pt x="2616991" y="2961075"/>
                          <a:pt x="2515375" y="2981775"/>
                        </a:cubicBezTo>
                        <a:cubicBezTo>
                          <a:pt x="2413759" y="3002475"/>
                          <a:pt x="2206235" y="2976555"/>
                          <a:pt x="2096146" y="2981775"/>
                        </a:cubicBezTo>
                        <a:cubicBezTo>
                          <a:pt x="1986057" y="2986995"/>
                          <a:pt x="1675679" y="2949253"/>
                          <a:pt x="1441100" y="2981775"/>
                        </a:cubicBezTo>
                        <a:cubicBezTo>
                          <a:pt x="1206521" y="3014297"/>
                          <a:pt x="1145500" y="2963899"/>
                          <a:pt x="943266" y="2981775"/>
                        </a:cubicBezTo>
                        <a:cubicBezTo>
                          <a:pt x="741032" y="2999651"/>
                          <a:pt x="420741" y="3007769"/>
                          <a:pt x="0" y="2981775"/>
                        </a:cubicBezTo>
                        <a:cubicBezTo>
                          <a:pt x="3311" y="2771758"/>
                          <a:pt x="4929" y="2619711"/>
                          <a:pt x="0" y="2445056"/>
                        </a:cubicBezTo>
                        <a:cubicBezTo>
                          <a:pt x="-4929" y="2270401"/>
                          <a:pt x="-17898" y="2084327"/>
                          <a:pt x="0" y="1938154"/>
                        </a:cubicBezTo>
                        <a:cubicBezTo>
                          <a:pt x="17898" y="1791981"/>
                          <a:pt x="-581" y="1446671"/>
                          <a:pt x="0" y="1311981"/>
                        </a:cubicBezTo>
                        <a:cubicBezTo>
                          <a:pt x="581" y="1177291"/>
                          <a:pt x="-14028" y="992834"/>
                          <a:pt x="0" y="775261"/>
                        </a:cubicBezTo>
                        <a:cubicBezTo>
                          <a:pt x="14028" y="557688"/>
                          <a:pt x="-31925" y="314458"/>
                          <a:pt x="0" y="0"/>
                        </a:cubicBezTo>
                        <a:close/>
                      </a:path>
                    </a:pathLst>
                  </a:custGeom>
                  <ask:type>
                    <ask:lineSketchNone/>
                  </ask:type>
                </ask:lineSketchStyleProps>
              </a:ext>
            </a:extLst>
          </a:ln>
          <a:effectLst>
            <a:softEdge rad="0"/>
          </a:effectLst>
        </p:spPr>
      </p:pic>
      <p:pic>
        <p:nvPicPr>
          <p:cNvPr id="2" name="Graphique 1" descr="Raisins contour">
            <a:extLst>
              <a:ext uri="{FF2B5EF4-FFF2-40B4-BE49-F238E27FC236}">
                <a16:creationId xmlns:a16="http://schemas.microsoft.com/office/drawing/2014/main" id="{AFED5F7E-DE85-C6BA-2608-E64159B6C543}"/>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7587375" y="337250"/>
            <a:ext cx="661100" cy="661100"/>
          </a:xfrm>
          <a:prstGeom prst="rect">
            <a:avLst/>
          </a:prstGeom>
        </p:spPr>
      </p:pic>
    </p:spTree>
    <p:extLst>
      <p:ext uri="{BB962C8B-B14F-4D97-AF65-F5344CB8AC3E}">
        <p14:creationId xmlns:p14="http://schemas.microsoft.com/office/powerpoint/2010/main" val="28176131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0">
          <a:extLst>
            <a:ext uri="{FF2B5EF4-FFF2-40B4-BE49-F238E27FC236}">
              <a16:creationId xmlns:a16="http://schemas.microsoft.com/office/drawing/2014/main" id="{CEEAA681-7D94-6006-FE78-FE257A296430}"/>
            </a:ext>
          </a:extLst>
        </p:cNvPr>
        <p:cNvGrpSpPr/>
        <p:nvPr/>
      </p:nvGrpSpPr>
      <p:grpSpPr>
        <a:xfrm>
          <a:off x="0" y="0"/>
          <a:ext cx="0" cy="0"/>
          <a:chOff x="0" y="0"/>
          <a:chExt cx="0" cy="0"/>
        </a:xfrm>
      </p:grpSpPr>
      <p:sp>
        <p:nvSpPr>
          <p:cNvPr id="72" name="Google Shape;72;p5">
            <a:extLst>
              <a:ext uri="{FF2B5EF4-FFF2-40B4-BE49-F238E27FC236}">
                <a16:creationId xmlns:a16="http://schemas.microsoft.com/office/drawing/2014/main" id="{6CADFE45-F16E-0448-DED0-5C2A68290895}"/>
              </a:ext>
            </a:extLst>
          </p:cNvPr>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 name="Google Shape;73;p5">
            <a:extLst>
              <a:ext uri="{FF2B5EF4-FFF2-40B4-BE49-F238E27FC236}">
                <a16:creationId xmlns:a16="http://schemas.microsoft.com/office/drawing/2014/main" id="{4AFC2CD3-75A1-5E2B-3918-45C6F799353E}"/>
              </a:ext>
            </a:extLst>
          </p:cNvPr>
          <p:cNvSpPr txBox="1"/>
          <p:nvPr/>
        </p:nvSpPr>
        <p:spPr>
          <a:xfrm>
            <a:off x="895525" y="337250"/>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dirty="0">
                <a:solidFill>
                  <a:srgbClr val="F3F3F3"/>
                </a:solidFill>
                <a:latin typeface="Lato Semibold" panose="020F0502020204030203" pitchFamily="34" charset="0"/>
                <a:ea typeface="Lato Semibold" panose="020F0502020204030203" pitchFamily="34" charset="0"/>
                <a:cs typeface="Lato Semibold" panose="020F0502020204030203" pitchFamily="34" charset="0"/>
                <a:sym typeface="Montserrat"/>
              </a:rPr>
              <a:t>Fusion ou consolidations des données</a:t>
            </a:r>
            <a:endParaRPr sz="2500" b="0" i="0" u="none" strike="noStrike" cap="none" dirty="0">
              <a:solidFill>
                <a:srgbClr val="F3F3F3"/>
              </a:solidFill>
              <a:latin typeface="Lato Semibold" panose="020F0502020204030203" pitchFamily="34" charset="0"/>
              <a:ea typeface="Lato Semibold" panose="020F0502020204030203" pitchFamily="34" charset="0"/>
              <a:cs typeface="Lato Semibold" panose="020F0502020204030203" pitchFamily="34" charset="0"/>
              <a:sym typeface="Montserrat"/>
            </a:endParaRPr>
          </a:p>
        </p:txBody>
      </p:sp>
      <p:sp>
        <p:nvSpPr>
          <p:cNvPr id="74" name="Google Shape;74;p5">
            <a:extLst>
              <a:ext uri="{FF2B5EF4-FFF2-40B4-BE49-F238E27FC236}">
                <a16:creationId xmlns:a16="http://schemas.microsoft.com/office/drawing/2014/main" id="{8F19A723-D776-9CDA-C7B4-68698F62ECD3}"/>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 name="Google Shape;63;p4">
            <a:extLst>
              <a:ext uri="{FF2B5EF4-FFF2-40B4-BE49-F238E27FC236}">
                <a16:creationId xmlns:a16="http://schemas.microsoft.com/office/drawing/2014/main" id="{7F41AC66-6B29-58A5-E1B0-3E40F4846E5D}"/>
              </a:ext>
            </a:extLst>
          </p:cNvPr>
          <p:cNvSpPr txBox="1">
            <a:spLocks/>
          </p:cNvSpPr>
          <p:nvPr/>
        </p:nvSpPr>
        <p:spPr>
          <a:xfrm>
            <a:off x="914400" y="1473600"/>
            <a:ext cx="8012512" cy="311745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14300" indent="0">
              <a:lnSpc>
                <a:spcPct val="150000"/>
              </a:lnSpc>
              <a:buClr>
                <a:srgbClr val="999999"/>
              </a:buClr>
              <a:buNone/>
            </a:pPr>
            <a:r>
              <a:rPr lang="fr" sz="2000" dirty="0">
                <a:solidFill>
                  <a:schemeClr val="tx1"/>
                </a:solidFill>
                <a:latin typeface="Lato Light" panose="020F0502020204030203" pitchFamily="34" charset="0"/>
                <a:ea typeface="Montserrat"/>
                <a:cs typeface="Lato Light" panose="020F0502020204030203" pitchFamily="34" charset="0"/>
                <a:sym typeface="Montserrat"/>
              </a:rPr>
              <a:t>	</a:t>
            </a:r>
            <a:r>
              <a:rPr lang="fr-FR" sz="2000" dirty="0">
                <a:solidFill>
                  <a:srgbClr val="004D40"/>
                </a:solidFill>
                <a:latin typeface="Lato" panose="020F0502020204030203" pitchFamily="34" charset="0"/>
                <a:ea typeface="Montserrat"/>
                <a:cs typeface="Lato" panose="020F0502020204030203" pitchFamily="34" charset="0"/>
                <a:sym typeface="Montserrat"/>
              </a:rPr>
              <a:t>Vigilances particulières au cours du traitements </a:t>
            </a:r>
            <a:r>
              <a:rPr lang="fr" sz="2000" dirty="0">
                <a:solidFill>
                  <a:srgbClr val="004D40"/>
                </a:solidFill>
                <a:latin typeface="Lato" panose="020F0502020204030203" pitchFamily="34" charset="0"/>
                <a:ea typeface="Montserrat"/>
                <a:cs typeface="Lato" panose="020F0502020204030203" pitchFamily="34" charset="0"/>
                <a:sym typeface="Montserrat"/>
              </a:rPr>
              <a:t>: </a:t>
            </a:r>
          </a:p>
          <a:p>
            <a:pPr>
              <a:lnSpc>
                <a:spcPct val="150000"/>
              </a:lnSpc>
              <a:buClr>
                <a:srgbClr val="800020"/>
              </a:buClr>
              <a:buSzPct val="90000"/>
            </a:pPr>
            <a:r>
              <a:rPr lang="fr-FR" dirty="0">
                <a:solidFill>
                  <a:schemeClr val="tx1"/>
                </a:solidFill>
                <a:latin typeface="Lato Light" panose="020F0502020204030203" pitchFamily="34" charset="0"/>
                <a:ea typeface="Montserrat"/>
                <a:cs typeface="Lato Light" panose="020F0502020204030203" pitchFamily="34" charset="0"/>
                <a:sym typeface="Montserrat"/>
              </a:rPr>
              <a:t>Contrôle ERP ↔ Liaison : 100% des données conservées (825 lignes)</a:t>
            </a:r>
          </a:p>
          <a:p>
            <a:pPr>
              <a:buClr>
                <a:srgbClr val="800020"/>
              </a:buClr>
              <a:buSzPct val="90000"/>
            </a:pPr>
            <a:r>
              <a:rPr lang="fr-FR" dirty="0">
                <a:solidFill>
                  <a:schemeClr val="tx1"/>
                </a:solidFill>
                <a:latin typeface="Lato Light" panose="020F0502020204030203" pitchFamily="34" charset="0"/>
                <a:ea typeface="Montserrat"/>
                <a:cs typeface="Lato Light" panose="020F0502020204030203" pitchFamily="34" charset="0"/>
                <a:sym typeface="Montserrat"/>
              </a:rPr>
              <a:t>Fusion Web (</a:t>
            </a:r>
            <a:r>
              <a:rPr lang="fr-FR" dirty="0" err="1">
                <a:solidFill>
                  <a:schemeClr val="tx1"/>
                </a:solidFill>
                <a:latin typeface="Lato Light" panose="020F0502020204030203" pitchFamily="34" charset="0"/>
                <a:ea typeface="Montserrat"/>
                <a:cs typeface="Lato Light" panose="020F0502020204030203" pitchFamily="34" charset="0"/>
                <a:sym typeface="Montserrat"/>
              </a:rPr>
              <a:t>Inner</a:t>
            </a:r>
            <a:r>
              <a:rPr lang="fr-FR" dirty="0">
                <a:solidFill>
                  <a:schemeClr val="tx1"/>
                </a:solidFill>
                <a:latin typeface="Lato Light" panose="020F0502020204030203" pitchFamily="34" charset="0"/>
                <a:ea typeface="Montserrat"/>
                <a:cs typeface="Lato Light" panose="020F0502020204030203" pitchFamily="34" charset="0"/>
                <a:sym typeface="Montserrat"/>
              </a:rPr>
              <a:t> </a:t>
            </a:r>
            <a:r>
              <a:rPr lang="fr-FR" dirty="0" err="1">
                <a:solidFill>
                  <a:schemeClr val="tx1"/>
                </a:solidFill>
                <a:latin typeface="Lato Light" panose="020F0502020204030203" pitchFamily="34" charset="0"/>
                <a:ea typeface="Montserrat"/>
                <a:cs typeface="Lato Light" panose="020F0502020204030203" pitchFamily="34" charset="0"/>
                <a:sym typeface="Montserrat"/>
              </a:rPr>
              <a:t>Join</a:t>
            </a:r>
            <a:r>
              <a:rPr lang="fr-FR" dirty="0">
                <a:solidFill>
                  <a:schemeClr val="tx1"/>
                </a:solidFill>
                <a:latin typeface="Lato Light" panose="020F0502020204030203" pitchFamily="34" charset="0"/>
                <a:ea typeface="Montserrat"/>
                <a:cs typeface="Lato Light" panose="020F0502020204030203" pitchFamily="34" charset="0"/>
                <a:sym typeface="Montserrat"/>
              </a:rPr>
              <a:t>) : Passage à 714 lignes</a:t>
            </a:r>
          </a:p>
          <a:p>
            <a:pPr lvl="1">
              <a:buClr>
                <a:srgbClr val="800020"/>
              </a:buClr>
              <a:buSzPct val="90000"/>
            </a:pPr>
            <a:r>
              <a:rPr lang="fr-FR" dirty="0">
                <a:solidFill>
                  <a:schemeClr val="tx1"/>
                </a:solidFill>
                <a:latin typeface="Lato Light" panose="020F0502020204030203" pitchFamily="34" charset="0"/>
                <a:ea typeface="Montserrat"/>
                <a:cs typeface="Lato Light" panose="020F0502020204030203" pitchFamily="34" charset="0"/>
                <a:sym typeface="Montserrat"/>
              </a:rPr>
              <a:t>Focus exclusif sur les produits référencés en ligne</a:t>
            </a:r>
          </a:p>
          <a:p>
            <a:pPr>
              <a:buClr>
                <a:srgbClr val="800020"/>
              </a:buClr>
              <a:buSzPct val="90000"/>
            </a:pPr>
            <a:r>
              <a:rPr lang="fr-FR" dirty="0">
                <a:solidFill>
                  <a:schemeClr val="tx1"/>
                </a:solidFill>
                <a:latin typeface="Lato Light" panose="020F0502020204030203" pitchFamily="34" charset="0"/>
                <a:ea typeface="Montserrat"/>
                <a:cs typeface="Lato Light" panose="020F0502020204030203" pitchFamily="34" charset="0"/>
                <a:sym typeface="Montserrat"/>
              </a:rPr>
              <a:t>Alerte Stock Dormant : Produit ID 4200 (33 unités)</a:t>
            </a:r>
          </a:p>
          <a:p>
            <a:pPr lvl="1">
              <a:buClr>
                <a:srgbClr val="800020"/>
              </a:buClr>
              <a:buSzPct val="90000"/>
            </a:pPr>
            <a:r>
              <a:rPr lang="fr-FR" dirty="0">
                <a:solidFill>
                  <a:schemeClr val="tx1"/>
                </a:solidFill>
                <a:latin typeface="Lato Light" panose="020F0502020204030203" pitchFamily="34" charset="0"/>
                <a:ea typeface="Montserrat"/>
                <a:cs typeface="Lato Light" panose="020F0502020204030203" pitchFamily="34" charset="0"/>
                <a:sym typeface="Montserrat"/>
              </a:rPr>
              <a:t>Anomalie : Stock présent mais article non commercialisé sur le web</a:t>
            </a:r>
          </a:p>
        </p:txBody>
      </p:sp>
      <p:pic>
        <p:nvPicPr>
          <p:cNvPr id="5" name="Graphique 4" descr="Sirène contour">
            <a:extLst>
              <a:ext uri="{FF2B5EF4-FFF2-40B4-BE49-F238E27FC236}">
                <a16:creationId xmlns:a16="http://schemas.microsoft.com/office/drawing/2014/main" id="{20BD8C65-9A35-969A-9F86-CB524C6A475E}"/>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464875" y="2070398"/>
            <a:ext cx="387052" cy="387052"/>
          </a:xfrm>
          <a:prstGeom prst="rect">
            <a:avLst/>
          </a:prstGeom>
        </p:spPr>
      </p:pic>
      <p:pic>
        <p:nvPicPr>
          <p:cNvPr id="2" name="Graphique 1" descr="Raisins contour">
            <a:extLst>
              <a:ext uri="{FF2B5EF4-FFF2-40B4-BE49-F238E27FC236}">
                <a16:creationId xmlns:a16="http://schemas.microsoft.com/office/drawing/2014/main" id="{1AF889CF-E8E1-FFED-2082-BA75C69F6735}"/>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7587375" y="337250"/>
            <a:ext cx="661100" cy="661100"/>
          </a:xfrm>
          <a:prstGeom prst="rect">
            <a:avLst/>
          </a:prstGeom>
        </p:spPr>
      </p:pic>
    </p:spTree>
    <p:extLst>
      <p:ext uri="{BB962C8B-B14F-4D97-AF65-F5344CB8AC3E}">
        <p14:creationId xmlns:p14="http://schemas.microsoft.com/office/powerpoint/2010/main" val="19908789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8">
          <a:extLst>
            <a:ext uri="{FF2B5EF4-FFF2-40B4-BE49-F238E27FC236}">
              <a16:creationId xmlns:a16="http://schemas.microsoft.com/office/drawing/2014/main" id="{D5735F39-33A3-166B-FA13-53B5E03DCD15}"/>
            </a:ext>
          </a:extLst>
        </p:cNvPr>
        <p:cNvGrpSpPr/>
        <p:nvPr/>
      </p:nvGrpSpPr>
      <p:grpSpPr>
        <a:xfrm>
          <a:off x="0" y="0"/>
          <a:ext cx="0" cy="0"/>
          <a:chOff x="0" y="0"/>
          <a:chExt cx="0" cy="0"/>
        </a:xfrm>
      </p:grpSpPr>
      <p:sp>
        <p:nvSpPr>
          <p:cNvPr id="80" name="Google Shape;80;p6">
            <a:extLst>
              <a:ext uri="{FF2B5EF4-FFF2-40B4-BE49-F238E27FC236}">
                <a16:creationId xmlns:a16="http://schemas.microsoft.com/office/drawing/2014/main" id="{41256D0A-F88B-A9DC-3029-F784FD927B5A}"/>
              </a:ext>
            </a:extLst>
          </p:cNvPr>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4D40"/>
              </a:solidFill>
              <a:latin typeface="Arial"/>
              <a:ea typeface="Arial"/>
              <a:cs typeface="Arial"/>
              <a:sym typeface="Arial"/>
            </a:endParaRPr>
          </a:p>
        </p:txBody>
      </p:sp>
      <p:sp>
        <p:nvSpPr>
          <p:cNvPr id="81" name="Google Shape;81;p6">
            <a:extLst>
              <a:ext uri="{FF2B5EF4-FFF2-40B4-BE49-F238E27FC236}">
                <a16:creationId xmlns:a16="http://schemas.microsoft.com/office/drawing/2014/main" id="{891D4808-BE9B-C930-7C62-7841D5D5D88A}"/>
              </a:ext>
            </a:extLst>
          </p:cNvPr>
          <p:cNvSpPr txBox="1"/>
          <p:nvPr/>
        </p:nvSpPr>
        <p:spPr>
          <a:xfrm>
            <a:off x="895525" y="337250"/>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dirty="0">
                <a:solidFill>
                  <a:srgbClr val="F3F3F3"/>
                </a:solidFill>
                <a:latin typeface="Lato Semibold" panose="020F0502020204030203" pitchFamily="34" charset="0"/>
                <a:ea typeface="Lato Semibold" panose="020F0502020204030203" pitchFamily="34" charset="0"/>
                <a:cs typeface="Lato Semibold" panose="020F0502020204030203" pitchFamily="34" charset="0"/>
                <a:sym typeface="Montserrat"/>
              </a:rPr>
              <a:t>Analyses univariées du prix</a:t>
            </a:r>
            <a:endParaRPr sz="2500" b="0" i="0" u="none" strike="noStrike" cap="none" dirty="0">
              <a:solidFill>
                <a:srgbClr val="F3F3F3"/>
              </a:solidFill>
              <a:latin typeface="Lato Semibold" panose="020F0502020204030203" pitchFamily="34" charset="0"/>
              <a:ea typeface="Lato Semibold" panose="020F0502020204030203" pitchFamily="34" charset="0"/>
              <a:cs typeface="Lato Semibold" panose="020F0502020204030203" pitchFamily="34" charset="0"/>
              <a:sym typeface="Montserrat"/>
            </a:endParaRPr>
          </a:p>
        </p:txBody>
      </p:sp>
      <p:sp>
        <p:nvSpPr>
          <p:cNvPr id="82" name="Google Shape;82;p6">
            <a:extLst>
              <a:ext uri="{FF2B5EF4-FFF2-40B4-BE49-F238E27FC236}">
                <a16:creationId xmlns:a16="http://schemas.microsoft.com/office/drawing/2014/main" id="{2DC24B56-365A-1C37-B203-03A221CEE8CE}"/>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 name="Google Shape;63;p4">
            <a:extLst>
              <a:ext uri="{FF2B5EF4-FFF2-40B4-BE49-F238E27FC236}">
                <a16:creationId xmlns:a16="http://schemas.microsoft.com/office/drawing/2014/main" id="{BA1F3B94-23B2-AA6C-4B80-C07862214788}"/>
              </a:ext>
            </a:extLst>
          </p:cNvPr>
          <p:cNvSpPr txBox="1">
            <a:spLocks/>
          </p:cNvSpPr>
          <p:nvPr/>
        </p:nvSpPr>
        <p:spPr>
          <a:xfrm>
            <a:off x="914400" y="1390200"/>
            <a:ext cx="8012512" cy="341605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14300" indent="0">
              <a:buClr>
                <a:srgbClr val="800020"/>
              </a:buClr>
              <a:buNone/>
            </a:pPr>
            <a:r>
              <a:rPr lang="fr-FR" dirty="0">
                <a:solidFill>
                  <a:srgbClr val="004D40"/>
                </a:solidFill>
                <a:latin typeface="Lato" panose="020F0502020204030203" pitchFamily="34" charset="0"/>
                <a:ea typeface="Montserrat"/>
                <a:cs typeface="Lato" panose="020F0502020204030203" pitchFamily="34" charset="0"/>
                <a:sym typeface="Montserrat"/>
              </a:rPr>
              <a:t>Représentations graphiques de la répartition des prix :</a:t>
            </a:r>
            <a:endParaRPr lang="fr" dirty="0">
              <a:solidFill>
                <a:srgbClr val="004D40"/>
              </a:solidFill>
              <a:latin typeface="Lato" panose="020F0502020204030203" pitchFamily="34" charset="0"/>
              <a:ea typeface="Montserrat"/>
              <a:cs typeface="Lato" panose="020F0502020204030203" pitchFamily="34" charset="0"/>
              <a:sym typeface="Montserrat"/>
            </a:endParaRPr>
          </a:p>
          <a:p>
            <a:pPr marL="114300" indent="0">
              <a:buClr>
                <a:srgbClr val="800020"/>
              </a:buClr>
              <a:buSzPct val="90000"/>
              <a:buFont typeface="Arial"/>
              <a:buNone/>
            </a:pPr>
            <a:endParaRPr lang="fr-FR" dirty="0">
              <a:solidFill>
                <a:schemeClr val="tx1"/>
              </a:solidFill>
              <a:latin typeface="Lato Light" panose="020F0502020204030203" pitchFamily="34" charset="0"/>
              <a:ea typeface="Montserrat"/>
              <a:cs typeface="Lato Light" panose="020F0502020204030203" pitchFamily="34" charset="0"/>
              <a:sym typeface="Montserrat"/>
            </a:endParaRPr>
          </a:p>
        </p:txBody>
      </p:sp>
      <p:pic>
        <p:nvPicPr>
          <p:cNvPr id="6" name="Image 5" descr="Une image contenant capture d’écran, ligne, diagramme, Rectangle&#10;&#10;Le contenu généré par l’IA peut être incorrect.">
            <a:extLst>
              <a:ext uri="{FF2B5EF4-FFF2-40B4-BE49-F238E27FC236}">
                <a16:creationId xmlns:a16="http://schemas.microsoft.com/office/drawing/2014/main" id="{950F2CC5-3DB0-5E69-30CF-931B68D2A5C2}"/>
              </a:ext>
            </a:extLst>
          </p:cNvPr>
          <p:cNvPicPr>
            <a:picLocks noChangeAspect="1"/>
          </p:cNvPicPr>
          <p:nvPr/>
        </p:nvPicPr>
        <p:blipFill>
          <a:blip r:embed="rId3"/>
          <a:stretch>
            <a:fillRect/>
          </a:stretch>
        </p:blipFill>
        <p:spPr>
          <a:xfrm>
            <a:off x="217088" y="1905668"/>
            <a:ext cx="4932762" cy="1657837"/>
          </a:xfrm>
          <a:prstGeom prst="rect">
            <a:avLst/>
          </a:prstGeom>
          <a:ln w="12700">
            <a:solidFill>
              <a:srgbClr val="800020"/>
            </a:solidFill>
          </a:ln>
        </p:spPr>
      </p:pic>
      <p:pic>
        <p:nvPicPr>
          <p:cNvPr id="8" name="Image 7" descr="Une image contenant texte, ligne, capture d’écran, Tracé&#10;&#10;Le contenu généré par l’IA peut être incorrect.">
            <a:extLst>
              <a:ext uri="{FF2B5EF4-FFF2-40B4-BE49-F238E27FC236}">
                <a16:creationId xmlns:a16="http://schemas.microsoft.com/office/drawing/2014/main" id="{E1726A00-49E8-71BF-DD3D-9F03477A80C4}"/>
              </a:ext>
            </a:extLst>
          </p:cNvPr>
          <p:cNvPicPr>
            <a:picLocks noChangeAspect="1"/>
          </p:cNvPicPr>
          <p:nvPr/>
        </p:nvPicPr>
        <p:blipFill>
          <a:blip r:embed="rId4"/>
          <a:stretch>
            <a:fillRect/>
          </a:stretch>
        </p:blipFill>
        <p:spPr>
          <a:xfrm>
            <a:off x="5270500" y="1905668"/>
            <a:ext cx="3656412" cy="2981185"/>
          </a:xfrm>
          <a:prstGeom prst="rect">
            <a:avLst/>
          </a:prstGeom>
          <a:ln w="12700">
            <a:solidFill>
              <a:srgbClr val="800020"/>
            </a:solidFill>
          </a:ln>
        </p:spPr>
      </p:pic>
      <p:sp>
        <p:nvSpPr>
          <p:cNvPr id="9" name="ZoneTexte 8">
            <a:extLst>
              <a:ext uri="{FF2B5EF4-FFF2-40B4-BE49-F238E27FC236}">
                <a16:creationId xmlns:a16="http://schemas.microsoft.com/office/drawing/2014/main" id="{44402DE8-8AA9-A20B-EDCA-BB47870EA8C5}"/>
              </a:ext>
            </a:extLst>
          </p:cNvPr>
          <p:cNvSpPr txBox="1"/>
          <p:nvPr/>
        </p:nvSpPr>
        <p:spPr>
          <a:xfrm>
            <a:off x="217088" y="3563506"/>
            <a:ext cx="4932762" cy="1330206"/>
          </a:xfrm>
          <a:prstGeom prst="rect">
            <a:avLst/>
          </a:prstGeom>
          <a:noFill/>
        </p:spPr>
        <p:txBody>
          <a:bodyPr wrap="square" rtlCol="0" anchor="ctr">
            <a:noAutofit/>
          </a:bodyPr>
          <a:lstStyle/>
          <a:p>
            <a:pPr marL="285750" indent="-285750">
              <a:buClr>
                <a:srgbClr val="800020"/>
              </a:buClr>
              <a:buSzPct val="90000"/>
              <a:buFont typeface="Arial" panose="020B0604020202020204" pitchFamily="34" charset="0"/>
              <a:buChar char="•"/>
            </a:pPr>
            <a:r>
              <a:rPr lang="fr-FR" sz="1300" dirty="0">
                <a:latin typeface="Lato Light" panose="020F0502020204030203" pitchFamily="34" charset="0"/>
                <a:cs typeface="Lato Light" panose="020F0502020204030203" pitchFamily="34" charset="0"/>
              </a:rPr>
              <a:t>Cœur de gamme : 50% du catalogue concentré entre 14€ et 42€, médiane 24€</a:t>
            </a:r>
          </a:p>
          <a:p>
            <a:pPr marL="285750" indent="-285750">
              <a:buClr>
                <a:srgbClr val="800020"/>
              </a:buClr>
              <a:buSzPct val="90000"/>
              <a:buFont typeface="Arial" panose="020B0604020202020204" pitchFamily="34" charset="0"/>
              <a:buChar char="•"/>
            </a:pPr>
            <a:r>
              <a:rPr lang="fr-FR" sz="1300" dirty="0">
                <a:latin typeface="Lato Light" panose="020F0502020204030203" pitchFamily="34" charset="0"/>
                <a:cs typeface="Lato Light" panose="020F0502020204030203" pitchFamily="34" charset="0"/>
              </a:rPr>
              <a:t>Positionnement : Un catalogue accessible avec une extension sur le segment "Prestige" (outliers jusqu'à 225€)</a:t>
            </a:r>
          </a:p>
          <a:p>
            <a:pPr marL="285750" indent="-285750">
              <a:buClr>
                <a:srgbClr val="800020"/>
              </a:buClr>
              <a:buSzPct val="90000"/>
              <a:buFont typeface="Arial" panose="020B0604020202020204" pitchFamily="34" charset="0"/>
              <a:buChar char="•"/>
            </a:pPr>
            <a:r>
              <a:rPr lang="fr-FR" sz="1300" dirty="0">
                <a:latin typeface="Lato Light" panose="020F0502020204030203" pitchFamily="34" charset="0"/>
                <a:cs typeface="Lato Light" panose="020F0502020204030203" pitchFamily="34" charset="0"/>
              </a:rPr>
              <a:t>Indice de Gini (0.40) : Distribution standard et cohérente pour le secteur</a:t>
            </a:r>
          </a:p>
        </p:txBody>
      </p:sp>
      <p:pic>
        <p:nvPicPr>
          <p:cNvPr id="13" name="Graphique 12" descr="Présentation avec camembert contour">
            <a:extLst>
              <a:ext uri="{FF2B5EF4-FFF2-40B4-BE49-F238E27FC236}">
                <a16:creationId xmlns:a16="http://schemas.microsoft.com/office/drawing/2014/main" id="{0894275D-ECB7-4530-99DF-F1373D2A8FB0}"/>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701999" y="1477661"/>
            <a:ext cx="387052" cy="387052"/>
          </a:xfrm>
          <a:prstGeom prst="rect">
            <a:avLst/>
          </a:prstGeom>
        </p:spPr>
      </p:pic>
      <p:pic>
        <p:nvPicPr>
          <p:cNvPr id="3" name="Graphique 2" descr="Raisins contour">
            <a:extLst>
              <a:ext uri="{FF2B5EF4-FFF2-40B4-BE49-F238E27FC236}">
                <a16:creationId xmlns:a16="http://schemas.microsoft.com/office/drawing/2014/main" id="{CC1B93A1-B281-DECA-EFBC-A71F05BD1BDE}"/>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7587375" y="337250"/>
            <a:ext cx="661100" cy="661100"/>
          </a:xfrm>
          <a:prstGeom prst="rect">
            <a:avLst/>
          </a:prstGeom>
        </p:spPr>
      </p:pic>
    </p:spTree>
    <p:extLst>
      <p:ext uri="{BB962C8B-B14F-4D97-AF65-F5344CB8AC3E}">
        <p14:creationId xmlns:p14="http://schemas.microsoft.com/office/powerpoint/2010/main" val="35264921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8">
          <a:extLst>
            <a:ext uri="{FF2B5EF4-FFF2-40B4-BE49-F238E27FC236}">
              <a16:creationId xmlns:a16="http://schemas.microsoft.com/office/drawing/2014/main" id="{84922BF5-84AA-089D-121B-DE72CC10FE12}"/>
            </a:ext>
          </a:extLst>
        </p:cNvPr>
        <p:cNvGrpSpPr/>
        <p:nvPr/>
      </p:nvGrpSpPr>
      <p:grpSpPr>
        <a:xfrm>
          <a:off x="0" y="0"/>
          <a:ext cx="0" cy="0"/>
          <a:chOff x="0" y="0"/>
          <a:chExt cx="0" cy="0"/>
        </a:xfrm>
      </p:grpSpPr>
      <p:sp>
        <p:nvSpPr>
          <p:cNvPr id="79" name="Google Shape;79;p6">
            <a:extLst>
              <a:ext uri="{FF2B5EF4-FFF2-40B4-BE49-F238E27FC236}">
                <a16:creationId xmlns:a16="http://schemas.microsoft.com/office/drawing/2014/main" id="{29545795-BA3C-E4DB-423E-9A3DD57519C7}"/>
              </a:ext>
            </a:extLst>
          </p:cNvPr>
          <p:cNvSpPr txBox="1">
            <a:spLocks noGrp="1"/>
          </p:cNvSpPr>
          <p:nvPr>
            <p:ph type="body" idx="1"/>
          </p:nvPr>
        </p:nvSpPr>
        <p:spPr>
          <a:xfrm>
            <a:off x="557278" y="1528606"/>
            <a:ext cx="8145563" cy="1848257"/>
          </a:xfrm>
          <a:prstGeom prst="rect">
            <a:avLst/>
          </a:prstGeom>
          <a:noFill/>
          <a:ln>
            <a:noFill/>
          </a:ln>
        </p:spPr>
        <p:txBody>
          <a:bodyPr spcFirstLastPara="1" wrap="square" lIns="91425" tIns="91425" rIns="91425" bIns="91425" anchor="t" anchorCtr="0">
            <a:normAutofit/>
          </a:bodyPr>
          <a:lstStyle/>
          <a:p>
            <a:pPr marL="457200" marR="0" lvl="0" indent="-342900" algn="l" rtl="0">
              <a:lnSpc>
                <a:spcPct val="115000"/>
              </a:lnSpc>
              <a:spcBef>
                <a:spcPts val="0"/>
              </a:spcBef>
              <a:spcAft>
                <a:spcPts val="0"/>
              </a:spcAft>
              <a:buClr>
                <a:srgbClr val="800020"/>
              </a:buClr>
              <a:buSzPct val="90000"/>
              <a:buFont typeface="Montserrat"/>
              <a:buChar char="●"/>
            </a:pPr>
            <a:r>
              <a:rPr lang="fr" dirty="0">
                <a:solidFill>
                  <a:srgbClr val="004D40"/>
                </a:solidFill>
                <a:latin typeface="Lato" panose="020F0502020204030203" pitchFamily="34" charset="0"/>
                <a:cs typeface="Lato" panose="020F0502020204030203" pitchFamily="34" charset="0"/>
                <a:sym typeface="Montserrat"/>
              </a:rPr>
              <a:t>Méthodes</a:t>
            </a:r>
            <a:r>
              <a:rPr lang="fr" dirty="0">
                <a:solidFill>
                  <a:srgbClr val="004D40"/>
                </a:solidFill>
                <a:latin typeface="Lato" panose="020F0502020204030203" pitchFamily="34" charset="0"/>
                <a:ea typeface="Montserrat"/>
                <a:cs typeface="Lato" panose="020F0502020204030203" pitchFamily="34" charset="0"/>
                <a:sym typeface="Montserrat"/>
              </a:rPr>
              <a:t> statistiques employés :</a:t>
            </a:r>
          </a:p>
          <a:p>
            <a:pPr lvl="1" indent="-342900">
              <a:buClr>
                <a:srgbClr val="800020"/>
              </a:buClr>
              <a:buSzPct val="90000"/>
              <a:buFont typeface="Courier New" panose="02070309020205020404" pitchFamily="49" charset="0"/>
              <a:buChar char="o"/>
            </a:pPr>
            <a:r>
              <a:rPr lang="fr-FR" dirty="0">
                <a:solidFill>
                  <a:schemeClr val="tx1"/>
                </a:solidFill>
                <a:latin typeface="Lato Light" panose="020F0502020204030203" pitchFamily="34" charset="0"/>
                <a:ea typeface="Montserrat"/>
                <a:cs typeface="Lato Light" panose="020F0502020204030203" pitchFamily="34" charset="0"/>
                <a:sym typeface="Montserrat"/>
              </a:rPr>
              <a:t>Interquartile (IQR) : Délimitation du cœur de gamme et de la longue traîne</a:t>
            </a:r>
          </a:p>
          <a:p>
            <a:pPr lvl="1" indent="-342900">
              <a:buClr>
                <a:srgbClr val="800020"/>
              </a:buClr>
              <a:buSzPct val="90000"/>
              <a:buFont typeface="Courier New" panose="02070309020205020404" pitchFamily="49" charset="0"/>
              <a:buChar char="o"/>
            </a:pPr>
            <a:r>
              <a:rPr lang="fr-FR" dirty="0">
                <a:solidFill>
                  <a:schemeClr val="tx1"/>
                </a:solidFill>
                <a:latin typeface="Lato Light" panose="020F0502020204030203" pitchFamily="34" charset="0"/>
                <a:ea typeface="Montserrat"/>
                <a:cs typeface="Lato Light" panose="020F0502020204030203" pitchFamily="34" charset="0"/>
                <a:sym typeface="Montserrat"/>
              </a:rPr>
              <a:t>Z score : Confirmation statistique du segment « Prestige »</a:t>
            </a:r>
          </a:p>
          <a:p>
            <a:pPr>
              <a:buClr>
                <a:srgbClr val="800020"/>
              </a:buClr>
              <a:buSzPct val="90000"/>
              <a:buFont typeface="Montserrat"/>
              <a:buChar char="●"/>
            </a:pPr>
            <a:r>
              <a:rPr lang="fr-FR" dirty="0">
                <a:solidFill>
                  <a:srgbClr val="004D40"/>
                </a:solidFill>
                <a:latin typeface="Lato" panose="020F0502020204030203" pitchFamily="34" charset="0"/>
                <a:cs typeface="Lato" panose="020F0502020204030203" pitchFamily="34" charset="0"/>
                <a:sym typeface="Montserrat"/>
              </a:rPr>
              <a:t>Limites et vérifications :</a:t>
            </a:r>
          </a:p>
          <a:p>
            <a:pPr lvl="1" indent="-342900">
              <a:buClr>
                <a:srgbClr val="800020"/>
              </a:buClr>
              <a:buSzPct val="90000"/>
              <a:buFont typeface="Courier New" panose="02070309020205020404" pitchFamily="49" charset="0"/>
              <a:buChar char="o"/>
            </a:pPr>
            <a:r>
              <a:rPr lang="fr-FR" dirty="0">
                <a:solidFill>
                  <a:schemeClr val="tx1"/>
                </a:solidFill>
                <a:latin typeface="Lato Light" panose="020F0502020204030203" pitchFamily="34" charset="0"/>
                <a:cs typeface="Lato Light" panose="020F0502020204030203" pitchFamily="34" charset="0"/>
                <a:sym typeface="Montserrat"/>
              </a:rPr>
              <a:t>Validation Métier : Analyse qualitative des outliers confirmant l'absence d'erreurs de saisie (ex: Grands Crus, Spiritueux)</a:t>
            </a:r>
            <a:endParaRPr dirty="0">
              <a:solidFill>
                <a:schemeClr val="tx1"/>
              </a:solidFill>
              <a:latin typeface="Lato Light" panose="020F0502020204030203" pitchFamily="34" charset="0"/>
              <a:cs typeface="Lato Light" panose="020F0502020204030203" pitchFamily="34" charset="0"/>
              <a:sym typeface="Montserrat"/>
            </a:endParaRPr>
          </a:p>
        </p:txBody>
      </p:sp>
      <p:sp>
        <p:nvSpPr>
          <p:cNvPr id="80" name="Google Shape;80;p6">
            <a:extLst>
              <a:ext uri="{FF2B5EF4-FFF2-40B4-BE49-F238E27FC236}">
                <a16:creationId xmlns:a16="http://schemas.microsoft.com/office/drawing/2014/main" id="{32B40741-CA41-B804-C81D-50F7C1BA40C9}"/>
              </a:ext>
            </a:extLst>
          </p:cNvPr>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4D40"/>
              </a:solidFill>
              <a:latin typeface="Arial"/>
              <a:ea typeface="Arial"/>
              <a:cs typeface="Arial"/>
              <a:sym typeface="Arial"/>
            </a:endParaRPr>
          </a:p>
        </p:txBody>
      </p:sp>
      <p:sp>
        <p:nvSpPr>
          <p:cNvPr id="81" name="Google Shape;81;p6">
            <a:extLst>
              <a:ext uri="{FF2B5EF4-FFF2-40B4-BE49-F238E27FC236}">
                <a16:creationId xmlns:a16="http://schemas.microsoft.com/office/drawing/2014/main" id="{E920279F-9ADE-D3C3-DEBD-69F54BD5A608}"/>
              </a:ext>
            </a:extLst>
          </p:cNvPr>
          <p:cNvSpPr txBox="1"/>
          <p:nvPr/>
        </p:nvSpPr>
        <p:spPr>
          <a:xfrm>
            <a:off x="895525" y="337250"/>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dirty="0">
                <a:solidFill>
                  <a:srgbClr val="F3F3F3"/>
                </a:solidFill>
                <a:latin typeface="Lato Semibold" panose="020F0502020204030203" pitchFamily="34" charset="0"/>
                <a:ea typeface="Lato Semibold" panose="020F0502020204030203" pitchFamily="34" charset="0"/>
                <a:cs typeface="Lato Semibold" panose="020F0502020204030203" pitchFamily="34" charset="0"/>
                <a:sym typeface="Montserrat"/>
              </a:rPr>
              <a:t>Analyses univariées du prix</a:t>
            </a:r>
            <a:endParaRPr sz="2500" b="0" i="0" u="none" strike="noStrike" cap="none" dirty="0">
              <a:solidFill>
                <a:srgbClr val="F3F3F3"/>
              </a:solidFill>
              <a:latin typeface="Lato Semibold" panose="020F0502020204030203" pitchFamily="34" charset="0"/>
              <a:ea typeface="Lato Semibold" panose="020F0502020204030203" pitchFamily="34" charset="0"/>
              <a:cs typeface="Lato Semibold" panose="020F0502020204030203" pitchFamily="34" charset="0"/>
              <a:sym typeface="Montserrat"/>
            </a:endParaRPr>
          </a:p>
        </p:txBody>
      </p:sp>
      <p:sp>
        <p:nvSpPr>
          <p:cNvPr id="82" name="Google Shape;82;p6">
            <a:extLst>
              <a:ext uri="{FF2B5EF4-FFF2-40B4-BE49-F238E27FC236}">
                <a16:creationId xmlns:a16="http://schemas.microsoft.com/office/drawing/2014/main" id="{FE5F94B8-489C-8779-561E-DF1669699BB0}"/>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 name="Graphique 2" descr="Calculatrice contour">
            <a:extLst>
              <a:ext uri="{FF2B5EF4-FFF2-40B4-BE49-F238E27FC236}">
                <a16:creationId xmlns:a16="http://schemas.microsoft.com/office/drawing/2014/main" id="{227ABBC2-3F68-A9C9-B1F1-0F065AB703D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900" y="1552893"/>
            <a:ext cx="552000" cy="552000"/>
          </a:xfrm>
          <a:prstGeom prst="rect">
            <a:avLst/>
          </a:prstGeom>
        </p:spPr>
      </p:pic>
      <p:pic>
        <p:nvPicPr>
          <p:cNvPr id="5" name="Image 4" descr="Une image contenant texte, capture d’écran, Police, nombre&#10;&#10;Le contenu généré par l’IA peut être incorrect.">
            <a:extLst>
              <a:ext uri="{FF2B5EF4-FFF2-40B4-BE49-F238E27FC236}">
                <a16:creationId xmlns:a16="http://schemas.microsoft.com/office/drawing/2014/main" id="{BAFFBAAB-F46C-2D8D-C5FD-37CF63A12291}"/>
              </a:ext>
            </a:extLst>
          </p:cNvPr>
          <p:cNvPicPr>
            <a:picLocks noChangeAspect="1"/>
          </p:cNvPicPr>
          <p:nvPr/>
        </p:nvPicPr>
        <p:blipFill>
          <a:blip r:embed="rId5"/>
          <a:stretch>
            <a:fillRect/>
          </a:stretch>
        </p:blipFill>
        <p:spPr>
          <a:xfrm>
            <a:off x="1238525" y="3245642"/>
            <a:ext cx="6050663" cy="1560608"/>
          </a:xfrm>
          <a:prstGeom prst="rect">
            <a:avLst/>
          </a:prstGeom>
          <a:effectLst>
            <a:softEdge rad="25400"/>
          </a:effectLst>
        </p:spPr>
      </p:pic>
      <p:pic>
        <p:nvPicPr>
          <p:cNvPr id="6" name="Graphique 5" descr="Loupe contour">
            <a:extLst>
              <a:ext uri="{FF2B5EF4-FFF2-40B4-BE49-F238E27FC236}">
                <a16:creationId xmlns:a16="http://schemas.microsoft.com/office/drawing/2014/main" id="{128F23D1-5410-2B97-6501-490F8F6A5785}"/>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88900" y="2357092"/>
            <a:ext cx="552000" cy="552000"/>
          </a:xfrm>
          <a:prstGeom prst="rect">
            <a:avLst/>
          </a:prstGeom>
        </p:spPr>
      </p:pic>
      <p:pic>
        <p:nvPicPr>
          <p:cNvPr id="2" name="Graphique 1" descr="Raisins contour">
            <a:extLst>
              <a:ext uri="{FF2B5EF4-FFF2-40B4-BE49-F238E27FC236}">
                <a16:creationId xmlns:a16="http://schemas.microsoft.com/office/drawing/2014/main" id="{49C31A55-7838-FFF6-FF02-0CB446FC5685}"/>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7587375" y="337250"/>
            <a:ext cx="661100" cy="661100"/>
          </a:xfrm>
          <a:prstGeom prst="rect">
            <a:avLst/>
          </a:prstGeom>
        </p:spPr>
      </p:pic>
    </p:spTree>
    <p:extLst>
      <p:ext uri="{BB962C8B-B14F-4D97-AF65-F5344CB8AC3E}">
        <p14:creationId xmlns:p14="http://schemas.microsoft.com/office/powerpoint/2010/main" val="1877137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F3823B9A-8AAC-184E-D019-8CE10DB0C33C}"/>
            </a:ext>
          </a:extLst>
        </p:cNvPr>
        <p:cNvGrpSpPr/>
        <p:nvPr/>
      </p:nvGrpSpPr>
      <p:grpSpPr>
        <a:xfrm>
          <a:off x="0" y="0"/>
          <a:ext cx="0" cy="0"/>
          <a:chOff x="0" y="0"/>
          <a:chExt cx="0" cy="0"/>
        </a:xfrm>
      </p:grpSpPr>
      <p:sp>
        <p:nvSpPr>
          <p:cNvPr id="87" name="Google Shape;87;p7">
            <a:extLst>
              <a:ext uri="{FF2B5EF4-FFF2-40B4-BE49-F238E27FC236}">
                <a16:creationId xmlns:a16="http://schemas.microsoft.com/office/drawing/2014/main" id="{15AC328E-21DA-BAAC-7BB8-7C0747E11A05}"/>
              </a:ext>
            </a:extLst>
          </p:cNvPr>
          <p:cNvSpPr/>
          <p:nvPr/>
        </p:nvSpPr>
        <p:spPr>
          <a:xfrm>
            <a:off x="0" y="0"/>
            <a:ext cx="9144000" cy="1029457"/>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7">
            <a:extLst>
              <a:ext uri="{FF2B5EF4-FFF2-40B4-BE49-F238E27FC236}">
                <a16:creationId xmlns:a16="http://schemas.microsoft.com/office/drawing/2014/main" id="{3A8ED799-714C-9724-7CFF-C940C39BCBA8}"/>
              </a:ext>
            </a:extLst>
          </p:cNvPr>
          <p:cNvSpPr txBox="1"/>
          <p:nvPr/>
        </p:nvSpPr>
        <p:spPr>
          <a:xfrm>
            <a:off x="895525" y="109966"/>
            <a:ext cx="8248475"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dirty="0">
                <a:solidFill>
                  <a:srgbClr val="F3F3F3"/>
                </a:solidFill>
                <a:latin typeface="Lato Semibold" panose="020F0502020204030203" pitchFamily="34" charset="0"/>
                <a:ea typeface="Lato Semibold" panose="020F0502020204030203" pitchFamily="34" charset="0"/>
                <a:cs typeface="Lato Semibold" panose="020F0502020204030203" pitchFamily="34" charset="0"/>
                <a:sym typeface="Montserrat"/>
              </a:rPr>
              <a:t>Analyses complémentaires</a:t>
            </a:r>
          </a:p>
        </p:txBody>
      </p:sp>
      <p:sp>
        <p:nvSpPr>
          <p:cNvPr id="89" name="Google Shape;89;p7">
            <a:extLst>
              <a:ext uri="{FF2B5EF4-FFF2-40B4-BE49-F238E27FC236}">
                <a16:creationId xmlns:a16="http://schemas.microsoft.com/office/drawing/2014/main" id="{3DFD8384-6DC5-CB88-BDF5-BA7AC607891C}"/>
              </a:ext>
            </a:extLst>
          </p:cNvPr>
          <p:cNvSpPr/>
          <p:nvPr/>
        </p:nvSpPr>
        <p:spPr>
          <a:xfrm>
            <a:off x="1012175" y="732072"/>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7">
            <a:extLst>
              <a:ext uri="{FF2B5EF4-FFF2-40B4-BE49-F238E27FC236}">
                <a16:creationId xmlns:a16="http://schemas.microsoft.com/office/drawing/2014/main" id="{C8348633-7A72-9C55-7487-CDF104084AE6}"/>
              </a:ext>
            </a:extLst>
          </p:cNvPr>
          <p:cNvSpPr txBox="1">
            <a:spLocks noGrp="1"/>
          </p:cNvSpPr>
          <p:nvPr>
            <p:ph type="body" idx="1"/>
          </p:nvPr>
        </p:nvSpPr>
        <p:spPr>
          <a:xfrm>
            <a:off x="0" y="1029457"/>
            <a:ext cx="4905059" cy="3561593"/>
          </a:xfrm>
          <a:prstGeom prst="rect">
            <a:avLst/>
          </a:prstGeom>
          <a:noFill/>
          <a:ln>
            <a:noFill/>
          </a:ln>
        </p:spPr>
        <p:txBody>
          <a:bodyPr spcFirstLastPara="1" wrap="square" lIns="91425" tIns="91425" rIns="91425" bIns="91425" anchor="ctr" anchorCtr="0">
            <a:normAutofit/>
          </a:bodyPr>
          <a:lstStyle/>
          <a:p>
            <a:pPr marL="114300" indent="0" algn="ctr">
              <a:buClr>
                <a:srgbClr val="800020"/>
              </a:buClr>
              <a:buNone/>
            </a:pPr>
            <a:r>
              <a:rPr lang="fr-FR" dirty="0">
                <a:solidFill>
                  <a:srgbClr val="004D40"/>
                </a:solidFill>
                <a:latin typeface="Lato" panose="020F0502020204030203" pitchFamily="34" charset="0"/>
                <a:cs typeface="Lato" panose="020F0502020204030203" pitchFamily="34" charset="0"/>
                <a:sym typeface="Montserrat"/>
              </a:rPr>
              <a:t>Analyse du Chiffre d'Affaires (143 680 €)</a:t>
            </a:r>
          </a:p>
          <a:p>
            <a:pPr>
              <a:buClr>
                <a:srgbClr val="800020"/>
              </a:buClr>
              <a:buSzPct val="90000"/>
            </a:pPr>
            <a:r>
              <a:rPr lang="fr-FR" sz="1600" dirty="0">
                <a:solidFill>
                  <a:schemeClr val="tx1"/>
                </a:solidFill>
                <a:latin typeface="Lato Light" panose="020F0502020204030203" pitchFamily="34" charset="0"/>
                <a:sym typeface="Montserrat"/>
              </a:rPr>
              <a:t>Répartition (Pareto) : </a:t>
            </a:r>
          </a:p>
          <a:p>
            <a:pPr lvl="1">
              <a:buClr>
                <a:srgbClr val="800020"/>
              </a:buClr>
              <a:buSzPct val="90000"/>
            </a:pPr>
            <a:r>
              <a:rPr lang="fr-FR" sz="1200" dirty="0">
                <a:solidFill>
                  <a:schemeClr val="tx1"/>
                </a:solidFill>
                <a:latin typeface="Lato Light" panose="020F0502020204030203" pitchFamily="34" charset="0"/>
                <a:sym typeface="Montserrat"/>
              </a:rPr>
              <a:t>80% du CA généré par 61% des références (434 articles)</a:t>
            </a:r>
          </a:p>
          <a:p>
            <a:pPr>
              <a:buClr>
                <a:srgbClr val="800020"/>
              </a:buClr>
              <a:buSzPct val="90000"/>
            </a:pPr>
            <a:r>
              <a:rPr lang="fr-FR" sz="1600" dirty="0">
                <a:solidFill>
                  <a:schemeClr val="tx1"/>
                </a:solidFill>
                <a:latin typeface="Lato Light" panose="020F0502020204030203" pitchFamily="34" charset="0"/>
                <a:sym typeface="Montserrat"/>
              </a:rPr>
              <a:t>Interprétation : </a:t>
            </a:r>
          </a:p>
          <a:p>
            <a:pPr lvl="1">
              <a:buClr>
                <a:srgbClr val="800020"/>
              </a:buClr>
              <a:buSzPct val="90000"/>
            </a:pPr>
            <a:r>
              <a:rPr lang="fr-FR" sz="1200" dirty="0">
                <a:solidFill>
                  <a:schemeClr val="tx1"/>
                </a:solidFill>
                <a:latin typeface="Lato Light" panose="020F0502020204030203" pitchFamily="34" charset="0"/>
                <a:sym typeface="Montserrat"/>
              </a:rPr>
              <a:t>Absence de dépendance à un petit groupe de produits ; le succès repose sur une large partie du catalogue</a:t>
            </a:r>
          </a:p>
          <a:p>
            <a:pPr>
              <a:buClr>
                <a:srgbClr val="800020"/>
              </a:buClr>
              <a:buSzPct val="90000"/>
            </a:pPr>
            <a:r>
              <a:rPr lang="fr-FR" sz="1600" dirty="0">
                <a:solidFill>
                  <a:schemeClr val="tx1"/>
                </a:solidFill>
                <a:latin typeface="Lato Light" panose="020F0502020204030203" pitchFamily="34" charset="0"/>
                <a:sym typeface="Montserrat"/>
              </a:rPr>
              <a:t>Cohérence : </a:t>
            </a:r>
          </a:p>
          <a:p>
            <a:pPr lvl="1">
              <a:buClr>
                <a:srgbClr val="800020"/>
              </a:buClr>
              <a:buSzPct val="90000"/>
            </a:pPr>
            <a:r>
              <a:rPr lang="fr-FR" sz="1200" dirty="0">
                <a:solidFill>
                  <a:schemeClr val="tx1"/>
                </a:solidFill>
                <a:latin typeface="Lato Light" panose="020F0502020204030203" pitchFamily="34" charset="0"/>
                <a:sym typeface="Montserrat"/>
              </a:rPr>
              <a:t>Ce résultat confirme l'indice de Gini (0.40) : la richesse est distribuée de manière homogène sur l'ensemble de l'offre</a:t>
            </a:r>
            <a:endParaRPr lang="fr" sz="1200" dirty="0">
              <a:solidFill>
                <a:schemeClr val="tx1"/>
              </a:solidFill>
              <a:latin typeface="Lato Light" panose="020F0502020204030203" pitchFamily="34" charset="0"/>
              <a:sym typeface="Montserrat"/>
            </a:endParaRPr>
          </a:p>
        </p:txBody>
      </p:sp>
      <p:pic>
        <p:nvPicPr>
          <p:cNvPr id="2" name="Graphique 1" descr="Banque contour">
            <a:extLst>
              <a:ext uri="{FF2B5EF4-FFF2-40B4-BE49-F238E27FC236}">
                <a16:creationId xmlns:a16="http://schemas.microsoft.com/office/drawing/2014/main" id="{6E923F32-F6E5-B197-5CDF-2DA425CC614C}"/>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47833" y="1636788"/>
            <a:ext cx="387052" cy="387052"/>
          </a:xfrm>
          <a:prstGeom prst="rect">
            <a:avLst/>
          </a:prstGeom>
        </p:spPr>
      </p:pic>
      <p:pic>
        <p:nvPicPr>
          <p:cNvPr id="4" name="Image 3" descr="Une image contenant texte, capture d’écran, Police, conception&#10;&#10;Le contenu généré par l’IA peut être incorrect.">
            <a:extLst>
              <a:ext uri="{FF2B5EF4-FFF2-40B4-BE49-F238E27FC236}">
                <a16:creationId xmlns:a16="http://schemas.microsoft.com/office/drawing/2014/main" id="{0C75A18D-2B52-929F-AE8B-10FBADC4E45E}"/>
              </a:ext>
            </a:extLst>
          </p:cNvPr>
          <p:cNvPicPr>
            <a:picLocks noChangeAspect="1"/>
          </p:cNvPicPr>
          <p:nvPr/>
        </p:nvPicPr>
        <p:blipFill>
          <a:blip r:embed="rId5"/>
          <a:stretch>
            <a:fillRect/>
          </a:stretch>
        </p:blipFill>
        <p:spPr>
          <a:xfrm>
            <a:off x="4905060" y="110071"/>
            <a:ext cx="4060127" cy="4923464"/>
          </a:xfrm>
          <a:prstGeom prst="rect">
            <a:avLst/>
          </a:prstGeom>
          <a:ln w="12700">
            <a:solidFill>
              <a:srgbClr val="800020"/>
            </a:solidFill>
          </a:ln>
        </p:spPr>
      </p:pic>
      <p:pic>
        <p:nvPicPr>
          <p:cNvPr id="6" name="Graphique 5" descr="Signe pouce en haut avec un remplissage uni">
            <a:extLst>
              <a:ext uri="{FF2B5EF4-FFF2-40B4-BE49-F238E27FC236}">
                <a16:creationId xmlns:a16="http://schemas.microsoft.com/office/drawing/2014/main" id="{35E36855-E68D-3BC8-4EED-A90C6042CD1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967486" y="4098991"/>
            <a:ext cx="770794" cy="770794"/>
          </a:xfrm>
          <a:prstGeom prst="rect">
            <a:avLst/>
          </a:prstGeom>
        </p:spPr>
      </p:pic>
    </p:spTree>
    <p:extLst>
      <p:ext uri="{BB962C8B-B14F-4D97-AF65-F5344CB8AC3E}">
        <p14:creationId xmlns:p14="http://schemas.microsoft.com/office/powerpoint/2010/main" val="25579906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32F27C21-4FF7-CC5B-CDC5-AACEC48F02CA}"/>
            </a:ext>
          </a:extLst>
        </p:cNvPr>
        <p:cNvGrpSpPr/>
        <p:nvPr/>
      </p:nvGrpSpPr>
      <p:grpSpPr>
        <a:xfrm>
          <a:off x="0" y="0"/>
          <a:ext cx="0" cy="0"/>
          <a:chOff x="0" y="0"/>
          <a:chExt cx="0" cy="0"/>
        </a:xfrm>
      </p:grpSpPr>
      <p:sp>
        <p:nvSpPr>
          <p:cNvPr id="87" name="Google Shape;87;p7">
            <a:extLst>
              <a:ext uri="{FF2B5EF4-FFF2-40B4-BE49-F238E27FC236}">
                <a16:creationId xmlns:a16="http://schemas.microsoft.com/office/drawing/2014/main" id="{8FC09280-E23D-F84B-F597-2B2D34FD524B}"/>
              </a:ext>
            </a:extLst>
          </p:cNvPr>
          <p:cNvSpPr/>
          <p:nvPr/>
        </p:nvSpPr>
        <p:spPr>
          <a:xfrm>
            <a:off x="0" y="0"/>
            <a:ext cx="9144000" cy="1029457"/>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7">
            <a:extLst>
              <a:ext uri="{FF2B5EF4-FFF2-40B4-BE49-F238E27FC236}">
                <a16:creationId xmlns:a16="http://schemas.microsoft.com/office/drawing/2014/main" id="{5A329E48-26BB-33EB-8938-7DD605663B72}"/>
              </a:ext>
            </a:extLst>
          </p:cNvPr>
          <p:cNvSpPr txBox="1"/>
          <p:nvPr/>
        </p:nvSpPr>
        <p:spPr>
          <a:xfrm>
            <a:off x="895525" y="109966"/>
            <a:ext cx="8248475"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dirty="0">
                <a:solidFill>
                  <a:srgbClr val="F3F3F3"/>
                </a:solidFill>
                <a:latin typeface="Lato Semibold" panose="020F0502020204030203" pitchFamily="34" charset="0"/>
                <a:ea typeface="Lato Semibold" panose="020F0502020204030203" pitchFamily="34" charset="0"/>
                <a:cs typeface="Lato Semibold" panose="020F0502020204030203" pitchFamily="34" charset="0"/>
                <a:sym typeface="Montserrat"/>
              </a:rPr>
              <a:t>Analyses complémentaires</a:t>
            </a:r>
          </a:p>
        </p:txBody>
      </p:sp>
      <p:sp>
        <p:nvSpPr>
          <p:cNvPr id="89" name="Google Shape;89;p7">
            <a:extLst>
              <a:ext uri="{FF2B5EF4-FFF2-40B4-BE49-F238E27FC236}">
                <a16:creationId xmlns:a16="http://schemas.microsoft.com/office/drawing/2014/main" id="{C9799A91-9C97-2875-8E8F-2626D662C148}"/>
              </a:ext>
            </a:extLst>
          </p:cNvPr>
          <p:cNvSpPr/>
          <p:nvPr/>
        </p:nvSpPr>
        <p:spPr>
          <a:xfrm>
            <a:off x="1012175" y="732072"/>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7">
            <a:extLst>
              <a:ext uri="{FF2B5EF4-FFF2-40B4-BE49-F238E27FC236}">
                <a16:creationId xmlns:a16="http://schemas.microsoft.com/office/drawing/2014/main" id="{B5E80824-13FF-C7EB-AFF7-6F57E8AEBD02}"/>
              </a:ext>
            </a:extLst>
          </p:cNvPr>
          <p:cNvSpPr txBox="1">
            <a:spLocks noGrp="1"/>
          </p:cNvSpPr>
          <p:nvPr>
            <p:ph type="body" idx="1"/>
          </p:nvPr>
        </p:nvSpPr>
        <p:spPr>
          <a:xfrm>
            <a:off x="0" y="1029457"/>
            <a:ext cx="4905059" cy="3536193"/>
          </a:xfrm>
          <a:prstGeom prst="rect">
            <a:avLst/>
          </a:prstGeom>
          <a:noFill/>
          <a:ln>
            <a:noFill/>
          </a:ln>
        </p:spPr>
        <p:txBody>
          <a:bodyPr spcFirstLastPara="1" wrap="square" lIns="91425" tIns="91425" rIns="91425" bIns="91425" anchor="ctr" anchorCtr="0">
            <a:normAutofit/>
          </a:bodyPr>
          <a:lstStyle/>
          <a:p>
            <a:pPr marL="114300" indent="0" algn="ctr">
              <a:buClr>
                <a:srgbClr val="800020"/>
              </a:buClr>
              <a:buNone/>
            </a:pPr>
            <a:r>
              <a:rPr lang="fr-FR" dirty="0">
                <a:solidFill>
                  <a:srgbClr val="004D40"/>
                </a:solidFill>
                <a:latin typeface="Lato" panose="020F0502020204030203" pitchFamily="34" charset="0"/>
                <a:cs typeface="Lato" panose="020F0502020204030203" pitchFamily="34" charset="0"/>
                <a:sym typeface="Montserrat"/>
              </a:rPr>
              <a:t>Analyse des ventes (5 751 unités)</a:t>
            </a:r>
          </a:p>
          <a:p>
            <a:pPr>
              <a:buClr>
                <a:srgbClr val="800020"/>
              </a:buClr>
              <a:buSzPct val="90000"/>
            </a:pPr>
            <a:r>
              <a:rPr lang="fr-FR" sz="1600" dirty="0">
                <a:solidFill>
                  <a:schemeClr val="tx1"/>
                </a:solidFill>
                <a:latin typeface="Lato Light" panose="020F0502020204030203" pitchFamily="34" charset="0"/>
                <a:sym typeface="Montserrat"/>
              </a:rPr>
              <a:t>Répartition (Pareto) : </a:t>
            </a:r>
          </a:p>
          <a:p>
            <a:pPr lvl="1">
              <a:buClr>
                <a:srgbClr val="800020"/>
              </a:buClr>
              <a:buSzPct val="90000"/>
            </a:pPr>
            <a:r>
              <a:rPr lang="fr-FR" sz="1200" dirty="0">
                <a:solidFill>
                  <a:schemeClr val="tx1"/>
                </a:solidFill>
                <a:latin typeface="Lato Light" panose="020F0502020204030203" pitchFamily="34" charset="0"/>
                <a:sym typeface="Montserrat"/>
              </a:rPr>
              <a:t>80% des volumes réalisés par 61% des références</a:t>
            </a:r>
          </a:p>
          <a:p>
            <a:pPr>
              <a:buClr>
                <a:srgbClr val="800020"/>
              </a:buClr>
              <a:buSzPct val="90000"/>
            </a:pPr>
            <a:r>
              <a:rPr lang="fr-FR" sz="1600" dirty="0">
                <a:solidFill>
                  <a:schemeClr val="tx1"/>
                </a:solidFill>
                <a:latin typeface="Lato Light" panose="020F0502020204030203" pitchFamily="34" charset="0"/>
                <a:sym typeface="Montserrat"/>
              </a:rPr>
              <a:t>Performance : </a:t>
            </a:r>
          </a:p>
          <a:p>
            <a:pPr lvl="1">
              <a:buClr>
                <a:srgbClr val="800020"/>
              </a:buClr>
              <a:buSzPct val="90000"/>
            </a:pPr>
            <a:r>
              <a:rPr lang="fr-FR" sz="1200" dirty="0">
                <a:solidFill>
                  <a:schemeClr val="tx1"/>
                </a:solidFill>
                <a:latin typeface="Lato Light" panose="020F0502020204030203" pitchFamily="34" charset="0"/>
                <a:sym typeface="Montserrat"/>
              </a:rPr>
              <a:t>Un catalogue "actif" où la majorité des produits contribue significativement au flux de sortie</a:t>
            </a:r>
          </a:p>
          <a:p>
            <a:pPr>
              <a:buClr>
                <a:srgbClr val="800020"/>
              </a:buClr>
              <a:buSzPct val="90000"/>
            </a:pPr>
            <a:r>
              <a:rPr lang="fr-FR" sz="1600" dirty="0">
                <a:solidFill>
                  <a:schemeClr val="tx1"/>
                </a:solidFill>
                <a:latin typeface="Lato Light" panose="020F0502020204030203" pitchFamily="34" charset="0"/>
                <a:sym typeface="Montserrat"/>
              </a:rPr>
              <a:t>Top Ventes : </a:t>
            </a:r>
          </a:p>
          <a:p>
            <a:pPr lvl="1">
              <a:buClr>
                <a:srgbClr val="800020"/>
              </a:buClr>
              <a:buSzPct val="90000"/>
            </a:pPr>
            <a:r>
              <a:rPr lang="fr-FR" sz="1200" dirty="0">
                <a:solidFill>
                  <a:schemeClr val="tx1"/>
                </a:solidFill>
                <a:latin typeface="Lato Light" panose="020F0502020204030203" pitchFamily="34" charset="0"/>
                <a:sym typeface="Montserrat"/>
              </a:rPr>
              <a:t>Concentration modérée ; le succès est porté par une large sélection de vins (Rosés, Blancs, Rouges)</a:t>
            </a:r>
            <a:endParaRPr lang="fr" sz="1200" dirty="0">
              <a:solidFill>
                <a:schemeClr val="tx1"/>
              </a:solidFill>
              <a:latin typeface="Lato Light" panose="020F0502020204030203" pitchFamily="34" charset="0"/>
              <a:sym typeface="Montserrat"/>
            </a:endParaRPr>
          </a:p>
        </p:txBody>
      </p:sp>
      <p:pic>
        <p:nvPicPr>
          <p:cNvPr id="2" name="Graphique 1" descr="Magasin contour">
            <a:extLst>
              <a:ext uri="{FF2B5EF4-FFF2-40B4-BE49-F238E27FC236}">
                <a16:creationId xmlns:a16="http://schemas.microsoft.com/office/drawing/2014/main" id="{C26AB766-5A6D-F818-D95A-4B138B26EA27}"/>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392356" y="1627495"/>
            <a:ext cx="387052" cy="387052"/>
          </a:xfrm>
          <a:prstGeom prst="rect">
            <a:avLst/>
          </a:prstGeom>
        </p:spPr>
      </p:pic>
      <p:pic>
        <p:nvPicPr>
          <p:cNvPr id="4" name="Image 3">
            <a:extLst>
              <a:ext uri="{FF2B5EF4-FFF2-40B4-BE49-F238E27FC236}">
                <a16:creationId xmlns:a16="http://schemas.microsoft.com/office/drawing/2014/main" id="{97CD00B6-4068-3186-8037-A6A033992840}"/>
              </a:ext>
            </a:extLst>
          </p:cNvPr>
          <p:cNvPicPr>
            <a:picLocks noChangeAspect="1"/>
          </p:cNvPicPr>
          <p:nvPr/>
        </p:nvPicPr>
        <p:blipFill>
          <a:blip r:embed="rId5"/>
          <a:srcRect/>
          <a:stretch/>
        </p:blipFill>
        <p:spPr>
          <a:xfrm>
            <a:off x="4905060" y="110071"/>
            <a:ext cx="4060126" cy="4923464"/>
          </a:xfrm>
          <a:prstGeom prst="rect">
            <a:avLst/>
          </a:prstGeom>
          <a:ln w="12700">
            <a:solidFill>
              <a:srgbClr val="800020"/>
            </a:solidFill>
          </a:ln>
        </p:spPr>
      </p:pic>
      <p:pic>
        <p:nvPicPr>
          <p:cNvPr id="3" name="Graphique 2" descr="Signe pouce en haut avec un remplissage uni">
            <a:extLst>
              <a:ext uri="{FF2B5EF4-FFF2-40B4-BE49-F238E27FC236}">
                <a16:creationId xmlns:a16="http://schemas.microsoft.com/office/drawing/2014/main" id="{278A9561-44FE-7897-EE12-DF2BED5ED39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967486" y="4098991"/>
            <a:ext cx="770794" cy="770794"/>
          </a:xfrm>
          <a:prstGeom prst="rect">
            <a:avLst/>
          </a:prstGeom>
        </p:spPr>
      </p:pic>
    </p:spTree>
    <p:extLst>
      <p:ext uri="{BB962C8B-B14F-4D97-AF65-F5344CB8AC3E}">
        <p14:creationId xmlns:p14="http://schemas.microsoft.com/office/powerpoint/2010/main" val="30717624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6DBE748A-903D-B356-7D20-378F6A7C67ED}"/>
            </a:ext>
          </a:extLst>
        </p:cNvPr>
        <p:cNvGrpSpPr/>
        <p:nvPr/>
      </p:nvGrpSpPr>
      <p:grpSpPr>
        <a:xfrm>
          <a:off x="0" y="0"/>
          <a:ext cx="0" cy="0"/>
          <a:chOff x="0" y="0"/>
          <a:chExt cx="0" cy="0"/>
        </a:xfrm>
      </p:grpSpPr>
      <p:sp>
        <p:nvSpPr>
          <p:cNvPr id="87" name="Google Shape;87;p7">
            <a:extLst>
              <a:ext uri="{FF2B5EF4-FFF2-40B4-BE49-F238E27FC236}">
                <a16:creationId xmlns:a16="http://schemas.microsoft.com/office/drawing/2014/main" id="{30B1C252-8620-6514-5627-0EA2BFF3B961}"/>
              </a:ext>
            </a:extLst>
          </p:cNvPr>
          <p:cNvSpPr/>
          <p:nvPr/>
        </p:nvSpPr>
        <p:spPr>
          <a:xfrm>
            <a:off x="0" y="0"/>
            <a:ext cx="9144000" cy="1029457"/>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7">
            <a:extLst>
              <a:ext uri="{FF2B5EF4-FFF2-40B4-BE49-F238E27FC236}">
                <a16:creationId xmlns:a16="http://schemas.microsoft.com/office/drawing/2014/main" id="{C21B9505-5581-F9EC-79FD-620F8DFC24DC}"/>
              </a:ext>
            </a:extLst>
          </p:cNvPr>
          <p:cNvSpPr txBox="1"/>
          <p:nvPr/>
        </p:nvSpPr>
        <p:spPr>
          <a:xfrm>
            <a:off x="895525" y="109966"/>
            <a:ext cx="8248475"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dirty="0">
                <a:solidFill>
                  <a:srgbClr val="F3F3F3"/>
                </a:solidFill>
                <a:latin typeface="Lato Semibold" panose="020F0502020204030203" pitchFamily="34" charset="0"/>
                <a:ea typeface="Lato Semibold" panose="020F0502020204030203" pitchFamily="34" charset="0"/>
                <a:cs typeface="Lato Semibold" panose="020F0502020204030203" pitchFamily="34" charset="0"/>
                <a:sym typeface="Montserrat"/>
              </a:rPr>
              <a:t>Analyses complémentaires</a:t>
            </a:r>
          </a:p>
        </p:txBody>
      </p:sp>
      <p:sp>
        <p:nvSpPr>
          <p:cNvPr id="89" name="Google Shape;89;p7">
            <a:extLst>
              <a:ext uri="{FF2B5EF4-FFF2-40B4-BE49-F238E27FC236}">
                <a16:creationId xmlns:a16="http://schemas.microsoft.com/office/drawing/2014/main" id="{CCEF4C40-969F-24F1-F348-5DCDEA004F29}"/>
              </a:ext>
            </a:extLst>
          </p:cNvPr>
          <p:cNvSpPr/>
          <p:nvPr/>
        </p:nvSpPr>
        <p:spPr>
          <a:xfrm>
            <a:off x="1012175" y="732072"/>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7">
            <a:extLst>
              <a:ext uri="{FF2B5EF4-FFF2-40B4-BE49-F238E27FC236}">
                <a16:creationId xmlns:a16="http://schemas.microsoft.com/office/drawing/2014/main" id="{22EED956-518E-5A7F-0865-B7CA428C0D52}"/>
              </a:ext>
            </a:extLst>
          </p:cNvPr>
          <p:cNvSpPr txBox="1">
            <a:spLocks noGrp="1"/>
          </p:cNvSpPr>
          <p:nvPr>
            <p:ph type="body" idx="1"/>
          </p:nvPr>
        </p:nvSpPr>
        <p:spPr>
          <a:xfrm>
            <a:off x="0" y="1029458"/>
            <a:ext cx="4905059" cy="4004076"/>
          </a:xfrm>
          <a:prstGeom prst="rect">
            <a:avLst/>
          </a:prstGeom>
          <a:noFill/>
          <a:ln>
            <a:noFill/>
          </a:ln>
        </p:spPr>
        <p:txBody>
          <a:bodyPr spcFirstLastPara="1" wrap="square" lIns="91425" tIns="91425" rIns="91425" bIns="91425" anchor="ctr" anchorCtr="0">
            <a:normAutofit/>
          </a:bodyPr>
          <a:lstStyle/>
          <a:p>
            <a:pPr marL="114300" indent="0" algn="ctr">
              <a:buClr>
                <a:srgbClr val="800020"/>
              </a:buClr>
              <a:buNone/>
            </a:pPr>
            <a:r>
              <a:rPr lang="fr-FR" dirty="0">
                <a:solidFill>
                  <a:srgbClr val="004D40"/>
                </a:solidFill>
                <a:latin typeface="Lato" panose="020F0502020204030203" pitchFamily="34" charset="0"/>
                <a:cs typeface="Lato" panose="020F0502020204030203" pitchFamily="34" charset="0"/>
                <a:sym typeface="Montserrat"/>
              </a:rPr>
              <a:t>Analyse des stocks</a:t>
            </a:r>
          </a:p>
          <a:p>
            <a:pPr>
              <a:buClr>
                <a:srgbClr val="800020"/>
              </a:buClr>
              <a:buSzPct val="90000"/>
            </a:pPr>
            <a:r>
              <a:rPr lang="fr-FR" sz="1600" dirty="0">
                <a:solidFill>
                  <a:schemeClr val="tx1"/>
                </a:solidFill>
                <a:latin typeface="Lato Light" panose="020F0502020204030203" pitchFamily="34" charset="0"/>
                <a:sym typeface="Montserrat"/>
              </a:rPr>
              <a:t>Valorisation : </a:t>
            </a:r>
          </a:p>
          <a:p>
            <a:pPr lvl="1">
              <a:buClr>
                <a:srgbClr val="800020"/>
              </a:buClr>
              <a:buSzPct val="90000"/>
            </a:pPr>
            <a:r>
              <a:rPr lang="fr-FR" sz="1200" dirty="0">
                <a:solidFill>
                  <a:schemeClr val="tx1"/>
                </a:solidFill>
                <a:latin typeface="Lato Light" panose="020F0502020204030203" pitchFamily="34" charset="0"/>
                <a:sym typeface="Montserrat"/>
              </a:rPr>
              <a:t>277 305 € pour 16 739 articles</a:t>
            </a:r>
          </a:p>
          <a:p>
            <a:pPr>
              <a:buClr>
                <a:srgbClr val="800020"/>
              </a:buClr>
              <a:buSzPct val="90000"/>
            </a:pPr>
            <a:r>
              <a:rPr lang="fr-FR" sz="1600" dirty="0">
                <a:solidFill>
                  <a:schemeClr val="tx1"/>
                </a:solidFill>
                <a:latin typeface="Lato Light" panose="020F0502020204030203" pitchFamily="34" charset="0"/>
                <a:sym typeface="Montserrat"/>
              </a:rPr>
              <a:t>Indicateur de tension : </a:t>
            </a:r>
          </a:p>
          <a:p>
            <a:pPr lvl="1">
              <a:buClr>
                <a:srgbClr val="800020"/>
              </a:buClr>
              <a:buSzPct val="90000"/>
            </a:pPr>
            <a:r>
              <a:rPr lang="fr-FR" sz="1200" dirty="0">
                <a:solidFill>
                  <a:schemeClr val="tx1"/>
                </a:solidFill>
                <a:latin typeface="Lato Light" panose="020F0502020204030203" pitchFamily="34" charset="0"/>
                <a:sym typeface="Montserrat"/>
              </a:rPr>
              <a:t>Stock total ≈ 2x le CA mensuel moyen.</a:t>
            </a:r>
          </a:p>
          <a:p>
            <a:pPr>
              <a:buClr>
                <a:srgbClr val="800020"/>
              </a:buClr>
              <a:buSzPct val="90000"/>
            </a:pPr>
            <a:r>
              <a:rPr lang="fr-FR" sz="1600" dirty="0">
                <a:solidFill>
                  <a:schemeClr val="tx1"/>
                </a:solidFill>
                <a:latin typeface="Lato Light" panose="020F0502020204030203" pitchFamily="34" charset="0"/>
                <a:sym typeface="Montserrat"/>
              </a:rPr>
              <a:t>Points d'alerte : </a:t>
            </a:r>
          </a:p>
          <a:p>
            <a:pPr lvl="1">
              <a:buClr>
                <a:srgbClr val="800020"/>
              </a:buClr>
              <a:buSzPct val="90000"/>
            </a:pPr>
            <a:r>
              <a:rPr lang="fr-FR" sz="1200" dirty="0">
                <a:solidFill>
                  <a:schemeClr val="tx1"/>
                </a:solidFill>
                <a:latin typeface="Lato Light" panose="020F0502020204030203" pitchFamily="34" charset="0"/>
                <a:sym typeface="Montserrat"/>
              </a:rPr>
              <a:t>Surstock identifié sur certaines références (&gt; 20 mois de stockage).</a:t>
            </a:r>
          </a:p>
          <a:p>
            <a:pPr>
              <a:buClr>
                <a:srgbClr val="800020"/>
              </a:buClr>
              <a:buSzPct val="90000"/>
            </a:pPr>
            <a:r>
              <a:rPr lang="fr-FR" sz="1600" dirty="0">
                <a:solidFill>
                  <a:schemeClr val="tx1"/>
                </a:solidFill>
                <a:latin typeface="Lato Light" panose="020F0502020204030203" pitchFamily="34" charset="0"/>
                <a:sym typeface="Montserrat"/>
              </a:rPr>
              <a:t>Facteur saisonnier : </a:t>
            </a:r>
          </a:p>
          <a:p>
            <a:pPr lvl="1">
              <a:buClr>
                <a:srgbClr val="800020"/>
              </a:buClr>
              <a:buSzPct val="90000"/>
            </a:pPr>
            <a:r>
              <a:rPr lang="fr-FR" sz="1200" dirty="0">
                <a:solidFill>
                  <a:schemeClr val="tx1"/>
                </a:solidFill>
                <a:latin typeface="Lato Light" panose="020F0502020204030203" pitchFamily="34" charset="0"/>
                <a:sym typeface="Montserrat"/>
              </a:rPr>
              <a:t>Niveau de stock à relativiser par l'anticipation des ventes de fin d'année.</a:t>
            </a:r>
          </a:p>
          <a:p>
            <a:pPr marL="114300" indent="0" algn="ctr">
              <a:buClr>
                <a:srgbClr val="800020"/>
              </a:buClr>
              <a:buSzPct val="90000"/>
              <a:buNone/>
            </a:pPr>
            <a:endParaRPr lang="fr-FR" sz="1600" dirty="0">
              <a:solidFill>
                <a:schemeClr val="tx1"/>
              </a:solidFill>
              <a:latin typeface="Lato Light" panose="020F0502020204030203" pitchFamily="34" charset="0"/>
              <a:sym typeface="Montserrat"/>
            </a:endParaRPr>
          </a:p>
          <a:p>
            <a:pPr marL="114300" indent="0" algn="ctr">
              <a:buClr>
                <a:srgbClr val="800020"/>
              </a:buClr>
              <a:buSzPct val="90000"/>
              <a:buNone/>
            </a:pPr>
            <a:endParaRPr lang="fr-FR" sz="1600" dirty="0">
              <a:solidFill>
                <a:schemeClr val="tx1"/>
              </a:solidFill>
              <a:latin typeface="Lato Light" panose="020F0502020204030203" pitchFamily="34" charset="0"/>
              <a:sym typeface="Montserrat"/>
            </a:endParaRPr>
          </a:p>
          <a:p>
            <a:pPr marL="114300" indent="0" algn="ctr">
              <a:buClr>
                <a:srgbClr val="800020"/>
              </a:buClr>
              <a:buSzPct val="90000"/>
              <a:buNone/>
            </a:pPr>
            <a:r>
              <a:rPr lang="fr-FR" sz="1100" i="1" dirty="0">
                <a:solidFill>
                  <a:schemeClr val="tx1"/>
                </a:solidFill>
                <a:latin typeface="Lato Light" panose="020F0502020204030203" pitchFamily="34" charset="0"/>
                <a:sym typeface="Montserrat"/>
              </a:rPr>
              <a:t>Limite majeure : Analyse basée sur un historique de ventes d'un mois unique</a:t>
            </a:r>
          </a:p>
        </p:txBody>
      </p:sp>
      <p:pic>
        <p:nvPicPr>
          <p:cNvPr id="2" name="Graphique 1" descr="Entrepôt contour">
            <a:extLst>
              <a:ext uri="{FF2B5EF4-FFF2-40B4-BE49-F238E27FC236}">
                <a16:creationId xmlns:a16="http://schemas.microsoft.com/office/drawing/2014/main" id="{7DFE41CA-A61C-12C6-3108-749C0E565663}"/>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095383" y="1254235"/>
            <a:ext cx="387052" cy="387052"/>
          </a:xfrm>
          <a:prstGeom prst="rect">
            <a:avLst/>
          </a:prstGeom>
        </p:spPr>
      </p:pic>
      <p:pic>
        <p:nvPicPr>
          <p:cNvPr id="4" name="Image 3">
            <a:extLst>
              <a:ext uri="{FF2B5EF4-FFF2-40B4-BE49-F238E27FC236}">
                <a16:creationId xmlns:a16="http://schemas.microsoft.com/office/drawing/2014/main" id="{9847E990-6D51-AA34-DCC5-8CE4E53E9B2B}"/>
              </a:ext>
            </a:extLst>
          </p:cNvPr>
          <p:cNvPicPr>
            <a:picLocks noChangeAspect="1"/>
          </p:cNvPicPr>
          <p:nvPr/>
        </p:nvPicPr>
        <p:blipFill>
          <a:blip r:embed="rId5"/>
          <a:srcRect/>
          <a:stretch/>
        </p:blipFill>
        <p:spPr>
          <a:xfrm>
            <a:off x="4905060" y="110070"/>
            <a:ext cx="4060126" cy="4923464"/>
          </a:xfrm>
          <a:prstGeom prst="rect">
            <a:avLst/>
          </a:prstGeom>
          <a:ln w="12700">
            <a:solidFill>
              <a:srgbClr val="800020"/>
            </a:solidFill>
          </a:ln>
        </p:spPr>
      </p:pic>
    </p:spTree>
    <p:extLst>
      <p:ext uri="{BB962C8B-B14F-4D97-AF65-F5344CB8AC3E}">
        <p14:creationId xmlns:p14="http://schemas.microsoft.com/office/powerpoint/2010/main" val="28800123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2325EF7B-8E74-4809-E2A9-23F0F8135E0A}"/>
            </a:ext>
          </a:extLst>
        </p:cNvPr>
        <p:cNvGrpSpPr/>
        <p:nvPr/>
      </p:nvGrpSpPr>
      <p:grpSpPr>
        <a:xfrm>
          <a:off x="0" y="0"/>
          <a:ext cx="0" cy="0"/>
          <a:chOff x="0" y="0"/>
          <a:chExt cx="0" cy="0"/>
        </a:xfrm>
      </p:grpSpPr>
      <p:sp>
        <p:nvSpPr>
          <p:cNvPr id="87" name="Google Shape;87;p7">
            <a:extLst>
              <a:ext uri="{FF2B5EF4-FFF2-40B4-BE49-F238E27FC236}">
                <a16:creationId xmlns:a16="http://schemas.microsoft.com/office/drawing/2014/main" id="{D95D780C-5284-BFD3-9C8C-C8DA20B3B85B}"/>
              </a:ext>
            </a:extLst>
          </p:cNvPr>
          <p:cNvSpPr/>
          <p:nvPr/>
        </p:nvSpPr>
        <p:spPr>
          <a:xfrm>
            <a:off x="0" y="0"/>
            <a:ext cx="9144000" cy="1029457"/>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7">
            <a:extLst>
              <a:ext uri="{FF2B5EF4-FFF2-40B4-BE49-F238E27FC236}">
                <a16:creationId xmlns:a16="http://schemas.microsoft.com/office/drawing/2014/main" id="{EBB650B9-A884-07E0-295F-6BD57CF22B9A}"/>
              </a:ext>
            </a:extLst>
          </p:cNvPr>
          <p:cNvSpPr txBox="1"/>
          <p:nvPr/>
        </p:nvSpPr>
        <p:spPr>
          <a:xfrm>
            <a:off x="895525" y="173444"/>
            <a:ext cx="8248475"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dirty="0">
                <a:solidFill>
                  <a:srgbClr val="F3F3F3"/>
                </a:solidFill>
                <a:latin typeface="Lato Semibold" panose="020F0502020204030203" pitchFamily="34" charset="0"/>
                <a:ea typeface="Lato Semibold" panose="020F0502020204030203" pitchFamily="34" charset="0"/>
                <a:cs typeface="Lato Semibold" panose="020F0502020204030203" pitchFamily="34" charset="0"/>
                <a:sym typeface="Montserrat"/>
              </a:rPr>
              <a:t>Analyses complémentaires</a:t>
            </a:r>
          </a:p>
        </p:txBody>
      </p:sp>
      <p:sp>
        <p:nvSpPr>
          <p:cNvPr id="89" name="Google Shape;89;p7">
            <a:extLst>
              <a:ext uri="{FF2B5EF4-FFF2-40B4-BE49-F238E27FC236}">
                <a16:creationId xmlns:a16="http://schemas.microsoft.com/office/drawing/2014/main" id="{6DE78B0D-1953-8DF1-5F76-DA0C89ABAD35}"/>
              </a:ext>
            </a:extLst>
          </p:cNvPr>
          <p:cNvSpPr/>
          <p:nvPr/>
        </p:nvSpPr>
        <p:spPr>
          <a:xfrm>
            <a:off x="1012175" y="7955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7">
            <a:extLst>
              <a:ext uri="{FF2B5EF4-FFF2-40B4-BE49-F238E27FC236}">
                <a16:creationId xmlns:a16="http://schemas.microsoft.com/office/drawing/2014/main" id="{4B6617D5-84C8-035D-5609-72AF0031B333}"/>
              </a:ext>
            </a:extLst>
          </p:cNvPr>
          <p:cNvSpPr txBox="1">
            <a:spLocks noGrp="1"/>
          </p:cNvSpPr>
          <p:nvPr>
            <p:ph type="body" idx="1"/>
          </p:nvPr>
        </p:nvSpPr>
        <p:spPr>
          <a:xfrm>
            <a:off x="199835" y="1029458"/>
            <a:ext cx="5756464" cy="575986"/>
          </a:xfrm>
          <a:prstGeom prst="rect">
            <a:avLst/>
          </a:prstGeom>
          <a:noFill/>
          <a:ln>
            <a:noFill/>
          </a:ln>
        </p:spPr>
        <p:txBody>
          <a:bodyPr spcFirstLastPara="1" wrap="square" lIns="91425" tIns="91425" rIns="91425" bIns="91425" anchor="t" anchorCtr="0">
            <a:normAutofit/>
          </a:bodyPr>
          <a:lstStyle/>
          <a:p>
            <a:pPr marL="114300" indent="0" algn="ctr">
              <a:buClr>
                <a:srgbClr val="800020"/>
              </a:buClr>
              <a:buNone/>
            </a:pPr>
            <a:r>
              <a:rPr lang="fr-FR" sz="2000" dirty="0">
                <a:solidFill>
                  <a:srgbClr val="004D40"/>
                </a:solidFill>
                <a:latin typeface="Lato" panose="020F0502020204030203" pitchFamily="34" charset="0"/>
                <a:ea typeface="Montserrat"/>
                <a:cs typeface="Lato" panose="020F0502020204030203" pitchFamily="34" charset="0"/>
                <a:sym typeface="Montserrat"/>
              </a:rPr>
              <a:t>Analyse du taux de marge :</a:t>
            </a:r>
          </a:p>
        </p:txBody>
      </p:sp>
      <p:pic>
        <p:nvPicPr>
          <p:cNvPr id="2" name="Graphique 1" descr="Pièces contour">
            <a:extLst>
              <a:ext uri="{FF2B5EF4-FFF2-40B4-BE49-F238E27FC236}">
                <a16:creationId xmlns:a16="http://schemas.microsoft.com/office/drawing/2014/main" id="{23384313-EA2B-E26C-6009-038A2CB4079C}"/>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25752" y="1106624"/>
            <a:ext cx="387052" cy="387052"/>
          </a:xfrm>
          <a:prstGeom prst="rect">
            <a:avLst/>
          </a:prstGeom>
        </p:spPr>
      </p:pic>
      <p:pic>
        <p:nvPicPr>
          <p:cNvPr id="4" name="Image 3">
            <a:extLst>
              <a:ext uri="{FF2B5EF4-FFF2-40B4-BE49-F238E27FC236}">
                <a16:creationId xmlns:a16="http://schemas.microsoft.com/office/drawing/2014/main" id="{77014B35-4FAC-8DF2-10C8-FD991EFA681C}"/>
              </a:ext>
            </a:extLst>
          </p:cNvPr>
          <p:cNvPicPr>
            <a:picLocks noChangeAspect="1"/>
          </p:cNvPicPr>
          <p:nvPr/>
        </p:nvPicPr>
        <p:blipFill>
          <a:blip r:embed="rId5"/>
          <a:srcRect/>
          <a:stretch/>
        </p:blipFill>
        <p:spPr>
          <a:xfrm>
            <a:off x="199835" y="1625975"/>
            <a:ext cx="5756465" cy="3326322"/>
          </a:xfrm>
          <a:prstGeom prst="rect">
            <a:avLst/>
          </a:prstGeom>
          <a:ln w="12700">
            <a:solidFill>
              <a:srgbClr val="800020"/>
            </a:solidFill>
          </a:ln>
        </p:spPr>
      </p:pic>
      <p:sp>
        <p:nvSpPr>
          <p:cNvPr id="3" name="ZoneTexte 2">
            <a:extLst>
              <a:ext uri="{FF2B5EF4-FFF2-40B4-BE49-F238E27FC236}">
                <a16:creationId xmlns:a16="http://schemas.microsoft.com/office/drawing/2014/main" id="{9508B2A4-69BA-F56B-15A3-93073FADF5AA}"/>
              </a:ext>
            </a:extLst>
          </p:cNvPr>
          <p:cNvSpPr txBox="1"/>
          <p:nvPr/>
        </p:nvSpPr>
        <p:spPr>
          <a:xfrm>
            <a:off x="5956300" y="1625978"/>
            <a:ext cx="2987865" cy="3326322"/>
          </a:xfrm>
          <a:prstGeom prst="rect">
            <a:avLst/>
          </a:prstGeom>
          <a:noFill/>
        </p:spPr>
        <p:txBody>
          <a:bodyPr wrap="square" rtlCol="0" anchor="ctr">
            <a:noAutofit/>
          </a:bodyPr>
          <a:lstStyle/>
          <a:p>
            <a:pPr marL="285750" indent="-285750">
              <a:buClr>
                <a:srgbClr val="800020"/>
              </a:buClr>
              <a:buSzPct val="90000"/>
              <a:buFont typeface="Arial" panose="020B0604020202020204" pitchFamily="34" charset="0"/>
              <a:buChar char="•"/>
            </a:pPr>
            <a:r>
              <a:rPr lang="fr-FR" dirty="0">
                <a:solidFill>
                  <a:srgbClr val="004D40"/>
                </a:solidFill>
                <a:latin typeface="Lato" panose="020F0502020204030203" pitchFamily="34" charset="0"/>
                <a:cs typeface="Lato" panose="020F0502020204030203" pitchFamily="34" charset="0"/>
              </a:rPr>
              <a:t>Moteurs de rentabilité : </a:t>
            </a:r>
            <a:r>
              <a:rPr lang="fr-FR" dirty="0">
                <a:latin typeface="Lato Light" panose="020F0302020204030203" pitchFamily="34" charset="0"/>
              </a:rPr>
              <a:t>Spiritueux (Cognac, Whisky, Gin) avec des marges cibles</a:t>
            </a:r>
          </a:p>
          <a:p>
            <a:pPr marL="285750" indent="-285750">
              <a:buClr>
                <a:srgbClr val="800020"/>
              </a:buClr>
              <a:buSzPct val="90000"/>
              <a:buFont typeface="Arial" panose="020B0604020202020204" pitchFamily="34" charset="0"/>
              <a:buChar char="•"/>
            </a:pPr>
            <a:r>
              <a:rPr lang="fr-FR" dirty="0">
                <a:solidFill>
                  <a:srgbClr val="004D40"/>
                </a:solidFill>
                <a:latin typeface="Lato" panose="020F0502020204030203" pitchFamily="34" charset="0"/>
                <a:cs typeface="Lato" panose="020F0502020204030203" pitchFamily="34" charset="0"/>
              </a:rPr>
              <a:t>Cœur de métier : </a:t>
            </a:r>
            <a:r>
              <a:rPr lang="fr-FR" dirty="0">
                <a:latin typeface="Lato Light" panose="020F0302020204030203" pitchFamily="34" charset="0"/>
              </a:rPr>
              <a:t>Le Vin maintient une marge solide de 61,5%</a:t>
            </a:r>
          </a:p>
          <a:p>
            <a:pPr marL="285750" indent="-285750">
              <a:buClr>
                <a:srgbClr val="800020"/>
              </a:buClr>
              <a:buSzPct val="90000"/>
              <a:buFont typeface="Arial" panose="020B0604020202020204" pitchFamily="34" charset="0"/>
              <a:buChar char="•"/>
            </a:pPr>
            <a:r>
              <a:rPr lang="fr-FR" dirty="0">
                <a:solidFill>
                  <a:srgbClr val="004D40"/>
                </a:solidFill>
                <a:latin typeface="Lato" panose="020F0502020204030203" pitchFamily="34" charset="0"/>
                <a:cs typeface="Lato" panose="020F0502020204030203" pitchFamily="34" charset="0"/>
              </a:rPr>
              <a:t>Produits d'appel : </a:t>
            </a:r>
            <a:r>
              <a:rPr lang="fr-FR" dirty="0">
                <a:latin typeface="Lato Light" panose="020F0302020204030203" pitchFamily="34" charset="0"/>
              </a:rPr>
              <a:t>Champagne et Huile d'olive affichent des marges plus faibles</a:t>
            </a:r>
          </a:p>
          <a:p>
            <a:pPr marL="285750" indent="-285750">
              <a:buClr>
                <a:srgbClr val="800020"/>
              </a:buClr>
              <a:buSzPct val="90000"/>
              <a:buFont typeface="Arial" panose="020B0604020202020204" pitchFamily="34" charset="0"/>
              <a:buChar char="•"/>
            </a:pPr>
            <a:r>
              <a:rPr lang="fr-FR" dirty="0">
                <a:solidFill>
                  <a:srgbClr val="004D40"/>
                </a:solidFill>
                <a:latin typeface="Lato" panose="020F0502020204030203" pitchFamily="34" charset="0"/>
                <a:cs typeface="Lato" panose="020F0502020204030203" pitchFamily="34" charset="0"/>
              </a:rPr>
              <a:t>Marge Moyenne Globale : </a:t>
            </a:r>
            <a:r>
              <a:rPr lang="fr-FR" dirty="0">
                <a:latin typeface="Lato Light" panose="020F0302020204030203" pitchFamily="34" charset="0"/>
              </a:rPr>
              <a:t>61,22%</a:t>
            </a:r>
          </a:p>
        </p:txBody>
      </p:sp>
      <p:pic>
        <p:nvPicPr>
          <p:cNvPr id="6" name="Graphique 5" descr="Signal contour">
            <a:extLst>
              <a:ext uri="{FF2B5EF4-FFF2-40B4-BE49-F238E27FC236}">
                <a16:creationId xmlns:a16="http://schemas.microsoft.com/office/drawing/2014/main" id="{78FEB2B2-E1FB-2AFE-C62C-6A28DF35D6B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213971" y="1389717"/>
            <a:ext cx="472520" cy="472520"/>
          </a:xfrm>
          <a:prstGeom prst="rect">
            <a:avLst/>
          </a:prstGeom>
        </p:spPr>
      </p:pic>
      <p:pic>
        <p:nvPicPr>
          <p:cNvPr id="7" name="Graphique 6" descr="Raisins contour">
            <a:extLst>
              <a:ext uri="{FF2B5EF4-FFF2-40B4-BE49-F238E27FC236}">
                <a16:creationId xmlns:a16="http://schemas.microsoft.com/office/drawing/2014/main" id="{AAB5F2E8-52ED-9974-CAC5-577BF9DA0942}"/>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7587375" y="191200"/>
            <a:ext cx="661100" cy="661100"/>
          </a:xfrm>
          <a:prstGeom prst="rect">
            <a:avLst/>
          </a:prstGeom>
        </p:spPr>
      </p:pic>
    </p:spTree>
    <p:extLst>
      <p:ext uri="{BB962C8B-B14F-4D97-AF65-F5344CB8AC3E}">
        <p14:creationId xmlns:p14="http://schemas.microsoft.com/office/powerpoint/2010/main" val="9495137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FCA9248A-CA48-F56D-C60D-A08EAA7C68B1}"/>
            </a:ext>
          </a:extLst>
        </p:cNvPr>
        <p:cNvGrpSpPr/>
        <p:nvPr/>
      </p:nvGrpSpPr>
      <p:grpSpPr>
        <a:xfrm>
          <a:off x="0" y="0"/>
          <a:ext cx="0" cy="0"/>
          <a:chOff x="0" y="0"/>
          <a:chExt cx="0" cy="0"/>
        </a:xfrm>
      </p:grpSpPr>
      <p:sp>
        <p:nvSpPr>
          <p:cNvPr id="87" name="Google Shape;87;p7">
            <a:extLst>
              <a:ext uri="{FF2B5EF4-FFF2-40B4-BE49-F238E27FC236}">
                <a16:creationId xmlns:a16="http://schemas.microsoft.com/office/drawing/2014/main" id="{D9F06909-6AD7-6585-95B2-2E679A2090F8}"/>
              </a:ext>
            </a:extLst>
          </p:cNvPr>
          <p:cNvSpPr/>
          <p:nvPr/>
        </p:nvSpPr>
        <p:spPr>
          <a:xfrm>
            <a:off x="0" y="0"/>
            <a:ext cx="9144000" cy="1029457"/>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7">
            <a:extLst>
              <a:ext uri="{FF2B5EF4-FFF2-40B4-BE49-F238E27FC236}">
                <a16:creationId xmlns:a16="http://schemas.microsoft.com/office/drawing/2014/main" id="{1A13F74D-289E-990D-206A-B441DE2EB0BF}"/>
              </a:ext>
            </a:extLst>
          </p:cNvPr>
          <p:cNvSpPr txBox="1"/>
          <p:nvPr/>
        </p:nvSpPr>
        <p:spPr>
          <a:xfrm>
            <a:off x="895525" y="170093"/>
            <a:ext cx="8248475"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dirty="0">
                <a:solidFill>
                  <a:srgbClr val="F3F3F3"/>
                </a:solidFill>
                <a:latin typeface="Lato Semibold" panose="020F0502020204030203" pitchFamily="34" charset="0"/>
                <a:ea typeface="Lato Semibold" panose="020F0502020204030203" pitchFamily="34" charset="0"/>
                <a:cs typeface="Lato Semibold" panose="020F0502020204030203" pitchFamily="34" charset="0"/>
                <a:sym typeface="Montserrat"/>
              </a:rPr>
              <a:t>Analyses complémentaires</a:t>
            </a:r>
          </a:p>
        </p:txBody>
      </p:sp>
      <p:sp>
        <p:nvSpPr>
          <p:cNvPr id="89" name="Google Shape;89;p7">
            <a:extLst>
              <a:ext uri="{FF2B5EF4-FFF2-40B4-BE49-F238E27FC236}">
                <a16:creationId xmlns:a16="http://schemas.microsoft.com/office/drawing/2014/main" id="{D444BE83-FACB-8C72-21A5-4DBEB1B03425}"/>
              </a:ext>
            </a:extLst>
          </p:cNvPr>
          <p:cNvSpPr/>
          <p:nvPr/>
        </p:nvSpPr>
        <p:spPr>
          <a:xfrm>
            <a:off x="1012175" y="792199"/>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7">
            <a:extLst>
              <a:ext uri="{FF2B5EF4-FFF2-40B4-BE49-F238E27FC236}">
                <a16:creationId xmlns:a16="http://schemas.microsoft.com/office/drawing/2014/main" id="{498CBF63-C411-6B4B-F13E-67761734D795}"/>
              </a:ext>
            </a:extLst>
          </p:cNvPr>
          <p:cNvSpPr txBox="1">
            <a:spLocks noGrp="1"/>
          </p:cNvSpPr>
          <p:nvPr>
            <p:ph type="body" idx="1"/>
          </p:nvPr>
        </p:nvSpPr>
        <p:spPr>
          <a:xfrm>
            <a:off x="325579" y="1029457"/>
            <a:ext cx="4060125" cy="596519"/>
          </a:xfrm>
          <a:prstGeom prst="rect">
            <a:avLst/>
          </a:prstGeom>
          <a:noFill/>
          <a:ln>
            <a:noFill/>
          </a:ln>
        </p:spPr>
        <p:txBody>
          <a:bodyPr spcFirstLastPara="1" wrap="square" lIns="91425" tIns="91425" rIns="91425" bIns="91425" anchor="t" anchorCtr="0">
            <a:normAutofit/>
          </a:bodyPr>
          <a:lstStyle/>
          <a:p>
            <a:pPr marL="114300" indent="0" algn="ctr">
              <a:buClr>
                <a:srgbClr val="800020"/>
              </a:buClr>
              <a:buNone/>
            </a:pPr>
            <a:r>
              <a:rPr lang="fr-FR" sz="2000" dirty="0">
                <a:solidFill>
                  <a:srgbClr val="004D40"/>
                </a:solidFill>
                <a:latin typeface="Lato" panose="020F0502020204030203" pitchFamily="34" charset="0"/>
                <a:ea typeface="Montserrat"/>
                <a:cs typeface="Lato" panose="020F0502020204030203" pitchFamily="34" charset="0"/>
                <a:sym typeface="Montserrat"/>
              </a:rPr>
              <a:t>Analyse bivariée : Corrélations</a:t>
            </a:r>
          </a:p>
        </p:txBody>
      </p:sp>
      <p:pic>
        <p:nvPicPr>
          <p:cNvPr id="2" name="Graphique 1" descr="Offre et demande contour">
            <a:extLst>
              <a:ext uri="{FF2B5EF4-FFF2-40B4-BE49-F238E27FC236}">
                <a16:creationId xmlns:a16="http://schemas.microsoft.com/office/drawing/2014/main" id="{82E1810D-76A3-60EB-428E-CF3207F5974F}"/>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258253" y="1109895"/>
            <a:ext cx="387052" cy="387052"/>
          </a:xfrm>
          <a:prstGeom prst="rect">
            <a:avLst/>
          </a:prstGeom>
        </p:spPr>
      </p:pic>
      <p:pic>
        <p:nvPicPr>
          <p:cNvPr id="4" name="Image 3">
            <a:extLst>
              <a:ext uri="{FF2B5EF4-FFF2-40B4-BE49-F238E27FC236}">
                <a16:creationId xmlns:a16="http://schemas.microsoft.com/office/drawing/2014/main" id="{9BFE09F2-6AE8-071D-D015-48877500B46B}"/>
              </a:ext>
            </a:extLst>
          </p:cNvPr>
          <p:cNvPicPr>
            <a:picLocks noChangeAspect="1"/>
          </p:cNvPicPr>
          <p:nvPr/>
        </p:nvPicPr>
        <p:blipFill>
          <a:blip r:embed="rId5"/>
          <a:srcRect/>
          <a:stretch/>
        </p:blipFill>
        <p:spPr>
          <a:xfrm>
            <a:off x="325579" y="1625977"/>
            <a:ext cx="4060126" cy="3368058"/>
          </a:xfrm>
          <a:prstGeom prst="rect">
            <a:avLst/>
          </a:prstGeom>
          <a:ln w="12700">
            <a:solidFill>
              <a:srgbClr val="800020"/>
            </a:solidFill>
          </a:ln>
        </p:spPr>
      </p:pic>
      <p:sp>
        <p:nvSpPr>
          <p:cNvPr id="3" name="ZoneTexte 2">
            <a:extLst>
              <a:ext uri="{FF2B5EF4-FFF2-40B4-BE49-F238E27FC236}">
                <a16:creationId xmlns:a16="http://schemas.microsoft.com/office/drawing/2014/main" id="{4B22C6F6-A3F5-2E77-FB6C-A7E340F2F191}"/>
              </a:ext>
            </a:extLst>
          </p:cNvPr>
          <p:cNvSpPr txBox="1"/>
          <p:nvPr/>
        </p:nvSpPr>
        <p:spPr>
          <a:xfrm>
            <a:off x="4385705" y="2058914"/>
            <a:ext cx="4558459" cy="2935121"/>
          </a:xfrm>
          <a:prstGeom prst="rect">
            <a:avLst/>
          </a:prstGeom>
          <a:noFill/>
        </p:spPr>
        <p:txBody>
          <a:bodyPr wrap="square" rtlCol="0" anchor="ctr">
            <a:noAutofit/>
          </a:bodyPr>
          <a:lstStyle/>
          <a:p>
            <a:pPr algn="ctr"/>
            <a:r>
              <a:rPr lang="fr-FR" sz="1600" dirty="0">
                <a:solidFill>
                  <a:srgbClr val="004D40"/>
                </a:solidFill>
                <a:latin typeface="Lato" panose="020F0502020204030203" pitchFamily="34" charset="0"/>
              </a:rPr>
              <a:t>Lecture du graphique :</a:t>
            </a:r>
          </a:p>
          <a:p>
            <a:endParaRPr lang="fr-FR" dirty="0">
              <a:latin typeface="Lato Light" panose="020F0302020204030203" pitchFamily="34" charset="0"/>
            </a:endParaRPr>
          </a:p>
          <a:p>
            <a:pPr marL="285750" indent="-285750">
              <a:buClr>
                <a:srgbClr val="800020"/>
              </a:buClr>
              <a:buSzPct val="90000"/>
              <a:buFont typeface="Arial" panose="020B0604020202020204" pitchFamily="34" charset="0"/>
              <a:buChar char="•"/>
            </a:pPr>
            <a:r>
              <a:rPr lang="fr-FR" dirty="0">
                <a:solidFill>
                  <a:srgbClr val="004D40"/>
                </a:solidFill>
                <a:latin typeface="Lato Light" panose="020F0302020204030203" pitchFamily="34" charset="0"/>
              </a:rPr>
              <a:t>Prix vs Ventes (-0,52) : </a:t>
            </a:r>
            <a:r>
              <a:rPr lang="fr-FR" dirty="0">
                <a:latin typeface="Lato Light" panose="020F0302020204030203" pitchFamily="34" charset="0"/>
              </a:rPr>
              <a:t>Corrélation négative marquée </a:t>
            </a:r>
            <a:r>
              <a:rPr lang="fr-FR" dirty="0">
                <a:solidFill>
                  <a:schemeClr val="tx1"/>
                </a:solidFill>
                <a:latin typeface="Lato Light" panose="020F0502020204030203" pitchFamily="34" charset="0"/>
                <a:ea typeface="Montserrat"/>
                <a:cs typeface="Lato Light" panose="020F0502020204030203" pitchFamily="34" charset="0"/>
                <a:sym typeface="Montserrat"/>
              </a:rPr>
              <a:t>➜ </a:t>
            </a:r>
            <a:r>
              <a:rPr lang="fr-FR" dirty="0">
                <a:latin typeface="Lato Light" panose="020F0302020204030203" pitchFamily="34" charset="0"/>
              </a:rPr>
              <a:t>l'augmentation du prix impacte significativement le volume de ventes.</a:t>
            </a:r>
          </a:p>
          <a:p>
            <a:pPr marL="285750" indent="-285750">
              <a:buClr>
                <a:srgbClr val="800020"/>
              </a:buClr>
              <a:buSzPct val="90000"/>
              <a:buFont typeface="Arial" panose="020B0604020202020204" pitchFamily="34" charset="0"/>
              <a:buChar char="•"/>
            </a:pPr>
            <a:r>
              <a:rPr lang="fr-FR" dirty="0">
                <a:solidFill>
                  <a:srgbClr val="004D40"/>
                </a:solidFill>
                <a:latin typeface="Lato Light" panose="020F0302020204030203" pitchFamily="34" charset="0"/>
              </a:rPr>
              <a:t>Stock vs Ventes (0,44) : </a:t>
            </a:r>
            <a:r>
              <a:rPr lang="fr-FR" dirty="0">
                <a:latin typeface="Lato Light" panose="020F0302020204030203" pitchFamily="34" charset="0"/>
              </a:rPr>
              <a:t>Corrélation positive modérée </a:t>
            </a:r>
            <a:r>
              <a:rPr lang="fr-FR" dirty="0">
                <a:solidFill>
                  <a:schemeClr val="tx1"/>
                </a:solidFill>
                <a:latin typeface="Lato Light" panose="020F0502020204030203" pitchFamily="34" charset="0"/>
                <a:ea typeface="Montserrat"/>
                <a:cs typeface="Lato Light" panose="020F0502020204030203" pitchFamily="34" charset="0"/>
                <a:sym typeface="Montserrat"/>
              </a:rPr>
              <a:t>➜</a:t>
            </a:r>
            <a:r>
              <a:rPr lang="fr-FR" dirty="0">
                <a:latin typeface="Lato Light" panose="020F0302020204030203" pitchFamily="34" charset="0"/>
              </a:rPr>
              <a:t> une stratégie de stockage cohérente avec les meilleures ventes du catalogue.</a:t>
            </a:r>
          </a:p>
          <a:p>
            <a:pPr marL="285750" indent="-285750">
              <a:buClr>
                <a:srgbClr val="800020"/>
              </a:buClr>
              <a:buSzPct val="90000"/>
              <a:buFont typeface="Arial" panose="020B0604020202020204" pitchFamily="34" charset="0"/>
              <a:buChar char="•"/>
            </a:pPr>
            <a:r>
              <a:rPr lang="fr-FR" dirty="0">
                <a:solidFill>
                  <a:srgbClr val="004D40"/>
                </a:solidFill>
                <a:latin typeface="Lato Light" panose="020F0302020204030203" pitchFamily="34" charset="0"/>
              </a:rPr>
              <a:t>Stock vs Prix (-0,11) : </a:t>
            </a:r>
            <a:r>
              <a:rPr lang="fr-FR" dirty="0">
                <a:latin typeface="Lato Light" panose="020F0302020204030203" pitchFamily="34" charset="0"/>
              </a:rPr>
              <a:t>Absence de lien significatif     </a:t>
            </a:r>
            <a:r>
              <a:rPr lang="fr-FR" dirty="0">
                <a:solidFill>
                  <a:schemeClr val="tx1"/>
                </a:solidFill>
                <a:latin typeface="Lato Light" panose="020F0502020204030203" pitchFamily="34" charset="0"/>
                <a:ea typeface="Montserrat"/>
                <a:cs typeface="Lato Light" panose="020F0502020204030203" pitchFamily="34" charset="0"/>
                <a:sym typeface="Montserrat"/>
              </a:rPr>
              <a:t>➜</a:t>
            </a:r>
            <a:r>
              <a:rPr lang="fr-FR" dirty="0">
                <a:solidFill>
                  <a:schemeClr val="tx1"/>
                </a:solidFill>
                <a:latin typeface="Lato Light" panose="020F0302020204030203" pitchFamily="34" charset="0"/>
                <a:ea typeface="Montserrat"/>
                <a:cs typeface="Lato Light" panose="020F0502020204030203" pitchFamily="34" charset="0"/>
                <a:sym typeface="Montserrat"/>
              </a:rPr>
              <a:t> </a:t>
            </a:r>
            <a:r>
              <a:rPr lang="fr-FR" dirty="0">
                <a:latin typeface="Lato Light" panose="020F0302020204030203" pitchFamily="34" charset="0"/>
              </a:rPr>
              <a:t>le prix n'est pas le levier principal de la stratégie de stockage.</a:t>
            </a:r>
          </a:p>
        </p:txBody>
      </p:sp>
      <p:pic>
        <p:nvPicPr>
          <p:cNvPr id="6" name="Graphique 5" descr="Livre ouvert contour">
            <a:extLst>
              <a:ext uri="{FF2B5EF4-FFF2-40B4-BE49-F238E27FC236}">
                <a16:creationId xmlns:a16="http://schemas.microsoft.com/office/drawing/2014/main" id="{92139FEA-3CAB-A075-2112-56CE9FBED037}"/>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6290999" y="1625977"/>
            <a:ext cx="747870" cy="747870"/>
          </a:xfrm>
          <a:prstGeom prst="rect">
            <a:avLst/>
          </a:prstGeom>
        </p:spPr>
      </p:pic>
      <p:pic>
        <p:nvPicPr>
          <p:cNvPr id="5" name="Graphique 4" descr="Raisins contour">
            <a:extLst>
              <a:ext uri="{FF2B5EF4-FFF2-40B4-BE49-F238E27FC236}">
                <a16:creationId xmlns:a16="http://schemas.microsoft.com/office/drawing/2014/main" id="{FE6F1A5F-BDF5-9F43-3B64-DC7D830F8B86}"/>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7587375" y="191200"/>
            <a:ext cx="661100" cy="661100"/>
          </a:xfrm>
          <a:prstGeom prst="rect">
            <a:avLst/>
          </a:prstGeom>
        </p:spPr>
      </p:pic>
    </p:spTree>
    <p:extLst>
      <p:ext uri="{BB962C8B-B14F-4D97-AF65-F5344CB8AC3E}">
        <p14:creationId xmlns:p14="http://schemas.microsoft.com/office/powerpoint/2010/main" val="34091198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001B261D-8495-BB28-CBE4-8A93E2C07AF7}"/>
            </a:ext>
          </a:extLst>
        </p:cNvPr>
        <p:cNvGrpSpPr/>
        <p:nvPr/>
      </p:nvGrpSpPr>
      <p:grpSpPr>
        <a:xfrm>
          <a:off x="0" y="0"/>
          <a:ext cx="0" cy="0"/>
          <a:chOff x="0" y="0"/>
          <a:chExt cx="0" cy="0"/>
        </a:xfrm>
      </p:grpSpPr>
      <p:sp>
        <p:nvSpPr>
          <p:cNvPr id="87" name="Google Shape;87;p7">
            <a:extLst>
              <a:ext uri="{FF2B5EF4-FFF2-40B4-BE49-F238E27FC236}">
                <a16:creationId xmlns:a16="http://schemas.microsoft.com/office/drawing/2014/main" id="{39C7D8B6-376C-B098-E7C4-5ABDF7ACBC2A}"/>
              </a:ext>
            </a:extLst>
          </p:cNvPr>
          <p:cNvSpPr/>
          <p:nvPr/>
        </p:nvSpPr>
        <p:spPr>
          <a:xfrm>
            <a:off x="0" y="0"/>
            <a:ext cx="9144000" cy="1029457"/>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7">
            <a:extLst>
              <a:ext uri="{FF2B5EF4-FFF2-40B4-BE49-F238E27FC236}">
                <a16:creationId xmlns:a16="http://schemas.microsoft.com/office/drawing/2014/main" id="{8C337216-212D-DE54-A2F3-CDF7EA5CF0C1}"/>
              </a:ext>
            </a:extLst>
          </p:cNvPr>
          <p:cNvSpPr txBox="1"/>
          <p:nvPr/>
        </p:nvSpPr>
        <p:spPr>
          <a:xfrm>
            <a:off x="895525" y="167116"/>
            <a:ext cx="8248475"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dirty="0">
                <a:solidFill>
                  <a:srgbClr val="F3F3F3"/>
                </a:solidFill>
                <a:latin typeface="Lato Semibold" panose="020F0502020204030203" pitchFamily="34" charset="0"/>
                <a:ea typeface="Lato Semibold" panose="020F0502020204030203" pitchFamily="34" charset="0"/>
                <a:cs typeface="Lato Semibold" panose="020F0502020204030203" pitchFamily="34" charset="0"/>
                <a:sym typeface="Montserrat"/>
              </a:rPr>
              <a:t>Analyses complémentaires</a:t>
            </a:r>
          </a:p>
        </p:txBody>
      </p:sp>
      <p:sp>
        <p:nvSpPr>
          <p:cNvPr id="89" name="Google Shape;89;p7">
            <a:extLst>
              <a:ext uri="{FF2B5EF4-FFF2-40B4-BE49-F238E27FC236}">
                <a16:creationId xmlns:a16="http://schemas.microsoft.com/office/drawing/2014/main" id="{BC5FEC72-9439-070C-D310-3BBD148190AE}"/>
              </a:ext>
            </a:extLst>
          </p:cNvPr>
          <p:cNvSpPr/>
          <p:nvPr/>
        </p:nvSpPr>
        <p:spPr>
          <a:xfrm>
            <a:off x="1012175" y="789222"/>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 name="Google Shape;63;p4">
            <a:extLst>
              <a:ext uri="{FF2B5EF4-FFF2-40B4-BE49-F238E27FC236}">
                <a16:creationId xmlns:a16="http://schemas.microsoft.com/office/drawing/2014/main" id="{0E10DC45-3B5D-9C17-F5AA-3061C5A0527C}"/>
              </a:ext>
            </a:extLst>
          </p:cNvPr>
          <p:cNvSpPr txBox="1">
            <a:spLocks/>
          </p:cNvSpPr>
          <p:nvPr/>
        </p:nvSpPr>
        <p:spPr>
          <a:xfrm>
            <a:off x="895525" y="1139423"/>
            <a:ext cx="8012512" cy="3521477"/>
          </a:xfrm>
          <a:prstGeom prst="rect">
            <a:avLst/>
          </a:prstGeom>
          <a:noFill/>
          <a:ln>
            <a:noFill/>
          </a:ln>
        </p:spPr>
        <p:txBody>
          <a:bodyPr spcFirstLastPara="1" wrap="square" lIns="91425" tIns="91425" rIns="91425" bIns="91425" anchor="ctr" anchorCtr="0">
            <a:normAutofit fontScale="92500" lnSpcReduction="10000"/>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14300" indent="0">
              <a:lnSpc>
                <a:spcPct val="160000"/>
              </a:lnSpc>
              <a:buClr>
                <a:srgbClr val="999999"/>
              </a:buClr>
              <a:buNone/>
            </a:pPr>
            <a:r>
              <a:rPr lang="fr" sz="2000" dirty="0">
                <a:solidFill>
                  <a:schemeClr val="tx1"/>
                </a:solidFill>
                <a:latin typeface="Lato Light" panose="020F0502020204030203" pitchFamily="34" charset="0"/>
                <a:cs typeface="Lato Light" panose="020F0502020204030203" pitchFamily="34" charset="0"/>
                <a:sym typeface="Montserrat"/>
              </a:rPr>
              <a:t>	</a:t>
            </a:r>
            <a:r>
              <a:rPr lang="fr-FR" sz="2000" dirty="0">
                <a:solidFill>
                  <a:srgbClr val="004D40"/>
                </a:solidFill>
                <a:latin typeface="Lato" panose="020F0502020204030203" pitchFamily="34" charset="0"/>
                <a:cs typeface="Lato" panose="020F0502020204030203" pitchFamily="34" charset="0"/>
                <a:sym typeface="Montserrat"/>
              </a:rPr>
              <a:t>Audit de données &amp; Limites de l'étude</a:t>
            </a:r>
          </a:p>
          <a:p>
            <a:pPr>
              <a:lnSpc>
                <a:spcPct val="160000"/>
              </a:lnSpc>
              <a:buClr>
                <a:srgbClr val="800020"/>
              </a:buClr>
              <a:buSzPct val="90000"/>
            </a:pPr>
            <a:r>
              <a:rPr lang="fr-FR" dirty="0">
                <a:solidFill>
                  <a:schemeClr val="tx1"/>
                </a:solidFill>
                <a:latin typeface="Lato Light" panose="020F0502020204030203" pitchFamily="34" charset="0"/>
                <a:ea typeface="Montserrat"/>
                <a:cs typeface="Lato Light" panose="020F0502020204030203" pitchFamily="34" charset="0"/>
                <a:sym typeface="Montserrat"/>
              </a:rPr>
              <a:t>Correction Prioritaire (ID 4355) : </a:t>
            </a:r>
          </a:p>
          <a:p>
            <a:pPr lvl="1">
              <a:buClr>
                <a:srgbClr val="800020"/>
              </a:buClr>
              <a:buSzPct val="90000"/>
            </a:pPr>
            <a:r>
              <a:rPr lang="fr-FR" dirty="0">
                <a:solidFill>
                  <a:schemeClr val="tx1"/>
                </a:solidFill>
                <a:latin typeface="Lato Light" panose="020F0502020204030203" pitchFamily="34" charset="0"/>
                <a:ea typeface="Montserrat"/>
                <a:cs typeface="Lato Light" panose="020F0502020204030203" pitchFamily="34" charset="0"/>
                <a:sym typeface="Montserrat"/>
              </a:rPr>
              <a:t>Identification d'une erreur de </a:t>
            </a:r>
            <a:r>
              <a:rPr lang="fr-FR" dirty="0" err="1">
                <a:solidFill>
                  <a:schemeClr val="tx1"/>
                </a:solidFill>
                <a:latin typeface="Lato Light" panose="020F0502020204030203" pitchFamily="34" charset="0"/>
                <a:ea typeface="Montserrat"/>
                <a:cs typeface="Lato Light" panose="020F0502020204030203" pitchFamily="34" charset="0"/>
                <a:sym typeface="Montserrat"/>
              </a:rPr>
              <a:t>pricing</a:t>
            </a:r>
            <a:r>
              <a:rPr lang="fr-FR" dirty="0">
                <a:solidFill>
                  <a:schemeClr val="tx1"/>
                </a:solidFill>
                <a:latin typeface="Lato Light" panose="020F0502020204030203" pitchFamily="34" charset="0"/>
                <a:ea typeface="Montserrat"/>
                <a:cs typeface="Lato Light" panose="020F0502020204030203" pitchFamily="34" charset="0"/>
                <a:sym typeface="Montserrat"/>
              </a:rPr>
              <a:t> critique sur un vin (Prix achat 77,48 € HT vs Prix vente 10,54 € HT)</a:t>
            </a:r>
          </a:p>
          <a:p>
            <a:pPr>
              <a:buClr>
                <a:srgbClr val="800020"/>
              </a:buClr>
              <a:buSzPct val="90000"/>
            </a:pPr>
            <a:r>
              <a:rPr lang="fr-FR" dirty="0">
                <a:solidFill>
                  <a:schemeClr val="tx1"/>
                </a:solidFill>
                <a:latin typeface="Lato Light" panose="020F0502020204030203" pitchFamily="34" charset="0"/>
                <a:ea typeface="Montserrat"/>
                <a:cs typeface="Lato Light" panose="020F0502020204030203" pitchFamily="34" charset="0"/>
                <a:sym typeface="Montserrat"/>
              </a:rPr>
              <a:t>Fiabilité de l'analyse : </a:t>
            </a:r>
          </a:p>
          <a:p>
            <a:pPr lvl="1">
              <a:buClr>
                <a:srgbClr val="800020"/>
              </a:buClr>
              <a:buSzPct val="90000"/>
            </a:pPr>
            <a:r>
              <a:rPr lang="fr-FR" dirty="0">
                <a:solidFill>
                  <a:schemeClr val="tx1"/>
                </a:solidFill>
                <a:latin typeface="Lato Light" panose="020F0502020204030203" pitchFamily="34" charset="0"/>
                <a:ea typeface="Montserrat"/>
                <a:cs typeface="Lato Light" panose="020F0502020204030203" pitchFamily="34" charset="0"/>
                <a:sym typeface="Montserrat"/>
              </a:rPr>
              <a:t>Les indicateurs de performance (CA, Ventes, Marges) reposent sur un historique limité à un seul mois</a:t>
            </a:r>
          </a:p>
          <a:p>
            <a:pPr>
              <a:buClr>
                <a:srgbClr val="800020"/>
              </a:buClr>
              <a:buSzPct val="90000"/>
            </a:pPr>
            <a:r>
              <a:rPr lang="fr-FR" dirty="0">
                <a:solidFill>
                  <a:schemeClr val="tx1"/>
                </a:solidFill>
                <a:latin typeface="Lato Light" panose="020F0502020204030203" pitchFamily="34" charset="0"/>
                <a:ea typeface="Montserrat"/>
                <a:cs typeface="Lato Light" panose="020F0502020204030203" pitchFamily="34" charset="0"/>
                <a:sym typeface="Montserrat"/>
              </a:rPr>
              <a:t>Saisonnalité : </a:t>
            </a:r>
          </a:p>
          <a:p>
            <a:pPr lvl="1">
              <a:buClr>
                <a:srgbClr val="800020"/>
              </a:buClr>
              <a:buSzPct val="90000"/>
            </a:pPr>
            <a:r>
              <a:rPr lang="fr-FR" dirty="0">
                <a:solidFill>
                  <a:schemeClr val="tx1"/>
                </a:solidFill>
                <a:latin typeface="Lato Light" panose="020F0502020204030203" pitchFamily="34" charset="0"/>
                <a:ea typeface="Montserrat"/>
                <a:cs typeface="Lato Light" panose="020F0502020204030203" pitchFamily="34" charset="0"/>
                <a:sym typeface="Montserrat"/>
              </a:rPr>
              <a:t>Les projections de stock (ex: 25 mois sur le Champagne) sont à pondérer par l'anticipation du pic d'activité de fin d'année</a:t>
            </a:r>
          </a:p>
          <a:p>
            <a:pPr>
              <a:buClr>
                <a:srgbClr val="800020"/>
              </a:buClr>
              <a:buSzPct val="90000"/>
            </a:pPr>
            <a:r>
              <a:rPr lang="fr-FR" dirty="0">
                <a:solidFill>
                  <a:schemeClr val="tx1"/>
                </a:solidFill>
                <a:latin typeface="Lato Light" panose="020F0502020204030203" pitchFamily="34" charset="0"/>
                <a:ea typeface="Montserrat"/>
                <a:cs typeface="Lato Light" panose="020F0502020204030203" pitchFamily="34" charset="0"/>
                <a:sym typeface="Montserrat"/>
              </a:rPr>
              <a:t>Conclusion : </a:t>
            </a:r>
          </a:p>
          <a:p>
            <a:pPr lvl="1">
              <a:buClr>
                <a:srgbClr val="800020"/>
              </a:buClr>
              <a:buSzPct val="90000"/>
            </a:pPr>
            <a:r>
              <a:rPr lang="fr-FR" dirty="0">
                <a:solidFill>
                  <a:schemeClr val="tx1"/>
                </a:solidFill>
                <a:latin typeface="Lato Light" panose="020F0502020204030203" pitchFamily="34" charset="0"/>
                <a:ea typeface="Montserrat"/>
                <a:cs typeface="Lato Light" panose="020F0502020204030203" pitchFamily="34" charset="0"/>
                <a:sym typeface="Montserrat"/>
              </a:rPr>
              <a:t>Ces résultats sont des indicateurs de tendance à valider sur un cycle annuel complet pour lisser les effets de saisonnalité</a:t>
            </a:r>
          </a:p>
        </p:txBody>
      </p:sp>
      <p:pic>
        <p:nvPicPr>
          <p:cNvPr id="7" name="Graphique 6" descr="Raisins contour">
            <a:extLst>
              <a:ext uri="{FF2B5EF4-FFF2-40B4-BE49-F238E27FC236}">
                <a16:creationId xmlns:a16="http://schemas.microsoft.com/office/drawing/2014/main" id="{B2FAA684-9D98-F15E-7811-CDCE07293FD0}"/>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7587375" y="191200"/>
            <a:ext cx="661100" cy="661100"/>
          </a:xfrm>
          <a:prstGeom prst="rect">
            <a:avLst/>
          </a:prstGeom>
        </p:spPr>
      </p:pic>
      <p:pic>
        <p:nvPicPr>
          <p:cNvPr id="8" name="Graphique 7" descr="Sirène contour">
            <a:extLst>
              <a:ext uri="{FF2B5EF4-FFF2-40B4-BE49-F238E27FC236}">
                <a16:creationId xmlns:a16="http://schemas.microsoft.com/office/drawing/2014/main" id="{16F3EDD9-BAAE-59B3-3BA1-4C502CDF9C25}"/>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1464875" y="1269961"/>
            <a:ext cx="387052" cy="387052"/>
          </a:xfrm>
          <a:prstGeom prst="rect">
            <a:avLst/>
          </a:prstGeom>
        </p:spPr>
      </p:pic>
    </p:spTree>
    <p:extLst>
      <p:ext uri="{BB962C8B-B14F-4D97-AF65-F5344CB8AC3E}">
        <p14:creationId xmlns:p14="http://schemas.microsoft.com/office/powerpoint/2010/main" val="259115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g13f9e8f1567_0_0"/>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 name="Google Shape;96;g13f9e8f1567_0_0"/>
          <p:cNvSpPr txBox="1"/>
          <p:nvPr/>
        </p:nvSpPr>
        <p:spPr>
          <a:xfrm>
            <a:off x="895525" y="337250"/>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 sz="2500" dirty="0">
                <a:solidFill>
                  <a:srgbClr val="F3F3F3"/>
                </a:solidFill>
                <a:latin typeface="Lato Semibold" panose="020F0502020204030203" pitchFamily="34" charset="0"/>
                <a:ea typeface="Montserrat"/>
                <a:cs typeface="Lato Semibold" panose="020F0502020204030203" pitchFamily="34" charset="0"/>
                <a:sym typeface="Montserrat"/>
              </a:rPr>
              <a:t>Actions pour la suite</a:t>
            </a:r>
            <a:endParaRPr dirty="0">
              <a:latin typeface="Lato Semibold" panose="020F0502020204030203" pitchFamily="34" charset="0"/>
              <a:cs typeface="Lato Semibold" panose="020F0502020204030203" pitchFamily="34" charset="0"/>
            </a:endParaRPr>
          </a:p>
        </p:txBody>
      </p:sp>
      <p:sp>
        <p:nvSpPr>
          <p:cNvPr id="97" name="Google Shape;97;g13f9e8f1567_0_0"/>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 name="Google Shape;98;g13f9e8f1567_0_0"/>
          <p:cNvSpPr txBox="1">
            <a:spLocks noGrp="1"/>
          </p:cNvSpPr>
          <p:nvPr>
            <p:ph type="body" idx="1"/>
          </p:nvPr>
        </p:nvSpPr>
        <p:spPr>
          <a:xfrm>
            <a:off x="450850" y="1530350"/>
            <a:ext cx="8422424" cy="3346450"/>
          </a:xfrm>
          <a:prstGeom prst="rect">
            <a:avLst/>
          </a:prstGeom>
          <a:noFill/>
          <a:ln>
            <a:noFill/>
          </a:ln>
        </p:spPr>
        <p:txBody>
          <a:bodyPr spcFirstLastPara="1" wrap="square" lIns="91425" tIns="91425" rIns="91425" bIns="91425" anchor="ctr" anchorCtr="0">
            <a:normAutofit fontScale="55000" lnSpcReduction="20000"/>
          </a:bodyPr>
          <a:lstStyle/>
          <a:p>
            <a:pPr marL="0" lvl="0" indent="0">
              <a:lnSpc>
                <a:spcPct val="170000"/>
              </a:lnSpc>
              <a:buNone/>
            </a:pPr>
            <a:r>
              <a:rPr lang="fr-FR" sz="2400" dirty="0">
                <a:solidFill>
                  <a:srgbClr val="004D40"/>
                </a:solidFill>
                <a:latin typeface="Lato" panose="020F0502020204030203" pitchFamily="34" charset="0"/>
                <a:ea typeface="Montserrat"/>
                <a:cs typeface="Lato" panose="020F0502020204030203" pitchFamily="34" charset="0"/>
                <a:sym typeface="Montserrat"/>
              </a:rPr>
              <a:t>	</a:t>
            </a:r>
            <a:r>
              <a:rPr lang="fr-FR" sz="2900" dirty="0">
                <a:solidFill>
                  <a:srgbClr val="004D40"/>
                </a:solidFill>
                <a:latin typeface="Lato" panose="020F0502020204030203" pitchFamily="34" charset="0"/>
                <a:ea typeface="Montserrat"/>
                <a:cs typeface="Lato" panose="020F0502020204030203" pitchFamily="34" charset="0"/>
                <a:sym typeface="Montserrat"/>
              </a:rPr>
              <a:t>➜ </a:t>
            </a:r>
            <a:r>
              <a:rPr lang="fr-FR" sz="2900" dirty="0">
                <a:solidFill>
                  <a:srgbClr val="004D40"/>
                </a:solidFill>
                <a:latin typeface="Lato" panose="020F0502020204030203" pitchFamily="34" charset="0"/>
                <a:cs typeface="Lato" panose="020F0502020204030203" pitchFamily="34" charset="0"/>
                <a:sym typeface="Montserrat"/>
              </a:rPr>
              <a:t>Vers un pilotage fiabilisé</a:t>
            </a:r>
          </a:p>
          <a:p>
            <a:pPr lvl="0">
              <a:lnSpc>
                <a:spcPct val="170000"/>
              </a:lnSpc>
              <a:buClr>
                <a:srgbClr val="800020"/>
              </a:buClr>
              <a:buSzPct val="90000"/>
            </a:pPr>
            <a:r>
              <a:rPr lang="fr-FR" sz="2600" dirty="0">
                <a:solidFill>
                  <a:schemeClr val="tx1"/>
                </a:solidFill>
                <a:latin typeface="Lato Light" panose="020F0502020204030203" pitchFamily="34" charset="0"/>
                <a:cs typeface="Lato Light" panose="020F0502020204030203" pitchFamily="34" charset="0"/>
                <a:sym typeface="Montserrat"/>
              </a:rPr>
              <a:t>Gouvernance des données (Qualité) :</a:t>
            </a:r>
          </a:p>
          <a:p>
            <a:pPr lvl="1">
              <a:lnSpc>
                <a:spcPct val="160000"/>
              </a:lnSpc>
              <a:buClr>
                <a:srgbClr val="800020"/>
              </a:buClr>
              <a:buSzPct val="90000"/>
            </a:pPr>
            <a:r>
              <a:rPr lang="fr-FR" sz="2200" dirty="0">
                <a:solidFill>
                  <a:schemeClr val="tx1"/>
                </a:solidFill>
                <a:latin typeface="Lato Light" panose="020F0502020204030203" pitchFamily="34" charset="0"/>
                <a:cs typeface="Lato Light" panose="020F0502020204030203" pitchFamily="34" charset="0"/>
                <a:sym typeface="Montserrat"/>
              </a:rPr>
              <a:t>Automatiser le blocage des prix et stocks négatifs à la source dans l’ERP.</a:t>
            </a:r>
          </a:p>
          <a:p>
            <a:pPr lvl="1">
              <a:lnSpc>
                <a:spcPct val="160000"/>
              </a:lnSpc>
              <a:buClr>
                <a:srgbClr val="800020"/>
              </a:buClr>
              <a:buSzPct val="90000"/>
            </a:pPr>
            <a:r>
              <a:rPr lang="fr-FR" sz="2200" dirty="0">
                <a:solidFill>
                  <a:schemeClr val="tx1"/>
                </a:solidFill>
                <a:latin typeface="Lato Light" panose="020F0502020204030203" pitchFamily="34" charset="0"/>
                <a:cs typeface="Lato Light" panose="020F0502020204030203" pitchFamily="34" charset="0"/>
                <a:sym typeface="Montserrat"/>
              </a:rPr>
              <a:t>Conserver les métadonnées techniques (logs, </a:t>
            </a:r>
            <a:r>
              <a:rPr lang="fr-FR" sz="2200" dirty="0" err="1">
                <a:solidFill>
                  <a:schemeClr val="tx1"/>
                </a:solidFill>
                <a:latin typeface="Lato Light" panose="020F0502020204030203" pitchFamily="34" charset="0"/>
                <a:cs typeface="Lato Light" panose="020F0502020204030203" pitchFamily="34" charset="0"/>
                <a:sym typeface="Montserrat"/>
              </a:rPr>
              <a:t>modifs</a:t>
            </a:r>
            <a:r>
              <a:rPr lang="fr-FR" sz="2200" dirty="0">
                <a:solidFill>
                  <a:schemeClr val="tx1"/>
                </a:solidFill>
                <a:latin typeface="Lato Light" panose="020F0502020204030203" pitchFamily="34" charset="0"/>
                <a:cs typeface="Lato Light" panose="020F0502020204030203" pitchFamily="34" charset="0"/>
                <a:sym typeface="Montserrat"/>
              </a:rPr>
              <a:t>) pour assurer la traçabilité des futures corrections.</a:t>
            </a:r>
          </a:p>
          <a:p>
            <a:pPr>
              <a:lnSpc>
                <a:spcPct val="160000"/>
              </a:lnSpc>
              <a:buClr>
                <a:srgbClr val="800020"/>
              </a:buClr>
              <a:buSzPct val="90000"/>
            </a:pPr>
            <a:r>
              <a:rPr lang="fr-FR" sz="2600" dirty="0">
                <a:solidFill>
                  <a:schemeClr val="tx1"/>
                </a:solidFill>
                <a:latin typeface="Lato Light" panose="020F0502020204030203" pitchFamily="34" charset="0"/>
                <a:cs typeface="Lato Light" panose="020F0502020204030203" pitchFamily="34" charset="0"/>
                <a:sym typeface="Montserrat"/>
              </a:rPr>
              <a:t>Optimisation Commerciale &amp; Pricing :</a:t>
            </a:r>
          </a:p>
          <a:p>
            <a:pPr lvl="1">
              <a:lnSpc>
                <a:spcPct val="160000"/>
              </a:lnSpc>
              <a:buClr>
                <a:srgbClr val="800020"/>
              </a:buClr>
              <a:buSzPct val="90000"/>
            </a:pPr>
            <a:r>
              <a:rPr lang="fr-FR" sz="2200" dirty="0">
                <a:solidFill>
                  <a:schemeClr val="tx1"/>
                </a:solidFill>
                <a:latin typeface="Lato Light" panose="020F0502020204030203" pitchFamily="34" charset="0"/>
                <a:cs typeface="Lato Light" panose="020F0502020204030203" pitchFamily="34" charset="0"/>
                <a:sym typeface="Montserrat"/>
              </a:rPr>
              <a:t>Corriger immédiatement l’ID 4355 et créer une alerte sur les marges anormalement basses.</a:t>
            </a:r>
          </a:p>
          <a:p>
            <a:pPr lvl="1">
              <a:lnSpc>
                <a:spcPct val="160000"/>
              </a:lnSpc>
              <a:buClr>
                <a:srgbClr val="800020"/>
              </a:buClr>
              <a:buSzPct val="90000"/>
            </a:pPr>
            <a:r>
              <a:rPr lang="fr-FR" sz="2200" dirty="0">
                <a:solidFill>
                  <a:schemeClr val="tx1"/>
                </a:solidFill>
                <a:latin typeface="Lato Light" panose="020F0502020204030203" pitchFamily="34" charset="0"/>
                <a:cs typeface="Lato Light" panose="020F0502020204030203" pitchFamily="34" charset="0"/>
                <a:sym typeface="Montserrat"/>
              </a:rPr>
              <a:t>Arbitrer sur les 111 produits hors-ligne (ID 4200 avec 33 unités en stock) : mise en ligne ou déstockage ?</a:t>
            </a:r>
          </a:p>
          <a:p>
            <a:pPr lvl="0">
              <a:lnSpc>
                <a:spcPct val="160000"/>
              </a:lnSpc>
              <a:buClr>
                <a:srgbClr val="800020"/>
              </a:buClr>
              <a:buSzPct val="90000"/>
            </a:pPr>
            <a:r>
              <a:rPr lang="fr-FR" sz="2600" dirty="0">
                <a:solidFill>
                  <a:schemeClr val="tx1"/>
                </a:solidFill>
                <a:latin typeface="Lato Light" panose="020F0502020204030203" pitchFamily="34" charset="0"/>
                <a:cs typeface="Lato Light" panose="020F0502020204030203" pitchFamily="34" charset="0"/>
                <a:sym typeface="Montserrat"/>
              </a:rPr>
              <a:t>Évolutions du </a:t>
            </a:r>
            <a:r>
              <a:rPr lang="fr-FR" sz="2600" dirty="0" err="1">
                <a:solidFill>
                  <a:schemeClr val="tx1"/>
                </a:solidFill>
                <a:latin typeface="Lato Light" panose="020F0502020204030203" pitchFamily="34" charset="0"/>
                <a:cs typeface="Lato Light" panose="020F0502020204030203" pitchFamily="34" charset="0"/>
                <a:sym typeface="Montserrat"/>
              </a:rPr>
              <a:t>Dashboarding</a:t>
            </a:r>
            <a:r>
              <a:rPr lang="fr-FR" sz="2600" dirty="0">
                <a:solidFill>
                  <a:schemeClr val="tx1"/>
                </a:solidFill>
                <a:latin typeface="Lato Light" panose="020F0502020204030203" pitchFamily="34" charset="0"/>
                <a:cs typeface="Lato Light" panose="020F0502020204030203" pitchFamily="34" charset="0"/>
                <a:sym typeface="Montserrat"/>
              </a:rPr>
              <a:t> (Pilotage) :</a:t>
            </a:r>
          </a:p>
          <a:p>
            <a:pPr lvl="1">
              <a:lnSpc>
                <a:spcPct val="160000"/>
              </a:lnSpc>
              <a:buClr>
                <a:srgbClr val="800020"/>
              </a:buClr>
              <a:buSzPct val="90000"/>
            </a:pPr>
            <a:r>
              <a:rPr lang="fr-FR" sz="2200" dirty="0">
                <a:solidFill>
                  <a:schemeClr val="tx1"/>
                </a:solidFill>
                <a:latin typeface="Lato Light" panose="020F0502020204030203" pitchFamily="34" charset="0"/>
                <a:cs typeface="Lato Light" panose="020F0502020204030203" pitchFamily="34" charset="0"/>
                <a:sym typeface="Montserrat"/>
              </a:rPr>
              <a:t>Industrialiser le croisement systématique des stocks et des ventes pour affiner les approvisionnements.</a:t>
            </a:r>
          </a:p>
          <a:p>
            <a:pPr lvl="1">
              <a:lnSpc>
                <a:spcPct val="160000"/>
              </a:lnSpc>
              <a:buClr>
                <a:srgbClr val="800020"/>
              </a:buClr>
              <a:buSzPct val="90000"/>
            </a:pPr>
            <a:r>
              <a:rPr lang="fr-FR" sz="2200" dirty="0">
                <a:solidFill>
                  <a:schemeClr val="tx1"/>
                </a:solidFill>
                <a:latin typeface="Lato Light" panose="020F0502020204030203" pitchFamily="34" charset="0"/>
                <a:cs typeface="Lato Light" panose="020F0502020204030203" pitchFamily="34" charset="0"/>
                <a:sym typeface="Montserrat"/>
              </a:rPr>
              <a:t>Intégrer des indicateurs de corrélation (Prix/Ventes) pour aider aux décisions de </a:t>
            </a:r>
            <a:r>
              <a:rPr lang="fr-FR" sz="2200" dirty="0" err="1">
                <a:solidFill>
                  <a:schemeClr val="tx1"/>
                </a:solidFill>
                <a:latin typeface="Lato Light" panose="020F0502020204030203" pitchFamily="34" charset="0"/>
                <a:cs typeface="Lato Light" panose="020F0502020204030203" pitchFamily="34" charset="0"/>
                <a:sym typeface="Montserrat"/>
              </a:rPr>
              <a:t>pricing</a:t>
            </a:r>
            <a:r>
              <a:rPr lang="fr-FR" sz="2200" dirty="0">
                <a:solidFill>
                  <a:schemeClr val="tx1"/>
                </a:solidFill>
                <a:latin typeface="Lato Light" panose="020F0502020204030203" pitchFamily="34" charset="0"/>
                <a:cs typeface="Lato Light" panose="020F0502020204030203" pitchFamily="34" charset="0"/>
                <a:sym typeface="Montserrat"/>
              </a:rPr>
              <a:t>.</a:t>
            </a:r>
            <a:endParaRPr sz="2200" dirty="0">
              <a:solidFill>
                <a:schemeClr val="tx1"/>
              </a:solidFill>
              <a:latin typeface="Lato Light" panose="020F0502020204030203" pitchFamily="34" charset="0"/>
              <a:cs typeface="Lato Light" panose="020F0502020204030203" pitchFamily="34" charset="0"/>
              <a:sym typeface="Montserrat"/>
            </a:endParaRPr>
          </a:p>
        </p:txBody>
      </p:sp>
      <p:pic>
        <p:nvPicPr>
          <p:cNvPr id="2" name="Graphique 1" descr="Raisins contour">
            <a:extLst>
              <a:ext uri="{FF2B5EF4-FFF2-40B4-BE49-F238E27FC236}">
                <a16:creationId xmlns:a16="http://schemas.microsoft.com/office/drawing/2014/main" id="{7F667776-48F6-ED3F-5411-91AEFA4D941C}"/>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7587375" y="337250"/>
            <a:ext cx="661100" cy="661100"/>
          </a:xfrm>
          <a:prstGeom prst="rect">
            <a:avLst/>
          </a:prstGeom>
        </p:spPr>
      </p:pic>
      <p:pic>
        <p:nvPicPr>
          <p:cNvPr id="4" name="Graphique 3" descr="Volant contour">
            <a:extLst>
              <a:ext uri="{FF2B5EF4-FFF2-40B4-BE49-F238E27FC236}">
                <a16:creationId xmlns:a16="http://schemas.microsoft.com/office/drawing/2014/main" id="{65EC6476-49CB-75C2-4A1B-8EF7F35BC84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95525" y="1708150"/>
            <a:ext cx="508400" cy="508400"/>
          </a:xfrm>
          <a:prstGeom prst="rect">
            <a:avLst/>
          </a:prstGeom>
        </p:spPr>
      </p:pic>
      <p:pic>
        <p:nvPicPr>
          <p:cNvPr id="6" name="Graphique 5" descr="Diplôme roulé contour">
            <a:extLst>
              <a:ext uri="{FF2B5EF4-FFF2-40B4-BE49-F238E27FC236}">
                <a16:creationId xmlns:a16="http://schemas.microsoft.com/office/drawing/2014/main" id="{04312197-5715-2DE4-ABFB-D2A720C315A2}"/>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7460725" y="1657350"/>
            <a:ext cx="914400" cy="914400"/>
          </a:xfrm>
          <a:prstGeom prst="rect">
            <a:avLst/>
          </a:prstGeom>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1415</TotalTime>
  <Words>3131</Words>
  <Application>Microsoft Office PowerPoint</Application>
  <PresentationFormat>Affichage à l'écran (16:9)</PresentationFormat>
  <Paragraphs>222</Paragraphs>
  <Slides>17</Slides>
  <Notes>17</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17</vt:i4>
      </vt:variant>
    </vt:vector>
  </HeadingPairs>
  <TitlesOfParts>
    <vt:vector size="25" baseType="lpstr">
      <vt:lpstr>Montserrat</vt:lpstr>
      <vt:lpstr>Arial</vt:lpstr>
      <vt:lpstr>Lato Semibold</vt:lpstr>
      <vt:lpstr>Lato Light</vt:lpstr>
      <vt:lpstr>Wingdings</vt:lpstr>
      <vt:lpstr>Lato</vt:lpstr>
      <vt:lpstr>Courier New</vt:lpstr>
      <vt:lpstr>Simple Light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cp:lastModifiedBy>Tristan Despont</cp:lastModifiedBy>
  <cp:revision>1</cp:revision>
  <dcterms:modified xsi:type="dcterms:W3CDTF">2026-02-13T12:16:04Z</dcterms:modified>
</cp:coreProperties>
</file>